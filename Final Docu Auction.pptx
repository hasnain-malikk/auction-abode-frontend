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</p:sldIdLst>
  <p:sldSz cx="77724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743" autoAdjust="0"/>
    <p:restoredTop sz="94660"/>
  </p:normalViewPr>
  <p:slideViewPr>
    <p:cSldViewPr>
      <p:cViewPr>
        <p:scale>
          <a:sx n="33" d="100"/>
          <a:sy n="33" d="100"/>
        </p:scale>
        <p:origin x="2451" y="2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2930" y="3118104"/>
            <a:ext cx="6606540" cy="211226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65860" y="5632704"/>
            <a:ext cx="5440680" cy="25146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‹#›</a:t>
            </a:fld>
            <a:endParaRPr spc="-20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‹#›</a:t>
            </a:fld>
            <a:endParaRPr spc="-2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8620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002786" y="2313432"/>
            <a:ext cx="3380994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11/10/2025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‹#›</a:t>
            </a:fld>
            <a:endParaRPr spc="-2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11/10/2025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‹#›</a:t>
            </a:fld>
            <a:endParaRPr spc="-2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11/10/2025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‹#›</a:t>
            </a:fld>
            <a:endParaRPr spc="-2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8620" y="402336"/>
            <a:ext cx="6995160" cy="16093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8620" y="2313432"/>
            <a:ext cx="6995160" cy="66385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642616" y="9354312"/>
            <a:ext cx="2487168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88620" y="9354312"/>
            <a:ext cx="1787652" cy="502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11/10/2025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3880484" y="9420690"/>
            <a:ext cx="288289" cy="19430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‹#›</a:t>
            </a:fld>
            <a:endParaRPr spc="-2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11.xml"/><Relationship Id="rId2" Type="http://schemas.openxmlformats.org/officeDocument/2006/relationships/slide" Target="slide10.xml"/><Relationship Id="rId1" Type="http://schemas.openxmlformats.org/officeDocument/2006/relationships/slideLayout" Target="../slideLayouts/slideLayout5.xml"/><Relationship Id="rId6" Type="http://schemas.openxmlformats.org/officeDocument/2006/relationships/slide" Target="slide23.xml"/><Relationship Id="rId5" Type="http://schemas.openxmlformats.org/officeDocument/2006/relationships/slide" Target="slide13.xml"/><Relationship Id="rId4" Type="http://schemas.openxmlformats.org/officeDocument/2006/relationships/slide" Target="slide1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" Target="slide37.xml"/><Relationship Id="rId3" Type="http://schemas.openxmlformats.org/officeDocument/2006/relationships/slide" Target="slide31.xml"/><Relationship Id="rId7" Type="http://schemas.openxmlformats.org/officeDocument/2006/relationships/slide" Target="slide35.xml"/><Relationship Id="rId12" Type="http://schemas.openxmlformats.org/officeDocument/2006/relationships/slide" Target="slide41.xml"/><Relationship Id="rId2" Type="http://schemas.openxmlformats.org/officeDocument/2006/relationships/slide" Target="slide30.xml"/><Relationship Id="rId1" Type="http://schemas.openxmlformats.org/officeDocument/2006/relationships/slideLayout" Target="../slideLayouts/slideLayout5.xml"/><Relationship Id="rId6" Type="http://schemas.openxmlformats.org/officeDocument/2006/relationships/slide" Target="slide34.xml"/><Relationship Id="rId11" Type="http://schemas.openxmlformats.org/officeDocument/2006/relationships/slide" Target="slide40.xml"/><Relationship Id="rId5" Type="http://schemas.openxmlformats.org/officeDocument/2006/relationships/slide" Target="slide33.xml"/><Relationship Id="rId10" Type="http://schemas.openxmlformats.org/officeDocument/2006/relationships/slide" Target="slide39.xml"/><Relationship Id="rId4" Type="http://schemas.openxmlformats.org/officeDocument/2006/relationships/slide" Target="slide32.xml"/><Relationship Id="rId9" Type="http://schemas.openxmlformats.org/officeDocument/2006/relationships/slide" Target="slide38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" Target="slide23.xml"/><Relationship Id="rId3" Type="http://schemas.openxmlformats.org/officeDocument/2006/relationships/slide" Target="slide33.xml"/><Relationship Id="rId7" Type="http://schemas.openxmlformats.org/officeDocument/2006/relationships/slide" Target="slide38.xml"/><Relationship Id="rId2" Type="http://schemas.openxmlformats.org/officeDocument/2006/relationships/slide" Target="slide32.xml"/><Relationship Id="rId1" Type="http://schemas.openxmlformats.org/officeDocument/2006/relationships/slideLayout" Target="../slideLayouts/slideLayout5.xml"/><Relationship Id="rId6" Type="http://schemas.openxmlformats.org/officeDocument/2006/relationships/slide" Target="slide37.xml"/><Relationship Id="rId5" Type="http://schemas.openxmlformats.org/officeDocument/2006/relationships/slide" Target="slide35.xml"/><Relationship Id="rId4" Type="http://schemas.openxmlformats.org/officeDocument/2006/relationships/slide" Target="slide3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76200" y="578658"/>
            <a:ext cx="7772399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2800" b="1" dirty="0">
                <a:latin typeface="Times New Roman"/>
                <a:cs typeface="Times New Roman"/>
              </a:rPr>
              <a:t>Auction</a:t>
            </a:r>
            <a:r>
              <a:rPr sz="2800" b="1" spc="-25" dirty="0">
                <a:latin typeface="Times New Roman"/>
                <a:cs typeface="Times New Roman"/>
              </a:rPr>
              <a:t> </a:t>
            </a:r>
            <a:r>
              <a:rPr sz="2800" b="1" spc="-20" dirty="0">
                <a:latin typeface="Times New Roman"/>
                <a:cs typeface="Times New Roman"/>
              </a:rPr>
              <a:t>Abode</a:t>
            </a:r>
            <a:endParaRPr sz="2800" dirty="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138165" y="2735326"/>
            <a:ext cx="7620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50" dirty="0">
                <a:latin typeface="Times New Roman"/>
                <a:cs typeface="Times New Roman"/>
              </a:rPr>
              <a:t>`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" y="2874984"/>
            <a:ext cx="7772400" cy="86510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05" algn="ctr">
              <a:lnSpc>
                <a:spcPct val="100000"/>
              </a:lnSpc>
              <a:spcBef>
                <a:spcPts val="100"/>
              </a:spcBef>
            </a:pPr>
            <a:r>
              <a:rPr sz="1200" b="1" i="1" spc="-25" dirty="0">
                <a:latin typeface="Times New Roman"/>
                <a:cs typeface="Times New Roman"/>
              </a:rPr>
              <a:t>By</a:t>
            </a:r>
            <a:endParaRPr sz="1200" dirty="0">
              <a:latin typeface="Times New Roman"/>
              <a:cs typeface="Times New Roman"/>
            </a:endParaRPr>
          </a:p>
          <a:p>
            <a:pPr marL="12700" marR="5080" algn="ctr">
              <a:lnSpc>
                <a:spcPts val="2680"/>
              </a:lnSpc>
              <a:spcBef>
                <a:spcPts val="80"/>
              </a:spcBef>
            </a:pPr>
            <a:r>
              <a:rPr lang="en-US" sz="1200" b="1" spc="-25" dirty="0">
                <a:latin typeface="Times New Roman"/>
                <a:cs typeface="Times New Roman"/>
              </a:rPr>
              <a:t>Hasnain </a:t>
            </a:r>
            <a:r>
              <a:rPr lang="en-US" sz="1200" b="1" spc="-25" dirty="0" err="1">
                <a:latin typeface="Times New Roman"/>
                <a:cs typeface="Times New Roman"/>
              </a:rPr>
              <a:t>Mahiva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endParaRPr lang="en-US" sz="1200" b="1" spc="-10" dirty="0">
              <a:latin typeface="Times New Roman"/>
              <a:cs typeface="Times New Roman"/>
            </a:endParaRPr>
          </a:p>
          <a:p>
            <a:pPr marL="12700" marR="5080" algn="ctr">
              <a:lnSpc>
                <a:spcPts val="2680"/>
              </a:lnSpc>
              <a:spcBef>
                <a:spcPts val="80"/>
              </a:spcBef>
            </a:pPr>
            <a:r>
              <a:rPr sz="1200" b="1" spc="-10" dirty="0">
                <a:latin typeface="Times New Roman"/>
                <a:cs typeface="Times New Roman"/>
              </a:rPr>
              <a:t>2</a:t>
            </a:r>
            <a:r>
              <a:rPr lang="en-US" sz="1200" b="1" spc="-10" dirty="0">
                <a:latin typeface="Times New Roman"/>
                <a:cs typeface="Times New Roman"/>
              </a:rPr>
              <a:t>2</a:t>
            </a:r>
            <a:r>
              <a:rPr sz="1200" b="1" spc="-10" dirty="0">
                <a:latin typeface="Times New Roman"/>
                <a:cs typeface="Times New Roman"/>
              </a:rPr>
              <a:t>-ARID-</a:t>
            </a:r>
            <a:r>
              <a:rPr lang="en-US" sz="1200" b="1" spc="-25" dirty="0">
                <a:latin typeface="Times New Roman"/>
                <a:cs typeface="Times New Roman"/>
              </a:rPr>
              <a:t>487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-10885" y="3973675"/>
            <a:ext cx="7772400" cy="548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lang="en-US" sz="1200" b="1" dirty="0">
                <a:latin typeface="Times New Roman"/>
                <a:cs typeface="Times New Roman"/>
              </a:rPr>
              <a:t>Hafsa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lang="en-US" sz="1200" b="1" spc="-20" dirty="0">
                <a:latin typeface="Times New Roman"/>
                <a:cs typeface="Times New Roman"/>
              </a:rPr>
              <a:t>Saeed</a:t>
            </a:r>
            <a:endParaRPr sz="1200" dirty="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  <a:spcBef>
                <a:spcPts val="1235"/>
              </a:spcBef>
            </a:pPr>
            <a:r>
              <a:rPr sz="1200" b="1" spc="-10" dirty="0">
                <a:latin typeface="Times New Roman"/>
                <a:cs typeface="Times New Roman"/>
              </a:rPr>
              <a:t>2</a:t>
            </a:r>
            <a:r>
              <a:rPr lang="en-US" sz="1200" b="1" spc="-10" dirty="0">
                <a:latin typeface="Times New Roman"/>
                <a:cs typeface="Times New Roman"/>
              </a:rPr>
              <a:t>2</a:t>
            </a:r>
            <a:r>
              <a:rPr sz="1200" b="1" spc="-10" dirty="0">
                <a:latin typeface="Times New Roman"/>
                <a:cs typeface="Times New Roman"/>
              </a:rPr>
              <a:t>-ARID-</a:t>
            </a:r>
            <a:r>
              <a:rPr sz="1200" b="1" spc="-25" dirty="0">
                <a:latin typeface="Times New Roman"/>
                <a:cs typeface="Times New Roman"/>
              </a:rPr>
              <a:t>4</a:t>
            </a:r>
            <a:r>
              <a:rPr lang="en-US" sz="1200" b="1" spc="-25" dirty="0">
                <a:latin typeface="Times New Roman"/>
                <a:cs typeface="Times New Roman"/>
              </a:rPr>
              <a:t>83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-3629" y="4719611"/>
            <a:ext cx="7783285" cy="548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1200" b="1" dirty="0">
                <a:latin typeface="Times New Roman"/>
                <a:cs typeface="Times New Roman"/>
              </a:rPr>
              <a:t>Ali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lang="en-US" sz="1200" b="1" spc="-20" dirty="0">
                <a:latin typeface="Times New Roman"/>
                <a:cs typeface="Times New Roman"/>
              </a:rPr>
              <a:t>Mahmood</a:t>
            </a:r>
            <a:endParaRPr sz="1200" dirty="0">
              <a:latin typeface="Times New Roman"/>
              <a:cs typeface="Times New Roman"/>
            </a:endParaRPr>
          </a:p>
          <a:p>
            <a:pPr marL="32384" algn="ctr">
              <a:lnSpc>
                <a:spcPct val="100000"/>
              </a:lnSpc>
              <a:spcBef>
                <a:spcPts val="1235"/>
              </a:spcBef>
            </a:pPr>
            <a:r>
              <a:rPr sz="1200" b="1" spc="-10" dirty="0">
                <a:latin typeface="Times New Roman"/>
                <a:cs typeface="Times New Roman"/>
              </a:rPr>
              <a:t>2</a:t>
            </a:r>
            <a:r>
              <a:rPr lang="en-US" sz="1200" b="1" spc="-10" dirty="0">
                <a:latin typeface="Times New Roman"/>
                <a:cs typeface="Times New Roman"/>
              </a:rPr>
              <a:t>2</a:t>
            </a:r>
            <a:r>
              <a:rPr sz="1200" b="1" spc="-10" dirty="0">
                <a:latin typeface="Times New Roman"/>
                <a:cs typeface="Times New Roman"/>
              </a:rPr>
              <a:t>-ARID-</a:t>
            </a:r>
            <a:r>
              <a:rPr sz="1200" b="1" spc="-25" dirty="0">
                <a:latin typeface="Times New Roman"/>
                <a:cs typeface="Times New Roman"/>
              </a:rPr>
              <a:t>4</a:t>
            </a:r>
            <a:r>
              <a:rPr lang="en-US" sz="1200" b="1" spc="-25" dirty="0">
                <a:latin typeface="Times New Roman"/>
                <a:cs typeface="Times New Roman"/>
              </a:rPr>
              <a:t>97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161667" y="6553200"/>
            <a:ext cx="3449065" cy="548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1" i="1" spc="-10" dirty="0">
                <a:latin typeface="Times New Roman"/>
                <a:cs typeface="Times New Roman"/>
              </a:rPr>
              <a:t>Supervisor</a:t>
            </a:r>
            <a:endParaRPr sz="1200" dirty="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  <a:spcBef>
                <a:spcPts val="1235"/>
              </a:spcBef>
            </a:pPr>
            <a:r>
              <a:rPr lang="en-US" sz="1200" b="1" dirty="0">
                <a:latin typeface="Times New Roman"/>
                <a:cs typeface="Times New Roman"/>
              </a:rPr>
              <a:t>Ms.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lang="en-US" sz="1200" b="1" spc="-10" dirty="0">
                <a:latin typeface="Times New Roman"/>
                <a:cs typeface="Times New Roman"/>
              </a:rPr>
              <a:t>Fakhar Un Nisa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402521" y="7848600"/>
            <a:ext cx="3119755" cy="1224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lang="en-US" sz="1200" b="1" dirty="0">
                <a:latin typeface="Times New Roman"/>
                <a:cs typeface="Times New Roman"/>
              </a:rPr>
              <a:t>Barani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Institute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of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lang="en-US" sz="1200" b="1" spc="-25" dirty="0">
                <a:latin typeface="Times New Roman"/>
                <a:cs typeface="Times New Roman"/>
              </a:rPr>
              <a:t>Management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lang="en-US" sz="1200" b="1" spc="-10" dirty="0">
                <a:latin typeface="Times New Roman"/>
                <a:cs typeface="Times New Roman"/>
              </a:rPr>
              <a:t>Sciences</a:t>
            </a:r>
            <a:r>
              <a:rPr sz="1200" b="1" spc="-10" dirty="0">
                <a:latin typeface="Times New Roman"/>
                <a:cs typeface="Times New Roman"/>
              </a:rPr>
              <a:t>,</a:t>
            </a:r>
            <a:endParaRPr sz="1200" dirty="0">
              <a:latin typeface="Times New Roman"/>
              <a:cs typeface="Times New Roman"/>
            </a:endParaRPr>
          </a:p>
          <a:p>
            <a:pPr marL="390525" marR="382270" algn="ctr">
              <a:lnSpc>
                <a:spcPts val="2680"/>
              </a:lnSpc>
              <a:spcBef>
                <a:spcPts val="280"/>
              </a:spcBef>
            </a:pPr>
            <a:r>
              <a:rPr sz="1200" b="1" spc="-10" dirty="0">
                <a:latin typeface="Times New Roman"/>
                <a:cs typeface="Times New Roman"/>
              </a:rPr>
              <a:t>PMAS-</a:t>
            </a:r>
            <a:r>
              <a:rPr sz="1200" b="1" dirty="0">
                <a:latin typeface="Times New Roman"/>
                <a:cs typeface="Times New Roman"/>
              </a:rPr>
              <a:t>Arid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Agriculture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University, </a:t>
            </a:r>
            <a:r>
              <a:rPr sz="1200" b="1" dirty="0">
                <a:latin typeface="Times New Roman"/>
                <a:cs typeface="Times New Roman"/>
              </a:rPr>
              <a:t>Rawalpindi </a:t>
            </a:r>
            <a:r>
              <a:rPr sz="1200" b="1" spc="-10" dirty="0">
                <a:latin typeface="Times New Roman"/>
                <a:cs typeface="Times New Roman"/>
              </a:rPr>
              <a:t>Pakistan</a:t>
            </a:r>
            <a:endParaRPr sz="1200" dirty="0">
              <a:latin typeface="Times New Roman"/>
              <a:cs typeface="Times New Roman"/>
            </a:endParaRPr>
          </a:p>
          <a:p>
            <a:pPr marL="3175" algn="ctr">
              <a:lnSpc>
                <a:spcPct val="100000"/>
              </a:lnSpc>
              <a:spcBef>
                <a:spcPts val="919"/>
              </a:spcBef>
            </a:pPr>
            <a:r>
              <a:rPr sz="1200" b="1" spc="-20" dirty="0">
                <a:latin typeface="Times New Roman"/>
                <a:cs typeface="Times New Roman"/>
              </a:rPr>
              <a:t>2025</a:t>
            </a:r>
            <a:endParaRPr sz="1200" dirty="0">
              <a:latin typeface="Times New Roman"/>
              <a:cs typeface="Times New Roman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16AEB8B-F9AC-9487-D427-E42A349A6429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0800000" flipH="1" flipV="1">
            <a:off x="3186679" y="1197746"/>
            <a:ext cx="1465584" cy="138684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8D5A9AF7-27E4-9285-6C0E-C9AC966CBA2A}"/>
              </a:ext>
            </a:extLst>
          </p:cNvPr>
          <p:cNvSpPr txBox="1"/>
          <p:nvPr/>
        </p:nvSpPr>
        <p:spPr>
          <a:xfrm>
            <a:off x="-10885" y="5447404"/>
            <a:ext cx="7783285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lang="en-US" sz="1200" b="1" spc="-40" dirty="0">
                <a:latin typeface="Times New Roman"/>
                <a:cs typeface="Times New Roman"/>
              </a:rPr>
              <a:t>Zakria </a:t>
            </a:r>
            <a:r>
              <a:rPr lang="en-US" sz="1200" b="1" spc="-20" dirty="0">
                <a:latin typeface="Times New Roman"/>
                <a:cs typeface="Times New Roman"/>
              </a:rPr>
              <a:t>Aftab</a:t>
            </a:r>
            <a:endParaRPr lang="en-US" sz="1200" dirty="0">
              <a:latin typeface="Times New Roman"/>
              <a:cs typeface="Times New Roman"/>
            </a:endParaRPr>
          </a:p>
          <a:p>
            <a:pPr marL="32384" algn="ctr">
              <a:lnSpc>
                <a:spcPct val="100000"/>
              </a:lnSpc>
              <a:spcBef>
                <a:spcPts val="1235"/>
              </a:spcBef>
            </a:pPr>
            <a:r>
              <a:rPr lang="en-US" sz="1200" b="1" spc="-10" dirty="0">
                <a:latin typeface="Times New Roman"/>
                <a:cs typeface="Times New Roman"/>
              </a:rPr>
              <a:t>22-ARID-</a:t>
            </a:r>
            <a:r>
              <a:rPr lang="en-US" sz="1200" b="1" spc="-25" dirty="0">
                <a:latin typeface="Times New Roman"/>
                <a:cs typeface="Times New Roman"/>
              </a:rPr>
              <a:t>533</a:t>
            </a:r>
            <a:endParaRPr lang="en-US"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0" y="705359"/>
            <a:ext cx="777240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1200" b="1" i="1" dirty="0">
                <a:latin typeface="Times New Roman"/>
                <a:cs typeface="Times New Roman"/>
              </a:rPr>
              <a:t>Bachelor</a:t>
            </a:r>
            <a:r>
              <a:rPr sz="1200" b="1" i="1" spc="-20" dirty="0">
                <a:latin typeface="Times New Roman"/>
                <a:cs typeface="Times New Roman"/>
              </a:rPr>
              <a:t> </a:t>
            </a:r>
            <a:r>
              <a:rPr sz="1200" b="1" i="1" dirty="0">
                <a:latin typeface="Times New Roman"/>
                <a:cs typeface="Times New Roman"/>
              </a:rPr>
              <a:t>of</a:t>
            </a:r>
            <a:r>
              <a:rPr sz="1200" b="1" i="1" spc="-15" dirty="0">
                <a:latin typeface="Times New Roman"/>
                <a:cs typeface="Times New Roman"/>
              </a:rPr>
              <a:t> </a:t>
            </a:r>
            <a:r>
              <a:rPr sz="1200" b="1" i="1" dirty="0">
                <a:latin typeface="Times New Roman"/>
                <a:cs typeface="Times New Roman"/>
              </a:rPr>
              <a:t>Science</a:t>
            </a:r>
            <a:r>
              <a:rPr sz="1200" b="1" i="1" spc="-25" dirty="0">
                <a:latin typeface="Times New Roman"/>
                <a:cs typeface="Times New Roman"/>
              </a:rPr>
              <a:t> </a:t>
            </a:r>
            <a:r>
              <a:rPr sz="1200" b="1" i="1" dirty="0">
                <a:latin typeface="Times New Roman"/>
                <a:cs typeface="Times New Roman"/>
              </a:rPr>
              <a:t>in</a:t>
            </a:r>
            <a:r>
              <a:rPr sz="1200" b="1" i="1" spc="-10" dirty="0">
                <a:latin typeface="Times New Roman"/>
                <a:cs typeface="Times New Roman"/>
              </a:rPr>
              <a:t> </a:t>
            </a:r>
            <a:r>
              <a:rPr sz="1200" b="1" i="1" dirty="0">
                <a:latin typeface="Times New Roman"/>
                <a:cs typeface="Times New Roman"/>
              </a:rPr>
              <a:t>Computer</a:t>
            </a:r>
            <a:r>
              <a:rPr sz="1200" b="1" i="1" spc="-15" dirty="0">
                <a:latin typeface="Times New Roman"/>
                <a:cs typeface="Times New Roman"/>
              </a:rPr>
              <a:t> </a:t>
            </a:r>
            <a:r>
              <a:rPr sz="1200" b="1" i="1" dirty="0">
                <a:latin typeface="Times New Roman"/>
                <a:cs typeface="Times New Roman"/>
              </a:rPr>
              <a:t>Science</a:t>
            </a:r>
            <a:r>
              <a:rPr sz="1200" b="1" i="1" spc="-15" dirty="0">
                <a:latin typeface="Times New Roman"/>
                <a:cs typeface="Times New Roman"/>
              </a:rPr>
              <a:t> </a:t>
            </a:r>
            <a:r>
              <a:rPr sz="1200" b="1" i="1" spc="-10" dirty="0">
                <a:latin typeface="Times New Roman"/>
                <a:cs typeface="Times New Roman"/>
              </a:rPr>
              <a:t>(202</a:t>
            </a:r>
            <a:r>
              <a:rPr lang="en-US" sz="1200" b="1" i="1" spc="-10" dirty="0">
                <a:latin typeface="Times New Roman"/>
                <a:cs typeface="Times New Roman"/>
              </a:rPr>
              <a:t>2</a:t>
            </a:r>
            <a:r>
              <a:rPr sz="1200" b="1" i="1" spc="-10" dirty="0">
                <a:latin typeface="Times New Roman"/>
                <a:cs typeface="Times New Roman"/>
              </a:rPr>
              <a:t>-202</a:t>
            </a:r>
            <a:r>
              <a:rPr lang="en-US" sz="1200" b="1" i="1" spc="-10" dirty="0">
                <a:latin typeface="Times New Roman"/>
                <a:cs typeface="Times New Roman"/>
              </a:rPr>
              <a:t>6</a:t>
            </a:r>
            <a:r>
              <a:rPr sz="1200" b="1" i="1" spc="-10" dirty="0">
                <a:latin typeface="Times New Roman"/>
                <a:cs typeface="Times New Roman"/>
              </a:rPr>
              <a:t>)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1619758"/>
            <a:ext cx="5695950" cy="5142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5080" indent="-38100" algn="ctr">
              <a:lnSpc>
                <a:spcPct val="1442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The</a:t>
            </a:r>
            <a:r>
              <a:rPr sz="1200" b="1" spc="4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candidate</a:t>
            </a:r>
            <a:r>
              <a:rPr sz="1200" b="1" spc="4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confirms</a:t>
            </a:r>
            <a:r>
              <a:rPr sz="1200" b="1" spc="4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that</a:t>
            </a:r>
            <a:r>
              <a:rPr sz="1200" b="1" spc="4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the</a:t>
            </a:r>
            <a:r>
              <a:rPr sz="1200" b="1" spc="4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work</a:t>
            </a:r>
            <a:r>
              <a:rPr sz="1200" b="1" spc="4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submitted</a:t>
            </a:r>
            <a:r>
              <a:rPr sz="1200" b="1" spc="4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is</a:t>
            </a:r>
            <a:r>
              <a:rPr sz="1200" b="1" spc="4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their</a:t>
            </a:r>
            <a:r>
              <a:rPr sz="1200" b="1" spc="4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own</a:t>
            </a:r>
            <a:r>
              <a:rPr sz="1200" b="1" spc="4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4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appropriate </a:t>
            </a:r>
            <a:r>
              <a:rPr sz="1200" b="1" dirty="0">
                <a:latin typeface="Times New Roman"/>
                <a:cs typeface="Times New Roman"/>
              </a:rPr>
              <a:t>credit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has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been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given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where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reference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has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been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made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to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the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work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of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others</a:t>
            </a:r>
            <a:r>
              <a:rPr sz="1200" spc="-10" dirty="0">
                <a:latin typeface="Times New Roman"/>
                <a:cs typeface="Times New Roman"/>
              </a:rPr>
              <a:t>.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295966" y="3106247"/>
            <a:ext cx="1169035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100"/>
              </a:spcBef>
            </a:pPr>
            <a:r>
              <a:rPr sz="1200" b="1" spc="-10" dirty="0">
                <a:latin typeface="Times New Roman"/>
                <a:cs typeface="Times New Roman"/>
              </a:rPr>
              <a:t>DECLARATION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176324" y="4031129"/>
            <a:ext cx="5695315" cy="186563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 algn="just">
              <a:lnSpc>
                <a:spcPct val="143800"/>
              </a:lnSpc>
              <a:spcBef>
                <a:spcPts val="90"/>
              </a:spcBef>
            </a:pPr>
            <a:r>
              <a:rPr sz="1200" dirty="0">
                <a:latin typeface="Times New Roman"/>
                <a:cs typeface="Times New Roman"/>
              </a:rPr>
              <a:t>We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hereby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declare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software,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neither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whole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nor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part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been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copied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from </a:t>
            </a:r>
            <a:r>
              <a:rPr sz="1200" dirty="0">
                <a:latin typeface="Times New Roman"/>
                <a:cs typeface="Times New Roman"/>
              </a:rPr>
              <a:t>any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source.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further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declared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have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developed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software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documentation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accompanied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report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entirely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basis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our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personal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efforts.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If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any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part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is </a:t>
            </a:r>
            <a:r>
              <a:rPr sz="1200" dirty="0">
                <a:latin typeface="Times New Roman"/>
                <a:cs typeface="Times New Roman"/>
              </a:rPr>
              <a:t>proved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 be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copied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any source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found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 be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reproduction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some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other. We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will </a:t>
            </a:r>
            <a:r>
              <a:rPr sz="1200" dirty="0">
                <a:latin typeface="Times New Roman"/>
                <a:cs typeface="Times New Roman"/>
              </a:rPr>
              <a:t>stand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consequences.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Portion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work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presented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has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been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submitted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any </a:t>
            </a:r>
            <a:r>
              <a:rPr sz="1200" dirty="0">
                <a:latin typeface="Times New Roman"/>
                <a:cs typeface="Times New Roman"/>
              </a:rPr>
              <a:t>application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any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other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degree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qualification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 or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any other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university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institute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spc="-10" dirty="0">
                <a:latin typeface="Times New Roman"/>
                <a:cs typeface="Times New Roman"/>
              </a:rPr>
              <a:t>learning.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1810082" y="7010400"/>
            <a:ext cx="1368425" cy="0"/>
          </a:xfrm>
          <a:custGeom>
            <a:avLst/>
            <a:gdLst/>
            <a:ahLst/>
            <a:cxnLst/>
            <a:rect l="l" t="t" r="r" b="b"/>
            <a:pathLst>
              <a:path w="1368425">
                <a:moveTo>
                  <a:pt x="0" y="0"/>
                </a:moveTo>
                <a:lnTo>
                  <a:pt x="1367974" y="0"/>
                </a:lnTo>
              </a:path>
            </a:pathLst>
          </a:custGeom>
          <a:ln w="1124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1810081" y="7924800"/>
            <a:ext cx="1368425" cy="0"/>
          </a:xfrm>
          <a:custGeom>
            <a:avLst/>
            <a:gdLst/>
            <a:ahLst/>
            <a:cxnLst/>
            <a:rect l="l" t="t" r="r" b="b"/>
            <a:pathLst>
              <a:path w="1368425">
                <a:moveTo>
                  <a:pt x="0" y="0"/>
                </a:moveTo>
                <a:lnTo>
                  <a:pt x="1367974" y="0"/>
                </a:lnTo>
              </a:path>
            </a:pathLst>
          </a:custGeom>
          <a:ln w="1124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/>
          <p:nvPr/>
        </p:nvSpPr>
        <p:spPr>
          <a:xfrm>
            <a:off x="4805045" y="7924800"/>
            <a:ext cx="1367155" cy="0"/>
          </a:xfrm>
          <a:custGeom>
            <a:avLst/>
            <a:gdLst/>
            <a:ahLst/>
            <a:cxnLst/>
            <a:rect l="l" t="t" r="r" b="b"/>
            <a:pathLst>
              <a:path w="1367154">
                <a:moveTo>
                  <a:pt x="0" y="0"/>
                </a:moveTo>
                <a:lnTo>
                  <a:pt x="1366603" y="0"/>
                </a:lnTo>
              </a:path>
            </a:pathLst>
          </a:custGeom>
          <a:ln w="1124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/>
          <p:nvPr/>
        </p:nvSpPr>
        <p:spPr>
          <a:xfrm>
            <a:off x="1958481" y="7135422"/>
            <a:ext cx="1071626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dirty="0">
                <a:latin typeface="Times New Roman"/>
                <a:cs typeface="Times New Roman"/>
              </a:rPr>
              <a:t>Hasnain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lang="en-US" sz="1200" spc="-10" dirty="0" err="1">
                <a:latin typeface="Times New Roman"/>
                <a:cs typeface="Times New Roman"/>
              </a:rPr>
              <a:t>Mahiva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12" name="object 1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2</a:t>
            </a:fld>
            <a:endParaRPr spc="-20" dirty="0"/>
          </a:p>
        </p:txBody>
      </p:sp>
      <p:sp>
        <p:nvSpPr>
          <p:cNvPr id="10" name="object 10"/>
          <p:cNvSpPr txBox="1"/>
          <p:nvPr/>
        </p:nvSpPr>
        <p:spPr>
          <a:xfrm>
            <a:off x="5000320" y="7115614"/>
            <a:ext cx="960119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dirty="0">
                <a:latin typeface="Times New Roman"/>
                <a:cs typeface="Times New Roman"/>
              </a:rPr>
              <a:t>Hafsa</a:t>
            </a:r>
            <a:r>
              <a:rPr sz="1200" spc="-60" dirty="0">
                <a:latin typeface="Times New Roman"/>
                <a:cs typeface="Times New Roman"/>
              </a:rPr>
              <a:t> </a:t>
            </a:r>
            <a:r>
              <a:rPr lang="en-US" sz="1200" spc="-20" dirty="0">
                <a:latin typeface="Times New Roman"/>
                <a:cs typeface="Times New Roman"/>
              </a:rPr>
              <a:t>Saeed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056143" y="8064335"/>
            <a:ext cx="87630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dirty="0">
                <a:latin typeface="Times New Roman"/>
                <a:cs typeface="Times New Roman"/>
              </a:rPr>
              <a:t>Ali</a:t>
            </a:r>
            <a:r>
              <a:rPr lang="en-US" sz="1200" spc="-50" dirty="0">
                <a:latin typeface="Times New Roman"/>
                <a:cs typeface="Times New Roman"/>
              </a:rPr>
              <a:t> Mahmood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13" name="object 6">
            <a:extLst>
              <a:ext uri="{FF2B5EF4-FFF2-40B4-BE49-F238E27FC236}">
                <a16:creationId xmlns:a16="http://schemas.microsoft.com/office/drawing/2014/main" id="{3ECE6DA2-AA16-5DD0-7DF4-D3350D5C0370}"/>
              </a:ext>
            </a:extLst>
          </p:cNvPr>
          <p:cNvSpPr/>
          <p:nvPr/>
        </p:nvSpPr>
        <p:spPr>
          <a:xfrm>
            <a:off x="4754900" y="7010400"/>
            <a:ext cx="1368425" cy="0"/>
          </a:xfrm>
          <a:custGeom>
            <a:avLst/>
            <a:gdLst/>
            <a:ahLst/>
            <a:cxnLst/>
            <a:rect l="l" t="t" r="r" b="b"/>
            <a:pathLst>
              <a:path w="1368425">
                <a:moveTo>
                  <a:pt x="0" y="0"/>
                </a:moveTo>
                <a:lnTo>
                  <a:pt x="1367974" y="0"/>
                </a:lnTo>
              </a:path>
            </a:pathLst>
          </a:custGeom>
          <a:ln w="1124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B9B335-2CF5-1B40-C914-ABF17B52068D}"/>
              </a:ext>
            </a:extLst>
          </p:cNvPr>
          <p:cNvSpPr txBox="1"/>
          <p:nvPr/>
        </p:nvSpPr>
        <p:spPr>
          <a:xfrm>
            <a:off x="4985079" y="7978414"/>
            <a:ext cx="9906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dirty="0">
                <a:latin typeface="Times New Roman"/>
                <a:cs typeface="Times New Roman"/>
              </a:rPr>
              <a:t>Zakria</a:t>
            </a:r>
            <a:r>
              <a:rPr lang="en-US" sz="1800" spc="-50" dirty="0">
                <a:latin typeface="Times New Roman"/>
                <a:cs typeface="Times New Roman"/>
              </a:rPr>
              <a:t> </a:t>
            </a:r>
            <a:r>
              <a:rPr lang="en-US" sz="1200" spc="-50" dirty="0">
                <a:latin typeface="Times New Roman"/>
                <a:cs typeface="Times New Roman"/>
              </a:rPr>
              <a:t>Aftab</a:t>
            </a:r>
            <a:endParaRPr lang="en-US"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3</a:t>
            </a:fld>
            <a:endParaRPr spc="-20" dirty="0"/>
          </a:p>
        </p:txBody>
      </p:sp>
      <p:sp>
        <p:nvSpPr>
          <p:cNvPr id="2" name="object 2"/>
          <p:cNvSpPr txBox="1"/>
          <p:nvPr/>
        </p:nvSpPr>
        <p:spPr>
          <a:xfrm>
            <a:off x="1176324" y="1755393"/>
            <a:ext cx="5696585" cy="19300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CERTIFICATE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OF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APPROVAL</a:t>
            </a: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5"/>
              </a:spcBef>
            </a:pPr>
            <a:endParaRPr sz="1200" dirty="0">
              <a:latin typeface="Times New Roman"/>
              <a:cs typeface="Times New Roman"/>
            </a:endParaRPr>
          </a:p>
          <a:p>
            <a:pPr marL="12700" marR="5080" algn="ctr">
              <a:lnSpc>
                <a:spcPct val="144000"/>
              </a:lnSpc>
            </a:pP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certify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final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year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BS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(CS)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“Auction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Abode”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developed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by </a:t>
            </a:r>
            <a:r>
              <a:rPr sz="1200" dirty="0">
                <a:latin typeface="Times New Roman"/>
                <a:cs typeface="Times New Roman"/>
              </a:rPr>
              <a:t>“</a:t>
            </a:r>
            <a:r>
              <a:rPr lang="en-US" sz="1200" b="1" dirty="0">
                <a:latin typeface="Times New Roman"/>
                <a:cs typeface="Times New Roman"/>
              </a:rPr>
              <a:t>Hasnain</a:t>
            </a:r>
            <a:r>
              <a:rPr sz="1200" b="1" spc="125" dirty="0">
                <a:latin typeface="Times New Roman"/>
                <a:cs typeface="Times New Roman"/>
              </a:rPr>
              <a:t> </a:t>
            </a:r>
            <a:r>
              <a:rPr lang="en-US" sz="1200" b="1" dirty="0" err="1">
                <a:latin typeface="Times New Roman"/>
                <a:cs typeface="Times New Roman"/>
              </a:rPr>
              <a:t>Mahvia</a:t>
            </a:r>
            <a:r>
              <a:rPr sz="1200" b="1" dirty="0">
                <a:latin typeface="Times New Roman"/>
                <a:cs typeface="Times New Roman"/>
              </a:rPr>
              <a:t>,</a:t>
            </a:r>
            <a:r>
              <a:rPr sz="1200" b="1" spc="1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2</a:t>
            </a:r>
            <a:r>
              <a:rPr lang="en-US" sz="1200" b="1" spc="-10" dirty="0">
                <a:latin typeface="Times New Roman"/>
                <a:cs typeface="Times New Roman"/>
              </a:rPr>
              <a:t>2</a:t>
            </a:r>
            <a:r>
              <a:rPr sz="1200" b="1" spc="-10" dirty="0">
                <a:latin typeface="Times New Roman"/>
                <a:cs typeface="Times New Roman"/>
              </a:rPr>
              <a:t>-Arid-</a:t>
            </a:r>
            <a:r>
              <a:rPr lang="en-US" sz="1200" b="1" spc="-10" dirty="0">
                <a:latin typeface="Times New Roman"/>
                <a:cs typeface="Times New Roman"/>
              </a:rPr>
              <a:t>487</a:t>
            </a:r>
            <a:r>
              <a:rPr sz="1200" b="1" dirty="0">
                <a:latin typeface="Times New Roman"/>
                <a:cs typeface="Times New Roman"/>
              </a:rPr>
              <a:t>”,</a:t>
            </a:r>
            <a:r>
              <a:rPr sz="1200" b="1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“</a:t>
            </a:r>
            <a:r>
              <a:rPr lang="en-US" sz="1200" b="1" dirty="0">
                <a:latin typeface="Times New Roman"/>
                <a:cs typeface="Times New Roman"/>
              </a:rPr>
              <a:t>Hafsa</a:t>
            </a:r>
            <a:r>
              <a:rPr lang="en-US" sz="1200" b="1" spc="135" dirty="0">
                <a:latin typeface="Times New Roman"/>
                <a:cs typeface="Times New Roman"/>
              </a:rPr>
              <a:t> </a:t>
            </a:r>
            <a:r>
              <a:rPr lang="en-US" sz="1200" b="1" dirty="0">
                <a:latin typeface="Times New Roman"/>
                <a:cs typeface="Times New Roman"/>
              </a:rPr>
              <a:t>Saeed</a:t>
            </a:r>
            <a:r>
              <a:rPr sz="1200" b="1" dirty="0">
                <a:latin typeface="Times New Roman"/>
                <a:cs typeface="Times New Roman"/>
              </a:rPr>
              <a:t>,</a:t>
            </a:r>
            <a:r>
              <a:rPr sz="1200" b="1" spc="1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2</a:t>
            </a:r>
            <a:r>
              <a:rPr lang="en-US" sz="1200" b="1" spc="-10" dirty="0">
                <a:latin typeface="Times New Roman"/>
                <a:cs typeface="Times New Roman"/>
              </a:rPr>
              <a:t>2</a:t>
            </a:r>
            <a:r>
              <a:rPr sz="1200" b="1" spc="-10" dirty="0">
                <a:latin typeface="Times New Roman"/>
                <a:cs typeface="Times New Roman"/>
              </a:rPr>
              <a:t>-Arid-</a:t>
            </a:r>
            <a:r>
              <a:rPr sz="1200" b="1" dirty="0">
                <a:latin typeface="Times New Roman"/>
                <a:cs typeface="Times New Roman"/>
              </a:rPr>
              <a:t>4</a:t>
            </a:r>
            <a:r>
              <a:rPr lang="en-US" sz="1200" b="1" dirty="0">
                <a:latin typeface="Times New Roman"/>
                <a:cs typeface="Times New Roman"/>
              </a:rPr>
              <a:t>83</a:t>
            </a:r>
            <a:r>
              <a:rPr sz="1200" dirty="0">
                <a:latin typeface="Times New Roman"/>
                <a:cs typeface="Times New Roman"/>
              </a:rPr>
              <a:t>”</a:t>
            </a:r>
            <a:r>
              <a:rPr sz="1200" b="1" dirty="0">
                <a:latin typeface="Times New Roman"/>
                <a:cs typeface="Times New Roman"/>
              </a:rPr>
              <a:t>,</a:t>
            </a:r>
            <a:r>
              <a:rPr sz="1200" b="1" spc="1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“</a:t>
            </a:r>
            <a:r>
              <a:rPr lang="en-US" sz="1200" b="1" dirty="0">
                <a:latin typeface="Times New Roman"/>
                <a:cs typeface="Times New Roman"/>
              </a:rPr>
              <a:t>Ali</a:t>
            </a:r>
            <a:r>
              <a:rPr sz="1200" b="1" spc="130" dirty="0">
                <a:latin typeface="Times New Roman"/>
                <a:cs typeface="Times New Roman"/>
              </a:rPr>
              <a:t> </a:t>
            </a:r>
            <a:r>
              <a:rPr lang="en-US" sz="1200" b="1" spc="130" dirty="0">
                <a:latin typeface="Times New Roman"/>
                <a:cs typeface="Times New Roman"/>
              </a:rPr>
              <a:t>Mahmood</a:t>
            </a:r>
            <a:r>
              <a:rPr sz="1200" b="1" dirty="0">
                <a:latin typeface="Times New Roman"/>
                <a:cs typeface="Times New Roman"/>
              </a:rPr>
              <a:t>,</a:t>
            </a:r>
            <a:r>
              <a:rPr sz="1200" b="1" spc="125" dirty="0">
                <a:latin typeface="Times New Roman"/>
                <a:cs typeface="Times New Roman"/>
              </a:rPr>
              <a:t> </a:t>
            </a:r>
            <a:r>
              <a:rPr sz="1200" b="1" spc="-25" dirty="0">
                <a:latin typeface="Times New Roman"/>
                <a:cs typeface="Times New Roman"/>
              </a:rPr>
              <a:t>2</a:t>
            </a:r>
            <a:r>
              <a:rPr lang="en-US" sz="1200" b="1" spc="-25" dirty="0">
                <a:latin typeface="Times New Roman"/>
                <a:cs typeface="Times New Roman"/>
              </a:rPr>
              <a:t>2</a:t>
            </a:r>
            <a:r>
              <a:rPr sz="1200" b="1" spc="-25" dirty="0">
                <a:latin typeface="Times New Roman"/>
                <a:cs typeface="Times New Roman"/>
              </a:rPr>
              <a:t>- </a:t>
            </a:r>
            <a:r>
              <a:rPr sz="1200" b="1" spc="-10" dirty="0">
                <a:latin typeface="Times New Roman"/>
                <a:cs typeface="Times New Roman"/>
              </a:rPr>
              <a:t>Arid-</a:t>
            </a:r>
            <a:r>
              <a:rPr sz="1200" b="1" dirty="0">
                <a:latin typeface="Times New Roman"/>
                <a:cs typeface="Times New Roman"/>
              </a:rPr>
              <a:t>4</a:t>
            </a:r>
            <a:r>
              <a:rPr lang="en-US" sz="1200" b="1" dirty="0">
                <a:latin typeface="Times New Roman"/>
                <a:cs typeface="Times New Roman"/>
              </a:rPr>
              <a:t>97</a:t>
            </a:r>
            <a:r>
              <a:rPr sz="1200" dirty="0">
                <a:latin typeface="Times New Roman"/>
                <a:cs typeface="Times New Roman"/>
              </a:rPr>
              <a:t>”</a:t>
            </a:r>
            <a:r>
              <a:rPr lang="en-US" sz="1200" b="1" dirty="0">
                <a:latin typeface="Times New Roman"/>
                <a:cs typeface="Times New Roman"/>
              </a:rPr>
              <a:t>,</a:t>
            </a:r>
            <a:r>
              <a:rPr lang="en-US" sz="1200" b="1" spc="125" dirty="0">
                <a:latin typeface="Times New Roman"/>
                <a:cs typeface="Times New Roman"/>
              </a:rPr>
              <a:t> </a:t>
            </a:r>
            <a:r>
              <a:rPr lang="en-US" sz="1200" dirty="0">
                <a:latin typeface="Times New Roman"/>
                <a:cs typeface="Times New Roman"/>
              </a:rPr>
              <a:t>“</a:t>
            </a:r>
            <a:r>
              <a:rPr lang="en-US" sz="1200" b="1" dirty="0">
                <a:latin typeface="Times New Roman"/>
                <a:cs typeface="Times New Roman"/>
              </a:rPr>
              <a:t>Zakria</a:t>
            </a:r>
            <a:r>
              <a:rPr lang="en-US" sz="1200" b="1" spc="135" dirty="0">
                <a:latin typeface="Times New Roman"/>
                <a:cs typeface="Times New Roman"/>
              </a:rPr>
              <a:t> </a:t>
            </a:r>
            <a:r>
              <a:rPr lang="en-US" sz="1200" b="1" dirty="0">
                <a:latin typeface="Times New Roman"/>
                <a:cs typeface="Times New Roman"/>
              </a:rPr>
              <a:t>Aftab,</a:t>
            </a:r>
            <a:r>
              <a:rPr lang="en-US" sz="1200" b="1" spc="125" dirty="0">
                <a:latin typeface="Times New Roman"/>
                <a:cs typeface="Times New Roman"/>
              </a:rPr>
              <a:t> </a:t>
            </a:r>
            <a:r>
              <a:rPr lang="en-US" sz="1200" b="1" spc="-10" dirty="0">
                <a:latin typeface="Times New Roman"/>
                <a:cs typeface="Times New Roman"/>
              </a:rPr>
              <a:t>22-Arid-533</a:t>
            </a:r>
            <a:r>
              <a:rPr lang="en-US" sz="1200" dirty="0">
                <a:latin typeface="Times New Roman"/>
                <a:cs typeface="Times New Roman"/>
              </a:rPr>
              <a:t>”.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supervision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“</a:t>
            </a:r>
            <a:r>
              <a:rPr lang="en-US" sz="1200" b="1" dirty="0">
                <a:latin typeface="Times New Roman"/>
                <a:cs typeface="Times New Roman"/>
              </a:rPr>
              <a:t>Ms.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lang="en-US" sz="1200" b="1" dirty="0">
                <a:latin typeface="Times New Roman"/>
                <a:cs typeface="Times New Roman"/>
              </a:rPr>
              <a:t>Fakhar Un Nisa</a:t>
            </a:r>
            <a:r>
              <a:rPr sz="1200" dirty="0">
                <a:latin typeface="Times New Roman"/>
                <a:cs typeface="Times New Roman"/>
              </a:rPr>
              <a:t>”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opinion;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fully </a:t>
            </a:r>
            <a:r>
              <a:rPr sz="1200" dirty="0">
                <a:latin typeface="Times New Roman"/>
                <a:cs typeface="Times New Roman"/>
              </a:rPr>
              <a:t>adequate,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scope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quality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degree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Bachelors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Science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Computer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Science.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879089" y="4953000"/>
            <a:ext cx="2002789" cy="85702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10" dirty="0">
                <a:latin typeface="Times New Roman"/>
                <a:cs typeface="Times New Roman"/>
              </a:rPr>
              <a:t>-</a:t>
            </a:r>
            <a:r>
              <a:rPr sz="1200" b="1" spc="-20" dirty="0">
                <a:latin typeface="Times New Roman"/>
                <a:cs typeface="Times New Roman"/>
              </a:rPr>
              <a:t>-</a:t>
            </a:r>
            <a:r>
              <a:rPr sz="1200" b="1" spc="-10" dirty="0">
                <a:latin typeface="Times New Roman"/>
                <a:cs typeface="Times New Roman"/>
              </a:rPr>
              <a:t>---</a:t>
            </a:r>
            <a:r>
              <a:rPr sz="1200" b="1" spc="-20" dirty="0">
                <a:latin typeface="Times New Roman"/>
                <a:cs typeface="Times New Roman"/>
              </a:rPr>
              <a:t>-</a:t>
            </a:r>
            <a:r>
              <a:rPr sz="1200" b="1" spc="-10" dirty="0">
                <a:latin typeface="Times New Roman"/>
                <a:cs typeface="Times New Roman"/>
              </a:rPr>
              <a:t>---</a:t>
            </a:r>
            <a:r>
              <a:rPr sz="1200" b="1" spc="-20" dirty="0">
                <a:latin typeface="Times New Roman"/>
                <a:cs typeface="Times New Roman"/>
              </a:rPr>
              <a:t>-</a:t>
            </a:r>
            <a:r>
              <a:rPr sz="1200" b="1" dirty="0">
                <a:latin typeface="Times New Roman"/>
                <a:cs typeface="Times New Roman"/>
              </a:rPr>
              <a:t>-</a:t>
            </a:r>
            <a:r>
              <a:rPr sz="1200" b="1" spc="-10" dirty="0">
                <a:latin typeface="Times New Roman"/>
                <a:cs typeface="Times New Roman"/>
              </a:rPr>
              <a:t>-</a:t>
            </a:r>
            <a:r>
              <a:rPr sz="1200" b="1" spc="-20" dirty="0">
                <a:latin typeface="Times New Roman"/>
                <a:cs typeface="Times New Roman"/>
              </a:rPr>
              <a:t>-</a:t>
            </a:r>
            <a:r>
              <a:rPr sz="1200" b="1" dirty="0">
                <a:latin typeface="Times New Roman"/>
                <a:cs typeface="Times New Roman"/>
              </a:rPr>
              <a:t>-</a:t>
            </a:r>
            <a:r>
              <a:rPr sz="1200" b="1" spc="-10" dirty="0">
                <a:latin typeface="Times New Roman"/>
                <a:cs typeface="Times New Roman"/>
              </a:rPr>
              <a:t>-</a:t>
            </a:r>
            <a:r>
              <a:rPr sz="1200" b="1" spc="-20" dirty="0">
                <a:latin typeface="Times New Roman"/>
                <a:cs typeface="Times New Roman"/>
              </a:rPr>
              <a:t>-</a:t>
            </a:r>
            <a:r>
              <a:rPr sz="1200" b="1" spc="-10" dirty="0">
                <a:latin typeface="Times New Roman"/>
                <a:cs typeface="Times New Roman"/>
              </a:rPr>
              <a:t>---</a:t>
            </a:r>
            <a:r>
              <a:rPr sz="1200" b="1" spc="-20" dirty="0">
                <a:latin typeface="Times New Roman"/>
                <a:cs typeface="Times New Roman"/>
              </a:rPr>
              <a:t>-</a:t>
            </a:r>
            <a:r>
              <a:rPr sz="1200" b="1" dirty="0">
                <a:latin typeface="Times New Roman"/>
                <a:cs typeface="Times New Roman"/>
              </a:rPr>
              <a:t>-</a:t>
            </a:r>
            <a:r>
              <a:rPr sz="1200" b="1" spc="-10" dirty="0">
                <a:latin typeface="Times New Roman"/>
                <a:cs typeface="Times New Roman"/>
              </a:rPr>
              <a:t>-</a:t>
            </a:r>
            <a:r>
              <a:rPr sz="1200" b="1" spc="-20" dirty="0">
                <a:latin typeface="Times New Roman"/>
                <a:cs typeface="Times New Roman"/>
              </a:rPr>
              <a:t>-</a:t>
            </a:r>
            <a:r>
              <a:rPr sz="1200" b="1" dirty="0">
                <a:latin typeface="Times New Roman"/>
                <a:cs typeface="Times New Roman"/>
              </a:rPr>
              <a:t>-</a:t>
            </a:r>
            <a:r>
              <a:rPr sz="1200" b="1" spc="-10" dirty="0">
                <a:latin typeface="Times New Roman"/>
                <a:cs typeface="Times New Roman"/>
              </a:rPr>
              <a:t>-</a:t>
            </a:r>
            <a:r>
              <a:rPr sz="1200" b="1" spc="-20" dirty="0">
                <a:latin typeface="Times New Roman"/>
                <a:cs typeface="Times New Roman"/>
              </a:rPr>
              <a:t>-</a:t>
            </a:r>
            <a:r>
              <a:rPr sz="1200" b="1" spc="-10" dirty="0">
                <a:latin typeface="Times New Roman"/>
                <a:cs typeface="Times New Roman"/>
              </a:rPr>
              <a:t>-----</a:t>
            </a:r>
            <a:r>
              <a:rPr sz="1200" b="1" spc="-20" dirty="0">
                <a:latin typeface="Times New Roman"/>
                <a:cs typeface="Times New Roman"/>
              </a:rPr>
              <a:t>-</a:t>
            </a:r>
            <a:r>
              <a:rPr sz="1200" b="1" spc="-10" dirty="0">
                <a:latin typeface="Times New Roman"/>
                <a:cs typeface="Times New Roman"/>
              </a:rPr>
              <a:t>---</a:t>
            </a:r>
            <a:r>
              <a:rPr sz="1200" b="1" spc="-20" dirty="0">
                <a:latin typeface="Times New Roman"/>
                <a:cs typeface="Times New Roman"/>
              </a:rPr>
              <a:t>-</a:t>
            </a:r>
            <a:r>
              <a:rPr sz="1200" b="1" spc="-10" dirty="0">
                <a:latin typeface="Times New Roman"/>
                <a:cs typeface="Times New Roman"/>
              </a:rPr>
              <a:t>--</a:t>
            </a:r>
            <a:r>
              <a:rPr sz="1200" b="1" spc="-50" dirty="0">
                <a:latin typeface="Times New Roman"/>
                <a:cs typeface="Times New Roman"/>
              </a:rPr>
              <a:t>-</a:t>
            </a:r>
            <a:endParaRPr sz="1200" dirty="0">
              <a:latin typeface="Times New Roman"/>
              <a:cs typeface="Times New Roman"/>
            </a:endParaRPr>
          </a:p>
          <a:p>
            <a:pPr marL="646430" marR="208915" indent="-509270" algn="ctr">
              <a:lnSpc>
                <a:spcPct val="185000"/>
              </a:lnSpc>
              <a:spcBef>
                <a:spcPts val="95"/>
              </a:spcBef>
            </a:pPr>
            <a:r>
              <a:rPr sz="1200" b="1" dirty="0">
                <a:latin typeface="Times New Roman"/>
                <a:cs typeface="Times New Roman"/>
              </a:rPr>
              <a:t>(M</a:t>
            </a:r>
            <a:r>
              <a:rPr lang="en-US" sz="1200" b="1" dirty="0">
                <a:latin typeface="Times New Roman"/>
                <a:cs typeface="Times New Roman"/>
              </a:rPr>
              <a:t>s</a:t>
            </a:r>
            <a:r>
              <a:rPr sz="1200" b="1" dirty="0">
                <a:latin typeface="Times New Roman"/>
                <a:cs typeface="Times New Roman"/>
              </a:rPr>
              <a:t>.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lang="en-US" sz="1200" b="1" spc="-10" dirty="0">
                <a:latin typeface="Times New Roman"/>
                <a:cs typeface="Times New Roman"/>
              </a:rPr>
              <a:t>Fakhar Un Nisa</a:t>
            </a:r>
            <a:r>
              <a:rPr sz="1200" b="1" spc="-10" dirty="0">
                <a:latin typeface="Times New Roman"/>
                <a:cs typeface="Times New Roman"/>
              </a:rPr>
              <a:t>)</a:t>
            </a:r>
            <a:endParaRPr lang="en-US" sz="1200" b="1" spc="-10" dirty="0">
              <a:latin typeface="Times New Roman"/>
              <a:cs typeface="Times New Roman"/>
            </a:endParaRPr>
          </a:p>
          <a:p>
            <a:pPr marL="646430" marR="208915" indent="-509270" algn="ctr">
              <a:lnSpc>
                <a:spcPct val="185000"/>
              </a:lnSpc>
              <a:spcBef>
                <a:spcPts val="95"/>
              </a:spcBef>
            </a:pPr>
            <a:r>
              <a:rPr lang="en-US" sz="1200" b="1" spc="-10" dirty="0">
                <a:latin typeface="Times New Roman"/>
                <a:cs typeface="Times New Roman"/>
              </a:rPr>
              <a:t>Supervisor</a:t>
            </a:r>
            <a:endParaRPr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4</a:t>
            </a:fld>
            <a:endParaRPr spc="-20" dirty="0"/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6585" cy="72288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Executive</a:t>
            </a:r>
            <a:r>
              <a:rPr sz="1200" b="1" spc="-6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Summary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7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"Auction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Abode: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Platform"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innovative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solution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redefines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integrating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bidding,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artificial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intelligence,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enhanced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measures.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Addressing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challenges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accessibility,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transparency,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prevention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transactions,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seamless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trustworthy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experience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administrators.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9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features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project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include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powered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Socket.io</a:t>
            </a:r>
            <a:r>
              <a:rPr sz="1200" b="1" spc="-10" dirty="0">
                <a:latin typeface="Times New Roman"/>
                <a:cs typeface="Times New Roman"/>
              </a:rPr>
              <a:t>,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ensuring </a:t>
            </a:r>
            <a:r>
              <a:rPr sz="1200" dirty="0">
                <a:latin typeface="Times New Roman"/>
                <a:cs typeface="Times New Roman"/>
              </a:rPr>
              <a:t>instant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participants.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suggestion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engine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leverages historical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market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trends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recommend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optimal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assisting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in </a:t>
            </a:r>
            <a:r>
              <a:rPr sz="1200" dirty="0">
                <a:latin typeface="Times New Roman"/>
                <a:cs typeface="Times New Roman"/>
              </a:rPr>
              <a:t>making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informed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decisions.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Additionally,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automated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verification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employs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natural </a:t>
            </a:r>
            <a:r>
              <a:rPr sz="1200" dirty="0">
                <a:latin typeface="Times New Roman"/>
                <a:cs typeface="Times New Roman"/>
              </a:rPr>
              <a:t>language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processing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(NLP)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algorithms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authenticate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documents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prevent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fraudulent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listings.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715" algn="just">
              <a:lnSpc>
                <a:spcPct val="1437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platform’s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scalable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responsive</a:t>
            </a:r>
            <a:r>
              <a:rPr sz="1200" spc="3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architecture,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built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3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React.js,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Node.js,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MongoDB,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performance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smooth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experience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even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peak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 </a:t>
            </a:r>
            <a:r>
              <a:rPr sz="1200" dirty="0">
                <a:latin typeface="Times New Roman"/>
                <a:cs typeface="Times New Roman"/>
              </a:rPr>
              <a:t>activity.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Geo-</a:t>
            </a:r>
            <a:r>
              <a:rPr sz="1200" dirty="0">
                <a:latin typeface="Times New Roman"/>
                <a:cs typeface="Times New Roman"/>
              </a:rPr>
              <a:t>fenced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notifications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personalized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subscriptions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enhance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engagement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providing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relevant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alerts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location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preferences.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Secure authentication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JWT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(JSON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Web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Tokens)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SSL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encryption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further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strengthens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 security.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800"/>
              </a:lnSpc>
            </a:pPr>
            <a:r>
              <a:rPr sz="1200" spc="-10" dirty="0">
                <a:latin typeface="Times New Roman"/>
                <a:cs typeface="Times New Roman"/>
              </a:rPr>
              <a:t>With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focus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inclusivity,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Abode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democratizes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investments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eliminating </a:t>
            </a:r>
            <a:r>
              <a:rPr sz="1200" dirty="0">
                <a:latin typeface="Times New Roman"/>
                <a:cs typeface="Times New Roman"/>
              </a:rPr>
              <a:t>geographical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barriers,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enabling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diverse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backgrounds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participate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auctions </a:t>
            </a:r>
            <a:r>
              <a:rPr sz="1200" dirty="0">
                <a:latin typeface="Times New Roman"/>
                <a:cs typeface="Times New Roman"/>
              </a:rPr>
              <a:t>effortlessly.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Its compliance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 auction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regulations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legal transparency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reliability,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while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its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cloud-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infrastructure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guarantees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accessibility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across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devices.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By </a:t>
            </a:r>
            <a:r>
              <a:rPr sz="1200" dirty="0">
                <a:latin typeface="Times New Roman"/>
                <a:cs typeface="Times New Roman"/>
              </a:rPr>
              <a:t>combining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 responsiveness,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driven insights,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robust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security,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 </a:t>
            </a:r>
            <a:r>
              <a:rPr sz="1200" spc="-10" dirty="0">
                <a:latin typeface="Times New Roman"/>
                <a:cs typeface="Times New Roman"/>
              </a:rPr>
              <a:t>Abode </a:t>
            </a:r>
            <a:r>
              <a:rPr sz="1200" dirty="0">
                <a:latin typeface="Times New Roman"/>
                <a:cs typeface="Times New Roman"/>
              </a:rPr>
              <a:t>aims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revolutionize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landscape,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fostering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more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efficient,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fair,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accessible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all.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-5716" y="955103"/>
            <a:ext cx="7772400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Times New Roman"/>
                <a:cs typeface="Times New Roman"/>
              </a:rPr>
              <a:t>Acknowledgement</a:t>
            </a:r>
            <a:endParaRPr sz="1600" dirty="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1926082"/>
            <a:ext cx="5695950" cy="26974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44200"/>
              </a:lnSpc>
              <a:spcBef>
                <a:spcPts val="100"/>
              </a:spcBef>
            </a:pP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praise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Almighty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Allah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who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bestowed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upon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minute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portion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His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boundless </a:t>
            </a:r>
            <a:r>
              <a:rPr sz="1200" dirty="0">
                <a:latin typeface="Times New Roman"/>
                <a:cs typeface="Times New Roman"/>
              </a:rPr>
              <a:t>knowledge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virtue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which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able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accomplish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challenging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task.</a:t>
            </a: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5"/>
              </a:spcBef>
            </a:pPr>
            <a:endParaRPr sz="1200" dirty="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900"/>
              </a:lnSpc>
            </a:pPr>
            <a:r>
              <a:rPr sz="1200" dirty="0">
                <a:latin typeface="Times New Roman"/>
                <a:cs typeface="Times New Roman"/>
              </a:rPr>
              <a:t>We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greatly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indebted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our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supervisor</a:t>
            </a:r>
            <a:r>
              <a:rPr sz="1200" spc="4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“</a:t>
            </a:r>
            <a:r>
              <a:rPr lang="en-US" sz="1200" dirty="0">
                <a:latin typeface="Times New Roman"/>
                <a:cs typeface="Times New Roman"/>
              </a:rPr>
              <a:t>Ms.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lang="en-US" sz="1200" dirty="0">
                <a:latin typeface="Times New Roman"/>
                <a:cs typeface="Times New Roman"/>
              </a:rPr>
              <a:t>Fakhar Un Nisa</a:t>
            </a:r>
            <a:r>
              <a:rPr sz="1200" dirty="0">
                <a:latin typeface="Times New Roman"/>
                <a:cs typeface="Times New Roman"/>
              </a:rPr>
              <a:t>”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personal supervision,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advice,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valuable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guidance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completion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project.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deeply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indebted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him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encouragement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continual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10" dirty="0">
                <a:latin typeface="Times New Roman"/>
                <a:cs typeface="Times New Roman"/>
              </a:rPr>
              <a:t> work.</a:t>
            </a: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15"/>
              </a:spcBef>
            </a:pPr>
            <a:endParaRPr sz="1200" dirty="0">
              <a:latin typeface="Times New Roman"/>
              <a:cs typeface="Times New Roman"/>
            </a:endParaRPr>
          </a:p>
          <a:p>
            <a:pPr marL="12700" marR="10160" algn="just">
              <a:lnSpc>
                <a:spcPct val="1433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thankful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our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parents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family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who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have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been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constant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source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spc="-10" dirty="0">
                <a:latin typeface="Times New Roman"/>
                <a:cs typeface="Times New Roman"/>
              </a:rPr>
              <a:t>encouragement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brought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values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honesty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&amp;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hard</a:t>
            </a:r>
            <a:r>
              <a:rPr sz="1200" spc="-10" dirty="0">
                <a:latin typeface="Times New Roman"/>
                <a:cs typeface="Times New Roman"/>
              </a:rPr>
              <a:t> work.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159002" y="5334000"/>
            <a:ext cx="1369060" cy="0"/>
          </a:xfrm>
          <a:custGeom>
            <a:avLst/>
            <a:gdLst/>
            <a:ahLst/>
            <a:cxnLst/>
            <a:rect l="l" t="t" r="r" b="b"/>
            <a:pathLst>
              <a:path w="1369060">
                <a:moveTo>
                  <a:pt x="0" y="0"/>
                </a:moveTo>
                <a:lnTo>
                  <a:pt x="1369044" y="0"/>
                </a:lnTo>
              </a:path>
            </a:pathLst>
          </a:custGeom>
          <a:ln w="1124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/>
          <p:nvPr/>
        </p:nvSpPr>
        <p:spPr>
          <a:xfrm flipV="1">
            <a:off x="4727575" y="5320549"/>
            <a:ext cx="1368425" cy="45719"/>
          </a:xfrm>
          <a:custGeom>
            <a:avLst/>
            <a:gdLst/>
            <a:ahLst/>
            <a:cxnLst/>
            <a:rect l="l" t="t" r="r" b="b"/>
            <a:pathLst>
              <a:path w="1368425">
                <a:moveTo>
                  <a:pt x="0" y="0"/>
                </a:moveTo>
                <a:lnTo>
                  <a:pt x="1367974" y="0"/>
                </a:lnTo>
              </a:path>
            </a:pathLst>
          </a:custGeom>
          <a:ln w="1124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2160907" y="6449948"/>
            <a:ext cx="1367155" cy="0"/>
          </a:xfrm>
          <a:custGeom>
            <a:avLst/>
            <a:gdLst/>
            <a:ahLst/>
            <a:cxnLst/>
            <a:rect l="l" t="t" r="r" b="b"/>
            <a:pathLst>
              <a:path w="1367154">
                <a:moveTo>
                  <a:pt x="0" y="0"/>
                </a:moveTo>
                <a:lnTo>
                  <a:pt x="1366603" y="0"/>
                </a:lnTo>
              </a:path>
            </a:pathLst>
          </a:custGeom>
          <a:ln w="1124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2269619" y="5486400"/>
            <a:ext cx="1147826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dirty="0">
                <a:latin typeface="Times New Roman"/>
                <a:cs typeface="Times New Roman"/>
              </a:rPr>
              <a:t>Hasnain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lang="en-US" sz="1200" spc="-10" dirty="0" err="1">
                <a:latin typeface="Times New Roman"/>
                <a:cs typeface="Times New Roman"/>
              </a:rPr>
              <a:t>Mahvia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5</a:t>
            </a:fld>
            <a:endParaRPr spc="-20" dirty="0"/>
          </a:p>
        </p:txBody>
      </p:sp>
      <p:sp>
        <p:nvSpPr>
          <p:cNvPr id="8" name="object 8"/>
          <p:cNvSpPr txBox="1"/>
          <p:nvPr/>
        </p:nvSpPr>
        <p:spPr>
          <a:xfrm>
            <a:off x="4992170" y="5585145"/>
            <a:ext cx="960119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dirty="0">
                <a:latin typeface="Times New Roman"/>
                <a:cs typeface="Times New Roman"/>
              </a:rPr>
              <a:t>Hafsa</a:t>
            </a:r>
            <a:r>
              <a:rPr sz="1200" spc="-60" dirty="0">
                <a:latin typeface="Times New Roman"/>
                <a:cs typeface="Times New Roman"/>
              </a:rPr>
              <a:t> </a:t>
            </a:r>
            <a:r>
              <a:rPr lang="en-US" sz="1200" spc="-20" dirty="0">
                <a:latin typeface="Times New Roman"/>
                <a:cs typeface="Times New Roman"/>
              </a:rPr>
              <a:t>Saeed</a:t>
            </a:r>
            <a:endParaRPr sz="1200" dirty="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405382" y="6615047"/>
            <a:ext cx="876300" cy="1974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dirty="0">
                <a:latin typeface="Times New Roman"/>
                <a:cs typeface="Times New Roman"/>
              </a:rPr>
              <a:t>Ali</a:t>
            </a:r>
            <a:r>
              <a:rPr lang="en-US" sz="1200" spc="-50" dirty="0">
                <a:latin typeface="Times New Roman"/>
                <a:cs typeface="Times New Roman"/>
              </a:rPr>
              <a:t> </a:t>
            </a:r>
            <a:r>
              <a:rPr lang="en-US" sz="1200" spc="-20" dirty="0">
                <a:latin typeface="Times New Roman"/>
                <a:cs typeface="Times New Roman"/>
              </a:rPr>
              <a:t>Mahmood</a:t>
            </a:r>
            <a:endParaRPr lang="en-US" sz="1200" dirty="0">
              <a:latin typeface="Times New Roman"/>
              <a:cs typeface="Times New Roman"/>
            </a:endParaRPr>
          </a:p>
        </p:txBody>
      </p:sp>
      <p:sp>
        <p:nvSpPr>
          <p:cNvPr id="11" name="object 6">
            <a:extLst>
              <a:ext uri="{FF2B5EF4-FFF2-40B4-BE49-F238E27FC236}">
                <a16:creationId xmlns:a16="http://schemas.microsoft.com/office/drawing/2014/main" id="{F6A79E18-BCD2-9781-C04E-AAE36D367711}"/>
              </a:ext>
            </a:extLst>
          </p:cNvPr>
          <p:cNvSpPr/>
          <p:nvPr/>
        </p:nvSpPr>
        <p:spPr>
          <a:xfrm>
            <a:off x="4712399" y="6449948"/>
            <a:ext cx="1367155" cy="0"/>
          </a:xfrm>
          <a:custGeom>
            <a:avLst/>
            <a:gdLst/>
            <a:ahLst/>
            <a:cxnLst/>
            <a:rect l="l" t="t" r="r" b="b"/>
            <a:pathLst>
              <a:path w="1367154">
                <a:moveTo>
                  <a:pt x="0" y="0"/>
                </a:moveTo>
                <a:lnTo>
                  <a:pt x="1366603" y="0"/>
                </a:lnTo>
              </a:path>
            </a:pathLst>
          </a:custGeom>
          <a:ln w="11246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6B1771-5F56-4A7F-D83F-DC96694E17E5}"/>
              </a:ext>
            </a:extLst>
          </p:cNvPr>
          <p:cNvSpPr txBox="1"/>
          <p:nvPr/>
        </p:nvSpPr>
        <p:spPr>
          <a:xfrm>
            <a:off x="4893055" y="6615047"/>
            <a:ext cx="103746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1200" dirty="0">
                <a:latin typeface="Times New Roman"/>
                <a:cs typeface="Times New Roman"/>
              </a:rPr>
              <a:t>Zakria</a:t>
            </a:r>
            <a:r>
              <a:rPr lang="en-US" sz="1200" spc="-50" dirty="0">
                <a:latin typeface="Times New Roman"/>
                <a:cs typeface="Times New Roman"/>
              </a:rPr>
              <a:t> </a:t>
            </a:r>
            <a:r>
              <a:rPr lang="en-US" sz="1200" spc="-20" dirty="0">
                <a:latin typeface="Times New Roman"/>
                <a:cs typeface="Times New Roman"/>
              </a:rPr>
              <a:t>Aftab</a:t>
            </a:r>
            <a:endParaRPr lang="en-US"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6</a:t>
            </a:fld>
            <a:endParaRPr spc="-20" dirty="0"/>
          </a:p>
        </p:txBody>
      </p:sp>
      <p:sp>
        <p:nvSpPr>
          <p:cNvPr id="2" name="object 2"/>
          <p:cNvSpPr txBox="1"/>
          <p:nvPr/>
        </p:nvSpPr>
        <p:spPr>
          <a:xfrm>
            <a:off x="1034731" y="1066800"/>
            <a:ext cx="5691505" cy="7081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latin typeface="Times New Roman"/>
                <a:cs typeface="Times New Roman"/>
              </a:rPr>
              <a:t>Table</a:t>
            </a:r>
            <a:r>
              <a:rPr sz="1600" b="1" spc="-2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of</a:t>
            </a:r>
            <a:r>
              <a:rPr sz="1600" b="1" spc="-20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Contents</a:t>
            </a:r>
            <a:endParaRPr sz="1600" dirty="0">
              <a:latin typeface="Times New Roman"/>
              <a:cs typeface="Times New Roman"/>
            </a:endParaRPr>
          </a:p>
          <a:p>
            <a:pPr marL="13970">
              <a:lnSpc>
                <a:spcPct val="100000"/>
              </a:lnSpc>
              <a:spcBef>
                <a:spcPts val="1470"/>
              </a:spcBef>
            </a:pPr>
            <a:r>
              <a:rPr sz="1200" b="1" dirty="0">
                <a:latin typeface="Times New Roman"/>
                <a:cs typeface="Times New Roman"/>
              </a:rPr>
              <a:t>Chapter</a:t>
            </a:r>
            <a:r>
              <a:rPr sz="1200" b="1" spc="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1:</a:t>
            </a:r>
            <a:r>
              <a:rPr sz="1200" b="1" spc="1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  <a:hlinkClick r:id="rId2" action="ppaction://hlinksldjump"/>
              </a:rPr>
              <a:t>Introduction</a:t>
            </a:r>
            <a:r>
              <a:rPr sz="1200" b="1" spc="-175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b="1" dirty="0">
                <a:latin typeface="Times New Roman"/>
                <a:cs typeface="Times New Roman"/>
                <a:hlinkClick r:id="rId2" action="ppaction://hlinksldjump"/>
              </a:rPr>
              <a:t>......................................................................................................</a:t>
            </a:r>
            <a:r>
              <a:rPr sz="1200" b="1" spc="-10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b="1" spc="-25" dirty="0">
                <a:latin typeface="Times New Roman"/>
                <a:cs typeface="Times New Roman"/>
                <a:hlinkClick r:id="rId2" action="ppaction://hlinksldjump"/>
              </a:rPr>
              <a:t>11</a:t>
            </a:r>
            <a:endParaRPr sz="1200" dirty="0">
              <a:latin typeface="Times New Roman"/>
              <a:cs typeface="Times New Roman"/>
            </a:endParaRPr>
          </a:p>
          <a:p>
            <a:pPr marL="242570" lvl="1" indent="-228600">
              <a:lnSpc>
                <a:spcPct val="100000"/>
              </a:lnSpc>
              <a:spcBef>
                <a:spcPts val="1220"/>
              </a:spcBef>
              <a:buSzPct val="91666"/>
              <a:buAutoNum type="arabicPeriod"/>
              <a:tabLst>
                <a:tab pos="242570" algn="l"/>
                <a:tab pos="727075" algn="l"/>
              </a:tabLst>
            </a:pPr>
            <a:r>
              <a:rPr sz="1200" spc="-10" dirty="0">
                <a:latin typeface="Times New Roman"/>
                <a:cs typeface="Times New Roman"/>
                <a:hlinkClick r:id="rId2" action="ppaction://hlinksldjump"/>
              </a:rPr>
              <a:t>Brief</a:t>
            </a:r>
            <a:r>
              <a:rPr sz="1200" dirty="0">
                <a:latin typeface="Times New Roman"/>
                <a:cs typeface="Times New Roman"/>
                <a:hlinkClick r:id="rId2" action="ppaction://hlinksldjump"/>
              </a:rPr>
              <a:t>	.............................................................................................................................</a:t>
            </a:r>
            <a:r>
              <a:rPr sz="1200" spc="-25" dirty="0">
                <a:latin typeface="Times New Roman"/>
                <a:cs typeface="Times New Roman"/>
                <a:hlinkClick r:id="rId2" action="ppaction://hlinksldjump"/>
              </a:rPr>
              <a:t> 11</a:t>
            </a:r>
            <a:endParaRPr sz="1200" dirty="0">
              <a:latin typeface="Times New Roman"/>
              <a:cs typeface="Times New Roman"/>
            </a:endParaRPr>
          </a:p>
          <a:p>
            <a:pPr marL="242570" lvl="1" indent="-228600">
              <a:lnSpc>
                <a:spcPct val="100000"/>
              </a:lnSpc>
              <a:spcBef>
                <a:spcPts val="1240"/>
              </a:spcBef>
              <a:buSzPct val="91666"/>
              <a:buAutoNum type="arabicPeriod"/>
              <a:tabLst>
                <a:tab pos="242570" algn="l"/>
              </a:tabLst>
            </a:pPr>
            <a:r>
              <a:rPr sz="1200" dirty="0">
                <a:latin typeface="Times New Roman"/>
                <a:cs typeface="Times New Roman"/>
                <a:hlinkClick r:id="rId3" action="ppaction://hlinksldjump"/>
              </a:rPr>
              <a:t>Relevance</a:t>
            </a:r>
            <a:r>
              <a:rPr sz="1200" spc="-10" dirty="0">
                <a:latin typeface="Times New Roman"/>
                <a:cs typeface="Times New Roman"/>
                <a:hlinkClick r:id="rId3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3" action="ppaction://hlinksldjump"/>
              </a:rPr>
              <a:t>to Course</a:t>
            </a:r>
            <a:r>
              <a:rPr sz="1200" spc="5" dirty="0">
                <a:latin typeface="Times New Roman"/>
                <a:cs typeface="Times New Roman"/>
                <a:hlinkClick r:id="rId3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3" action="ppaction://hlinksldjump"/>
              </a:rPr>
              <a:t>Modules</a:t>
            </a:r>
            <a:r>
              <a:rPr sz="1200" spc="-120" dirty="0">
                <a:latin typeface="Times New Roman"/>
                <a:cs typeface="Times New Roman"/>
                <a:hlinkClick r:id="rId3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3" action="ppaction://hlinksldjump"/>
              </a:rPr>
              <a:t>...........................................................................................</a:t>
            </a:r>
            <a:r>
              <a:rPr sz="1200" spc="-25" dirty="0">
                <a:latin typeface="Times New Roman"/>
                <a:cs typeface="Times New Roman"/>
                <a:hlinkClick r:id="rId3" action="ppaction://hlinksldjump"/>
              </a:rPr>
              <a:t> </a:t>
            </a:r>
            <a:r>
              <a:rPr sz="1200" spc="-50" dirty="0">
                <a:latin typeface="Times New Roman"/>
                <a:cs typeface="Times New Roman"/>
                <a:hlinkClick r:id="rId3" action="ppaction://hlinksldjump"/>
              </a:rPr>
              <a:t>4</a:t>
            </a:r>
            <a:endParaRPr sz="1200" dirty="0">
              <a:latin typeface="Times New Roman"/>
              <a:cs typeface="Times New Roman"/>
            </a:endParaRPr>
          </a:p>
          <a:p>
            <a:pPr marL="242570" lvl="1" indent="-228600">
              <a:lnSpc>
                <a:spcPct val="100000"/>
              </a:lnSpc>
              <a:spcBef>
                <a:spcPts val="1225"/>
              </a:spcBef>
              <a:buSzPct val="91666"/>
              <a:buAutoNum type="arabicPeriod" startAt="4"/>
              <a:tabLst>
                <a:tab pos="242570" algn="l"/>
              </a:tabLst>
            </a:pP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Literature</a:t>
            </a:r>
            <a:r>
              <a:rPr sz="1200" spc="-25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4" action="ppaction://hlinksldjump"/>
              </a:rPr>
              <a:t>Review</a:t>
            </a:r>
            <a:r>
              <a:rPr sz="1200" spc="-70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..............................................................................................................</a:t>
            </a:r>
            <a:r>
              <a:rPr sz="1200" spc="-35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spc="-50" dirty="0">
                <a:latin typeface="Times New Roman"/>
                <a:cs typeface="Times New Roman"/>
                <a:hlinkClick r:id="rId4" action="ppaction://hlinksldjump"/>
              </a:rPr>
              <a:t>3</a:t>
            </a:r>
            <a:endParaRPr sz="1200" dirty="0">
              <a:latin typeface="Times New Roman"/>
              <a:cs typeface="Times New Roman"/>
            </a:endParaRPr>
          </a:p>
          <a:p>
            <a:pPr marL="242570" lvl="1" indent="-228600">
              <a:lnSpc>
                <a:spcPct val="100000"/>
              </a:lnSpc>
              <a:spcBef>
                <a:spcPts val="1235"/>
              </a:spcBef>
              <a:buSzPct val="91666"/>
              <a:buAutoNum type="arabicPeriod" startAt="4"/>
              <a:tabLst>
                <a:tab pos="242570" algn="l"/>
              </a:tabLst>
            </a:pPr>
            <a:r>
              <a:rPr sz="1200" dirty="0">
                <a:latin typeface="Times New Roman"/>
                <a:cs typeface="Times New Roman"/>
                <a:hlinkClick r:id="rId5" action="ppaction://hlinksldjump"/>
              </a:rPr>
              <a:t>Analysis</a:t>
            </a:r>
            <a:r>
              <a:rPr sz="1200" spc="-35" dirty="0">
                <a:latin typeface="Times New Roman"/>
                <a:cs typeface="Times New Roman"/>
                <a:hlinkClick r:id="rId5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5" action="ppaction://hlinksldjump"/>
              </a:rPr>
              <a:t>from</a:t>
            </a:r>
            <a:r>
              <a:rPr sz="1200" spc="-35" dirty="0">
                <a:latin typeface="Times New Roman"/>
                <a:cs typeface="Times New Roman"/>
                <a:hlinkClick r:id="rId5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5" action="ppaction://hlinksldjump"/>
              </a:rPr>
              <a:t>Literature</a:t>
            </a:r>
            <a:r>
              <a:rPr sz="1200" spc="-45" dirty="0">
                <a:latin typeface="Times New Roman"/>
                <a:cs typeface="Times New Roman"/>
                <a:hlinkClick r:id="rId5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5" action="ppaction://hlinksldjump"/>
              </a:rPr>
              <a:t>Review</a:t>
            </a:r>
            <a:r>
              <a:rPr sz="1200" spc="-35" dirty="0">
                <a:latin typeface="Times New Roman"/>
                <a:cs typeface="Times New Roman"/>
                <a:hlinkClick r:id="rId5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5" action="ppaction://hlinksldjump"/>
              </a:rPr>
              <a:t>......................................................................................</a:t>
            </a:r>
            <a:r>
              <a:rPr sz="1200" spc="-60" dirty="0">
                <a:latin typeface="Times New Roman"/>
                <a:cs typeface="Times New Roman"/>
                <a:hlinkClick r:id="rId5" action="ppaction://hlinksldjump"/>
              </a:rPr>
              <a:t> </a:t>
            </a:r>
            <a:r>
              <a:rPr sz="1200" spc="-50" dirty="0">
                <a:latin typeface="Times New Roman"/>
                <a:cs typeface="Times New Roman"/>
                <a:hlinkClick r:id="rId5" action="ppaction://hlinksldjump"/>
              </a:rPr>
              <a:t>6</a:t>
            </a:r>
            <a:endParaRPr sz="1200" dirty="0">
              <a:latin typeface="Times New Roman"/>
              <a:cs typeface="Times New Roman"/>
            </a:endParaRPr>
          </a:p>
          <a:p>
            <a:pPr marL="242570" lvl="1" indent="-228600">
              <a:lnSpc>
                <a:spcPct val="100000"/>
              </a:lnSpc>
              <a:spcBef>
                <a:spcPts val="1225"/>
              </a:spcBef>
              <a:buSzPct val="91666"/>
              <a:buAutoNum type="arabicPeriod" startAt="4"/>
              <a:tabLst>
                <a:tab pos="242570" algn="l"/>
              </a:tabLst>
            </a:pPr>
            <a:r>
              <a:rPr sz="1200" dirty="0">
                <a:latin typeface="Times New Roman"/>
                <a:cs typeface="Times New Roman"/>
              </a:rPr>
              <a:t>Methodology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Software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Lifecycle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10" dirty="0">
                <a:latin typeface="Times New Roman"/>
                <a:cs typeface="Times New Roman"/>
              </a:rPr>
              <a:t> Project</a:t>
            </a:r>
            <a:r>
              <a:rPr sz="1200" spc="-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50" dirty="0">
                <a:latin typeface="Times New Roman"/>
                <a:cs typeface="Times New Roman"/>
              </a:rPr>
              <a:t>7</a:t>
            </a:r>
            <a:endParaRPr sz="1200" dirty="0">
              <a:latin typeface="Times New Roman"/>
              <a:cs typeface="Times New Roman"/>
            </a:endParaRPr>
          </a:p>
          <a:p>
            <a:pPr marL="356870" lvl="2" indent="-342900">
              <a:lnSpc>
                <a:spcPct val="100000"/>
              </a:lnSpc>
              <a:spcBef>
                <a:spcPts val="1235"/>
              </a:spcBef>
              <a:buSzPct val="91666"/>
              <a:buAutoNum type="arabicPeriod"/>
              <a:tabLst>
                <a:tab pos="356870" algn="l"/>
              </a:tabLst>
            </a:pPr>
            <a:r>
              <a:rPr sz="1200" dirty="0">
                <a:latin typeface="Times New Roman"/>
                <a:cs typeface="Times New Roman"/>
              </a:rPr>
              <a:t>Rationale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behind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Selected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Methodology</a:t>
            </a:r>
            <a:r>
              <a:rPr sz="1200" spc="-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50" dirty="0">
                <a:latin typeface="Times New Roman"/>
                <a:cs typeface="Times New Roman"/>
              </a:rPr>
              <a:t>9</a:t>
            </a:r>
            <a:endParaRPr sz="1200" dirty="0">
              <a:latin typeface="Times New Roman"/>
              <a:cs typeface="Times New Roman"/>
            </a:endParaRPr>
          </a:p>
          <a:p>
            <a:pPr marL="13970">
              <a:lnSpc>
                <a:spcPct val="100000"/>
              </a:lnSpc>
              <a:spcBef>
                <a:spcPts val="1225"/>
              </a:spcBef>
            </a:pPr>
            <a:r>
              <a:rPr sz="1200" b="1" dirty="0">
                <a:latin typeface="Times New Roman"/>
                <a:cs typeface="Times New Roman"/>
              </a:rPr>
              <a:t>Chapter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2:</a:t>
            </a:r>
            <a:r>
              <a:rPr sz="1200" b="1" spc="29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Problem </a:t>
            </a:r>
            <a:r>
              <a:rPr sz="1200" b="1" spc="-10" dirty="0">
                <a:latin typeface="Times New Roman"/>
                <a:cs typeface="Times New Roman"/>
              </a:rPr>
              <a:t>Definition</a:t>
            </a:r>
            <a:r>
              <a:rPr sz="1200" b="1" spc="-18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..........................................................................................</a:t>
            </a:r>
            <a:r>
              <a:rPr sz="1200" b="1" spc="-25" dirty="0">
                <a:latin typeface="Times New Roman"/>
                <a:cs typeface="Times New Roman"/>
              </a:rPr>
              <a:t> 10</a:t>
            </a:r>
            <a:endParaRPr sz="1200" dirty="0">
              <a:latin typeface="Times New Roman"/>
              <a:cs typeface="Times New Roman"/>
            </a:endParaRPr>
          </a:p>
          <a:p>
            <a:pPr marL="242570" lvl="1" indent="-228600">
              <a:lnSpc>
                <a:spcPct val="100000"/>
              </a:lnSpc>
              <a:spcBef>
                <a:spcPts val="1235"/>
              </a:spcBef>
              <a:buSzPct val="91666"/>
              <a:buAutoNum type="arabicPeriod"/>
              <a:tabLst>
                <a:tab pos="242570" algn="l"/>
              </a:tabLst>
            </a:pPr>
            <a:r>
              <a:rPr sz="1200" dirty="0">
                <a:latin typeface="Times New Roman"/>
                <a:cs typeface="Times New Roman"/>
              </a:rPr>
              <a:t>Problem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Statement...........................................................................................................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11</a:t>
            </a:r>
            <a:endParaRPr sz="1200" dirty="0">
              <a:latin typeface="Times New Roman"/>
              <a:cs typeface="Times New Roman"/>
            </a:endParaRPr>
          </a:p>
          <a:p>
            <a:pPr marL="242570" lvl="1" indent="-228600">
              <a:lnSpc>
                <a:spcPct val="100000"/>
              </a:lnSpc>
              <a:spcBef>
                <a:spcPts val="1225"/>
              </a:spcBef>
              <a:buSzPct val="91666"/>
              <a:buAutoNum type="arabicPeriod"/>
              <a:tabLst>
                <a:tab pos="242570" algn="l"/>
              </a:tabLst>
            </a:pPr>
            <a:r>
              <a:rPr sz="1200" spc="-10" dirty="0">
                <a:latin typeface="Times New Roman"/>
                <a:cs typeface="Times New Roman"/>
              </a:rPr>
              <a:t>Deliverables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11</a:t>
            </a:r>
            <a:endParaRPr sz="1200" dirty="0">
              <a:latin typeface="Times New Roman"/>
              <a:cs typeface="Times New Roman"/>
            </a:endParaRPr>
          </a:p>
          <a:p>
            <a:pPr marL="13970">
              <a:lnSpc>
                <a:spcPct val="100000"/>
              </a:lnSpc>
              <a:spcBef>
                <a:spcPts val="1235"/>
              </a:spcBef>
            </a:pPr>
            <a:r>
              <a:rPr sz="1200" b="1" dirty="0">
                <a:latin typeface="Times New Roman"/>
                <a:cs typeface="Times New Roman"/>
              </a:rPr>
              <a:t>Chapter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3:</a:t>
            </a:r>
            <a:r>
              <a:rPr sz="1200" b="1" dirty="0">
                <a:latin typeface="Times New Roman"/>
                <a:cs typeface="Times New Roman"/>
                <a:hlinkClick r:id="rId6" action="ppaction://hlinksldjump"/>
              </a:rPr>
              <a:t>Requirement</a:t>
            </a:r>
            <a:r>
              <a:rPr sz="1200" b="1" spc="-15" dirty="0">
                <a:latin typeface="Times New Roman"/>
                <a:cs typeface="Times New Roman"/>
                <a:hlinkClick r:id="rId6" action="ppaction://hlinksldjump"/>
              </a:rPr>
              <a:t> </a:t>
            </a:r>
            <a:r>
              <a:rPr sz="1200" b="1" dirty="0">
                <a:latin typeface="Times New Roman"/>
                <a:cs typeface="Times New Roman"/>
                <a:hlinkClick r:id="rId6" action="ppaction://hlinksldjump"/>
              </a:rPr>
              <a:t>Analysis.......................................................................................</a:t>
            </a:r>
            <a:r>
              <a:rPr sz="1200" b="1" spc="-40" dirty="0">
                <a:latin typeface="Times New Roman"/>
                <a:cs typeface="Times New Roman"/>
                <a:hlinkClick r:id="rId6" action="ppaction://hlinksldjump"/>
              </a:rPr>
              <a:t> </a:t>
            </a:r>
            <a:r>
              <a:rPr sz="1200" b="1" spc="-25" dirty="0">
                <a:latin typeface="Times New Roman"/>
                <a:cs typeface="Times New Roman"/>
                <a:hlinkClick r:id="rId6" action="ppaction://hlinksldjump"/>
              </a:rPr>
              <a:t>13</a:t>
            </a:r>
            <a:endParaRPr sz="1200" dirty="0">
              <a:latin typeface="Times New Roman"/>
              <a:cs typeface="Times New Roman"/>
            </a:endParaRPr>
          </a:p>
          <a:p>
            <a:pPr marL="319405" lvl="1" indent="-304165">
              <a:lnSpc>
                <a:spcPct val="100000"/>
              </a:lnSpc>
              <a:spcBef>
                <a:spcPts val="1225"/>
              </a:spcBef>
              <a:buAutoNum type="arabicPeriod"/>
              <a:tabLst>
                <a:tab pos="319405" algn="l"/>
              </a:tabLst>
            </a:pP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Requirments.................................................................................................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14</a:t>
            </a:r>
            <a:endParaRPr sz="1200" dirty="0">
              <a:latin typeface="Times New Roman"/>
              <a:cs typeface="Times New Roman"/>
            </a:endParaRPr>
          </a:p>
          <a:p>
            <a:pPr marL="321310" lvl="1" indent="-304165">
              <a:lnSpc>
                <a:spcPct val="100000"/>
              </a:lnSpc>
              <a:spcBef>
                <a:spcPts val="1235"/>
              </a:spcBef>
              <a:buAutoNum type="arabicPeriod"/>
              <a:tabLst>
                <a:tab pos="321310" algn="l"/>
              </a:tabLst>
            </a:pPr>
            <a:r>
              <a:rPr sz="1200" dirty="0">
                <a:latin typeface="Times New Roman"/>
                <a:cs typeface="Times New Roman"/>
              </a:rPr>
              <a:t>Non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–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Requirments......................................................................................</a:t>
            </a:r>
            <a:r>
              <a:rPr sz="1200" spc="-25" dirty="0">
                <a:latin typeface="Times New Roman"/>
                <a:cs typeface="Times New Roman"/>
              </a:rPr>
              <a:t> 16</a:t>
            </a:r>
            <a:endParaRPr sz="1200" dirty="0">
              <a:latin typeface="Times New Roman"/>
              <a:cs typeface="Times New Roman"/>
            </a:endParaRPr>
          </a:p>
          <a:p>
            <a:pPr marL="393065" lvl="2" indent="-380365">
              <a:lnSpc>
                <a:spcPct val="100000"/>
              </a:lnSpc>
              <a:spcBef>
                <a:spcPts val="1225"/>
              </a:spcBef>
              <a:buAutoNum type="arabicPeriod"/>
              <a:tabLst>
                <a:tab pos="393065" algn="l"/>
              </a:tabLst>
            </a:pPr>
            <a:r>
              <a:rPr sz="1200" dirty="0">
                <a:latin typeface="Times New Roman"/>
                <a:cs typeface="Times New Roman"/>
              </a:rPr>
              <a:t>Usability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......................................................................................................................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17</a:t>
            </a:r>
            <a:endParaRPr sz="1200" dirty="0">
              <a:latin typeface="Times New Roman"/>
              <a:cs typeface="Times New Roman"/>
            </a:endParaRPr>
          </a:p>
          <a:p>
            <a:pPr marL="408305" lvl="2" indent="-380365">
              <a:lnSpc>
                <a:spcPct val="100000"/>
              </a:lnSpc>
              <a:spcBef>
                <a:spcPts val="1235"/>
              </a:spcBef>
              <a:buAutoNum type="arabicPeriod"/>
              <a:tabLst>
                <a:tab pos="408305" algn="l"/>
              </a:tabLst>
            </a:pPr>
            <a:r>
              <a:rPr sz="1200" dirty="0">
                <a:latin typeface="Times New Roman"/>
                <a:cs typeface="Times New Roman"/>
              </a:rPr>
              <a:t>Reliability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...................................................................................................................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17</a:t>
            </a:r>
            <a:endParaRPr sz="1200" dirty="0">
              <a:latin typeface="Times New Roman"/>
              <a:cs typeface="Times New Roman"/>
            </a:endParaRPr>
          </a:p>
          <a:p>
            <a:pPr marL="435609" lvl="2" indent="-418465">
              <a:lnSpc>
                <a:spcPct val="100000"/>
              </a:lnSpc>
              <a:spcBef>
                <a:spcPts val="1230"/>
              </a:spcBef>
              <a:buAutoNum type="arabicPeriod"/>
              <a:tabLst>
                <a:tab pos="435609" algn="l"/>
              </a:tabLst>
            </a:pPr>
            <a:r>
              <a:rPr sz="1200" dirty="0">
                <a:latin typeface="Times New Roman"/>
                <a:cs typeface="Times New Roman"/>
              </a:rPr>
              <a:t>Performance................................................................................................................</a:t>
            </a:r>
            <a:r>
              <a:rPr sz="1200" spc="-6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17</a:t>
            </a:r>
            <a:endParaRPr sz="1200" dirty="0">
              <a:latin typeface="Times New Roman"/>
              <a:cs typeface="Times New Roman"/>
            </a:endParaRPr>
          </a:p>
          <a:p>
            <a:pPr marL="408305" lvl="2" indent="-380365">
              <a:lnSpc>
                <a:spcPct val="100000"/>
              </a:lnSpc>
              <a:spcBef>
                <a:spcPts val="1235"/>
              </a:spcBef>
              <a:buAutoNum type="arabicPeriod"/>
              <a:tabLst>
                <a:tab pos="408305" algn="l"/>
              </a:tabLst>
            </a:pPr>
            <a:r>
              <a:rPr sz="1200" dirty="0">
                <a:latin typeface="Times New Roman"/>
                <a:cs typeface="Times New Roman"/>
              </a:rPr>
              <a:t>Supportability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.............................................................................................................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17</a:t>
            </a:r>
            <a:endParaRPr sz="1200" dirty="0">
              <a:latin typeface="Times New Roman"/>
              <a:cs typeface="Times New Roman"/>
            </a:endParaRPr>
          </a:p>
          <a:p>
            <a:pPr marL="243840" lvl="1" indent="-228600">
              <a:lnSpc>
                <a:spcPct val="100000"/>
              </a:lnSpc>
              <a:spcBef>
                <a:spcPts val="1225"/>
              </a:spcBef>
              <a:buAutoNum type="arabicPeriod" startAt="3"/>
              <a:tabLst>
                <a:tab pos="243840" algn="l"/>
              </a:tabLst>
            </a:pP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Model................................................................................................................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17</a:t>
            </a:r>
            <a:endParaRPr sz="1200" dirty="0">
              <a:latin typeface="Times New Roman"/>
              <a:cs typeface="Times New Roman"/>
            </a:endParaRPr>
          </a:p>
          <a:p>
            <a:pPr marL="406400" lvl="2" indent="-380365">
              <a:lnSpc>
                <a:spcPct val="100000"/>
              </a:lnSpc>
              <a:spcBef>
                <a:spcPts val="1235"/>
              </a:spcBef>
              <a:buAutoNum type="arabicPeriod"/>
              <a:tabLst>
                <a:tab pos="406400" algn="l"/>
              </a:tabLst>
            </a:pP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Diagarm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......................................................................................................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18</a:t>
            </a:r>
            <a:endParaRPr sz="1200" dirty="0">
              <a:latin typeface="Times New Roman"/>
              <a:cs typeface="Times New Roman"/>
            </a:endParaRPr>
          </a:p>
          <a:p>
            <a:pPr marL="387985" lvl="2" indent="-370840">
              <a:lnSpc>
                <a:spcPct val="100000"/>
              </a:lnSpc>
              <a:spcBef>
                <a:spcPts val="1225"/>
              </a:spcBef>
              <a:buAutoNum type="arabicPeriod"/>
              <a:tabLst>
                <a:tab pos="387985" algn="l"/>
              </a:tabLst>
            </a:pPr>
            <a:r>
              <a:rPr sz="1200" dirty="0">
                <a:latin typeface="Times New Roman"/>
                <a:cs typeface="Times New Roman"/>
              </a:rPr>
              <a:t>Actors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Discription........................................................................................................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18</a:t>
            </a:r>
            <a:endParaRPr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7</a:t>
            </a:fld>
            <a:endParaRPr spc="-20" dirty="0"/>
          </a:p>
        </p:txBody>
      </p:sp>
      <p:sp>
        <p:nvSpPr>
          <p:cNvPr id="2" name="object 2"/>
          <p:cNvSpPr txBox="1"/>
          <p:nvPr/>
        </p:nvSpPr>
        <p:spPr>
          <a:xfrm>
            <a:off x="1177848" y="891285"/>
            <a:ext cx="5691505" cy="800798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Times New Roman"/>
                <a:cs typeface="Times New Roman"/>
              </a:rPr>
              <a:t>3.3.3.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Description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..................................................................................................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18</a:t>
            </a:r>
            <a:endParaRPr sz="1200" dirty="0">
              <a:latin typeface="Times New Roman"/>
              <a:cs typeface="Times New Roman"/>
            </a:endParaRPr>
          </a:p>
          <a:p>
            <a:pPr marL="13970">
              <a:lnSpc>
                <a:spcPct val="100000"/>
              </a:lnSpc>
              <a:spcBef>
                <a:spcPts val="1225"/>
              </a:spcBef>
            </a:pPr>
            <a:r>
              <a:rPr sz="1200" b="1" dirty="0">
                <a:latin typeface="Times New Roman"/>
                <a:cs typeface="Times New Roman"/>
              </a:rPr>
              <a:t>Chapter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4: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  <a:hlinkClick r:id="rId2" action="ppaction://hlinksldjump"/>
              </a:rPr>
              <a:t>Design and </a:t>
            </a:r>
            <a:r>
              <a:rPr sz="1200" b="1" spc="-10" dirty="0">
                <a:latin typeface="Times New Roman"/>
                <a:cs typeface="Times New Roman"/>
                <a:hlinkClick r:id="rId2" action="ppaction://hlinksldjump"/>
              </a:rPr>
              <a:t>Architecture</a:t>
            </a:r>
            <a:r>
              <a:rPr sz="1200" b="1" spc="-165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b="1" dirty="0">
                <a:latin typeface="Times New Roman"/>
                <a:cs typeface="Times New Roman"/>
                <a:hlinkClick r:id="rId2" action="ppaction://hlinksldjump"/>
              </a:rPr>
              <a:t>..................................................................................</a:t>
            </a:r>
            <a:r>
              <a:rPr sz="1200" b="1" spc="-30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b="1" spc="-25" dirty="0">
                <a:latin typeface="Times New Roman"/>
                <a:cs typeface="Times New Roman"/>
                <a:hlinkClick r:id="rId2" action="ppaction://hlinksldjump"/>
              </a:rPr>
              <a:t>19</a:t>
            </a:r>
            <a:endParaRPr sz="1200" dirty="0">
              <a:latin typeface="Times New Roman"/>
              <a:cs typeface="Times New Roman"/>
            </a:endParaRPr>
          </a:p>
          <a:p>
            <a:pPr marL="280035" lvl="1" indent="-266065">
              <a:lnSpc>
                <a:spcPct val="100000"/>
              </a:lnSpc>
              <a:spcBef>
                <a:spcPts val="1235"/>
              </a:spcBef>
              <a:buAutoNum type="arabicPeriod"/>
              <a:tabLst>
                <a:tab pos="280035" algn="l"/>
              </a:tabLst>
            </a:pPr>
            <a:r>
              <a:rPr sz="1200" dirty="0">
                <a:latin typeface="Times New Roman"/>
                <a:cs typeface="Times New Roman"/>
                <a:hlinkClick r:id="rId2" action="ppaction://hlinksldjump"/>
              </a:rPr>
              <a:t>System</a:t>
            </a:r>
            <a:r>
              <a:rPr sz="1200" spc="-35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2" action="ppaction://hlinksldjump"/>
              </a:rPr>
              <a:t>Architecture</a:t>
            </a:r>
            <a:r>
              <a:rPr sz="1200" spc="-35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2" action="ppaction://hlinksldjump"/>
              </a:rPr>
              <a:t>.......................................................................................................</a:t>
            </a:r>
            <a:r>
              <a:rPr sz="1200" spc="-55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2" action="ppaction://hlinksldjump"/>
              </a:rPr>
              <a:t>19</a:t>
            </a:r>
            <a:endParaRPr sz="1200" dirty="0">
              <a:latin typeface="Times New Roman"/>
              <a:cs typeface="Times New Roman"/>
            </a:endParaRPr>
          </a:p>
          <a:p>
            <a:pPr marL="274320" lvl="1" indent="-260350">
              <a:lnSpc>
                <a:spcPct val="100000"/>
              </a:lnSpc>
              <a:spcBef>
                <a:spcPts val="1220"/>
              </a:spcBef>
              <a:buAutoNum type="arabicPeriod"/>
              <a:tabLst>
                <a:tab pos="274320" algn="l"/>
              </a:tabLst>
            </a:pPr>
            <a:r>
              <a:rPr sz="1200" dirty="0">
                <a:latin typeface="Times New Roman"/>
                <a:cs typeface="Times New Roman"/>
                <a:hlinkClick r:id="rId3" action="ppaction://hlinksldjump"/>
              </a:rPr>
              <a:t>System </a:t>
            </a:r>
            <a:r>
              <a:rPr sz="1200" spc="-10" dirty="0">
                <a:latin typeface="Times New Roman"/>
                <a:cs typeface="Times New Roman"/>
                <a:hlinkClick r:id="rId3" action="ppaction://hlinksldjump"/>
              </a:rPr>
              <a:t>Design</a:t>
            </a:r>
            <a:r>
              <a:rPr sz="1200" spc="-65" dirty="0">
                <a:latin typeface="Times New Roman"/>
                <a:cs typeface="Times New Roman"/>
                <a:hlinkClick r:id="rId3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3" action="ppaction://hlinksldjump"/>
              </a:rPr>
              <a:t>................................................................................................................</a:t>
            </a:r>
            <a:r>
              <a:rPr sz="1200" spc="-20" dirty="0">
                <a:latin typeface="Times New Roman"/>
                <a:cs typeface="Times New Roman"/>
                <a:hlinkClick r:id="rId3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3" action="ppaction://hlinksldjump"/>
              </a:rPr>
              <a:t>20</a:t>
            </a:r>
            <a:endParaRPr sz="1200" dirty="0">
              <a:latin typeface="Times New Roman"/>
              <a:cs typeface="Times New Roman"/>
            </a:endParaRPr>
          </a:p>
          <a:p>
            <a:pPr marL="394970" lvl="2" indent="-381000">
              <a:lnSpc>
                <a:spcPct val="100000"/>
              </a:lnSpc>
              <a:spcBef>
                <a:spcPts val="1240"/>
              </a:spcBef>
              <a:buAutoNum type="arabicPeriod"/>
              <a:tabLst>
                <a:tab pos="394970" algn="l"/>
              </a:tabLst>
            </a:pP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UML</a:t>
            </a:r>
            <a:r>
              <a:rPr sz="1200" spc="-25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Behavioral </a:t>
            </a:r>
            <a:r>
              <a:rPr sz="1200" spc="-10" dirty="0">
                <a:latin typeface="Times New Roman"/>
                <a:cs typeface="Times New Roman"/>
                <a:hlinkClick r:id="rId4" action="ppaction://hlinksldjump"/>
              </a:rPr>
              <a:t>Diagrams</a:t>
            </a:r>
            <a:r>
              <a:rPr sz="1200" spc="-65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.........................................................................................</a:t>
            </a:r>
            <a:r>
              <a:rPr sz="1200" spc="-35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4" action="ppaction://hlinksldjump"/>
              </a:rPr>
              <a:t>20</a:t>
            </a:r>
            <a:endParaRPr sz="1200" dirty="0">
              <a:latin typeface="Times New Roman"/>
              <a:cs typeface="Times New Roman"/>
            </a:endParaRPr>
          </a:p>
          <a:p>
            <a:pPr marL="471170" lvl="3" indent="-457200">
              <a:lnSpc>
                <a:spcPct val="100000"/>
              </a:lnSpc>
              <a:spcBef>
                <a:spcPts val="1225"/>
              </a:spcBef>
              <a:buAutoNum type="arabicPeriod"/>
              <a:tabLst>
                <a:tab pos="471170" algn="l"/>
              </a:tabLst>
            </a:pP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Component</a:t>
            </a:r>
            <a:r>
              <a:rPr sz="1200" spc="-40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Diagram:</a:t>
            </a:r>
            <a:r>
              <a:rPr sz="1200" spc="-40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................................................................................................</a:t>
            </a:r>
            <a:r>
              <a:rPr sz="1200" spc="-60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4" action="ppaction://hlinksldjump"/>
              </a:rPr>
              <a:t>20</a:t>
            </a:r>
            <a:endParaRPr sz="1200" dirty="0">
              <a:latin typeface="Times New Roman"/>
              <a:cs typeface="Times New Roman"/>
            </a:endParaRPr>
          </a:p>
          <a:p>
            <a:pPr marL="509270" lvl="3" indent="-495300">
              <a:lnSpc>
                <a:spcPct val="100000"/>
              </a:lnSpc>
              <a:spcBef>
                <a:spcPts val="1235"/>
              </a:spcBef>
              <a:buAutoNum type="arabicPeriod" startAt="2"/>
              <a:tabLst>
                <a:tab pos="509270" algn="l"/>
              </a:tabLst>
            </a:pP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System</a:t>
            </a:r>
            <a:r>
              <a:rPr sz="1200" spc="-30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Component</a:t>
            </a:r>
            <a:r>
              <a:rPr sz="1200" spc="-30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Diagram:...................................................................................</a:t>
            </a:r>
            <a:r>
              <a:rPr sz="1200" spc="-50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4" action="ppaction://hlinksldjump"/>
              </a:rPr>
              <a:t>21</a:t>
            </a:r>
            <a:endParaRPr sz="1200" dirty="0">
              <a:latin typeface="Times New Roman"/>
              <a:cs typeface="Times New Roman"/>
            </a:endParaRPr>
          </a:p>
          <a:p>
            <a:pPr marL="509270" lvl="3" indent="-495300">
              <a:lnSpc>
                <a:spcPct val="100000"/>
              </a:lnSpc>
              <a:spcBef>
                <a:spcPts val="1225"/>
              </a:spcBef>
              <a:buAutoNum type="arabicPeriod" startAt="2"/>
              <a:tabLst>
                <a:tab pos="509270" algn="l"/>
              </a:tabLst>
            </a:pPr>
            <a:r>
              <a:rPr sz="1200" dirty="0">
                <a:latin typeface="Times New Roman"/>
                <a:cs typeface="Times New Roman"/>
                <a:hlinkClick r:id="rId5" action="ppaction://hlinksldjump"/>
              </a:rPr>
              <a:t>Package Diagram:.....................................................................................................</a:t>
            </a:r>
            <a:r>
              <a:rPr sz="1200" spc="-15" dirty="0">
                <a:latin typeface="Times New Roman"/>
                <a:cs typeface="Times New Roman"/>
                <a:hlinkClick r:id="rId5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5" action="ppaction://hlinksldjump"/>
              </a:rPr>
              <a:t>21</a:t>
            </a:r>
            <a:endParaRPr sz="1200" dirty="0">
              <a:latin typeface="Times New Roman"/>
              <a:cs typeface="Times New Roman"/>
            </a:endParaRPr>
          </a:p>
          <a:p>
            <a:pPr marL="509270" lvl="3" indent="-495300">
              <a:lnSpc>
                <a:spcPct val="100000"/>
              </a:lnSpc>
              <a:spcBef>
                <a:spcPts val="1235"/>
              </a:spcBef>
              <a:buAutoNum type="arabicPeriod" startAt="2"/>
              <a:tabLst>
                <a:tab pos="509270" algn="l"/>
              </a:tabLst>
            </a:pPr>
            <a:r>
              <a:rPr sz="1200" dirty="0">
                <a:latin typeface="Times New Roman"/>
                <a:cs typeface="Times New Roman"/>
                <a:hlinkClick r:id="rId6" action="ppaction://hlinksldjump"/>
              </a:rPr>
              <a:t>Deployment</a:t>
            </a:r>
            <a:r>
              <a:rPr sz="1200" spc="-20" dirty="0">
                <a:latin typeface="Times New Roman"/>
                <a:cs typeface="Times New Roman"/>
                <a:hlinkClick r:id="rId6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6" action="ppaction://hlinksldjump"/>
              </a:rPr>
              <a:t>Diagram:</a:t>
            </a:r>
            <a:r>
              <a:rPr sz="1200" spc="-55" dirty="0">
                <a:latin typeface="Times New Roman"/>
                <a:cs typeface="Times New Roman"/>
                <a:hlinkClick r:id="rId6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6" action="ppaction://hlinksldjump"/>
              </a:rPr>
              <a:t>..............................................................................................</a:t>
            </a:r>
            <a:r>
              <a:rPr sz="1200" spc="-35" dirty="0">
                <a:latin typeface="Times New Roman"/>
                <a:cs typeface="Times New Roman"/>
                <a:hlinkClick r:id="rId6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6" action="ppaction://hlinksldjump"/>
              </a:rPr>
              <a:t>21</a:t>
            </a:r>
            <a:endParaRPr sz="1200" dirty="0">
              <a:latin typeface="Times New Roman"/>
              <a:cs typeface="Times New Roman"/>
            </a:endParaRPr>
          </a:p>
          <a:p>
            <a:pPr marL="509270" lvl="3" indent="-495300">
              <a:lnSpc>
                <a:spcPct val="100000"/>
              </a:lnSpc>
              <a:spcBef>
                <a:spcPts val="1225"/>
              </a:spcBef>
              <a:buAutoNum type="arabicPeriod"/>
              <a:tabLst>
                <a:tab pos="509270" algn="l"/>
              </a:tabLst>
            </a:pP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Activity</a:t>
            </a:r>
            <a:r>
              <a:rPr sz="1200" spc="-40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Diagrams:</a:t>
            </a:r>
            <a:r>
              <a:rPr sz="1200" spc="-50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...................................................................................................</a:t>
            </a:r>
            <a:r>
              <a:rPr sz="1200" spc="-60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7" action="ppaction://hlinksldjump"/>
              </a:rPr>
              <a:t>22</a:t>
            </a:r>
            <a:endParaRPr sz="1200" dirty="0">
              <a:latin typeface="Times New Roman"/>
              <a:cs typeface="Times New Roman"/>
            </a:endParaRPr>
          </a:p>
          <a:p>
            <a:pPr marL="509270" lvl="3" indent="-495300">
              <a:lnSpc>
                <a:spcPct val="100000"/>
              </a:lnSpc>
              <a:spcBef>
                <a:spcPts val="1235"/>
              </a:spcBef>
              <a:buAutoNum type="arabicPeriod"/>
              <a:tabLst>
                <a:tab pos="509270" algn="l"/>
              </a:tabLst>
            </a:pPr>
            <a:r>
              <a:rPr sz="1200" dirty="0">
                <a:latin typeface="Times New Roman"/>
                <a:cs typeface="Times New Roman"/>
                <a:hlinkClick r:id="rId8" action="ppaction://hlinksldjump"/>
              </a:rPr>
              <a:t>State</a:t>
            </a:r>
            <a:r>
              <a:rPr sz="1200" spc="-45" dirty="0">
                <a:latin typeface="Times New Roman"/>
                <a:cs typeface="Times New Roman"/>
                <a:hlinkClick r:id="rId8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8" action="ppaction://hlinksldjump"/>
              </a:rPr>
              <a:t>Machine</a:t>
            </a:r>
            <a:r>
              <a:rPr sz="1200" spc="-35" dirty="0">
                <a:latin typeface="Times New Roman"/>
                <a:cs typeface="Times New Roman"/>
                <a:hlinkClick r:id="rId8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8" action="ppaction://hlinksldjump"/>
              </a:rPr>
              <a:t>Diagrams:..........................................................................................</a:t>
            </a:r>
            <a:r>
              <a:rPr sz="1200" spc="-55" dirty="0">
                <a:latin typeface="Times New Roman"/>
                <a:cs typeface="Times New Roman"/>
                <a:hlinkClick r:id="rId8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8" action="ppaction://hlinksldjump"/>
              </a:rPr>
              <a:t>23</a:t>
            </a:r>
            <a:endParaRPr sz="1200" dirty="0">
              <a:latin typeface="Times New Roman"/>
              <a:cs typeface="Times New Roman"/>
            </a:endParaRPr>
          </a:p>
          <a:p>
            <a:pPr marL="394970" lvl="2" indent="-381000">
              <a:lnSpc>
                <a:spcPct val="100000"/>
              </a:lnSpc>
              <a:spcBef>
                <a:spcPts val="1225"/>
              </a:spcBef>
              <a:buAutoNum type="arabicPeriod" startAt="3"/>
              <a:tabLst>
                <a:tab pos="394970" algn="l"/>
              </a:tabLst>
            </a:pPr>
            <a:r>
              <a:rPr sz="1200" dirty="0">
                <a:latin typeface="Times New Roman"/>
                <a:cs typeface="Times New Roman"/>
                <a:hlinkClick r:id="rId9" action="ppaction://hlinksldjump"/>
              </a:rPr>
              <a:t>UML</a:t>
            </a:r>
            <a:r>
              <a:rPr sz="1200" spc="40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9" action="ppaction://hlinksldjump"/>
              </a:rPr>
              <a:t>Interaction-diagrams</a:t>
            </a:r>
            <a:r>
              <a:rPr sz="1200" spc="-120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9" action="ppaction://hlinksldjump"/>
              </a:rPr>
              <a:t>..........................................................................................</a:t>
            </a:r>
            <a:r>
              <a:rPr sz="1200" spc="5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9" action="ppaction://hlinksldjump"/>
              </a:rPr>
              <a:t>24</a:t>
            </a:r>
            <a:endParaRPr sz="1200" dirty="0">
              <a:latin typeface="Times New Roman"/>
              <a:cs typeface="Times New Roman"/>
            </a:endParaRPr>
          </a:p>
          <a:p>
            <a:pPr marL="509270" lvl="3" indent="-495300">
              <a:lnSpc>
                <a:spcPct val="100000"/>
              </a:lnSpc>
              <a:spcBef>
                <a:spcPts val="1235"/>
              </a:spcBef>
              <a:buAutoNum type="arabicPeriod"/>
              <a:tabLst>
                <a:tab pos="509270" algn="l"/>
              </a:tabLst>
            </a:pPr>
            <a:r>
              <a:rPr sz="1200" dirty="0">
                <a:latin typeface="Times New Roman"/>
                <a:cs typeface="Times New Roman"/>
                <a:hlinkClick r:id="rId9" action="ppaction://hlinksldjump"/>
              </a:rPr>
              <a:t>Sequence</a:t>
            </a:r>
            <a:r>
              <a:rPr sz="1200" spc="-30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9" action="ppaction://hlinksldjump"/>
              </a:rPr>
              <a:t>Diagrams</a:t>
            </a:r>
            <a:r>
              <a:rPr sz="1200" spc="-65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9" action="ppaction://hlinksldjump"/>
              </a:rPr>
              <a:t>..................................................................................................</a:t>
            </a:r>
            <a:r>
              <a:rPr sz="1200" spc="-50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9" action="ppaction://hlinksldjump"/>
              </a:rPr>
              <a:t>25</a:t>
            </a:r>
            <a:endParaRPr sz="1200" dirty="0">
              <a:latin typeface="Times New Roman"/>
              <a:cs typeface="Times New Roman"/>
            </a:endParaRPr>
          </a:p>
          <a:p>
            <a:pPr marL="622935" lvl="4" indent="-608965">
              <a:lnSpc>
                <a:spcPct val="100000"/>
              </a:lnSpc>
              <a:spcBef>
                <a:spcPts val="1225"/>
              </a:spcBef>
              <a:buAutoNum type="arabicPeriod"/>
              <a:tabLst>
                <a:tab pos="622935" algn="l"/>
              </a:tabLst>
            </a:pPr>
            <a:r>
              <a:rPr sz="1200" dirty="0">
                <a:latin typeface="Times New Roman"/>
                <a:cs typeface="Times New Roman"/>
                <a:hlinkClick r:id="rId9" action="ppaction://hlinksldjump"/>
              </a:rPr>
              <a:t>Registration</a:t>
            </a:r>
            <a:r>
              <a:rPr sz="1200" spc="-35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9" action="ppaction://hlinksldjump"/>
              </a:rPr>
              <a:t>sequence</a:t>
            </a:r>
            <a:r>
              <a:rPr sz="1200" spc="-30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9" action="ppaction://hlinksldjump"/>
              </a:rPr>
              <a:t>Diagram</a:t>
            </a:r>
            <a:r>
              <a:rPr sz="1200" spc="-130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9" action="ppaction://hlinksldjump"/>
              </a:rPr>
              <a:t>.............................................................................</a:t>
            </a:r>
            <a:r>
              <a:rPr sz="1200" spc="-45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9" action="ppaction://hlinksldjump"/>
              </a:rPr>
              <a:t>26</a:t>
            </a:r>
            <a:endParaRPr sz="1200" dirty="0">
              <a:latin typeface="Times New Roman"/>
              <a:cs typeface="Times New Roman"/>
            </a:endParaRPr>
          </a:p>
          <a:p>
            <a:pPr marL="661670" lvl="4" indent="-647700">
              <a:lnSpc>
                <a:spcPct val="100000"/>
              </a:lnSpc>
              <a:spcBef>
                <a:spcPts val="1240"/>
              </a:spcBef>
              <a:buAutoNum type="arabicPeriod"/>
              <a:tabLst>
                <a:tab pos="661670" algn="l"/>
              </a:tabLst>
            </a:pPr>
            <a:r>
              <a:rPr sz="1200" dirty="0">
                <a:latin typeface="Times New Roman"/>
                <a:cs typeface="Times New Roman"/>
                <a:hlinkClick r:id="rId9" action="ppaction://hlinksldjump"/>
              </a:rPr>
              <a:t>Login</a:t>
            </a:r>
            <a:r>
              <a:rPr sz="1200" spc="-20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9" action="ppaction://hlinksldjump"/>
              </a:rPr>
              <a:t>Sequence</a:t>
            </a:r>
            <a:r>
              <a:rPr sz="1200" spc="-20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9" action="ppaction://hlinksldjump"/>
              </a:rPr>
              <a:t>Diagram</a:t>
            </a:r>
            <a:r>
              <a:rPr sz="1200" spc="-45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9" action="ppaction://hlinksldjump"/>
              </a:rPr>
              <a:t>.....................................................................................</a:t>
            </a:r>
            <a:r>
              <a:rPr sz="1200" spc="-40" dirty="0">
                <a:latin typeface="Times New Roman"/>
                <a:cs typeface="Times New Roman"/>
                <a:hlinkClick r:id="rId9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9" action="ppaction://hlinksldjump"/>
              </a:rPr>
              <a:t>27</a:t>
            </a:r>
            <a:endParaRPr sz="1200" dirty="0">
              <a:latin typeface="Times New Roman"/>
              <a:cs typeface="Times New Roman"/>
            </a:endParaRPr>
          </a:p>
          <a:p>
            <a:pPr marL="623570" lvl="4" indent="-609600">
              <a:lnSpc>
                <a:spcPct val="100000"/>
              </a:lnSpc>
              <a:spcBef>
                <a:spcPts val="1225"/>
              </a:spcBef>
              <a:buAutoNum type="arabicPeriod"/>
              <a:tabLst>
                <a:tab pos="623570" algn="l"/>
              </a:tabLst>
            </a:pPr>
            <a:r>
              <a:rPr sz="1200" dirty="0">
                <a:latin typeface="Times New Roman"/>
                <a:cs typeface="Times New Roman"/>
                <a:hlinkClick r:id="rId10" action="ppaction://hlinksldjump"/>
              </a:rPr>
              <a:t>User</a:t>
            </a:r>
            <a:r>
              <a:rPr sz="1200" spc="-30" dirty="0">
                <a:latin typeface="Times New Roman"/>
                <a:cs typeface="Times New Roman"/>
                <a:hlinkClick r:id="rId10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10" action="ppaction://hlinksldjump"/>
              </a:rPr>
              <a:t>Activity</a:t>
            </a:r>
            <a:r>
              <a:rPr sz="1200" spc="-15" dirty="0">
                <a:latin typeface="Times New Roman"/>
                <a:cs typeface="Times New Roman"/>
                <a:hlinkClick r:id="rId10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10" action="ppaction://hlinksldjump"/>
              </a:rPr>
              <a:t>Sequence</a:t>
            </a:r>
            <a:r>
              <a:rPr sz="1200" spc="-25" dirty="0">
                <a:latin typeface="Times New Roman"/>
                <a:cs typeface="Times New Roman"/>
                <a:hlinkClick r:id="rId10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10" action="ppaction://hlinksldjump"/>
              </a:rPr>
              <a:t>Diagram</a:t>
            </a:r>
            <a:r>
              <a:rPr sz="1200" spc="-65" dirty="0">
                <a:latin typeface="Times New Roman"/>
                <a:cs typeface="Times New Roman"/>
                <a:hlinkClick r:id="rId10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10" action="ppaction://hlinksldjump"/>
              </a:rPr>
              <a:t>..........................................................................</a:t>
            </a:r>
            <a:r>
              <a:rPr sz="1200" spc="-40" dirty="0">
                <a:latin typeface="Times New Roman"/>
                <a:cs typeface="Times New Roman"/>
                <a:hlinkClick r:id="rId10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10" action="ppaction://hlinksldjump"/>
              </a:rPr>
              <a:t>29</a:t>
            </a:r>
            <a:endParaRPr sz="1200" dirty="0">
              <a:latin typeface="Times New Roman"/>
              <a:cs typeface="Times New Roman"/>
            </a:endParaRPr>
          </a:p>
          <a:p>
            <a:pPr marL="394970" lvl="2" indent="-381000">
              <a:lnSpc>
                <a:spcPct val="100000"/>
              </a:lnSpc>
              <a:spcBef>
                <a:spcPts val="1235"/>
              </a:spcBef>
              <a:buAutoNum type="arabicPeriod" startAt="3"/>
              <a:tabLst>
                <a:tab pos="394970" algn="l"/>
              </a:tabLst>
            </a:pPr>
            <a:r>
              <a:rPr sz="1200" dirty="0">
                <a:latin typeface="Times New Roman"/>
                <a:cs typeface="Times New Roman"/>
                <a:hlinkClick r:id="rId11" action="ppaction://hlinksldjump"/>
              </a:rPr>
              <a:t>Node</a:t>
            </a:r>
            <a:r>
              <a:rPr sz="1200" spc="-5" dirty="0">
                <a:latin typeface="Times New Roman"/>
                <a:cs typeface="Times New Roman"/>
                <a:hlinkClick r:id="rId11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11" action="ppaction://hlinksldjump"/>
              </a:rPr>
              <a:t>Structure</a:t>
            </a:r>
            <a:r>
              <a:rPr sz="1200" spc="-165" dirty="0">
                <a:latin typeface="Times New Roman"/>
                <a:cs typeface="Times New Roman"/>
                <a:hlinkClick r:id="rId11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11" action="ppaction://hlinksldjump"/>
              </a:rPr>
              <a:t>.............................................................................................................</a:t>
            </a:r>
            <a:r>
              <a:rPr sz="1200" spc="-20" dirty="0">
                <a:latin typeface="Times New Roman"/>
                <a:cs typeface="Times New Roman"/>
                <a:hlinkClick r:id="rId11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11" action="ppaction://hlinksldjump"/>
              </a:rPr>
              <a:t>30</a:t>
            </a:r>
            <a:endParaRPr sz="1200" dirty="0">
              <a:latin typeface="Times New Roman"/>
              <a:cs typeface="Times New Roman"/>
            </a:endParaRPr>
          </a:p>
          <a:p>
            <a:pPr marL="394970" lvl="2" indent="-381000">
              <a:lnSpc>
                <a:spcPct val="100000"/>
              </a:lnSpc>
              <a:spcBef>
                <a:spcPts val="1225"/>
              </a:spcBef>
              <a:buAutoNum type="arabicPeriod" startAt="3"/>
              <a:tabLst>
                <a:tab pos="394970" algn="l"/>
              </a:tabLst>
            </a:pPr>
            <a:r>
              <a:rPr sz="1200" dirty="0">
                <a:latin typeface="Times New Roman"/>
                <a:cs typeface="Times New Roman"/>
                <a:hlinkClick r:id="rId12" action="ppaction://hlinksldjump"/>
              </a:rPr>
              <a:t>Communication</a:t>
            </a:r>
            <a:r>
              <a:rPr sz="1200" spc="-45" dirty="0">
                <a:latin typeface="Times New Roman"/>
                <a:cs typeface="Times New Roman"/>
                <a:hlinkClick r:id="rId12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12" action="ppaction://hlinksldjump"/>
              </a:rPr>
              <a:t>Design</a:t>
            </a:r>
            <a:r>
              <a:rPr sz="1200" spc="-40" dirty="0">
                <a:latin typeface="Times New Roman"/>
                <a:cs typeface="Times New Roman"/>
                <a:hlinkClick r:id="rId12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12" action="ppaction://hlinksldjump"/>
              </a:rPr>
              <a:t>Protocol.................................................................................</a:t>
            </a:r>
            <a:r>
              <a:rPr sz="1200" spc="-60" dirty="0">
                <a:latin typeface="Times New Roman"/>
                <a:cs typeface="Times New Roman"/>
                <a:hlinkClick r:id="rId12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12" action="ppaction://hlinksldjump"/>
              </a:rPr>
              <a:t>31</a:t>
            </a:r>
            <a:endParaRPr sz="1200" dirty="0">
              <a:latin typeface="Times New Roman"/>
              <a:cs typeface="Times New Roman"/>
            </a:endParaRPr>
          </a:p>
          <a:p>
            <a:pPr marL="393700" lvl="2" indent="-381000">
              <a:lnSpc>
                <a:spcPct val="100000"/>
              </a:lnSpc>
              <a:spcBef>
                <a:spcPts val="1235"/>
              </a:spcBef>
              <a:buAutoNum type="arabicPeriod" startAt="3"/>
              <a:tabLst>
                <a:tab pos="393700" algn="l"/>
              </a:tabLst>
            </a:pPr>
            <a:r>
              <a:rPr sz="1200" dirty="0">
                <a:latin typeface="Times New Roman"/>
                <a:cs typeface="Times New Roman"/>
              </a:rPr>
              <a:t>Class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Diagram………………………………………………………………………...32</a:t>
            </a:r>
            <a:endParaRPr sz="1200" dirty="0">
              <a:latin typeface="Times New Roman"/>
              <a:cs typeface="Times New Roman"/>
            </a:endParaRPr>
          </a:p>
          <a:p>
            <a:pPr marL="13970">
              <a:lnSpc>
                <a:spcPct val="100000"/>
              </a:lnSpc>
              <a:spcBef>
                <a:spcPts val="1225"/>
              </a:spcBef>
            </a:pPr>
            <a:r>
              <a:rPr sz="1200" b="1" dirty="0">
                <a:latin typeface="Times New Roman"/>
                <a:cs typeface="Times New Roman"/>
              </a:rPr>
              <a:t>Chapter</a:t>
            </a:r>
            <a:r>
              <a:rPr sz="1200" b="1" spc="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5:</a:t>
            </a:r>
            <a:r>
              <a:rPr sz="1200" b="1" spc="1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  <a:hlinkClick r:id="rId2" action="ppaction://hlinksldjump"/>
              </a:rPr>
              <a:t>Implementation</a:t>
            </a:r>
            <a:r>
              <a:rPr sz="1200" b="1" spc="-25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b="1" dirty="0">
                <a:latin typeface="Times New Roman"/>
                <a:cs typeface="Times New Roman"/>
                <a:hlinkClick r:id="rId2" action="ppaction://hlinksldjump"/>
              </a:rPr>
              <a:t>................................................................................................</a:t>
            </a:r>
            <a:r>
              <a:rPr sz="1200" b="1" spc="-10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b="1" spc="-25" dirty="0">
                <a:latin typeface="Times New Roman"/>
                <a:cs typeface="Times New Roman"/>
                <a:hlinkClick r:id="rId2" action="ppaction://hlinksldjump"/>
              </a:rPr>
              <a:t>33</a:t>
            </a:r>
            <a:endParaRPr sz="1200" dirty="0">
              <a:latin typeface="Times New Roman"/>
              <a:cs typeface="Times New Roman"/>
            </a:endParaRPr>
          </a:p>
          <a:p>
            <a:pPr marL="280035" lvl="1" indent="-266065">
              <a:lnSpc>
                <a:spcPct val="100000"/>
              </a:lnSpc>
              <a:spcBef>
                <a:spcPts val="1235"/>
              </a:spcBef>
              <a:buAutoNum type="arabicPeriod"/>
              <a:tabLst>
                <a:tab pos="280035" algn="l"/>
              </a:tabLst>
            </a:pPr>
            <a:r>
              <a:rPr sz="1200" dirty="0">
                <a:latin typeface="Times New Roman"/>
                <a:cs typeface="Times New Roman"/>
                <a:hlinkClick r:id="rId2" action="ppaction://hlinksldjump"/>
              </a:rPr>
              <a:t>Introduction</a:t>
            </a:r>
            <a:r>
              <a:rPr sz="1200" spc="-15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2" action="ppaction://hlinksldjump"/>
              </a:rPr>
              <a:t>to</a:t>
            </a:r>
            <a:r>
              <a:rPr sz="1200" spc="-5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2" action="ppaction://hlinksldjump"/>
              </a:rPr>
              <a:t>Implementation</a:t>
            </a:r>
            <a:r>
              <a:rPr sz="1200" spc="-135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2" action="ppaction://hlinksldjump"/>
              </a:rPr>
              <a:t>......................................................................................</a:t>
            </a:r>
            <a:r>
              <a:rPr sz="1200" spc="-30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2" action="ppaction://hlinksldjump"/>
              </a:rPr>
              <a:t>33</a:t>
            </a:r>
            <a:endParaRPr sz="1200" dirty="0">
              <a:latin typeface="Times New Roman"/>
              <a:cs typeface="Times New Roman"/>
            </a:endParaRPr>
          </a:p>
          <a:p>
            <a:pPr marL="274320" lvl="1" indent="-260350">
              <a:lnSpc>
                <a:spcPct val="100000"/>
              </a:lnSpc>
              <a:spcBef>
                <a:spcPts val="1225"/>
              </a:spcBef>
              <a:buAutoNum type="arabicPeriod"/>
              <a:tabLst>
                <a:tab pos="274320" algn="l"/>
              </a:tabLst>
            </a:pPr>
            <a:r>
              <a:rPr sz="1200" dirty="0">
                <a:latin typeface="Times New Roman"/>
                <a:cs typeface="Times New Roman"/>
                <a:hlinkClick r:id="rId3" action="ppaction://hlinksldjump"/>
              </a:rPr>
              <a:t>System</a:t>
            </a:r>
            <a:r>
              <a:rPr sz="1200" spc="5" dirty="0">
                <a:latin typeface="Times New Roman"/>
                <a:cs typeface="Times New Roman"/>
                <a:hlinkClick r:id="rId3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3" action="ppaction://hlinksldjump"/>
              </a:rPr>
              <a:t>Development</a:t>
            </a:r>
            <a:r>
              <a:rPr sz="1200" spc="10" dirty="0">
                <a:latin typeface="Times New Roman"/>
                <a:cs typeface="Times New Roman"/>
                <a:hlinkClick r:id="rId3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3" action="ppaction://hlinksldjump"/>
              </a:rPr>
              <a:t>Environment</a:t>
            </a:r>
            <a:r>
              <a:rPr sz="1200" spc="-75" dirty="0">
                <a:latin typeface="Times New Roman"/>
                <a:cs typeface="Times New Roman"/>
                <a:hlinkClick r:id="rId3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3" action="ppaction://hlinksldjump"/>
              </a:rPr>
              <a:t>................................................................................</a:t>
            </a:r>
            <a:r>
              <a:rPr sz="1200" spc="-20" dirty="0">
                <a:latin typeface="Times New Roman"/>
                <a:cs typeface="Times New Roman"/>
                <a:hlinkClick r:id="rId3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3" action="ppaction://hlinksldjump"/>
              </a:rPr>
              <a:t>33</a:t>
            </a:r>
            <a:endParaRPr sz="1200" dirty="0">
              <a:latin typeface="Times New Roman"/>
              <a:cs typeface="Times New Roman"/>
            </a:endParaRPr>
          </a:p>
          <a:p>
            <a:pPr marL="280035" lvl="1" indent="-266065">
              <a:lnSpc>
                <a:spcPct val="100000"/>
              </a:lnSpc>
              <a:spcBef>
                <a:spcPts val="1235"/>
              </a:spcBef>
              <a:buAutoNum type="arabicPeriod"/>
              <a:tabLst>
                <a:tab pos="280035" algn="l"/>
              </a:tabLst>
            </a:pP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Backend</a:t>
            </a:r>
            <a:r>
              <a:rPr sz="1200" spc="15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4" action="ppaction://hlinksldjump"/>
              </a:rPr>
              <a:t>Implementation</a:t>
            </a:r>
            <a:r>
              <a:rPr sz="1200" spc="-170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................................................................................................</a:t>
            </a:r>
            <a:r>
              <a:rPr sz="1200" spc="-20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4" action="ppaction://hlinksldjump"/>
              </a:rPr>
              <a:t>33</a:t>
            </a:r>
            <a:endParaRPr sz="1200" dirty="0">
              <a:latin typeface="Times New Roman"/>
              <a:cs typeface="Times New Roman"/>
            </a:endParaRPr>
          </a:p>
          <a:p>
            <a:pPr marL="13970">
              <a:lnSpc>
                <a:spcPct val="100000"/>
              </a:lnSpc>
              <a:spcBef>
                <a:spcPts val="1225"/>
              </a:spcBef>
            </a:pP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5.4 Frontend</a:t>
            </a:r>
            <a:r>
              <a:rPr sz="1200" spc="15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4" action="ppaction://hlinksldjump"/>
              </a:rPr>
              <a:t>Implementation:</a:t>
            </a:r>
            <a:r>
              <a:rPr sz="1200" spc="-55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...............................................................................................</a:t>
            </a:r>
            <a:r>
              <a:rPr sz="1200" spc="-20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4" action="ppaction://hlinksldjump"/>
              </a:rPr>
              <a:t>34</a:t>
            </a:r>
            <a:endParaRPr sz="12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8</a:t>
            </a:fld>
            <a:endParaRPr spc="-20" dirty="0"/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4680" cy="73298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24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Times New Roman"/>
                <a:cs typeface="Times New Roman"/>
                <a:hlinkClick r:id="rId2" action="ppaction://hlinksldjump"/>
              </a:rPr>
              <a:t>5.5.</a:t>
            </a:r>
            <a:r>
              <a:rPr sz="1200" spc="-5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2" action="ppaction://hlinksldjump"/>
              </a:rPr>
              <a:t>Real-</a:t>
            </a:r>
            <a:r>
              <a:rPr sz="1200" dirty="0">
                <a:latin typeface="Times New Roman"/>
                <a:cs typeface="Times New Roman"/>
                <a:hlinkClick r:id="rId2" action="ppaction://hlinksldjump"/>
              </a:rPr>
              <a:t>Time Bidding</a:t>
            </a:r>
            <a:r>
              <a:rPr sz="1200" spc="-5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2" action="ppaction://hlinksldjump"/>
              </a:rPr>
              <a:t>System:</a:t>
            </a:r>
            <a:r>
              <a:rPr sz="1200" spc="-60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2" action="ppaction://hlinksldjump"/>
              </a:rPr>
              <a:t>...........................................................................................</a:t>
            </a:r>
            <a:r>
              <a:rPr sz="1200" spc="-30" dirty="0">
                <a:latin typeface="Times New Roman"/>
                <a:cs typeface="Times New Roman"/>
                <a:hlinkClick r:id="rId2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2" action="ppaction://hlinksldjump"/>
              </a:rPr>
              <a:t>34</a:t>
            </a:r>
            <a:endParaRPr sz="1200">
              <a:latin typeface="Times New Roman"/>
              <a:cs typeface="Times New Roman"/>
            </a:endParaRPr>
          </a:p>
          <a:p>
            <a:pPr marL="243204" lvl="1" indent="-227965">
              <a:lnSpc>
                <a:spcPct val="100000"/>
              </a:lnSpc>
              <a:spcBef>
                <a:spcPts val="1225"/>
              </a:spcBef>
              <a:buAutoNum type="arabicPeriod" startAt="6"/>
              <a:tabLst>
                <a:tab pos="243204" algn="l"/>
              </a:tabLst>
            </a:pPr>
            <a:r>
              <a:rPr sz="1200" dirty="0">
                <a:latin typeface="Times New Roman"/>
                <a:cs typeface="Times New Roman"/>
                <a:hlinkClick r:id="rId3" action="ppaction://hlinksldjump"/>
              </a:rPr>
              <a:t>AI </a:t>
            </a:r>
            <a:r>
              <a:rPr sz="1200" spc="-10" dirty="0">
                <a:latin typeface="Times New Roman"/>
                <a:cs typeface="Times New Roman"/>
                <a:hlinkClick r:id="rId3" action="ppaction://hlinksldjump"/>
              </a:rPr>
              <a:t>Modules</a:t>
            </a:r>
            <a:r>
              <a:rPr sz="1200" spc="-125" dirty="0">
                <a:latin typeface="Times New Roman"/>
                <a:cs typeface="Times New Roman"/>
                <a:hlinkClick r:id="rId3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3" action="ppaction://hlinksldjump"/>
              </a:rPr>
              <a:t>...................................................................................................................... </a:t>
            </a:r>
            <a:r>
              <a:rPr sz="1200" spc="-25" dirty="0">
                <a:latin typeface="Times New Roman"/>
                <a:cs typeface="Times New Roman"/>
                <a:hlinkClick r:id="rId3" action="ppaction://hlinksldjump"/>
              </a:rPr>
              <a:t>34</a:t>
            </a:r>
            <a:endParaRPr sz="1200">
              <a:latin typeface="Times New Roman"/>
              <a:cs typeface="Times New Roman"/>
            </a:endParaRPr>
          </a:p>
          <a:p>
            <a:pPr marL="357505" lvl="2" indent="-342265">
              <a:lnSpc>
                <a:spcPct val="100000"/>
              </a:lnSpc>
              <a:spcBef>
                <a:spcPts val="1235"/>
              </a:spcBef>
              <a:buAutoNum type="arabicPeriod"/>
              <a:tabLst>
                <a:tab pos="357505" algn="l"/>
              </a:tabLst>
            </a:pP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Price</a:t>
            </a:r>
            <a:r>
              <a:rPr sz="1200" spc="-15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Suggestion</a:t>
            </a:r>
            <a:r>
              <a:rPr sz="1200" spc="-5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4" action="ppaction://hlinksldjump"/>
              </a:rPr>
              <a:t>Model................................................................................................</a:t>
            </a:r>
            <a:r>
              <a:rPr sz="1200" spc="-30" dirty="0">
                <a:latin typeface="Times New Roman"/>
                <a:cs typeface="Times New Roman"/>
                <a:hlinkClick r:id="rId4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4" action="ppaction://hlinksldjump"/>
              </a:rPr>
              <a:t>3</a:t>
            </a:r>
            <a:r>
              <a:rPr sz="1200" spc="-25" dirty="0">
                <a:latin typeface="Times New Roman"/>
                <a:cs typeface="Times New Roman"/>
              </a:rPr>
              <a:t>4</a:t>
            </a:r>
            <a:endParaRPr sz="1200">
              <a:latin typeface="Times New Roman"/>
              <a:cs typeface="Times New Roman"/>
            </a:endParaRPr>
          </a:p>
          <a:p>
            <a:pPr marL="15240">
              <a:lnSpc>
                <a:spcPct val="100000"/>
              </a:lnSpc>
              <a:spcBef>
                <a:spcPts val="1220"/>
              </a:spcBef>
            </a:pPr>
            <a:r>
              <a:rPr sz="1200" dirty="0">
                <a:latin typeface="Times New Roman"/>
                <a:cs typeface="Times New Roman"/>
                <a:hlinkClick r:id="rId5" action="ppaction://hlinksldjump"/>
              </a:rPr>
              <a:t>5.6.2.</a:t>
            </a:r>
            <a:r>
              <a:rPr sz="1200" spc="-15" dirty="0">
                <a:latin typeface="Times New Roman"/>
                <a:cs typeface="Times New Roman"/>
                <a:hlinkClick r:id="rId5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5" action="ppaction://hlinksldjump"/>
              </a:rPr>
              <a:t>Property</a:t>
            </a:r>
            <a:r>
              <a:rPr sz="1200" spc="-10" dirty="0">
                <a:latin typeface="Times New Roman"/>
                <a:cs typeface="Times New Roman"/>
                <a:hlinkClick r:id="rId5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5" action="ppaction://hlinksldjump"/>
              </a:rPr>
              <a:t>Document</a:t>
            </a:r>
            <a:r>
              <a:rPr sz="1200" spc="-10" dirty="0">
                <a:latin typeface="Times New Roman"/>
                <a:cs typeface="Times New Roman"/>
                <a:hlinkClick r:id="rId5" action="ppaction://hlinksldjump"/>
              </a:rPr>
              <a:t> Verification </a:t>
            </a:r>
            <a:r>
              <a:rPr sz="1200" dirty="0">
                <a:latin typeface="Times New Roman"/>
                <a:cs typeface="Times New Roman"/>
                <a:hlinkClick r:id="rId5" action="ppaction://hlinksldjump"/>
              </a:rPr>
              <a:t>.................................................................................</a:t>
            </a:r>
            <a:r>
              <a:rPr sz="1200" spc="-35" dirty="0">
                <a:latin typeface="Times New Roman"/>
                <a:cs typeface="Times New Roman"/>
                <a:hlinkClick r:id="rId5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5" action="ppaction://hlinksldjump"/>
              </a:rPr>
              <a:t>34</a:t>
            </a:r>
            <a:endParaRPr sz="1200">
              <a:latin typeface="Times New Roman"/>
              <a:cs typeface="Times New Roman"/>
            </a:endParaRPr>
          </a:p>
          <a:p>
            <a:pPr marL="15240">
              <a:lnSpc>
                <a:spcPct val="100000"/>
              </a:lnSpc>
              <a:spcBef>
                <a:spcPts val="1240"/>
              </a:spcBef>
            </a:pPr>
            <a:r>
              <a:rPr sz="1200" dirty="0">
                <a:latin typeface="Times New Roman"/>
                <a:cs typeface="Times New Roman"/>
                <a:hlinkClick r:id="rId6" action="ppaction://hlinksldjump"/>
              </a:rPr>
              <a:t>5.7.</a:t>
            </a:r>
            <a:r>
              <a:rPr sz="1200" spc="-5" dirty="0">
                <a:latin typeface="Times New Roman"/>
                <a:cs typeface="Times New Roman"/>
                <a:hlinkClick r:id="rId6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6" action="ppaction://hlinksldjump"/>
              </a:rPr>
              <a:t>Data</a:t>
            </a:r>
            <a:r>
              <a:rPr sz="1200" spc="-5" dirty="0">
                <a:latin typeface="Times New Roman"/>
                <a:cs typeface="Times New Roman"/>
                <a:hlinkClick r:id="rId6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6" action="ppaction://hlinksldjump"/>
              </a:rPr>
              <a:t>Base </a:t>
            </a:r>
            <a:r>
              <a:rPr sz="1200" spc="-10" dirty="0">
                <a:latin typeface="Times New Roman"/>
                <a:cs typeface="Times New Roman"/>
                <a:hlinkClick r:id="rId6" action="ppaction://hlinksldjump"/>
              </a:rPr>
              <a:t>Integration</a:t>
            </a:r>
            <a:r>
              <a:rPr sz="1200" spc="-45" dirty="0">
                <a:latin typeface="Times New Roman"/>
                <a:cs typeface="Times New Roman"/>
                <a:hlinkClick r:id="rId6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6" action="ppaction://hlinksldjump"/>
              </a:rPr>
              <a:t>.....................................................................................................</a:t>
            </a:r>
            <a:r>
              <a:rPr sz="1200" spc="-30" dirty="0">
                <a:latin typeface="Times New Roman"/>
                <a:cs typeface="Times New Roman"/>
                <a:hlinkClick r:id="rId6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6" action="ppaction://hlinksldjump"/>
              </a:rPr>
              <a:t>35</a:t>
            </a:r>
            <a:endParaRPr sz="1200">
              <a:latin typeface="Times New Roman"/>
              <a:cs typeface="Times New Roman"/>
            </a:endParaRPr>
          </a:p>
          <a:p>
            <a:pPr marL="15240">
              <a:lnSpc>
                <a:spcPct val="100000"/>
              </a:lnSpc>
              <a:spcBef>
                <a:spcPts val="1225"/>
              </a:spcBef>
            </a:pP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5.8</a:t>
            </a:r>
            <a:r>
              <a:rPr sz="1200" spc="-5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Security</a:t>
            </a:r>
            <a:r>
              <a:rPr sz="1200" spc="5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and </a:t>
            </a:r>
            <a:r>
              <a:rPr sz="1200" spc="-10" dirty="0">
                <a:latin typeface="Times New Roman"/>
                <a:cs typeface="Times New Roman"/>
                <a:hlinkClick r:id="rId7" action="ppaction://hlinksldjump"/>
              </a:rPr>
              <a:t>Authentication</a:t>
            </a:r>
            <a:r>
              <a:rPr sz="1200" spc="-35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............................................................................................</a:t>
            </a:r>
            <a:r>
              <a:rPr sz="1200" spc="-25" dirty="0">
                <a:latin typeface="Times New Roman"/>
                <a:cs typeface="Times New Roman"/>
                <a:hlinkClick r:id="rId7" action="ppaction://hlinksldjump"/>
              </a:rPr>
              <a:t> 36</a:t>
            </a:r>
            <a:endParaRPr sz="1200">
              <a:latin typeface="Times New Roman"/>
              <a:cs typeface="Times New Roman"/>
            </a:endParaRPr>
          </a:p>
          <a:p>
            <a:pPr marL="15240">
              <a:lnSpc>
                <a:spcPct val="100000"/>
              </a:lnSpc>
              <a:spcBef>
                <a:spcPts val="1235"/>
              </a:spcBef>
            </a:pP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5.9.</a:t>
            </a:r>
            <a:r>
              <a:rPr sz="1200" spc="15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7" action="ppaction://hlinksldjump"/>
              </a:rPr>
              <a:t>Deployement</a:t>
            </a:r>
            <a:r>
              <a:rPr sz="1200" spc="20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spc="-10" dirty="0">
                <a:latin typeface="Times New Roman"/>
                <a:cs typeface="Times New Roman"/>
                <a:hlinkClick r:id="rId7" action="ppaction://hlinksldjump"/>
              </a:rPr>
              <a:t>Overview</a:t>
            </a:r>
            <a:r>
              <a:rPr sz="1200" spc="-165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..................................................................................................</a:t>
            </a:r>
            <a:r>
              <a:rPr sz="1200" spc="-5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7" action="ppaction://hlinksldjump"/>
              </a:rPr>
              <a:t>36</a:t>
            </a:r>
            <a:endParaRPr sz="1200">
              <a:latin typeface="Times New Roman"/>
              <a:cs typeface="Times New Roman"/>
            </a:endParaRPr>
          </a:p>
          <a:p>
            <a:pPr marL="15240">
              <a:lnSpc>
                <a:spcPct val="100000"/>
              </a:lnSpc>
              <a:spcBef>
                <a:spcPts val="1225"/>
              </a:spcBef>
            </a:pP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5.10</a:t>
            </a:r>
            <a:r>
              <a:rPr sz="1200" spc="-30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User</a:t>
            </a:r>
            <a:r>
              <a:rPr sz="1200" spc="-15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Interface</a:t>
            </a:r>
            <a:r>
              <a:rPr sz="1200" spc="-25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Screenshots</a:t>
            </a:r>
            <a:r>
              <a:rPr sz="1200" spc="-60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dirty="0">
                <a:latin typeface="Times New Roman"/>
                <a:cs typeface="Times New Roman"/>
                <a:hlinkClick r:id="rId7" action="ppaction://hlinksldjump"/>
              </a:rPr>
              <a:t>............................................................................................</a:t>
            </a:r>
            <a:r>
              <a:rPr sz="1200" spc="-45" dirty="0">
                <a:latin typeface="Times New Roman"/>
                <a:cs typeface="Times New Roman"/>
                <a:hlinkClick r:id="rId7" action="ppaction://hlinksldjump"/>
              </a:rPr>
              <a:t> </a:t>
            </a:r>
            <a:r>
              <a:rPr sz="1200" spc="-25" dirty="0">
                <a:latin typeface="Times New Roman"/>
                <a:cs typeface="Times New Roman"/>
                <a:hlinkClick r:id="rId7" action="ppaction://hlinksldjump"/>
              </a:rPr>
              <a:t>36</a:t>
            </a:r>
            <a:endParaRPr sz="1200">
              <a:latin typeface="Times New Roman"/>
              <a:cs typeface="Times New Roman"/>
            </a:endParaRPr>
          </a:p>
          <a:p>
            <a:pPr marL="15240">
              <a:lnSpc>
                <a:spcPct val="100000"/>
              </a:lnSpc>
              <a:spcBef>
                <a:spcPts val="1235"/>
              </a:spcBef>
            </a:pPr>
            <a:r>
              <a:rPr sz="1200" b="1" dirty="0">
                <a:latin typeface="Times New Roman"/>
                <a:cs typeface="Times New Roman"/>
              </a:rPr>
              <a:t>Chapter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6:</a:t>
            </a:r>
            <a:r>
              <a:rPr sz="1200" b="1" dirty="0">
                <a:latin typeface="Times New Roman"/>
                <a:cs typeface="Times New Roman"/>
                <a:hlinkClick r:id="rId8" action="ppaction://hlinksldjump"/>
              </a:rPr>
              <a:t>Testing</a:t>
            </a:r>
            <a:r>
              <a:rPr sz="1200" b="1" spc="-5" dirty="0">
                <a:latin typeface="Times New Roman"/>
                <a:cs typeface="Times New Roman"/>
                <a:hlinkClick r:id="rId8" action="ppaction://hlinksldjump"/>
              </a:rPr>
              <a:t> </a:t>
            </a:r>
            <a:r>
              <a:rPr sz="1200" b="1" dirty="0">
                <a:latin typeface="Times New Roman"/>
                <a:cs typeface="Times New Roman"/>
                <a:hlinkClick r:id="rId8" action="ppaction://hlinksldjump"/>
              </a:rPr>
              <a:t>And</a:t>
            </a:r>
            <a:r>
              <a:rPr sz="1200" b="1" spc="-5" dirty="0">
                <a:latin typeface="Times New Roman"/>
                <a:cs typeface="Times New Roman"/>
                <a:hlinkClick r:id="rId8" action="ppaction://hlinksldjump"/>
              </a:rPr>
              <a:t> </a:t>
            </a:r>
            <a:r>
              <a:rPr sz="1200" b="1" dirty="0">
                <a:latin typeface="Times New Roman"/>
                <a:cs typeface="Times New Roman"/>
                <a:hlinkClick r:id="rId8" action="ppaction://hlinksldjump"/>
              </a:rPr>
              <a:t>Evaluation</a:t>
            </a:r>
            <a:r>
              <a:rPr sz="1200" b="1" spc="-160" dirty="0">
                <a:latin typeface="Times New Roman"/>
                <a:cs typeface="Times New Roman"/>
                <a:hlinkClick r:id="rId8" action="ppaction://hlinksldjump"/>
              </a:rPr>
              <a:t> </a:t>
            </a:r>
            <a:r>
              <a:rPr sz="1200" b="1" dirty="0">
                <a:latin typeface="Times New Roman"/>
                <a:cs typeface="Times New Roman"/>
                <a:hlinkClick r:id="rId8" action="ppaction://hlinksldjump"/>
              </a:rPr>
              <a:t>....................................................................................</a:t>
            </a:r>
            <a:r>
              <a:rPr sz="1200" b="1" spc="-30" dirty="0">
                <a:latin typeface="Times New Roman"/>
                <a:cs typeface="Times New Roman"/>
                <a:hlinkClick r:id="rId8" action="ppaction://hlinksldjump"/>
              </a:rPr>
              <a:t> </a:t>
            </a:r>
            <a:r>
              <a:rPr sz="1200" b="1" spc="-25" dirty="0">
                <a:latin typeface="Times New Roman"/>
                <a:cs typeface="Times New Roman"/>
                <a:hlinkClick r:id="rId8" action="ppaction://hlinksldjump"/>
              </a:rPr>
              <a:t>43</a:t>
            </a:r>
            <a:endParaRPr sz="1200">
              <a:latin typeface="Times New Roman"/>
              <a:cs typeface="Times New Roman"/>
            </a:endParaRPr>
          </a:p>
          <a:p>
            <a:pPr marL="321310" lvl="1" indent="-304165">
              <a:lnSpc>
                <a:spcPct val="100000"/>
              </a:lnSpc>
              <a:spcBef>
                <a:spcPts val="1225"/>
              </a:spcBef>
              <a:buSzPct val="95833"/>
              <a:buAutoNum type="arabicPeriod"/>
              <a:tabLst>
                <a:tab pos="321310" algn="l"/>
              </a:tabLst>
            </a:pPr>
            <a:r>
              <a:rPr sz="1200" dirty="0">
                <a:latin typeface="Times New Roman"/>
                <a:cs typeface="Times New Roman"/>
              </a:rPr>
              <a:t>Introduction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testing....................................................................................................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43</a:t>
            </a:r>
            <a:endParaRPr sz="1200">
              <a:latin typeface="Times New Roman"/>
              <a:cs typeface="Times New Roman"/>
            </a:endParaRPr>
          </a:p>
          <a:p>
            <a:pPr marL="240665" lvl="1" indent="-231775">
              <a:lnSpc>
                <a:spcPct val="100000"/>
              </a:lnSpc>
              <a:spcBef>
                <a:spcPts val="1235"/>
              </a:spcBef>
              <a:buSzPct val="95833"/>
              <a:buAutoNum type="arabicPeriod"/>
              <a:tabLst>
                <a:tab pos="240665" algn="l"/>
              </a:tabLst>
            </a:pPr>
            <a:r>
              <a:rPr sz="1200" spc="-10" dirty="0">
                <a:latin typeface="Times New Roman"/>
                <a:cs typeface="Times New Roman"/>
              </a:rPr>
              <a:t>.Functional</a:t>
            </a:r>
            <a:r>
              <a:rPr sz="1200" spc="49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Testing...........................................................................................................</a:t>
            </a:r>
            <a:r>
              <a:rPr sz="1200" spc="130" dirty="0">
                <a:latin typeface="Times New Roman"/>
                <a:cs typeface="Times New Roman"/>
              </a:rPr>
              <a:t>  </a:t>
            </a:r>
            <a:r>
              <a:rPr sz="1200" spc="-25" dirty="0">
                <a:latin typeface="Times New Roman"/>
                <a:cs typeface="Times New Roman"/>
              </a:rPr>
              <a:t>43</a:t>
            </a:r>
            <a:endParaRPr sz="1200">
              <a:latin typeface="Times New Roman"/>
              <a:cs typeface="Times New Roman"/>
            </a:endParaRPr>
          </a:p>
          <a:p>
            <a:pPr marL="278765" lvl="1" indent="-266065">
              <a:lnSpc>
                <a:spcPct val="100000"/>
              </a:lnSpc>
              <a:spcBef>
                <a:spcPts val="1225"/>
              </a:spcBef>
              <a:buSzPct val="95833"/>
              <a:buAutoNum type="arabicPeriod"/>
              <a:tabLst>
                <a:tab pos="278765" algn="l"/>
              </a:tabLst>
            </a:pPr>
            <a:r>
              <a:rPr sz="1200" dirty="0">
                <a:latin typeface="Times New Roman"/>
                <a:cs typeface="Times New Roman"/>
              </a:rPr>
              <a:t>Unit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....................................................................................................................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44</a:t>
            </a:r>
            <a:endParaRPr sz="1200">
              <a:latin typeface="Times New Roman"/>
              <a:cs typeface="Times New Roman"/>
            </a:endParaRPr>
          </a:p>
          <a:p>
            <a:pPr marL="288925" lvl="1" indent="-266065">
              <a:lnSpc>
                <a:spcPct val="100000"/>
              </a:lnSpc>
              <a:spcBef>
                <a:spcPts val="1235"/>
              </a:spcBef>
              <a:buSzPct val="95833"/>
              <a:buAutoNum type="arabicPeriod"/>
              <a:tabLst>
                <a:tab pos="288925" algn="l"/>
              </a:tabLst>
            </a:pPr>
            <a:r>
              <a:rPr sz="1200" spc="-10" dirty="0">
                <a:latin typeface="Times New Roman"/>
                <a:cs typeface="Times New Roman"/>
              </a:rPr>
              <a:t>Integration</a:t>
            </a:r>
            <a:r>
              <a:rPr sz="1200" spc="49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Testing..........................................................................................................</a:t>
            </a:r>
            <a:r>
              <a:rPr sz="1200" spc="130" dirty="0">
                <a:latin typeface="Times New Roman"/>
                <a:cs typeface="Times New Roman"/>
              </a:rPr>
              <a:t>  </a:t>
            </a:r>
            <a:r>
              <a:rPr sz="1200" spc="-25" dirty="0">
                <a:latin typeface="Times New Roman"/>
                <a:cs typeface="Times New Roman"/>
              </a:rPr>
              <a:t>45</a:t>
            </a:r>
            <a:endParaRPr sz="1200">
              <a:latin typeface="Times New Roman"/>
              <a:cs typeface="Times New Roman"/>
            </a:endParaRPr>
          </a:p>
          <a:p>
            <a:pPr marL="284480" lvl="1" indent="-266065">
              <a:lnSpc>
                <a:spcPct val="100000"/>
              </a:lnSpc>
              <a:spcBef>
                <a:spcPts val="1225"/>
              </a:spcBef>
              <a:buSzPct val="95833"/>
              <a:buAutoNum type="arabicPeriod"/>
              <a:tabLst>
                <a:tab pos="284480" algn="l"/>
              </a:tabLst>
            </a:pP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...............................................................................................................</a:t>
            </a:r>
            <a:r>
              <a:rPr sz="1200" spc="-25" dirty="0">
                <a:latin typeface="Times New Roman"/>
                <a:cs typeface="Times New Roman"/>
              </a:rPr>
              <a:t> 45</a:t>
            </a:r>
            <a:endParaRPr sz="1200">
              <a:latin typeface="Times New Roman"/>
              <a:cs typeface="Times New Roman"/>
            </a:endParaRPr>
          </a:p>
          <a:p>
            <a:pPr marL="44450">
              <a:lnSpc>
                <a:spcPct val="100000"/>
              </a:lnSpc>
              <a:spcBef>
                <a:spcPts val="1240"/>
              </a:spcBef>
            </a:pPr>
            <a:r>
              <a:rPr sz="1200" dirty="0">
                <a:latin typeface="Times New Roman"/>
                <a:cs typeface="Times New Roman"/>
              </a:rPr>
              <a:t>6.6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Performance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Testing........................................................................................................46</a:t>
            </a:r>
            <a:endParaRPr sz="1200">
              <a:latin typeface="Times New Roman"/>
              <a:cs typeface="Times New Roman"/>
            </a:endParaRPr>
          </a:p>
          <a:p>
            <a:pPr marL="255904" lvl="1" indent="-227965">
              <a:lnSpc>
                <a:spcPct val="100000"/>
              </a:lnSpc>
              <a:spcBef>
                <a:spcPts val="1225"/>
              </a:spcBef>
              <a:buSzPct val="91666"/>
              <a:buAutoNum type="arabicPeriod" startAt="7"/>
              <a:tabLst>
                <a:tab pos="255904" algn="l"/>
              </a:tabLst>
            </a:pP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Testing......................................................................................................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47</a:t>
            </a:r>
            <a:endParaRPr sz="1200">
              <a:latin typeface="Times New Roman"/>
              <a:cs typeface="Times New Roman"/>
            </a:endParaRPr>
          </a:p>
          <a:p>
            <a:pPr marL="292100" lvl="1" indent="-266065">
              <a:lnSpc>
                <a:spcPct val="100000"/>
              </a:lnSpc>
              <a:spcBef>
                <a:spcPts val="1235"/>
              </a:spcBef>
              <a:buSzPct val="91666"/>
              <a:buAutoNum type="arabicPeriod" startAt="7"/>
              <a:tabLst>
                <a:tab pos="292100" algn="l"/>
              </a:tabLst>
            </a:pPr>
            <a:r>
              <a:rPr sz="1200" dirty="0">
                <a:latin typeface="Times New Roman"/>
                <a:cs typeface="Times New Roman"/>
              </a:rPr>
              <a:t>Useability</a:t>
            </a:r>
            <a:r>
              <a:rPr sz="1200" spc="4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Testing...........................................................................................................</a:t>
            </a:r>
            <a:r>
              <a:rPr sz="1200" spc="105" dirty="0">
                <a:latin typeface="Times New Roman"/>
                <a:cs typeface="Times New Roman"/>
              </a:rPr>
              <a:t>  </a:t>
            </a:r>
            <a:r>
              <a:rPr sz="1200" spc="-25" dirty="0">
                <a:latin typeface="Times New Roman"/>
                <a:cs typeface="Times New Roman"/>
              </a:rPr>
              <a:t>47</a:t>
            </a:r>
            <a:endParaRPr sz="1200">
              <a:latin typeface="Times New Roman"/>
              <a:cs typeface="Times New Roman"/>
            </a:endParaRPr>
          </a:p>
          <a:p>
            <a:pPr marL="24765">
              <a:lnSpc>
                <a:spcPct val="100000"/>
              </a:lnSpc>
              <a:spcBef>
                <a:spcPts val="1225"/>
              </a:spcBef>
            </a:pPr>
            <a:r>
              <a:rPr sz="1200" dirty="0">
                <a:latin typeface="Times New Roman"/>
                <a:cs typeface="Times New Roman"/>
              </a:rPr>
              <a:t>6.9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.Evaluation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metrics.......................................................................................................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</a:t>
            </a:r>
            <a:r>
              <a:rPr sz="1200" spc="-25" dirty="0">
                <a:latin typeface="Times New Roman"/>
                <a:cs typeface="Times New Roman"/>
              </a:rPr>
              <a:t> 48</a:t>
            </a:r>
            <a:endParaRPr sz="1200">
              <a:latin typeface="Times New Roman"/>
              <a:cs typeface="Times New Roman"/>
            </a:endParaRPr>
          </a:p>
          <a:p>
            <a:pPr marL="35560">
              <a:lnSpc>
                <a:spcPct val="100000"/>
              </a:lnSpc>
              <a:spcBef>
                <a:spcPts val="1235"/>
              </a:spcBef>
            </a:pPr>
            <a:r>
              <a:rPr sz="1200" spc="-10" dirty="0">
                <a:latin typeface="Times New Roman"/>
                <a:cs typeface="Times New Roman"/>
              </a:rPr>
              <a:t>6.11.Limitations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Future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Improvements..........................................................................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48</a:t>
            </a:r>
            <a:endParaRPr sz="1200">
              <a:latin typeface="Times New Roman"/>
              <a:cs typeface="Times New Roman"/>
            </a:endParaRPr>
          </a:p>
          <a:p>
            <a:pPr marL="15240">
              <a:lnSpc>
                <a:spcPct val="100000"/>
              </a:lnSpc>
              <a:spcBef>
                <a:spcPts val="1225"/>
              </a:spcBef>
            </a:pPr>
            <a:r>
              <a:rPr sz="1200" b="1" dirty="0">
                <a:latin typeface="Times New Roman"/>
                <a:cs typeface="Times New Roman"/>
              </a:rPr>
              <a:t>Chapter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7:</a:t>
            </a:r>
            <a:r>
              <a:rPr sz="1200" b="1" spc="27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Conclusion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Future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Work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.......................................................................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spc="-25" dirty="0">
                <a:latin typeface="Times New Roman"/>
                <a:cs typeface="Times New Roman"/>
              </a:rPr>
              <a:t>49</a:t>
            </a:r>
            <a:endParaRPr sz="1200">
              <a:latin typeface="Times New Roman"/>
              <a:cs typeface="Times New Roman"/>
            </a:endParaRPr>
          </a:p>
          <a:p>
            <a:pPr marL="251460" lvl="1" indent="-228600">
              <a:lnSpc>
                <a:spcPct val="100000"/>
              </a:lnSpc>
              <a:spcBef>
                <a:spcPts val="1235"/>
              </a:spcBef>
              <a:buSzPct val="91666"/>
              <a:buAutoNum type="arabicPeriod"/>
              <a:tabLst>
                <a:tab pos="251460" algn="l"/>
              </a:tabLst>
            </a:pPr>
            <a:r>
              <a:rPr sz="1200" dirty="0">
                <a:latin typeface="Times New Roman"/>
                <a:cs typeface="Times New Roman"/>
              </a:rPr>
              <a:t>Conclusion………………..………….............................................................................</a:t>
            </a:r>
            <a:r>
              <a:rPr sz="1200" spc="-25" dirty="0">
                <a:latin typeface="Times New Roman"/>
                <a:cs typeface="Times New Roman"/>
              </a:rPr>
              <a:t> 49</a:t>
            </a:r>
            <a:endParaRPr sz="1200">
              <a:latin typeface="Times New Roman"/>
              <a:cs typeface="Times New Roman"/>
            </a:endParaRPr>
          </a:p>
          <a:p>
            <a:pPr marL="250825" lvl="1" indent="-226060">
              <a:lnSpc>
                <a:spcPct val="100000"/>
              </a:lnSpc>
              <a:spcBef>
                <a:spcPts val="1225"/>
              </a:spcBef>
              <a:buSzPct val="91666"/>
              <a:buAutoNum type="arabicPeriod"/>
              <a:tabLst>
                <a:tab pos="250825" algn="l"/>
              </a:tabLst>
            </a:pPr>
            <a:r>
              <a:rPr sz="1200" dirty="0">
                <a:latin typeface="Times New Roman"/>
                <a:cs typeface="Times New Roman"/>
              </a:rPr>
              <a:t>Future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Work………………………..…...........................................................................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49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9</a:t>
            </a:fld>
            <a:endParaRPr spc="-20" dirty="0"/>
          </a:p>
        </p:txBody>
      </p:sp>
      <p:sp>
        <p:nvSpPr>
          <p:cNvPr id="2" name="object 2"/>
          <p:cNvSpPr txBox="1"/>
          <p:nvPr/>
        </p:nvSpPr>
        <p:spPr>
          <a:xfrm>
            <a:off x="1176324" y="888238"/>
            <a:ext cx="5690235" cy="81661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175" algn="ctr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latin typeface="Times New Roman"/>
                <a:cs typeface="Times New Roman"/>
              </a:rPr>
              <a:t>List</a:t>
            </a:r>
            <a:r>
              <a:rPr sz="1600" b="1" spc="-4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of</a:t>
            </a:r>
            <a:r>
              <a:rPr sz="1600" b="1" spc="-30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Figures</a:t>
            </a:r>
            <a:endParaRPr sz="16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470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3.1: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diagram.....................................................................................................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15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20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4.1: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Architecture</a:t>
            </a:r>
            <a:r>
              <a:rPr sz="1200" spc="-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.................................................................................................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17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3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4.2: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</a:t>
            </a:r>
            <a:r>
              <a:rPr sz="1200" spc="-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................................................................................................</a:t>
            </a:r>
            <a:r>
              <a:rPr sz="1200" spc="-6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19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2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4.3: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</a:t>
            </a:r>
            <a:r>
              <a:rPr sz="1200" spc="-7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19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3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4.4: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Package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Diagram......................................................................................................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20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30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4.5: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Deployment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</a:t>
            </a:r>
            <a:r>
              <a:rPr sz="1200" spc="-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</a:t>
            </a:r>
            <a:r>
              <a:rPr sz="1200" spc="-6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21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3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4.6: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Activity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Diagram......................................................................................................</a:t>
            </a:r>
            <a:r>
              <a:rPr sz="1200" spc="-6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22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2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4.7: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State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Machine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</a:t>
            </a:r>
            <a:r>
              <a:rPr sz="1200" spc="-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</a:t>
            </a:r>
            <a:r>
              <a:rPr sz="1200" spc="-6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24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3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4.8: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Register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Sequence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</a:t>
            </a:r>
            <a:r>
              <a:rPr sz="1200" spc="-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</a:t>
            </a:r>
            <a:r>
              <a:rPr sz="1200" spc="-6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25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2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4.9: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Login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sequence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diagram...........................................................................................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26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3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4.10: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Sequence</a:t>
            </a:r>
            <a:r>
              <a:rPr sz="1200" spc="-10" dirty="0">
                <a:latin typeface="Times New Roman"/>
                <a:cs typeface="Times New Roman"/>
              </a:rPr>
              <a:t> Diagram</a:t>
            </a:r>
            <a:r>
              <a:rPr sz="1200" spc="-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</a:t>
            </a:r>
            <a:r>
              <a:rPr sz="1200" spc="-6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27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2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4.11: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Node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Structure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Diagram.........................................................................................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29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3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4.12: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Communication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Protocol</a:t>
            </a:r>
            <a:r>
              <a:rPr sz="1200" spc="-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</a:t>
            </a:r>
            <a:r>
              <a:rPr sz="1200" spc="-6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29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22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5.1: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</a:t>
            </a:r>
            <a:r>
              <a:rPr sz="1200" spc="-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................................................................................................</a:t>
            </a:r>
            <a:r>
              <a:rPr sz="1200" spc="-6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37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4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5.2: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Abouts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.......................................................................................................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37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5.3: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login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Diagram...........................................................................................................</a:t>
            </a:r>
            <a:r>
              <a:rPr sz="1200" spc="-6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38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5.4: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Register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Diagram......................................................................................................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39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5.6: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Management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</a:t>
            </a:r>
            <a:r>
              <a:rPr sz="1200" spc="-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</a:t>
            </a:r>
            <a:r>
              <a:rPr sz="1200" spc="-6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40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3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5.7: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Management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</a:t>
            </a:r>
            <a:r>
              <a:rPr sz="1200" spc="-7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40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5.8: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Dashboard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</a:t>
            </a:r>
            <a:r>
              <a:rPr sz="1200" spc="-7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41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5.9: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10" dirty="0">
                <a:latin typeface="Times New Roman"/>
                <a:cs typeface="Times New Roman"/>
              </a:rPr>
              <a:t> Diagram</a:t>
            </a:r>
            <a:r>
              <a:rPr sz="1200" spc="-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42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4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Fig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5.10: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Home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</a:t>
            </a:r>
            <a:r>
              <a:rPr sz="1200" spc="-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.......................................................................................................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42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1410"/>
              </a:lnSpc>
            </a:pPr>
            <a:fld id="{81D60167-4931-47E6-BA6A-407CBD079E47}" type="slidenum">
              <a:rPr spc="-20" dirty="0"/>
              <a:t>10</a:t>
            </a:fld>
            <a:endParaRPr spc="-20" dirty="0"/>
          </a:p>
        </p:txBody>
      </p:sp>
      <p:sp>
        <p:nvSpPr>
          <p:cNvPr id="2" name="object 2"/>
          <p:cNvSpPr txBox="1"/>
          <p:nvPr/>
        </p:nvSpPr>
        <p:spPr>
          <a:xfrm>
            <a:off x="1176324" y="2258314"/>
            <a:ext cx="5696585" cy="67976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latin typeface="Times New Roman"/>
                <a:cs typeface="Times New Roman"/>
              </a:rPr>
              <a:t>Chapter</a:t>
            </a:r>
            <a:r>
              <a:rPr sz="1600" b="1" spc="-6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1:</a:t>
            </a:r>
            <a:r>
              <a:rPr sz="1600" b="1" spc="-35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Introduction</a:t>
            </a:r>
            <a:endParaRPr sz="1600">
              <a:latin typeface="Times New Roman"/>
              <a:cs typeface="Times New Roman"/>
            </a:endParaRPr>
          </a:p>
          <a:p>
            <a:pPr marL="12700" marR="6350" algn="just">
              <a:lnSpc>
                <a:spcPct val="143800"/>
              </a:lnSpc>
              <a:spcBef>
                <a:spcPts val="1639"/>
              </a:spcBef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chapter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introduces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"Auction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Abode,"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 </a:t>
            </a:r>
            <a:r>
              <a:rPr sz="1200" dirty="0">
                <a:latin typeface="Times New Roman"/>
                <a:cs typeface="Times New Roman"/>
              </a:rPr>
              <a:t>designed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transform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landscape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integrating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bidding, artificial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intelligence,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mechanisms.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aims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critical </a:t>
            </a:r>
            <a:r>
              <a:rPr sz="1200" dirty="0">
                <a:latin typeface="Times New Roman"/>
                <a:cs typeface="Times New Roman"/>
              </a:rPr>
              <a:t>challenges</a:t>
            </a:r>
            <a:r>
              <a:rPr sz="1200" spc="13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3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traditional</a:t>
            </a:r>
            <a:r>
              <a:rPr sz="1200" spc="13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3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auctions,</a:t>
            </a:r>
            <a:r>
              <a:rPr sz="1200" spc="13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including</a:t>
            </a:r>
            <a:r>
              <a:rPr sz="1200" spc="13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limited</a:t>
            </a:r>
            <a:r>
              <a:rPr sz="1200" spc="12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accessibility,</a:t>
            </a:r>
            <a:r>
              <a:rPr sz="1200" spc="12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lack</a:t>
            </a:r>
            <a:r>
              <a:rPr sz="1200" spc="135" dirty="0">
                <a:latin typeface="Times New Roman"/>
                <a:cs typeface="Times New Roman"/>
              </a:rPr>
              <a:t> 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dirty="0">
                <a:latin typeface="Times New Roman"/>
                <a:cs typeface="Times New Roman"/>
              </a:rPr>
              <a:t>transparency,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risks,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inefficient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processes.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6985" algn="just">
              <a:lnSpc>
                <a:spcPct val="1438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leveraging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cutting-</a:t>
            </a:r>
            <a:r>
              <a:rPr sz="1200" dirty="0">
                <a:latin typeface="Times New Roman"/>
                <a:cs typeface="Times New Roman"/>
              </a:rPr>
              <a:t>edge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technologies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WebSocket’s,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prediction,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automated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verification,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seamless,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fair,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secure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experience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alike.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provides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instant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updates, </a:t>
            </a:r>
            <a:r>
              <a:rPr sz="1200" dirty="0">
                <a:latin typeface="Times New Roman"/>
                <a:cs typeface="Times New Roman"/>
              </a:rPr>
              <a:t>intelligent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recommendations,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mechanisms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safeguard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from </a:t>
            </a:r>
            <a:r>
              <a:rPr sz="1200" dirty="0">
                <a:latin typeface="Times New Roman"/>
                <a:cs typeface="Times New Roman"/>
              </a:rPr>
              <a:t>deceptive</a:t>
            </a:r>
            <a:r>
              <a:rPr sz="1200" spc="-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practices.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35"/>
              </a:spcBef>
            </a:pPr>
            <a:endParaRPr sz="1200">
              <a:latin typeface="Times New Roman"/>
              <a:cs typeface="Times New Roman"/>
            </a:endParaRPr>
          </a:p>
          <a:p>
            <a:pPr marL="70485">
              <a:lnSpc>
                <a:spcPct val="100000"/>
              </a:lnSpc>
            </a:pPr>
            <a:r>
              <a:rPr sz="1600" b="1" dirty="0">
                <a:latin typeface="Times New Roman"/>
                <a:cs typeface="Times New Roman"/>
              </a:rPr>
              <a:t>1.1.</a:t>
            </a:r>
            <a:r>
              <a:rPr sz="1600" b="1" spc="315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Brief</a:t>
            </a:r>
            <a:endParaRPr sz="16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900"/>
              </a:lnSpc>
              <a:spcBef>
                <a:spcPts val="835"/>
              </a:spcBef>
            </a:pPr>
            <a:r>
              <a:rPr sz="1200" spc="-10" dirty="0">
                <a:latin typeface="Times New Roman"/>
                <a:cs typeface="Times New Roman"/>
              </a:rPr>
              <a:t>Studies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market analyses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consistently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highlight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transformative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potential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 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technologies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revolutionizing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digital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auctions.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Traditional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bidding </a:t>
            </a:r>
            <a:r>
              <a:rPr sz="1200" dirty="0">
                <a:latin typeface="Times New Roman"/>
                <a:cs typeface="Times New Roman"/>
              </a:rPr>
              <a:t>systems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face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challenges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transparency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issues,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fraudulent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listings,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scalability </a:t>
            </a:r>
            <a:r>
              <a:rPr sz="1200" dirty="0">
                <a:latin typeface="Times New Roman"/>
                <a:cs typeface="Times New Roman"/>
              </a:rPr>
              <a:t>limitations,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inefficient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experiences.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leverages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AI-powered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price </a:t>
            </a:r>
            <a:r>
              <a:rPr sz="1200" dirty="0">
                <a:latin typeface="Times New Roman"/>
                <a:cs typeface="Times New Roman"/>
              </a:rPr>
              <a:t>prediction,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mechanisms,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automated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verification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enhance </a:t>
            </a:r>
            <a:r>
              <a:rPr sz="1200" dirty="0">
                <a:latin typeface="Times New Roman"/>
                <a:cs typeface="Times New Roman"/>
              </a:rPr>
              <a:t>fairness,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accessibility,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transactions.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9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8890" algn="just">
              <a:lnSpc>
                <a:spcPct val="143700"/>
              </a:lnSpc>
            </a:pP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integrating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machine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learning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models,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analyzes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historical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to </a:t>
            </a:r>
            <a:r>
              <a:rPr sz="1200" dirty="0">
                <a:latin typeface="Times New Roman"/>
                <a:cs typeface="Times New Roman"/>
              </a:rPr>
              <a:t>provide</a:t>
            </a:r>
            <a:r>
              <a:rPr sz="1200" spc="3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accurate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recommendations,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allowing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make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informed </a:t>
            </a:r>
            <a:r>
              <a:rPr sz="1200" dirty="0">
                <a:latin typeface="Times New Roman"/>
                <a:cs typeface="Times New Roman"/>
              </a:rPr>
              <a:t>decisions.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Additionally,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automated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mechanisms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NLP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pattern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2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12037"/>
            <a:ext cx="5695315" cy="8049259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 algn="just">
              <a:lnSpc>
                <a:spcPct val="143800"/>
              </a:lnSpc>
              <a:spcBef>
                <a:spcPts val="90"/>
              </a:spcBef>
            </a:pPr>
            <a:r>
              <a:rPr sz="1200" spc="-10" dirty="0">
                <a:latin typeface="Times New Roman"/>
                <a:cs typeface="Times New Roman"/>
              </a:rPr>
              <a:t>recognition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algorithms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validate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documents,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mitigating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risks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misinformation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spc="-10" dirty="0">
                <a:latin typeface="Times New Roman"/>
                <a:cs typeface="Times New Roman"/>
              </a:rPr>
              <a:t>fraudulent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listings.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These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advancements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that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process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remains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efficient,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0" dirty="0">
                <a:latin typeface="Times New Roman"/>
                <a:cs typeface="Times New Roman"/>
              </a:rPr>
              <a:t> data-driven.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9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715" algn="just">
              <a:lnSpc>
                <a:spcPct val="143800"/>
              </a:lnSpc>
            </a:pP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growing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demand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intelligent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scalable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platforms,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incorporates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synchronization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via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WebSocket’s,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all </a:t>
            </a:r>
            <a:r>
              <a:rPr sz="1200" spc="-10" dirty="0">
                <a:latin typeface="Times New Roman"/>
                <a:cs typeface="Times New Roman"/>
              </a:rPr>
              <a:t>participants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instant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without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delays.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platform’s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cloud-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infrastructure </a:t>
            </a:r>
            <a:r>
              <a:rPr sz="1200" dirty="0">
                <a:latin typeface="Times New Roman"/>
                <a:cs typeface="Times New Roman"/>
              </a:rPr>
              <a:t>supports</a:t>
            </a:r>
            <a:r>
              <a:rPr sz="1200" spc="4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seamless</a:t>
            </a:r>
            <a:r>
              <a:rPr sz="1200" spc="48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scalability,</a:t>
            </a:r>
            <a:r>
              <a:rPr sz="1200" spc="48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accommodating</a:t>
            </a:r>
            <a:r>
              <a:rPr sz="1200" spc="48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48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4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traffic</a:t>
            </a:r>
            <a:r>
              <a:rPr sz="1200" spc="4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without</a:t>
            </a:r>
            <a:r>
              <a:rPr sz="1200" spc="49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performance </a:t>
            </a:r>
            <a:r>
              <a:rPr sz="1200" dirty="0">
                <a:latin typeface="Times New Roman"/>
                <a:cs typeface="Times New Roman"/>
              </a:rPr>
              <a:t>degradation.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Geofencing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subscription-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notifications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further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user </a:t>
            </a:r>
            <a:r>
              <a:rPr sz="1200" dirty="0">
                <a:latin typeface="Times New Roman"/>
                <a:cs typeface="Times New Roman"/>
              </a:rPr>
              <a:t>engagement,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relevant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alerts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preferences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spc="-10" dirty="0">
                <a:latin typeface="Times New Roman"/>
                <a:cs typeface="Times New Roman"/>
              </a:rPr>
              <a:t>location.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9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800"/>
              </a:lnSpc>
            </a:pP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adaptive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development,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adopts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Agile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methodology, </a:t>
            </a:r>
            <a:r>
              <a:rPr sz="1200" dirty="0">
                <a:latin typeface="Times New Roman"/>
                <a:cs typeface="Times New Roman"/>
              </a:rPr>
              <a:t>allowing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continuous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refinements,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feedback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integration,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iterative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improvements.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approach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evolves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dynamically,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meeting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evolving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needs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buyers,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sellers,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regulatory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frameworks,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while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positioning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itself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pioneering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AI- 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solution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industry.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35"/>
              </a:spcBef>
            </a:pPr>
            <a:endParaRPr sz="1200">
              <a:latin typeface="Times New Roman"/>
              <a:cs typeface="Times New Roman"/>
            </a:endParaRPr>
          </a:p>
          <a:p>
            <a:pPr marL="70485" algn="just">
              <a:lnSpc>
                <a:spcPct val="100000"/>
              </a:lnSpc>
            </a:pPr>
            <a:r>
              <a:rPr sz="1600" b="1" dirty="0">
                <a:latin typeface="Times New Roman"/>
                <a:cs typeface="Times New Roman"/>
              </a:rPr>
              <a:t>1.2.</a:t>
            </a:r>
            <a:r>
              <a:rPr sz="1600" b="1" spc="28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Relevance</a:t>
            </a:r>
            <a:r>
              <a:rPr sz="1600" b="1" spc="-3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to</a:t>
            </a:r>
            <a:r>
              <a:rPr sz="1600" b="1" spc="-2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Course</a:t>
            </a:r>
            <a:r>
              <a:rPr sz="1600" b="1" spc="-35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Modules</a:t>
            </a:r>
            <a:endParaRPr sz="1600">
              <a:latin typeface="Times New Roman"/>
              <a:cs typeface="Times New Roman"/>
            </a:endParaRPr>
          </a:p>
          <a:p>
            <a:pPr marL="12700" marR="6985" indent="129539" algn="just">
              <a:lnSpc>
                <a:spcPct val="143700"/>
              </a:lnSpc>
              <a:spcBef>
                <a:spcPts val="840"/>
              </a:spcBef>
              <a:buAutoNum type="romanLcPeriod"/>
              <a:tabLst>
                <a:tab pos="142240" algn="l"/>
              </a:tabLst>
            </a:pPr>
            <a:r>
              <a:rPr sz="1200" dirty="0">
                <a:latin typeface="Times New Roman"/>
                <a:cs typeface="Times New Roman"/>
              </a:rPr>
              <a:t>Web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guided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creating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dynamic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responsive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interface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platform,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seamless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accessibility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across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devices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intuitive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experience.</a:t>
            </a:r>
            <a:endParaRPr sz="1200">
              <a:latin typeface="Times New Roman"/>
              <a:cs typeface="Times New Roman"/>
            </a:endParaRPr>
          </a:p>
          <a:p>
            <a:pPr marL="12700" marR="6350" indent="160655" algn="just">
              <a:lnSpc>
                <a:spcPct val="143700"/>
              </a:lnSpc>
              <a:spcBef>
                <a:spcPts val="610"/>
              </a:spcBef>
              <a:buAutoNum type="romanLcPeriod"/>
              <a:tabLst>
                <a:tab pos="173355" algn="l"/>
              </a:tabLst>
            </a:pPr>
            <a:r>
              <a:rPr sz="1200" spc="-10" dirty="0">
                <a:latin typeface="Times New Roman"/>
                <a:cs typeface="Times New Roman"/>
              </a:rPr>
              <a:t>Object-</a:t>
            </a:r>
            <a:r>
              <a:rPr sz="1200" dirty="0">
                <a:latin typeface="Times New Roman"/>
                <a:cs typeface="Times New Roman"/>
              </a:rPr>
              <a:t>Oriented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Analysis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equipped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skills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comprehensive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workflows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through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cases,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activity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diagrams,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sequence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diagrams,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effectively </a:t>
            </a:r>
            <a:r>
              <a:rPr sz="1200" dirty="0">
                <a:latin typeface="Times New Roman"/>
                <a:cs typeface="Times New Roman"/>
              </a:rPr>
              <a:t>modeling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interactions,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management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functionalities.</a:t>
            </a:r>
            <a:endParaRPr sz="1200">
              <a:latin typeface="Times New Roman"/>
              <a:cs typeface="Times New Roman"/>
            </a:endParaRPr>
          </a:p>
          <a:p>
            <a:pPr marL="12700" marR="5715" indent="238125" algn="just">
              <a:lnSpc>
                <a:spcPct val="143700"/>
              </a:lnSpc>
              <a:spcBef>
                <a:spcPts val="595"/>
              </a:spcBef>
              <a:buAutoNum type="romanLcPeriod"/>
              <a:tabLst>
                <a:tab pos="250825" algn="l"/>
              </a:tabLst>
            </a:pPr>
            <a:r>
              <a:rPr sz="1200" dirty="0">
                <a:latin typeface="Times New Roman"/>
                <a:cs typeface="Times New Roman"/>
              </a:rPr>
              <a:t>Database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Administration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enabled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MongoDB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database, securely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storing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listings,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histories,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profiles,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transaction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records,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ensuring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integrity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retrieval.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3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12037"/>
            <a:ext cx="5696585" cy="81343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 algn="just">
              <a:lnSpc>
                <a:spcPct val="143800"/>
              </a:lnSpc>
              <a:spcBef>
                <a:spcPts val="90"/>
              </a:spcBef>
            </a:pPr>
            <a:r>
              <a:rPr sz="1200" dirty="0">
                <a:latin typeface="Times New Roman"/>
                <a:cs typeface="Times New Roman"/>
              </a:rPr>
              <a:t>iv.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Artificial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Intelligence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core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course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laid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foundation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developing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AI- 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algorithms,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which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enhance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accuracy,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verification,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overall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security.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2320798"/>
            <a:ext cx="5696585" cy="63544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70485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latin typeface="Times New Roman"/>
                <a:cs typeface="Times New Roman"/>
              </a:rPr>
              <a:t>1.3.</a:t>
            </a:r>
            <a:r>
              <a:rPr sz="1600" b="1" spc="27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Project</a:t>
            </a:r>
            <a:r>
              <a:rPr sz="1600" b="1" spc="-45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Background</a:t>
            </a:r>
            <a:endParaRPr sz="16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700"/>
              </a:lnSpc>
              <a:spcBef>
                <a:spcPts val="1639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"Auction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Abode: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Platform"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addresses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critical </a:t>
            </a:r>
            <a:r>
              <a:rPr sz="1200" dirty="0">
                <a:latin typeface="Times New Roman"/>
                <a:cs typeface="Times New Roman"/>
              </a:rPr>
              <a:t>challenges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industry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leveraging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artificial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intelligence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real-</a:t>
            </a:r>
            <a:r>
              <a:rPr sz="1200" spc="-20" dirty="0">
                <a:latin typeface="Times New Roman"/>
                <a:cs typeface="Times New Roman"/>
              </a:rPr>
              <a:t>time </a:t>
            </a:r>
            <a:r>
              <a:rPr sz="1200" dirty="0">
                <a:latin typeface="Times New Roman"/>
                <a:cs typeface="Times New Roman"/>
              </a:rPr>
              <a:t>technologies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enhance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transparency,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efficiency,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transactions. </a:t>
            </a:r>
            <a:r>
              <a:rPr sz="1200" dirty="0">
                <a:latin typeface="Times New Roman"/>
                <a:cs typeface="Times New Roman"/>
              </a:rPr>
              <a:t>Traditional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often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suffer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limited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accessibility,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manipulation,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fraud </a:t>
            </a:r>
            <a:r>
              <a:rPr sz="1200" dirty="0">
                <a:latin typeface="Times New Roman"/>
                <a:cs typeface="Times New Roman"/>
              </a:rPr>
              <a:t>risks,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inefficient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mechanisms,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leading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lack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trust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engagement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from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sellers.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bridges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gaps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developing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intelligent,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automated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WebSocket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communication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pricing models.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7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enables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synchronization,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participants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receive </a:t>
            </a:r>
            <a:r>
              <a:rPr sz="1200" dirty="0">
                <a:latin typeface="Times New Roman"/>
                <a:cs typeface="Times New Roman"/>
              </a:rPr>
              <a:t>instant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without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delays.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employing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machine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learning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predictive</a:t>
            </a:r>
            <a:r>
              <a:rPr sz="1200" spc="-10" dirty="0">
                <a:latin typeface="Times New Roman"/>
                <a:cs typeface="Times New Roman"/>
              </a:rPr>
              <a:t> analytics,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provides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intelligent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recommendations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historical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data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market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trends,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users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make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data-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decisions.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Furthermore,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automated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mechanisms,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incorporating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natural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language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processing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(NLP)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AI- </a:t>
            </a:r>
            <a:r>
              <a:rPr sz="1200" spc="-10" dirty="0">
                <a:latin typeface="Times New Roman"/>
                <a:cs typeface="Times New Roman"/>
              </a:rPr>
              <a:t>powered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verification,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safeguard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against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deceptive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listings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tampered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 data.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6350" algn="just">
              <a:lnSpc>
                <a:spcPct val="143900"/>
              </a:lnSpc>
            </a:pP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strength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its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interdisciplinary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approach,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bringing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together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expertise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professionals,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scientists,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developers.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collaboration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ensures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mechanisms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both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technically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advanced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practically </a:t>
            </a:r>
            <a:r>
              <a:rPr sz="1200" dirty="0">
                <a:latin typeface="Times New Roman"/>
                <a:cs typeface="Times New Roman"/>
              </a:rPr>
              <a:t>relevant.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Additionally,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adheres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strict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standards,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integrating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JWT </a:t>
            </a:r>
            <a:r>
              <a:rPr sz="1200" spc="-10" dirty="0">
                <a:latin typeface="Times New Roman"/>
                <a:cs typeface="Times New Roman"/>
              </a:rPr>
              <a:t>authentication,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SSL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encryption,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compliance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regulations,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50" dirty="0">
                <a:latin typeface="Times New Roman"/>
                <a:cs typeface="Times New Roman"/>
              </a:rPr>
              <a:t>a </a:t>
            </a:r>
            <a:r>
              <a:rPr sz="1200" dirty="0">
                <a:latin typeface="Times New Roman"/>
                <a:cs typeface="Times New Roman"/>
              </a:rPr>
              <a:t>safe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trustworthy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environment.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4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12037"/>
            <a:ext cx="5697220" cy="81495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6985" algn="just">
              <a:lnSpc>
                <a:spcPct val="143700"/>
              </a:lnSpc>
              <a:spcBef>
                <a:spcPts val="95"/>
              </a:spcBef>
            </a:pP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summary,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represents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groundbreaking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advancement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estate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industry,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offering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transparent,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driven,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highly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alternative</a:t>
            </a:r>
            <a:r>
              <a:rPr sz="1200" spc="36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to </a:t>
            </a:r>
            <a:r>
              <a:rPr sz="1200" dirty="0">
                <a:latin typeface="Times New Roman"/>
                <a:cs typeface="Times New Roman"/>
              </a:rPr>
              <a:t>traditional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systems.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combining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responsiveness,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AI-powered </a:t>
            </a:r>
            <a:r>
              <a:rPr sz="1200" dirty="0">
                <a:latin typeface="Times New Roman"/>
                <a:cs typeface="Times New Roman"/>
              </a:rPr>
              <a:t>insights,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robust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measures,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sets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new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standard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accessible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reliable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transactions,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empowering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diverse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range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across </a:t>
            </a:r>
            <a:r>
              <a:rPr sz="1200" dirty="0">
                <a:latin typeface="Times New Roman"/>
                <a:cs typeface="Times New Roman"/>
              </a:rPr>
              <a:t>global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markets.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sz="1200">
              <a:latin typeface="Times New Roman"/>
              <a:cs typeface="Times New Roman"/>
            </a:endParaRPr>
          </a:p>
          <a:p>
            <a:pPr marL="70485">
              <a:lnSpc>
                <a:spcPct val="100000"/>
              </a:lnSpc>
            </a:pPr>
            <a:r>
              <a:rPr sz="1600" b="1" dirty="0">
                <a:latin typeface="Times New Roman"/>
                <a:cs typeface="Times New Roman"/>
              </a:rPr>
              <a:t>1.4.</a:t>
            </a:r>
            <a:r>
              <a:rPr sz="1600" b="1" spc="254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Literature</a:t>
            </a:r>
            <a:r>
              <a:rPr sz="1600" b="1" spc="-40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Review</a:t>
            </a:r>
            <a:endParaRPr sz="16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30"/>
              </a:spcBef>
            </a:pPr>
            <a:endParaRPr sz="1600">
              <a:latin typeface="Times New Roman"/>
              <a:cs typeface="Times New Roman"/>
            </a:endParaRPr>
          </a:p>
          <a:p>
            <a:pPr marL="12700" marR="8255" indent="208279">
              <a:lnSpc>
                <a:spcPts val="1380"/>
              </a:lnSpc>
              <a:spcBef>
                <a:spcPts val="5"/>
              </a:spcBef>
              <a:buFont typeface="Times New Roman"/>
              <a:buAutoNum type="arabicPeriod"/>
              <a:tabLst>
                <a:tab pos="220979" algn="l"/>
              </a:tabLst>
            </a:pPr>
            <a:r>
              <a:rPr sz="1200" b="1" dirty="0">
                <a:latin typeface="Times New Roman"/>
                <a:cs typeface="Times New Roman"/>
              </a:rPr>
              <a:t>Integration</a:t>
            </a:r>
            <a:r>
              <a:rPr sz="1200" b="1" spc="4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of</a:t>
            </a:r>
            <a:r>
              <a:rPr sz="1200" b="1" spc="4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Artificial</a:t>
            </a:r>
            <a:r>
              <a:rPr sz="1200" b="1" spc="4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Intelligence</a:t>
            </a:r>
            <a:r>
              <a:rPr sz="1200" b="1" spc="4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434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Real-</a:t>
            </a:r>
            <a:r>
              <a:rPr sz="1200" b="1" dirty="0">
                <a:latin typeface="Times New Roman"/>
                <a:cs typeface="Times New Roman"/>
              </a:rPr>
              <a:t>Time</a:t>
            </a:r>
            <a:r>
              <a:rPr sz="1200" b="1" spc="409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Technologies</a:t>
            </a:r>
            <a:r>
              <a:rPr sz="1200" b="1" spc="4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</a:t>
            </a:r>
            <a:r>
              <a:rPr sz="1200" b="1" spc="4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Property Auctions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"/>
              </a:spcBef>
              <a:buAutoNum type="arabicPeriod"/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artificial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intelligence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(AI)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technologies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property </a:t>
            </a:r>
            <a:r>
              <a:rPr sz="1200" dirty="0">
                <a:latin typeface="Times New Roman"/>
                <a:cs typeface="Times New Roman"/>
              </a:rPr>
              <a:t>auctions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has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revolutionized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how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transactions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conducted.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innovations </a:t>
            </a:r>
            <a:r>
              <a:rPr sz="1200" dirty="0">
                <a:latin typeface="Times New Roman"/>
                <a:cs typeface="Times New Roman"/>
              </a:rPr>
              <a:t>have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introduced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new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levels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security,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transparency,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efficiency,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scalability,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enabling </a:t>
            </a:r>
            <a:r>
              <a:rPr sz="1200" dirty="0">
                <a:latin typeface="Times New Roman"/>
                <a:cs typeface="Times New Roman"/>
              </a:rPr>
              <a:t>smarter,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faster,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fairer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processes.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Below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 an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overview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significant studies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that </a:t>
            </a:r>
            <a:r>
              <a:rPr sz="1200" dirty="0">
                <a:latin typeface="Times New Roman"/>
                <a:cs typeface="Times New Roman"/>
              </a:rPr>
              <a:t>demonstrate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advancements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evolving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field:</a:t>
            </a:r>
            <a:endParaRPr sz="1200">
              <a:latin typeface="Times New Roman"/>
              <a:cs typeface="Times New Roman"/>
            </a:endParaRPr>
          </a:p>
          <a:p>
            <a:pPr marL="240665" indent="-227965">
              <a:lnSpc>
                <a:spcPct val="100000"/>
              </a:lnSpc>
              <a:spcBef>
                <a:spcPts val="1310"/>
              </a:spcBef>
              <a:buAutoNum type="arabicPeriod" startAt="2"/>
              <a:tabLst>
                <a:tab pos="24066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AI-</a:t>
            </a:r>
            <a:r>
              <a:rPr sz="1200" b="1" dirty="0">
                <a:latin typeface="Times New Roman"/>
                <a:cs typeface="Times New Roman"/>
              </a:rPr>
              <a:t>Powered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Price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Prediction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Real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Estate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Auctions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AutoNum type="arabicPeriod" startAt="2"/>
            </a:pPr>
            <a:endParaRPr sz="1200">
              <a:latin typeface="Times New Roman"/>
              <a:cs typeface="Times New Roman"/>
            </a:endParaRPr>
          </a:p>
          <a:p>
            <a:pPr marL="12700" marR="9525" algn="just">
              <a:lnSpc>
                <a:spcPts val="138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study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explored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various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machine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learning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models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regression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analysis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deep </a:t>
            </a:r>
            <a:r>
              <a:rPr sz="1200" dirty="0">
                <a:latin typeface="Times New Roman"/>
                <a:cs typeface="Times New Roman"/>
              </a:rPr>
              <a:t>neural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networks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historical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datasets.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research </a:t>
            </a:r>
            <a:r>
              <a:rPr sz="1200" dirty="0">
                <a:latin typeface="Times New Roman"/>
                <a:cs typeface="Times New Roman"/>
              </a:rPr>
              <a:t>concluded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significantly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improve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accuracy,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align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seller expectations,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promote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valuations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minimizing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human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error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appraisals.</a:t>
            </a:r>
            <a:endParaRPr sz="1200">
              <a:latin typeface="Times New Roman"/>
              <a:cs typeface="Times New Roman"/>
            </a:endParaRPr>
          </a:p>
          <a:p>
            <a:pPr marL="240665" indent="-227965">
              <a:lnSpc>
                <a:spcPct val="100000"/>
              </a:lnSpc>
              <a:spcBef>
                <a:spcPts val="1305"/>
              </a:spcBef>
              <a:buFont typeface="Times New Roman"/>
              <a:buAutoNum type="arabicPeriod" startAt="3"/>
              <a:tabLst>
                <a:tab pos="24066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Real-</a:t>
            </a:r>
            <a:r>
              <a:rPr sz="1200" b="1" dirty="0">
                <a:latin typeface="Times New Roman"/>
                <a:cs typeface="Times New Roman"/>
              </a:rPr>
              <a:t>Time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Bidding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Systems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Using</a:t>
            </a:r>
            <a:r>
              <a:rPr sz="1200" b="1" spc="-10" dirty="0">
                <a:latin typeface="Times New Roman"/>
                <a:cs typeface="Times New Roman"/>
              </a:rPr>
              <a:t> WebSockets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buAutoNum type="arabicPeriod" startAt="3"/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"/>
              </a:spcBef>
              <a:buAutoNum type="arabicPeriod" startAt="3"/>
            </a:pPr>
            <a:endParaRPr sz="1200">
              <a:latin typeface="Times New Roman"/>
              <a:cs typeface="Times New Roman"/>
            </a:endParaRPr>
          </a:p>
          <a:p>
            <a:pPr marL="240665" marR="38735">
              <a:lnSpc>
                <a:spcPct val="95900"/>
              </a:lnSpc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research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investigated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implementation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WebSocket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technology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achieve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 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synchronization.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findings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included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instant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reduced</a:t>
            </a:r>
            <a:r>
              <a:rPr sz="1200" spc="5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latency,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prevention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last-</a:t>
            </a:r>
            <a:r>
              <a:rPr sz="1200" dirty="0">
                <a:latin typeface="Times New Roman"/>
                <a:cs typeface="Times New Roman"/>
              </a:rPr>
              <a:t>minute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manipulation.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study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demonstrated</a:t>
            </a:r>
            <a:r>
              <a:rPr sz="1200" spc="-25" dirty="0">
                <a:latin typeface="Times New Roman"/>
                <a:cs typeface="Times New Roman"/>
              </a:rPr>
              <a:t> the </a:t>
            </a:r>
            <a:r>
              <a:rPr sz="1200" dirty="0">
                <a:latin typeface="Times New Roman"/>
                <a:cs typeface="Times New Roman"/>
              </a:rPr>
              <a:t>scalability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responsiveness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WebSockets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large-</a:t>
            </a:r>
            <a:r>
              <a:rPr sz="1200" dirty="0">
                <a:latin typeface="Times New Roman"/>
                <a:cs typeface="Times New Roman"/>
              </a:rPr>
              <a:t>scale,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high-traffic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auctions.</a:t>
            </a:r>
            <a:endParaRPr sz="1200">
              <a:latin typeface="Times New Roman"/>
              <a:cs typeface="Times New Roman"/>
            </a:endParaRPr>
          </a:p>
          <a:p>
            <a:pPr marL="164465" indent="-151765">
              <a:lnSpc>
                <a:spcPct val="100000"/>
              </a:lnSpc>
              <a:spcBef>
                <a:spcPts val="1330"/>
              </a:spcBef>
              <a:buAutoNum type="arabicPeriod" startAt="4"/>
              <a:tabLst>
                <a:tab pos="16446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AI-</a:t>
            </a:r>
            <a:r>
              <a:rPr sz="1200" b="1" dirty="0">
                <a:latin typeface="Times New Roman"/>
                <a:cs typeface="Times New Roman"/>
              </a:rPr>
              <a:t>Driven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Fraud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Detection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Online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Marketplaces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10795" algn="just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Focusing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prevention,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study employed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Natural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Language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Processing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(NLP)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anomaly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algorithms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identify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fake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listings,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forged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documents,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suspicious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behaviors.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tools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helped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trust,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reduce </a:t>
            </a:r>
            <a:r>
              <a:rPr sz="1200" dirty="0">
                <a:latin typeface="Times New Roman"/>
                <a:cs typeface="Times New Roman"/>
              </a:rPr>
              <a:t>financial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risk,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integrity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digital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auctions.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5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5950" cy="7805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4465" indent="-151765">
              <a:lnSpc>
                <a:spcPct val="100000"/>
              </a:lnSpc>
              <a:spcBef>
                <a:spcPts val="100"/>
              </a:spcBef>
              <a:buAutoNum type="arabicPeriod" startAt="5"/>
              <a:tabLst>
                <a:tab pos="16446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Cloud-</a:t>
            </a:r>
            <a:r>
              <a:rPr sz="1200" b="1" dirty="0">
                <a:latin typeface="Times New Roman"/>
                <a:cs typeface="Times New Roman"/>
              </a:rPr>
              <a:t>Based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Auction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Platforms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for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Scalability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10" dirty="0">
                <a:latin typeface="Times New Roman"/>
                <a:cs typeface="Times New Roman"/>
              </a:rPr>
              <a:t> Accessibility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  <a:buFont typeface="Times New Roman"/>
              <a:buAutoNum type="arabicPeriod" startAt="5"/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research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highlighted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benefits</a:t>
            </a:r>
            <a:r>
              <a:rPr sz="1200" spc="2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cloud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computing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2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online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platforms, including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efficient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handling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of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large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transaction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volumes,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improved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uptime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processing </a:t>
            </a:r>
            <a:r>
              <a:rPr sz="1200" dirty="0">
                <a:latin typeface="Times New Roman"/>
                <a:cs typeface="Times New Roman"/>
              </a:rPr>
              <a:t>speeds,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accessibility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across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regions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devices.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Cloud-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systems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support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globalization</a:t>
            </a:r>
            <a:r>
              <a:rPr sz="1200" spc="43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3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inclusivity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4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4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43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offering</a:t>
            </a:r>
            <a:r>
              <a:rPr sz="1200" spc="43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robust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3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scalable infrastructure.</a:t>
            </a:r>
            <a:endParaRPr sz="1200">
              <a:latin typeface="Times New Roman"/>
              <a:cs typeface="Times New Roman"/>
            </a:endParaRPr>
          </a:p>
          <a:p>
            <a:pPr marL="164465" indent="-151765">
              <a:lnSpc>
                <a:spcPct val="100000"/>
              </a:lnSpc>
              <a:spcBef>
                <a:spcPts val="1295"/>
              </a:spcBef>
              <a:buAutoNum type="arabicPeriod" startAt="6"/>
              <a:tabLst>
                <a:tab pos="164465" algn="l"/>
              </a:tabLst>
            </a:pPr>
            <a:r>
              <a:rPr sz="1200" b="1" dirty="0">
                <a:latin typeface="Times New Roman"/>
                <a:cs typeface="Times New Roman"/>
              </a:rPr>
              <a:t>User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Experience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UI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Design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Digital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Auctions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buFont typeface="Times New Roman"/>
              <a:buAutoNum type="arabicPeriod" startAt="6"/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Font typeface="Times New Roman"/>
              <a:buAutoNum type="arabicPeriod" startAt="6"/>
            </a:pPr>
            <a:endParaRPr sz="1200">
              <a:latin typeface="Times New Roman"/>
              <a:cs typeface="Times New Roman"/>
            </a:endParaRPr>
          </a:p>
          <a:p>
            <a:pPr marL="12700" marR="6985" algn="just">
              <a:lnSpc>
                <a:spcPct val="959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study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emphasized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importance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interface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(UI)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experience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(UX)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in </a:t>
            </a:r>
            <a:r>
              <a:rPr sz="1200" dirty="0">
                <a:latin typeface="Times New Roman"/>
                <a:cs typeface="Times New Roman"/>
              </a:rPr>
              <a:t>enhancing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bidder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engagement.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analyzing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platforms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built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responsive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frameworks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like </a:t>
            </a:r>
            <a:r>
              <a:rPr sz="1200" dirty="0">
                <a:latin typeface="Times New Roman"/>
                <a:cs typeface="Times New Roman"/>
              </a:rPr>
              <a:t>React.js,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research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showed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how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intuitive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improves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usability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both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novice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expert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users,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reduces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friction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process,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boosts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participation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rates.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Good </a:t>
            </a:r>
            <a:r>
              <a:rPr sz="1200" dirty="0">
                <a:latin typeface="Times New Roman"/>
                <a:cs typeface="Times New Roman"/>
              </a:rPr>
              <a:t>UI/UX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building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trust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ease-of-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digital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environments.</a:t>
            </a:r>
            <a:endParaRPr sz="1200">
              <a:latin typeface="Times New Roman"/>
              <a:cs typeface="Times New Roman"/>
            </a:endParaRPr>
          </a:p>
          <a:p>
            <a:pPr marL="164465" indent="-151765">
              <a:lnSpc>
                <a:spcPct val="100000"/>
              </a:lnSpc>
              <a:spcBef>
                <a:spcPts val="1340"/>
              </a:spcBef>
              <a:buAutoNum type="arabicPeriod" startAt="7"/>
              <a:tabLst>
                <a:tab pos="164465" algn="l"/>
              </a:tabLst>
            </a:pPr>
            <a:r>
              <a:rPr sz="1200" b="1" dirty="0">
                <a:latin typeface="Times New Roman"/>
                <a:cs typeface="Times New Roman"/>
              </a:rPr>
              <a:t>Comparing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Traditional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vs.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AI-</a:t>
            </a:r>
            <a:r>
              <a:rPr sz="1200" b="1" dirty="0">
                <a:latin typeface="Times New Roman"/>
                <a:cs typeface="Times New Roman"/>
              </a:rPr>
              <a:t>Enhanced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Property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Auctions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ts val="1380"/>
              </a:lnSpc>
            </a:pPr>
            <a:r>
              <a:rPr sz="1200" spc="-10" dirty="0">
                <a:latin typeface="Times New Roman"/>
                <a:cs typeface="Times New Roman"/>
              </a:rPr>
              <a:t>This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comparative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study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evaluated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conventional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estate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against AI-powered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digital </a:t>
            </a:r>
            <a:r>
              <a:rPr sz="1200" dirty="0">
                <a:latin typeface="Times New Roman"/>
                <a:cs typeface="Times New Roman"/>
              </a:rPr>
              <a:t>platforms.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outcomes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included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reduced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incidents,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higher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accuracy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property </a:t>
            </a:r>
            <a:r>
              <a:rPr sz="1200" dirty="0">
                <a:latin typeface="Times New Roman"/>
                <a:cs typeface="Times New Roman"/>
              </a:rPr>
              <a:t>valuation,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increased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bidder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turnout.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enhanced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systems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automate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document </a:t>
            </a:r>
            <a:r>
              <a:rPr sz="1200" dirty="0">
                <a:latin typeface="Times New Roman"/>
                <a:cs typeface="Times New Roman"/>
              </a:rPr>
              <a:t>verification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legal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compliance,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thereby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expediting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transactions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minimizing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human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error.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894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600" b="1" dirty="0">
                <a:latin typeface="Times New Roman"/>
                <a:cs typeface="Times New Roman"/>
              </a:rPr>
              <a:t>1.5.</a:t>
            </a:r>
            <a:r>
              <a:rPr sz="1600" b="1" spc="-10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Analysis</a:t>
            </a:r>
            <a:r>
              <a:rPr sz="1600" b="1" spc="-7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from</a:t>
            </a:r>
            <a:r>
              <a:rPr sz="1600" b="1" spc="-6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Literature</a:t>
            </a:r>
            <a:r>
              <a:rPr sz="1600" b="1" spc="-55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Review</a:t>
            </a:r>
            <a:endParaRPr sz="1600">
              <a:latin typeface="Times New Roman"/>
              <a:cs typeface="Times New Roman"/>
            </a:endParaRPr>
          </a:p>
          <a:p>
            <a:pPr marL="12700" marR="5715" algn="just">
              <a:lnSpc>
                <a:spcPct val="143800"/>
              </a:lnSpc>
              <a:spcBef>
                <a:spcPts val="1639"/>
              </a:spcBef>
            </a:pPr>
            <a:r>
              <a:rPr sz="1200" dirty="0">
                <a:latin typeface="Times New Roman"/>
                <a:cs typeface="Times New Roman"/>
              </a:rPr>
              <a:t>our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analysis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reveals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strong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alignment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existing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findings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regarding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transformative </a:t>
            </a:r>
            <a:r>
              <a:rPr sz="1200" dirty="0">
                <a:latin typeface="Times New Roman"/>
                <a:cs typeface="Times New Roman"/>
              </a:rPr>
              <a:t>potential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3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technologies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digital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auctions.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literature </a:t>
            </a:r>
            <a:r>
              <a:rPr sz="1200" dirty="0">
                <a:latin typeface="Times New Roman"/>
                <a:cs typeface="Times New Roman"/>
              </a:rPr>
              <a:t>underscores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effectiveness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machine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learning models for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prediction,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WebSocket’s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synchronization,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AI-driven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enhancing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transparency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efficiency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platforms.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Similarly,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our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reinforces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spc="-10" dirty="0">
                <a:latin typeface="Times New Roman"/>
                <a:cs typeface="Times New Roman"/>
              </a:rPr>
              <a:t>importance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instant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estimation,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robust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measures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fostering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trust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among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7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Additionally,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our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work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highlights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critical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role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cloud-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architecture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ensuring </a:t>
            </a:r>
            <a:r>
              <a:rPr sz="1200" dirty="0">
                <a:latin typeface="Times New Roman"/>
                <a:cs typeface="Times New Roman"/>
              </a:rPr>
              <a:t>scalability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accessibility,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echoing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recommendations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studies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deploying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 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platforms.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Furthermore,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extends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findings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incorporating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6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12037"/>
            <a:ext cx="5696585" cy="27463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7620" algn="just">
              <a:lnSpc>
                <a:spcPct val="143300"/>
              </a:lnSpc>
              <a:spcBef>
                <a:spcPts val="100"/>
              </a:spcBef>
            </a:pP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verification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mechanisms,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which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automate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authentication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fraud </a:t>
            </a:r>
            <a:r>
              <a:rPr sz="1200" dirty="0">
                <a:latin typeface="Times New Roman"/>
                <a:cs typeface="Times New Roman"/>
              </a:rPr>
              <a:t>detection,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significantly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improving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trust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transactions.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700"/>
              </a:lnSpc>
            </a:pPr>
            <a:r>
              <a:rPr sz="1200" dirty="0">
                <a:latin typeface="Times New Roman"/>
                <a:cs typeface="Times New Roman"/>
              </a:rPr>
              <a:t>Our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contributes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novel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insights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data-</a:t>
            </a:r>
            <a:r>
              <a:rPr sz="1200" dirty="0">
                <a:latin typeface="Times New Roman"/>
                <a:cs typeface="Times New Roman"/>
              </a:rPr>
              <a:t>driven,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enhanced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bidding system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tailored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specifically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for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large-scale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auctions.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This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approach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not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only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improves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accuracy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efficiency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but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addresses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challenges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real-</a:t>
            </a:r>
            <a:r>
              <a:rPr sz="1200" spc="-20" dirty="0">
                <a:latin typeface="Times New Roman"/>
                <a:cs typeface="Times New Roman"/>
              </a:rPr>
              <a:t>time </a:t>
            </a:r>
            <a:r>
              <a:rPr sz="1200" dirty="0">
                <a:latin typeface="Times New Roman"/>
                <a:cs typeface="Times New Roman"/>
              </a:rPr>
              <a:t>scalability,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manipulation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prevention,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fairness.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43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building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upon</a:t>
            </a:r>
            <a:r>
              <a:rPr sz="1200" spc="4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spc="-10" dirty="0">
                <a:latin typeface="Times New Roman"/>
                <a:cs typeface="Times New Roman"/>
              </a:rPr>
              <a:t>advancements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gaps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identified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existing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research,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establishes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itself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 </a:t>
            </a:r>
            <a:r>
              <a:rPr sz="1200" dirty="0">
                <a:latin typeface="Times New Roman"/>
                <a:cs typeface="Times New Roman"/>
              </a:rPr>
              <a:t>innovative,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solution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poised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revolutionize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digital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</a:pPr>
            <a:r>
              <a:rPr sz="1200" b="1" dirty="0">
                <a:latin typeface="Times New Roman"/>
                <a:cs typeface="Times New Roman"/>
              </a:rPr>
              <a:t>Table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1.1: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Literature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Review</a:t>
            </a:r>
            <a:endParaRPr sz="1200">
              <a:latin typeface="Times New Roman"/>
              <a:cs typeface="Times New Roman"/>
            </a:endParaRP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1189024" y="3813682"/>
          <a:ext cx="5664833" cy="462216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671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780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196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8140">
                <a:tc>
                  <a:txBody>
                    <a:bodyPr/>
                    <a:lstStyle/>
                    <a:p>
                      <a:pPr marL="67945">
                        <a:lnSpc>
                          <a:spcPts val="139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Title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2230">
                        <a:lnSpc>
                          <a:spcPts val="1380"/>
                        </a:lnSpc>
                        <a:tabLst>
                          <a:tab pos="786765" algn="l"/>
                          <a:tab pos="1540510" algn="l"/>
                        </a:tabLst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Machine</a:t>
                      </a:r>
                      <a:r>
                        <a:rPr sz="1200" b="1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Learning</a:t>
                      </a:r>
                      <a:r>
                        <a:rPr sz="1200" b="1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Methods </a:t>
                      </a:r>
                      <a:r>
                        <a:rPr sz="1200" b="1" dirty="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 Findings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>
                        <a:lnSpc>
                          <a:spcPts val="1390"/>
                        </a:lnSpc>
                      </a:pPr>
                      <a:r>
                        <a:rPr sz="1200" b="1" dirty="0">
                          <a:latin typeface="Times New Roman"/>
                          <a:cs typeface="Times New Roman"/>
                        </a:rPr>
                        <a:t>Shortcomings</a:t>
                      </a:r>
                      <a:r>
                        <a:rPr sz="1200" b="1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b="1" dirty="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sz="1200" b="1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Pitfalls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6755">
                <a:tc>
                  <a:txBody>
                    <a:bodyPr/>
                    <a:lstStyle/>
                    <a:p>
                      <a:pPr marL="67945" marR="62230" algn="just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AI-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Powered</a:t>
                      </a:r>
                      <a:r>
                        <a:rPr sz="1200" spc="415" dirty="0">
                          <a:latin typeface="Times New Roman"/>
                          <a:cs typeface="Times New Roman"/>
                        </a:rPr>
                        <a:t>   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Price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Prediction</a:t>
                      </a:r>
                      <a:r>
                        <a:rPr sz="1200" spc="48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in</a:t>
                      </a:r>
                      <a:r>
                        <a:rPr sz="1200" spc="484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Real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Estate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Auctions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0960" algn="just">
                        <a:lnSpc>
                          <a:spcPts val="138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Regression</a:t>
                      </a:r>
                      <a:r>
                        <a:rPr sz="1200" spc="11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models</a:t>
                      </a:r>
                      <a:r>
                        <a:rPr sz="1200" spc="11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sz="1200" spc="11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neural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networks</a:t>
                      </a:r>
                      <a:r>
                        <a:rPr sz="1200" spc="409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analyzed</a:t>
                      </a:r>
                      <a:r>
                        <a:rPr sz="1200" spc="409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historical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auction</a:t>
                      </a:r>
                      <a:r>
                        <a:rPr sz="1200" spc="254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data,</a:t>
                      </a:r>
                      <a:r>
                        <a:rPr sz="1200" spc="254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achieving</a:t>
                      </a:r>
                      <a:r>
                        <a:rPr sz="1200" spc="254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high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accuracy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in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price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estimation.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2230" algn="just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Struggled</a:t>
                      </a:r>
                      <a:r>
                        <a:rPr sz="1200" spc="330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with</a:t>
                      </a:r>
                      <a:r>
                        <a:rPr sz="1200" spc="340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market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volatility,</a:t>
                      </a:r>
                      <a:r>
                        <a:rPr sz="1200" spc="1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requiring</a:t>
                      </a:r>
                      <a:r>
                        <a:rPr sz="1200" spc="1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frequent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retraining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to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remain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relevant.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7390">
                <a:tc>
                  <a:txBody>
                    <a:bodyPr/>
                    <a:lstStyle/>
                    <a:p>
                      <a:pPr marL="67945" marR="61594" algn="just">
                        <a:lnSpc>
                          <a:spcPct val="95900"/>
                        </a:lnSpc>
                        <a:tabLst>
                          <a:tab pos="1133475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Real-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Time</a:t>
                      </a:r>
                      <a:r>
                        <a:rPr sz="1200" spc="44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Bidding Systems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Using WebSockets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2230" algn="just">
                        <a:lnSpc>
                          <a:spcPct val="9590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WebSocket</a:t>
                      </a:r>
                      <a:r>
                        <a:rPr sz="1200" spc="3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technology</a:t>
                      </a:r>
                      <a:r>
                        <a:rPr sz="1200" spc="38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ensured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instant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bid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updates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prevented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delayed</a:t>
                      </a:r>
                      <a:r>
                        <a:rPr sz="1200" spc="11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transactions</a:t>
                      </a:r>
                      <a:r>
                        <a:rPr sz="1200" spc="114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in</a:t>
                      </a:r>
                      <a:r>
                        <a:rPr sz="1200" spc="114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digital auctions.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3500" algn="just">
                        <a:lnSpc>
                          <a:spcPct val="9590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High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server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load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during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 peak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bidding</a:t>
                      </a:r>
                      <a:r>
                        <a:rPr sz="1200" spc="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events</a:t>
                      </a:r>
                      <a:r>
                        <a:rPr sz="1200" spc="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led</a:t>
                      </a:r>
                      <a:r>
                        <a:rPr sz="1200" spc="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to</a:t>
                      </a:r>
                      <a:r>
                        <a:rPr sz="1200" spc="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latency issues.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6755">
                <a:tc>
                  <a:txBody>
                    <a:bodyPr/>
                    <a:lstStyle/>
                    <a:p>
                      <a:pPr marL="67945" marR="62865" algn="just">
                        <a:lnSpc>
                          <a:spcPts val="1380"/>
                        </a:lnSpc>
                        <a:spcBef>
                          <a:spcPts val="35"/>
                        </a:spcBef>
                        <a:tabLst>
                          <a:tab pos="1140460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AI-Driven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Fraud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Detection</a:t>
                      </a:r>
                      <a:r>
                        <a:rPr sz="1200" spc="27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in</a:t>
                      </a:r>
                      <a:r>
                        <a:rPr sz="1200" spc="28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Online Marketplaces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2230" algn="just">
                        <a:lnSpc>
                          <a:spcPts val="138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NLP</a:t>
                      </a:r>
                      <a:r>
                        <a:rPr sz="1200" spc="27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sz="1200" spc="27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anomaly</a:t>
                      </a:r>
                      <a:r>
                        <a:rPr sz="1200" spc="27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detection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identified</a:t>
                      </a:r>
                      <a:r>
                        <a:rPr sz="1200" spc="28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fraudulent</a:t>
                      </a:r>
                      <a:r>
                        <a:rPr sz="1200" spc="29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property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listings</a:t>
                      </a:r>
                      <a:r>
                        <a:rPr sz="1200" spc="409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sz="1200" spc="4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suspicious</a:t>
                      </a:r>
                      <a:r>
                        <a:rPr sz="1200" spc="40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bidding behaviors.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2230" algn="just">
                        <a:lnSpc>
                          <a:spcPts val="138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False</a:t>
                      </a:r>
                      <a:r>
                        <a:rPr sz="1200" spc="409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positives</a:t>
                      </a:r>
                      <a:r>
                        <a:rPr sz="1200" spc="409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were</a:t>
                      </a:r>
                      <a:r>
                        <a:rPr sz="1200" spc="41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a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challenge,</a:t>
                      </a:r>
                      <a:r>
                        <a:rPr sz="1200" spc="45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leading</a:t>
                      </a:r>
                      <a:r>
                        <a:rPr sz="1200" spc="459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to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legitimate</a:t>
                      </a:r>
                      <a:r>
                        <a:rPr sz="1200" spc="45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listings</a:t>
                      </a:r>
                      <a:r>
                        <a:rPr sz="1200" spc="45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being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flagged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incorrectly.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6755">
                <a:tc>
                  <a:txBody>
                    <a:bodyPr/>
                    <a:lstStyle/>
                    <a:p>
                      <a:pPr marL="67945" marR="62230">
                        <a:lnSpc>
                          <a:spcPts val="1380"/>
                        </a:lnSpc>
                        <a:spcBef>
                          <a:spcPts val="35"/>
                        </a:spcBef>
                        <a:tabLst>
                          <a:tab pos="1005205" algn="l"/>
                          <a:tab pos="1318895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Cloud-Based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Auction Platforms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	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for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945" marR="62865">
                        <a:lnSpc>
                          <a:spcPts val="1380"/>
                        </a:lnSpc>
                        <a:tabLst>
                          <a:tab pos="1276350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Scalability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and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Accessibility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1594" algn="just">
                        <a:lnSpc>
                          <a:spcPts val="138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Cloud</a:t>
                      </a:r>
                      <a:r>
                        <a:rPr sz="1200" spc="39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computing</a:t>
                      </a:r>
                      <a:r>
                        <a:rPr sz="1200" spc="39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enabled seamless</a:t>
                      </a:r>
                      <a:r>
                        <a:rPr sz="12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auction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transactions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and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bidder</a:t>
                      </a:r>
                      <a:r>
                        <a:rPr sz="1200" spc="15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participation</a:t>
                      </a:r>
                      <a:r>
                        <a:rPr sz="1200" spc="16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from</a:t>
                      </a:r>
                      <a:r>
                        <a:rPr sz="1200" spc="16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any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location.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1594" algn="just">
                        <a:lnSpc>
                          <a:spcPts val="138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Security</a:t>
                      </a:r>
                      <a:r>
                        <a:rPr sz="1200" spc="22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vulnerabilities</a:t>
                      </a:r>
                      <a:r>
                        <a:rPr sz="1200" spc="22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in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cloud</a:t>
                      </a:r>
                      <a:r>
                        <a:rPr sz="1200" spc="33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storage</a:t>
                      </a:r>
                      <a:r>
                        <a:rPr sz="1200" spc="340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required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stronger</a:t>
                      </a:r>
                      <a:r>
                        <a:rPr sz="1200" spc="48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encryption</a:t>
                      </a:r>
                      <a:r>
                        <a:rPr sz="1200" spc="484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and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access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controls.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7390">
                <a:tc>
                  <a:txBody>
                    <a:bodyPr/>
                    <a:lstStyle/>
                    <a:p>
                      <a:pPr marL="67945" marR="63500" algn="just">
                        <a:lnSpc>
                          <a:spcPct val="9590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User</a:t>
                      </a:r>
                      <a:r>
                        <a:rPr sz="1200" spc="13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Experience</a:t>
                      </a:r>
                      <a:r>
                        <a:rPr sz="1200" spc="15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and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UI</a:t>
                      </a:r>
                      <a:r>
                        <a:rPr sz="1200" spc="4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Design</a:t>
                      </a:r>
                      <a:r>
                        <a:rPr sz="1200" spc="4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in</a:t>
                      </a:r>
                      <a:r>
                        <a:rPr sz="1200" spc="459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Digital Auctions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2230" algn="just">
                        <a:lnSpc>
                          <a:spcPct val="9590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Intuitive</a:t>
                      </a:r>
                      <a:r>
                        <a:rPr sz="1200" spc="320" dirty="0">
                          <a:latin typeface="Times New Roman"/>
                          <a:cs typeface="Times New Roman"/>
                        </a:rPr>
                        <a:t>  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UI/UX</a:t>
                      </a:r>
                      <a:r>
                        <a:rPr sz="1200" spc="320" dirty="0">
                          <a:latin typeface="Times New Roman"/>
                          <a:cs typeface="Times New Roman"/>
                        </a:rPr>
                        <a:t>  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designs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improved</a:t>
                      </a:r>
                      <a:r>
                        <a:rPr sz="1200" spc="3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user</a:t>
                      </a:r>
                      <a:r>
                        <a:rPr sz="1200" spc="3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engagement</a:t>
                      </a:r>
                      <a:r>
                        <a:rPr sz="1200" spc="30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and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bid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participation.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0325" algn="just">
                        <a:lnSpc>
                          <a:spcPct val="95900"/>
                        </a:lnSpc>
                        <a:tabLst>
                          <a:tab pos="132905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Some</a:t>
                      </a:r>
                      <a:r>
                        <a:rPr sz="1200" spc="28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platforms</a:t>
                      </a:r>
                      <a:r>
                        <a:rPr sz="1200" spc="28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lacked accessibility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features,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limiting</a:t>
                      </a:r>
                      <a:r>
                        <a:rPr sz="1200" spc="49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usability</a:t>
                      </a:r>
                      <a:r>
                        <a:rPr sz="1200" spc="49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for</a:t>
                      </a:r>
                      <a:r>
                        <a:rPr sz="1200" spc="48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non-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tech-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savvy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users.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06755">
                <a:tc>
                  <a:txBody>
                    <a:bodyPr/>
                    <a:lstStyle/>
                    <a:p>
                      <a:pPr marL="67945" marR="61594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Continuous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Learning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in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AI-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Enhanced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Auctions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0960" algn="just">
                        <a:lnSpc>
                          <a:spcPts val="138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Feedback</a:t>
                      </a:r>
                      <a:r>
                        <a:rPr sz="1200" spc="33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loops</a:t>
                      </a:r>
                      <a:r>
                        <a:rPr sz="1200" spc="33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enabled</a:t>
                      </a:r>
                      <a:r>
                        <a:rPr sz="1200" spc="33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AI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models</a:t>
                      </a:r>
                      <a:r>
                        <a:rPr sz="1200" spc="29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to</a:t>
                      </a:r>
                      <a:r>
                        <a:rPr sz="1200" spc="300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refine</a:t>
                      </a:r>
                      <a:r>
                        <a:rPr sz="1200" spc="300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pricing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predictions</a:t>
                      </a:r>
                      <a:r>
                        <a:rPr sz="1200" spc="19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sz="1200" spc="19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detect</a:t>
                      </a:r>
                      <a:r>
                        <a:rPr sz="1200" spc="2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emerging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fraud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trends.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1594" algn="just">
                        <a:lnSpc>
                          <a:spcPts val="138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Data</a:t>
                      </a:r>
                      <a:r>
                        <a:rPr sz="1200" spc="114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privacy</a:t>
                      </a:r>
                      <a:r>
                        <a:rPr sz="1200" spc="1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concerns</a:t>
                      </a:r>
                      <a:r>
                        <a:rPr sz="1200" spc="1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arose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in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using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bidder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behavior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 data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for</a:t>
                      </a:r>
                      <a:r>
                        <a:rPr sz="1200" spc="41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continuous</a:t>
                      </a:r>
                      <a:r>
                        <a:rPr sz="1200" spc="420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model training.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7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89762"/>
            <a:ext cx="5695315" cy="79394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latin typeface="Times New Roman"/>
                <a:cs typeface="Times New Roman"/>
              </a:rPr>
              <a:t>1.6.</a:t>
            </a:r>
            <a:r>
              <a:rPr sz="1600" b="1" spc="-4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Methodology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Software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Lifecycle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for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This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Project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6985" algn="just">
              <a:lnSpc>
                <a:spcPct val="143600"/>
              </a:lnSpc>
            </a:pPr>
            <a:r>
              <a:rPr sz="1200" dirty="0">
                <a:latin typeface="Times New Roman"/>
                <a:cs typeface="Times New Roman"/>
              </a:rPr>
              <a:t>We</a:t>
            </a:r>
            <a:r>
              <a:rPr sz="1200" spc="2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2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adopting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Agile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methodology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2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2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Abode.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This </a:t>
            </a:r>
            <a:r>
              <a:rPr sz="1200" dirty="0">
                <a:latin typeface="Times New Roman"/>
                <a:cs typeface="Times New Roman"/>
              </a:rPr>
              <a:t>approach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aligns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project's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dynamic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nature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continuous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improvements 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stakeholder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feedback.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Agile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allows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team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through </a:t>
            </a:r>
            <a:r>
              <a:rPr sz="1200" dirty="0">
                <a:latin typeface="Times New Roman"/>
                <a:cs typeface="Times New Roman"/>
              </a:rPr>
              <a:t>iterative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phases,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timely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incremental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delivery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components.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4000"/>
              </a:lnSpc>
            </a:pPr>
            <a:r>
              <a:rPr sz="1200" spc="-10" dirty="0">
                <a:latin typeface="Times New Roman"/>
                <a:cs typeface="Times New Roman"/>
              </a:rPr>
              <a:t>Face-to-</a:t>
            </a:r>
            <a:r>
              <a:rPr sz="1200" dirty="0">
                <a:latin typeface="Times New Roman"/>
                <a:cs typeface="Times New Roman"/>
              </a:rPr>
              <a:t>face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communication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ongoing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stakeholder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engagement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central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this </a:t>
            </a:r>
            <a:r>
              <a:rPr sz="1200" dirty="0">
                <a:latin typeface="Times New Roman"/>
                <a:cs typeface="Times New Roman"/>
              </a:rPr>
              <a:t>methodology,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fostering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collaboration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adaptability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at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every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stage.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iterative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nature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dirty="0">
                <a:latin typeface="Times New Roman"/>
                <a:cs typeface="Times New Roman"/>
              </a:rPr>
              <a:t>Agile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promotes</a:t>
            </a:r>
            <a:r>
              <a:rPr sz="1200" spc="22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sustainable</a:t>
            </a:r>
            <a:r>
              <a:rPr sz="1200" spc="22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enables</a:t>
            </a:r>
            <a:r>
              <a:rPr sz="1200" spc="22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team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respond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efficiently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to </a:t>
            </a:r>
            <a:r>
              <a:rPr sz="1200" dirty="0">
                <a:latin typeface="Times New Roman"/>
                <a:cs typeface="Times New Roman"/>
              </a:rPr>
              <a:t>evolving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requirements.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>
              <a:latin typeface="Times New Roman"/>
              <a:cs typeface="Times New Roman"/>
            </a:endParaRPr>
          </a:p>
          <a:p>
            <a:pPr marL="50800" algn="just">
              <a:lnSpc>
                <a:spcPct val="100000"/>
              </a:lnSpc>
            </a:pPr>
            <a:r>
              <a:rPr sz="1200" b="1" dirty="0">
                <a:latin typeface="Times New Roman"/>
                <a:cs typeface="Times New Roman"/>
              </a:rPr>
              <a:t>Agile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Process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for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Auction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Abode: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marR="5715" indent="-228600">
              <a:lnSpc>
                <a:spcPct val="1442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Requirements</a:t>
            </a:r>
            <a:r>
              <a:rPr sz="1200" b="1" spc="17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Elicitation:</a:t>
            </a:r>
            <a:r>
              <a:rPr sz="1200" b="1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Identifying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analyzing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stakeholder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needs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define </a:t>
            </a:r>
            <a:r>
              <a:rPr sz="1200" dirty="0">
                <a:latin typeface="Times New Roman"/>
                <a:cs typeface="Times New Roman"/>
              </a:rPr>
              <a:t>clear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goals.</a:t>
            </a:r>
            <a:endParaRPr sz="1200">
              <a:latin typeface="Times New Roman"/>
              <a:cs typeface="Times New Roman"/>
            </a:endParaRPr>
          </a:p>
          <a:p>
            <a:pPr marL="469265" marR="7620" indent="-228600">
              <a:lnSpc>
                <a:spcPts val="2070"/>
              </a:lnSpc>
              <a:spcBef>
                <a:spcPts val="17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Design</a:t>
            </a:r>
            <a:r>
              <a:rPr sz="1200" b="1" spc="16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Requirements:</a:t>
            </a:r>
            <a:r>
              <a:rPr sz="1200" b="1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Converting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stakeholder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needs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into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technical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specifications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models.</a:t>
            </a:r>
            <a:endParaRPr sz="1200">
              <a:latin typeface="Times New Roman"/>
              <a:cs typeface="Times New Roman"/>
            </a:endParaRPr>
          </a:p>
          <a:p>
            <a:pPr marL="469265" marR="6350" indent="-228600">
              <a:lnSpc>
                <a:spcPts val="2060"/>
              </a:lnSpc>
              <a:spcBef>
                <a:spcPts val="1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Construction/Iteration:</a:t>
            </a:r>
            <a:r>
              <a:rPr sz="1200" b="1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Developing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increments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with </a:t>
            </a:r>
            <a:r>
              <a:rPr sz="1200" dirty="0">
                <a:latin typeface="Times New Roman"/>
                <a:cs typeface="Times New Roman"/>
              </a:rPr>
              <a:t>frequent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coding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cycles.</a:t>
            </a:r>
            <a:endParaRPr sz="1200">
              <a:latin typeface="Times New Roman"/>
              <a:cs typeface="Times New Roman"/>
            </a:endParaRPr>
          </a:p>
          <a:p>
            <a:pPr marL="469265" marR="8255" indent="-228600">
              <a:lnSpc>
                <a:spcPts val="2060"/>
              </a:lnSpc>
              <a:spcBef>
                <a:spcPts val="2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Testing/Quality</a:t>
            </a:r>
            <a:r>
              <a:rPr sz="1200" b="1" spc="4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Assurance:</a:t>
            </a:r>
            <a:r>
              <a:rPr sz="1200" b="1" spc="4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4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each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increment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meets</a:t>
            </a:r>
            <a:r>
              <a:rPr sz="1200" spc="4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standards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through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rigorous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testing.</a:t>
            </a:r>
            <a:endParaRPr sz="1200">
              <a:latin typeface="Times New Roman"/>
              <a:cs typeface="Times New Roman"/>
            </a:endParaRPr>
          </a:p>
          <a:p>
            <a:pPr marL="469265" marR="7620" indent="-228600">
              <a:lnSpc>
                <a:spcPts val="2060"/>
              </a:lnSpc>
              <a:spcBef>
                <a:spcPts val="2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Deployment:</a:t>
            </a:r>
            <a:r>
              <a:rPr sz="1200" b="1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Delivering</a:t>
            </a:r>
            <a:r>
              <a:rPr sz="1200" spc="3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usable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software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increments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3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stakeholders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at</a:t>
            </a:r>
            <a:r>
              <a:rPr sz="1200" spc="36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regular intervals.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46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Feedback: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Collecting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stakeholder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input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refine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  <a:spcBef>
                <a:spcPts val="5"/>
              </a:spcBef>
            </a:pPr>
            <a:r>
              <a:rPr sz="1200" b="1" dirty="0">
                <a:latin typeface="Times New Roman"/>
                <a:cs typeface="Times New Roman"/>
              </a:rPr>
              <a:t>Key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Ideas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Guidelines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of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Agile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Methodology</a:t>
            </a:r>
            <a:endParaRPr sz="1200">
              <a:latin typeface="Times New Roman"/>
              <a:cs typeface="Times New Roman"/>
            </a:endParaRPr>
          </a:p>
          <a:p>
            <a:pPr marL="240665">
              <a:lnSpc>
                <a:spcPct val="100000"/>
              </a:lnSpc>
              <a:spcBef>
                <a:spcPts val="1340"/>
              </a:spcBef>
            </a:pPr>
            <a:r>
              <a:rPr sz="1200" dirty="0">
                <a:latin typeface="Times New Roman"/>
                <a:cs typeface="Times New Roman"/>
              </a:rPr>
              <a:t>1.</a:t>
            </a:r>
            <a:r>
              <a:rPr sz="1200" spc="125" dirty="0">
                <a:latin typeface="Times New Roman"/>
                <a:cs typeface="Times New Roman"/>
              </a:rPr>
              <a:t>  </a:t>
            </a:r>
            <a:r>
              <a:rPr sz="1200" b="1" dirty="0">
                <a:latin typeface="Times New Roman"/>
                <a:cs typeface="Times New Roman"/>
              </a:rPr>
              <a:t>Iterative</a:t>
            </a:r>
            <a:r>
              <a:rPr sz="1200" b="1" spc="-10" dirty="0">
                <a:latin typeface="Times New Roman"/>
                <a:cs typeface="Times New Roman"/>
              </a:rPr>
              <a:t> Development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marR="5080" algn="just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Agile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divides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into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manageable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iterations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called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sprints,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typically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lasting </a:t>
            </a:r>
            <a:r>
              <a:rPr sz="1200" dirty="0">
                <a:latin typeface="Times New Roman"/>
                <a:cs typeface="Times New Roman"/>
              </a:rPr>
              <a:t>two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four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weeks.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Each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sprint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delivers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increment,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continuous </a:t>
            </a:r>
            <a:r>
              <a:rPr sz="1200" dirty="0">
                <a:latin typeface="Times New Roman"/>
                <a:cs typeface="Times New Roman"/>
              </a:rPr>
              <a:t>progress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early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feedback.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8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5315" cy="812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265" indent="-228600">
              <a:lnSpc>
                <a:spcPct val="100000"/>
              </a:lnSpc>
              <a:spcBef>
                <a:spcPts val="100"/>
              </a:spcBef>
              <a:buFont typeface="Times New Roman"/>
              <a:buAutoNum type="arabicPeriod" startAt="2"/>
              <a:tabLst>
                <a:tab pos="46926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Cross-</a:t>
            </a:r>
            <a:r>
              <a:rPr sz="1200" b="1" dirty="0">
                <a:latin typeface="Times New Roman"/>
                <a:cs typeface="Times New Roman"/>
              </a:rPr>
              <a:t>Functional</a:t>
            </a:r>
            <a:r>
              <a:rPr sz="1200" b="1" spc="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Team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buFont typeface="Times New Roman"/>
              <a:buAutoNum type="arabicPeriod" startAt="2"/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  <a:buFont typeface="Times New Roman"/>
              <a:buAutoNum type="arabicPeriod" startAt="2"/>
            </a:pPr>
            <a:endParaRPr sz="1200">
              <a:latin typeface="Times New Roman"/>
              <a:cs typeface="Times New Roman"/>
            </a:endParaRPr>
          </a:p>
          <a:p>
            <a:pPr marL="469265" marR="5715" algn="just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team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composed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skilled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professionals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development, database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management,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security.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structure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encourages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seamless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collaboration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team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adapt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quickly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changing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requirements.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1295"/>
              </a:spcBef>
              <a:buFont typeface="Times New Roman"/>
              <a:buAutoNum type="arabicPeriod" startAt="3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Product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Backlog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buFont typeface="Times New Roman"/>
              <a:buAutoNum type="arabicPeriod" startAt="3"/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"/>
              </a:spcBef>
              <a:buFont typeface="Times New Roman"/>
              <a:buAutoNum type="arabicPeriod" startAt="3"/>
            </a:pPr>
            <a:endParaRPr sz="1200">
              <a:latin typeface="Times New Roman"/>
              <a:cs typeface="Times New Roman"/>
            </a:endParaRPr>
          </a:p>
          <a:p>
            <a:pPr marL="469265" marR="6985" algn="just">
              <a:lnSpc>
                <a:spcPct val="959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product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backlog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prioritized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tasks,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features,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stories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maintained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by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product owner. It serves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 the central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source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work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items and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for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development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team.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1340"/>
              </a:spcBef>
              <a:buFont typeface="Times New Roman"/>
              <a:buAutoNum type="arabicPeriod" startAt="4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User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Stories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buFont typeface="Times New Roman"/>
              <a:buAutoNum type="arabicPeriod" startAt="4"/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"/>
              </a:spcBef>
              <a:buFont typeface="Times New Roman"/>
              <a:buAutoNum type="arabicPeriod" startAt="4"/>
            </a:pPr>
            <a:endParaRPr sz="1200">
              <a:latin typeface="Times New Roman"/>
              <a:cs typeface="Times New Roman"/>
            </a:endParaRPr>
          </a:p>
          <a:p>
            <a:pPr marL="469265" marR="6985" algn="just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stories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short,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user-</a:t>
            </a:r>
            <a:r>
              <a:rPr sz="1200" dirty="0">
                <a:latin typeface="Times New Roman"/>
                <a:cs typeface="Times New Roman"/>
              </a:rPr>
              <a:t>focused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descriptions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desired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functionality.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They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help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team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stay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aligned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needs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remains value-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efficient.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1310"/>
              </a:spcBef>
              <a:buFont typeface="Times New Roman"/>
              <a:buAutoNum type="arabicPeriod" startAt="5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Continuous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Integration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Delivery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buFont typeface="Times New Roman"/>
              <a:buAutoNum type="arabicPeriod" startAt="5"/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"/>
              </a:spcBef>
              <a:buFont typeface="Times New Roman"/>
              <a:buAutoNum type="arabicPeriod" startAt="5"/>
            </a:pPr>
            <a:endParaRPr sz="1200">
              <a:latin typeface="Times New Roman"/>
              <a:cs typeface="Times New Roman"/>
            </a:endParaRPr>
          </a:p>
          <a:p>
            <a:pPr marL="469265" marR="10160" algn="just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New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code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integrated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deployed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frequently,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allowing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early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issues.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practice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stable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process,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reduces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risk,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accelerates </a:t>
            </a:r>
            <a:r>
              <a:rPr sz="1200" dirty="0">
                <a:latin typeface="Times New Roman"/>
                <a:cs typeface="Times New Roman"/>
              </a:rPr>
              <a:t>product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delivery.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1305"/>
              </a:spcBef>
              <a:buFont typeface="Times New Roman"/>
              <a:buAutoNum type="arabicPeriod" startAt="6"/>
              <a:tabLst>
                <a:tab pos="46926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Retrospectives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buFont typeface="Times New Roman"/>
              <a:buAutoNum type="arabicPeriod" startAt="6"/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  <a:buFont typeface="Times New Roman"/>
              <a:buAutoNum type="arabicPeriod" startAt="6"/>
            </a:pPr>
            <a:endParaRPr sz="1200">
              <a:latin typeface="Times New Roman"/>
              <a:cs typeface="Times New Roman"/>
            </a:endParaRPr>
          </a:p>
          <a:p>
            <a:pPr marL="469265" marR="6985" algn="just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At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end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each</a:t>
            </a:r>
            <a:r>
              <a:rPr sz="1200" spc="4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sprint,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3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team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conducts</a:t>
            </a:r>
            <a:r>
              <a:rPr sz="1200" spc="4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retrospectives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45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review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their performance,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identify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areas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improvement,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implement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necessary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changes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next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sprint.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00"/>
              </a:spcBef>
            </a:pPr>
            <a:r>
              <a:rPr sz="1200" b="1" dirty="0">
                <a:latin typeface="Times New Roman"/>
                <a:cs typeface="Times New Roman"/>
              </a:rPr>
              <a:t>Agile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Roles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Auction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Abode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Development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marR="6985" lvl="1" indent="-228600">
              <a:lnSpc>
                <a:spcPct val="1433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Product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Owner: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Defines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prioritizes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features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based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stakeholder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needs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trends.</a:t>
            </a:r>
            <a:endParaRPr sz="1200">
              <a:latin typeface="Times New Roman"/>
              <a:cs typeface="Times New Roman"/>
            </a:endParaRPr>
          </a:p>
          <a:p>
            <a:pPr marL="469265" marR="10160" lvl="1" indent="-228600">
              <a:lnSpc>
                <a:spcPct val="143300"/>
              </a:lnSpc>
              <a:spcBef>
                <a:spcPts val="1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Agile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Master: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adherence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Agile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principles,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facilitates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communication,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resolves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challenges.</a:t>
            </a:r>
            <a:endParaRPr sz="1200">
              <a:latin typeface="Times New Roman"/>
              <a:cs typeface="Times New Roman"/>
            </a:endParaRPr>
          </a:p>
          <a:p>
            <a:pPr marL="469265" marR="5080" lvl="1" indent="-228600">
              <a:lnSpc>
                <a:spcPct val="143300"/>
              </a:lnSpc>
              <a:spcBef>
                <a:spcPts val="10"/>
              </a:spcBef>
              <a:buSzPct val="83333"/>
              <a:buFont typeface="Symbol"/>
              <a:buChar char=""/>
              <a:tabLst>
                <a:tab pos="469265" algn="l"/>
                <a:tab pos="1473200" algn="l"/>
                <a:tab pos="2047239" algn="l"/>
                <a:tab pos="2306320" algn="l"/>
                <a:tab pos="3436620" algn="l"/>
                <a:tab pos="3881754" algn="l"/>
                <a:tab pos="4724400" algn="l"/>
                <a:tab pos="505142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Development</a:t>
            </a:r>
            <a:r>
              <a:rPr sz="1200" b="1" dirty="0">
                <a:latin typeface="Times New Roman"/>
                <a:cs typeface="Times New Roman"/>
              </a:rPr>
              <a:t>	</a:t>
            </a:r>
            <a:r>
              <a:rPr sz="1200" b="1" spc="-20" dirty="0">
                <a:latin typeface="Times New Roman"/>
                <a:cs typeface="Times New Roman"/>
              </a:rPr>
              <a:t>Team:</a:t>
            </a:r>
            <a:r>
              <a:rPr sz="1200" b="1" dirty="0">
                <a:latin typeface="Times New Roman"/>
                <a:cs typeface="Times New Roman"/>
              </a:rPr>
              <a:t>	</a:t>
            </a:r>
            <a:r>
              <a:rPr sz="1200" spc="-50" dirty="0">
                <a:latin typeface="Times New Roman"/>
                <a:cs typeface="Times New Roman"/>
              </a:rPr>
              <a:t>A</a:t>
            </a:r>
            <a:r>
              <a:rPr sz="1200" dirty="0">
                <a:latin typeface="Times New Roman"/>
                <a:cs typeface="Times New Roman"/>
              </a:rPr>
              <a:t>	</a:t>
            </a:r>
            <a:r>
              <a:rPr sz="1200" spc="-10" dirty="0">
                <a:latin typeface="Times New Roman"/>
                <a:cs typeface="Times New Roman"/>
              </a:rPr>
              <a:t>cross-functional</a:t>
            </a:r>
            <a:r>
              <a:rPr sz="1200" dirty="0">
                <a:latin typeface="Times New Roman"/>
                <a:cs typeface="Times New Roman"/>
              </a:rPr>
              <a:t>	</a:t>
            </a:r>
            <a:r>
              <a:rPr sz="1200" spc="-20" dirty="0">
                <a:latin typeface="Times New Roman"/>
                <a:cs typeface="Times New Roman"/>
              </a:rPr>
              <a:t>team</a:t>
            </a:r>
            <a:r>
              <a:rPr sz="1200" dirty="0">
                <a:latin typeface="Times New Roman"/>
                <a:cs typeface="Times New Roman"/>
              </a:rPr>
              <a:t>	</a:t>
            </a:r>
            <a:r>
              <a:rPr sz="1200" spc="-10" dirty="0">
                <a:latin typeface="Times New Roman"/>
                <a:cs typeface="Times New Roman"/>
              </a:rPr>
              <a:t>responsible</a:t>
            </a:r>
            <a:r>
              <a:rPr sz="1200" dirty="0">
                <a:latin typeface="Times New Roman"/>
                <a:cs typeface="Times New Roman"/>
              </a:rPr>
              <a:t>	</a:t>
            </a:r>
            <a:r>
              <a:rPr sz="1200" spc="-25" dirty="0">
                <a:latin typeface="Times New Roman"/>
                <a:cs typeface="Times New Roman"/>
              </a:rPr>
              <a:t>for</a:t>
            </a:r>
            <a:r>
              <a:rPr sz="1200" dirty="0">
                <a:latin typeface="Times New Roman"/>
                <a:cs typeface="Times New Roman"/>
              </a:rPr>
              <a:t>	</a:t>
            </a:r>
            <a:r>
              <a:rPr sz="1200" spc="-10" dirty="0">
                <a:latin typeface="Times New Roman"/>
                <a:cs typeface="Times New Roman"/>
              </a:rPr>
              <a:t>designing, </a:t>
            </a:r>
            <a:r>
              <a:rPr sz="1200" dirty="0">
                <a:latin typeface="Times New Roman"/>
                <a:cs typeface="Times New Roman"/>
              </a:rPr>
              <a:t>implementing,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high-</a:t>
            </a:r>
            <a:r>
              <a:rPr sz="1200" dirty="0">
                <a:latin typeface="Times New Roman"/>
                <a:cs typeface="Times New Roman"/>
              </a:rPr>
              <a:t>quality,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Abode.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9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12037"/>
            <a:ext cx="5694680" cy="572452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 marR="5080" algn="just">
              <a:lnSpc>
                <a:spcPct val="143800"/>
              </a:lnSpc>
              <a:spcBef>
                <a:spcPts val="90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flexibility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iterative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nature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Agile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make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ideal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choice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complex, </a:t>
            </a:r>
            <a:r>
              <a:rPr sz="1200" dirty="0">
                <a:latin typeface="Times New Roman"/>
                <a:cs typeface="Times New Roman"/>
              </a:rPr>
              <a:t>scalable,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user-</a:t>
            </a:r>
            <a:r>
              <a:rPr sz="1200" dirty="0">
                <a:latin typeface="Times New Roman"/>
                <a:cs typeface="Times New Roman"/>
              </a:rPr>
              <a:t>focused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like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Abode,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alignment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stakeholder expectations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delivering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value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every</a:t>
            </a:r>
            <a:r>
              <a:rPr sz="1200" spc="-10" dirty="0">
                <a:latin typeface="Times New Roman"/>
                <a:cs typeface="Times New Roman"/>
              </a:rPr>
              <a:t> stage.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70"/>
              </a:spcBef>
            </a:pPr>
            <a:endParaRPr sz="1200">
              <a:latin typeface="Times New Roman"/>
              <a:cs typeface="Times New Roman"/>
            </a:endParaRPr>
          </a:p>
          <a:p>
            <a:pPr marL="449580" lvl="2" indent="-436880">
              <a:lnSpc>
                <a:spcPct val="100000"/>
              </a:lnSpc>
              <a:buSzPct val="116666"/>
              <a:buAutoNum type="arabicPeriod"/>
              <a:tabLst>
                <a:tab pos="449580" algn="l"/>
              </a:tabLst>
            </a:pPr>
            <a:r>
              <a:rPr sz="1200" b="1" dirty="0">
                <a:latin typeface="Times New Roman"/>
                <a:cs typeface="Times New Roman"/>
              </a:rPr>
              <a:t>Rationale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behind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Selected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Methodology</a:t>
            </a:r>
            <a:endParaRPr sz="1200">
              <a:latin typeface="Times New Roman"/>
              <a:cs typeface="Times New Roman"/>
            </a:endParaRPr>
          </a:p>
          <a:p>
            <a:pPr lvl="2">
              <a:lnSpc>
                <a:spcPct val="100000"/>
              </a:lnSpc>
              <a:spcBef>
                <a:spcPts val="844"/>
              </a:spcBef>
              <a:buFont typeface="Times New Roman"/>
              <a:buAutoNum type="arabicPeriod"/>
            </a:pPr>
            <a:endParaRPr sz="1200">
              <a:latin typeface="Times New Roman"/>
              <a:cs typeface="Times New Roman"/>
            </a:endParaRPr>
          </a:p>
          <a:p>
            <a:pPr marL="12700" marR="10160" algn="just">
              <a:lnSpc>
                <a:spcPts val="138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Agile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methodology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selected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due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following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reasons: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marR="320040" lvl="3" indent="-228600">
              <a:lnSpc>
                <a:spcPts val="1380"/>
              </a:lnSpc>
              <a:buFont typeface="Times New Roman"/>
              <a:buAutoNum type="arabicPeriod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Easily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Quickly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Adapt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to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Change</a:t>
            </a:r>
            <a:r>
              <a:rPr sz="1200" dirty="0">
                <a:latin typeface="Times New Roman"/>
                <a:cs typeface="Times New Roman"/>
              </a:rPr>
              <a:t>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Agile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enables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team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accommodate </a:t>
            </a:r>
            <a:r>
              <a:rPr sz="1200" dirty="0">
                <a:latin typeface="Times New Roman"/>
                <a:cs typeface="Times New Roman"/>
              </a:rPr>
              <a:t>changing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stakeholder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feedback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efficiently.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flexibility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is </a:t>
            </a:r>
            <a:r>
              <a:rPr sz="1200" dirty="0">
                <a:latin typeface="Times New Roman"/>
                <a:cs typeface="Times New Roman"/>
              </a:rPr>
              <a:t>crucial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dynamic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like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where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trends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user </a:t>
            </a:r>
            <a:r>
              <a:rPr sz="1200" dirty="0">
                <a:latin typeface="Times New Roman"/>
                <a:cs typeface="Times New Roman"/>
              </a:rPr>
              <a:t>needs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evolve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rapidly.</a:t>
            </a:r>
            <a:endParaRPr sz="1200">
              <a:latin typeface="Times New Roman"/>
              <a:cs typeface="Times New Roman"/>
            </a:endParaRPr>
          </a:p>
          <a:p>
            <a:pPr marL="469265" marR="100330" lvl="3" indent="-228600">
              <a:lnSpc>
                <a:spcPts val="1380"/>
              </a:lnSpc>
              <a:buFont typeface="Times New Roman"/>
              <a:buAutoNum type="arabicPeriod"/>
              <a:tabLst>
                <a:tab pos="46926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User-</a:t>
            </a:r>
            <a:r>
              <a:rPr sz="1200" b="1" dirty="0">
                <a:latin typeface="Times New Roman"/>
                <a:cs typeface="Times New Roman"/>
              </a:rPr>
              <a:t>Focused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Testing</a:t>
            </a:r>
            <a:r>
              <a:rPr sz="1200" dirty="0">
                <a:latin typeface="Times New Roman"/>
                <a:cs typeface="Times New Roman"/>
              </a:rPr>
              <a:t>: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continuous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feedback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loops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iterative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development,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consistently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refined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optimal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functionality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for </a:t>
            </a:r>
            <a:r>
              <a:rPr sz="1200" dirty="0">
                <a:latin typeface="Times New Roman"/>
                <a:cs typeface="Times New Roman"/>
              </a:rPr>
              <a:t>buyers,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administrators.</a:t>
            </a:r>
            <a:endParaRPr sz="1200">
              <a:latin typeface="Times New Roman"/>
              <a:cs typeface="Times New Roman"/>
            </a:endParaRPr>
          </a:p>
          <a:p>
            <a:pPr marL="469265" marR="330200" lvl="3" indent="-228600">
              <a:lnSpc>
                <a:spcPts val="1380"/>
              </a:lnSpc>
              <a:buFont typeface="Times New Roman"/>
              <a:buAutoNum type="arabicPeriod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Better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Project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Control</a:t>
            </a:r>
            <a:r>
              <a:rPr sz="1200" dirty="0">
                <a:latin typeface="Times New Roman"/>
                <a:cs typeface="Times New Roman"/>
              </a:rPr>
              <a:t>: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Regular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sprint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reviews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retrospectives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provide </a:t>
            </a:r>
            <a:r>
              <a:rPr sz="1200" dirty="0">
                <a:latin typeface="Times New Roman"/>
                <a:cs typeface="Times New Roman"/>
              </a:rPr>
              <a:t>transparency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into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progress.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approach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identify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issues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early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allows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timely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adjustments,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smoother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development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process.</a:t>
            </a:r>
            <a:endParaRPr sz="1200">
              <a:latin typeface="Times New Roman"/>
              <a:cs typeface="Times New Roman"/>
            </a:endParaRPr>
          </a:p>
          <a:p>
            <a:pPr marL="469265" marR="20955" lvl="3" indent="-228600">
              <a:lnSpc>
                <a:spcPts val="1380"/>
              </a:lnSpc>
              <a:buFont typeface="Times New Roman"/>
              <a:buAutoNum type="arabicPeriod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Creativity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Innovation</a:t>
            </a:r>
            <a:r>
              <a:rPr sz="1200" dirty="0">
                <a:latin typeface="Times New Roman"/>
                <a:cs typeface="Times New Roman"/>
              </a:rPr>
              <a:t>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Agile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encourages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collaborative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adaptive </a:t>
            </a:r>
            <a:r>
              <a:rPr sz="1200" dirty="0">
                <a:latin typeface="Times New Roman"/>
                <a:cs typeface="Times New Roman"/>
              </a:rPr>
              <a:t>environment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where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team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implement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innovative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features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spc="-20" dirty="0">
                <a:latin typeface="Times New Roman"/>
                <a:cs typeface="Times New Roman"/>
              </a:rPr>
              <a:t>time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synchronization,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prediction,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-10" dirty="0">
                <a:latin typeface="Times New Roman"/>
                <a:cs typeface="Times New Roman"/>
              </a:rPr>
              <a:t> detection</a:t>
            </a:r>
            <a:endParaRPr sz="1200">
              <a:latin typeface="Times New Roman"/>
              <a:cs typeface="Times New Roman"/>
            </a:endParaRPr>
          </a:p>
          <a:p>
            <a:pPr marL="469265">
              <a:lnSpc>
                <a:spcPts val="1315"/>
              </a:lnSpc>
            </a:pPr>
            <a:r>
              <a:rPr sz="1200" spc="-10" dirty="0">
                <a:latin typeface="Times New Roman"/>
                <a:cs typeface="Times New Roman"/>
              </a:rPr>
              <a:t>mechanisms.</a:t>
            </a:r>
            <a:endParaRPr sz="1200">
              <a:latin typeface="Times New Roman"/>
              <a:cs typeface="Times New Roman"/>
            </a:endParaRPr>
          </a:p>
          <a:p>
            <a:pPr marL="469265" marR="196850" lvl="3" indent="-228600">
              <a:lnSpc>
                <a:spcPts val="1380"/>
              </a:lnSpc>
              <a:spcBef>
                <a:spcPts val="65"/>
              </a:spcBef>
              <a:buFont typeface="Times New Roman"/>
              <a:buAutoNum type="arabicPeriod" startAt="5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Reduces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Technical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Debt</a:t>
            </a:r>
            <a:r>
              <a:rPr sz="1200" dirty="0">
                <a:latin typeface="Times New Roman"/>
                <a:cs typeface="Times New Roman"/>
              </a:rPr>
              <a:t>: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Through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continuous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prompt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fixing, </a:t>
            </a:r>
            <a:r>
              <a:rPr sz="1200" dirty="0">
                <a:latin typeface="Times New Roman"/>
                <a:cs typeface="Times New Roman"/>
              </a:rPr>
              <a:t>Agile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prevent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buildup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unresolved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issues,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leading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stable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maintainable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over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time.</a:t>
            </a:r>
            <a:endParaRPr sz="1200">
              <a:latin typeface="Times New Roman"/>
              <a:cs typeface="Times New Roman"/>
            </a:endParaRPr>
          </a:p>
          <a:p>
            <a:pPr marL="469265" marR="92075" lvl="3" indent="-228600">
              <a:lnSpc>
                <a:spcPts val="1380"/>
              </a:lnSpc>
              <a:buFont typeface="Times New Roman"/>
              <a:buAutoNum type="arabicPeriod" startAt="5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Improved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Quality</a:t>
            </a:r>
            <a:r>
              <a:rPr sz="1200" dirty="0">
                <a:latin typeface="Times New Roman"/>
                <a:cs typeface="Times New Roman"/>
              </a:rPr>
              <a:t>: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Frequent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iterations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strong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quality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assurance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practices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result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reliable,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efficient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meets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standards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usability, </a:t>
            </a:r>
            <a:r>
              <a:rPr sz="1200" dirty="0">
                <a:latin typeface="Times New Roman"/>
                <a:cs typeface="Times New Roman"/>
              </a:rPr>
              <a:t>performance,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security.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10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88238"/>
            <a:ext cx="5696585" cy="72351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latin typeface="Times New Roman"/>
                <a:cs typeface="Times New Roman"/>
              </a:rPr>
              <a:t>Chapter</a:t>
            </a:r>
            <a:r>
              <a:rPr sz="1600" b="1" spc="-7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2:</a:t>
            </a:r>
            <a:r>
              <a:rPr sz="1600" b="1" spc="-3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Problem</a:t>
            </a:r>
            <a:r>
              <a:rPr sz="1600" b="1" spc="-50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Definition</a:t>
            </a:r>
            <a:endParaRPr sz="1600">
              <a:latin typeface="Times New Roman"/>
              <a:cs typeface="Times New Roman"/>
            </a:endParaRPr>
          </a:p>
          <a:p>
            <a:pPr marL="12700" marR="5715" algn="just">
              <a:lnSpc>
                <a:spcPct val="143600"/>
              </a:lnSpc>
              <a:spcBef>
                <a:spcPts val="1645"/>
              </a:spcBef>
            </a:pP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chapter,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 discuss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challenges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project, "Auction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Abode: AI-</a:t>
            </a:r>
            <a:r>
              <a:rPr sz="1200" spc="-10" dirty="0">
                <a:latin typeface="Times New Roman"/>
                <a:cs typeface="Times New Roman"/>
              </a:rPr>
              <a:t>Powered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Platform,"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aims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address.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primary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problem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lies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limitations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traditional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systems,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which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often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suffer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inefficiencies,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lack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dirty="0">
                <a:latin typeface="Times New Roman"/>
                <a:cs typeface="Times New Roman"/>
              </a:rPr>
              <a:t>transparency,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vulnerabilities.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6985" algn="just">
              <a:lnSpc>
                <a:spcPct val="143800"/>
              </a:lnSpc>
            </a:pPr>
            <a:r>
              <a:rPr sz="1200" dirty="0">
                <a:latin typeface="Times New Roman"/>
                <a:cs typeface="Times New Roman"/>
              </a:rPr>
              <a:t>Traditional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platforms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frequently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fail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updates,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leading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to </a:t>
            </a:r>
            <a:r>
              <a:rPr sz="1200" dirty="0">
                <a:latin typeface="Times New Roman"/>
                <a:cs typeface="Times New Roman"/>
              </a:rPr>
              <a:t>delays,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3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manipulation,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3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unfair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3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environment.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Additionally,</a:t>
            </a:r>
            <a:r>
              <a:rPr sz="1200" spc="3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fraudulent property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lack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AI-driven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price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validation,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outdated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verification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processes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create </a:t>
            </a:r>
            <a:r>
              <a:rPr sz="1200" dirty="0">
                <a:latin typeface="Times New Roman"/>
                <a:cs typeface="Times New Roman"/>
              </a:rPr>
              <a:t>risks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both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3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sellers.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issues</a:t>
            </a:r>
            <a:r>
              <a:rPr sz="1200" spc="3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undermine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trust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3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online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38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estate </a:t>
            </a:r>
            <a:r>
              <a:rPr sz="1200" dirty="0">
                <a:latin typeface="Times New Roman"/>
                <a:cs typeface="Times New Roman"/>
              </a:rPr>
              <a:t>transactions,</a:t>
            </a:r>
            <a:r>
              <a:rPr sz="1200" spc="-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discouraging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broader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participation.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6985" algn="just">
              <a:lnSpc>
                <a:spcPct val="143800"/>
              </a:lnSpc>
            </a:pPr>
            <a:r>
              <a:rPr sz="1200" dirty="0">
                <a:latin typeface="Times New Roman"/>
                <a:cs typeface="Times New Roman"/>
              </a:rPr>
              <a:t>Another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critical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challenge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scalability—</a:t>
            </a:r>
            <a:r>
              <a:rPr sz="1200" dirty="0">
                <a:latin typeface="Times New Roman"/>
                <a:cs typeface="Times New Roman"/>
              </a:rPr>
              <a:t>existing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platforms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struggle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handle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traffic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peak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times,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causing</a:t>
            </a:r>
            <a:r>
              <a:rPr sz="1200" spc="3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issues,</a:t>
            </a:r>
            <a:r>
              <a:rPr sz="1200" spc="3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3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lags,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3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crashes. Furthermore,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lack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 engagement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features,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10" dirty="0">
                <a:latin typeface="Times New Roman"/>
                <a:cs typeface="Times New Roman"/>
              </a:rPr>
              <a:t> personalized property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recommendations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geofencing-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notifications,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reducing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participation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efficiency.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6985" algn="just">
              <a:lnSpc>
                <a:spcPct val="143800"/>
              </a:lnSpc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chapter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outline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desired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outcomes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which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focus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developing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secure,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3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provides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3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synchronization,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fraud </a:t>
            </a:r>
            <a:r>
              <a:rPr sz="1200" dirty="0">
                <a:latin typeface="Times New Roman"/>
                <a:cs typeface="Times New Roman"/>
              </a:rPr>
              <a:t>detection,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intelligent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recommendations.</a:t>
            </a:r>
            <a:r>
              <a:rPr sz="1200" dirty="0">
                <a:latin typeface="Times New Roman"/>
                <a:cs typeface="Times New Roman"/>
              </a:rPr>
              <a:t> By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addressing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gaps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10" dirty="0">
                <a:latin typeface="Times New Roman"/>
                <a:cs typeface="Times New Roman"/>
              </a:rPr>
              <a:t> transparency, speed,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security,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aims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empower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buyers,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sellers,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administrators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spc="-50" dirty="0">
                <a:latin typeface="Times New Roman"/>
                <a:cs typeface="Times New Roman"/>
              </a:rPr>
              <a:t>a </a:t>
            </a:r>
            <a:r>
              <a:rPr sz="1200" dirty="0">
                <a:latin typeface="Times New Roman"/>
                <a:cs typeface="Times New Roman"/>
              </a:rPr>
              <a:t>trustworthy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experience,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ultimately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optimizing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transactions.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700"/>
              </a:lnSpc>
            </a:pPr>
            <a:r>
              <a:rPr sz="1200" dirty="0">
                <a:latin typeface="Times New Roman"/>
                <a:cs typeface="Times New Roman"/>
              </a:rPr>
              <a:t>Through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examination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existing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challenges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limitations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dirty="0">
                <a:latin typeface="Times New Roman"/>
                <a:cs typeface="Times New Roman"/>
              </a:rPr>
              <a:t>conventional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platforms,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chapter</a:t>
            </a:r>
            <a:r>
              <a:rPr sz="1200" spc="3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lays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foundation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3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comprehensive </a:t>
            </a:r>
            <a:r>
              <a:rPr sz="1200" dirty="0">
                <a:latin typeface="Times New Roman"/>
                <a:cs typeface="Times New Roman"/>
              </a:rPr>
              <a:t>exploration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problem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domain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transformative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potential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AI-driven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 solutions.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11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89761"/>
            <a:ext cx="5696585" cy="80657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78765" lvl="1" indent="-266065">
              <a:lnSpc>
                <a:spcPct val="100000"/>
              </a:lnSpc>
              <a:spcBef>
                <a:spcPts val="100"/>
              </a:spcBef>
              <a:buSzPct val="85714"/>
              <a:buAutoNum type="arabicPeriod"/>
              <a:tabLst>
                <a:tab pos="278765" algn="l"/>
              </a:tabLst>
            </a:pPr>
            <a:r>
              <a:rPr sz="1400" b="1" dirty="0">
                <a:latin typeface="Times New Roman"/>
                <a:cs typeface="Times New Roman"/>
              </a:rPr>
              <a:t>Problem</a:t>
            </a:r>
            <a:r>
              <a:rPr sz="1400" b="1" spc="-8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Statement</a:t>
            </a:r>
            <a:endParaRPr sz="120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spcBef>
                <a:spcPts val="135"/>
              </a:spcBef>
              <a:buAutoNum type="arabicPeriod"/>
            </a:pPr>
            <a:endParaRPr sz="1200">
              <a:latin typeface="Times New Roman"/>
              <a:cs typeface="Times New Roman"/>
            </a:endParaRPr>
          </a:p>
          <a:p>
            <a:pPr marL="12700" marR="8255" algn="just">
              <a:lnSpc>
                <a:spcPct val="143700"/>
              </a:lnSpc>
            </a:pPr>
            <a:r>
              <a:rPr sz="1200" dirty="0">
                <a:latin typeface="Times New Roman"/>
                <a:cs typeface="Times New Roman"/>
              </a:rPr>
              <a:t>Efficient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transparent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essential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competition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seamless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transactions.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However,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traditional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systems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suffer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bid </a:t>
            </a:r>
            <a:r>
              <a:rPr sz="1200" dirty="0">
                <a:latin typeface="Times New Roman"/>
                <a:cs typeface="Times New Roman"/>
              </a:rPr>
              <a:t>manipulation,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delayed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updates,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vulnerabilities,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risks,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leading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lack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dirty="0">
                <a:latin typeface="Times New Roman"/>
                <a:cs typeface="Times New Roman"/>
              </a:rPr>
              <a:t>trust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efficiency.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challenges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further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exacerbated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traffic,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scalability </a:t>
            </a:r>
            <a:r>
              <a:rPr sz="1200" dirty="0">
                <a:latin typeface="Times New Roman"/>
                <a:cs typeface="Times New Roman"/>
              </a:rPr>
              <a:t>issues,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outdated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verification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processes,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which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hinder</a:t>
            </a:r>
            <a:r>
              <a:rPr sz="1200" spc="3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smooth</a:t>
            </a:r>
            <a:r>
              <a:rPr sz="1200" spc="3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reliable</a:t>
            </a:r>
            <a:r>
              <a:rPr sz="1200" spc="3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 experiences.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8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limitations,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primary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goal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project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real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synchronization,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intelligent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price prediction,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automated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detection.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leverages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cutting-</a:t>
            </a:r>
            <a:r>
              <a:rPr sz="1200" dirty="0">
                <a:latin typeface="Times New Roman"/>
                <a:cs typeface="Times New Roman"/>
              </a:rPr>
              <a:t>edge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WebSocket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communication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create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secure,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transparent,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scalable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bidding environment.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overcoming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inefficiencies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conventional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methods,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Abode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aims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revolutionize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estate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process,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providing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fast,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reliable,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fraud- </a:t>
            </a:r>
            <a:r>
              <a:rPr sz="1200" dirty="0">
                <a:latin typeface="Times New Roman"/>
                <a:cs typeface="Times New Roman"/>
              </a:rPr>
              <a:t>resistant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6350" algn="just">
              <a:lnSpc>
                <a:spcPct val="1436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expected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outcome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 a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streamlined,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technology-</a:t>
            </a:r>
            <a:r>
              <a:rPr sz="1200" dirty="0">
                <a:latin typeface="Times New Roman"/>
                <a:cs typeface="Times New Roman"/>
              </a:rPr>
              <a:t>driven auction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enhances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bid </a:t>
            </a:r>
            <a:r>
              <a:rPr sz="1200" dirty="0">
                <a:latin typeface="Times New Roman"/>
                <a:cs typeface="Times New Roman"/>
              </a:rPr>
              <a:t>accuracy,</a:t>
            </a:r>
            <a:r>
              <a:rPr sz="1200" spc="43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prevents</a:t>
            </a:r>
            <a:r>
              <a:rPr sz="1200" spc="4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fraudulent</a:t>
            </a:r>
            <a:r>
              <a:rPr sz="1200" spc="4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transactions,</a:t>
            </a:r>
            <a:r>
              <a:rPr sz="1200" spc="4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43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participation.</a:t>
            </a:r>
            <a:r>
              <a:rPr sz="1200" spc="42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By </a:t>
            </a:r>
            <a:r>
              <a:rPr sz="1200" dirty="0">
                <a:latin typeface="Times New Roman"/>
                <a:cs typeface="Times New Roman"/>
              </a:rPr>
              <a:t>implementing</a:t>
            </a:r>
            <a:r>
              <a:rPr sz="1200" spc="-10" dirty="0">
                <a:latin typeface="Times New Roman"/>
                <a:cs typeface="Times New Roman"/>
              </a:rPr>
              <a:t> personalized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10" dirty="0">
                <a:latin typeface="Times New Roman"/>
                <a:cs typeface="Times New Roman"/>
              </a:rPr>
              <a:t> engagement </a:t>
            </a:r>
            <a:r>
              <a:rPr sz="1200" dirty="0">
                <a:latin typeface="Times New Roman"/>
                <a:cs typeface="Times New Roman"/>
              </a:rPr>
              <a:t>features,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geofencing-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10" dirty="0">
                <a:latin typeface="Times New Roman"/>
                <a:cs typeface="Times New Roman"/>
              </a:rPr>
              <a:t> notifications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recommendations,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aims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increase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accessibility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boost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confidence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online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transactions.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Through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innovation,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aspires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set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new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industry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benchmark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secure,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intelligent,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digital </a:t>
            </a:r>
            <a:r>
              <a:rPr sz="1200" dirty="0">
                <a:latin typeface="Times New Roman"/>
                <a:cs typeface="Times New Roman"/>
              </a:rPr>
              <a:t>auctions,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transforming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properties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bought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sold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modern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era.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35"/>
              </a:spcBef>
            </a:pPr>
            <a:endParaRPr sz="1200">
              <a:latin typeface="Times New Roman"/>
              <a:cs typeface="Times New Roman"/>
            </a:endParaRPr>
          </a:p>
          <a:p>
            <a:pPr marL="366395" lvl="1" indent="-353695">
              <a:lnSpc>
                <a:spcPct val="100000"/>
              </a:lnSpc>
              <a:buAutoNum type="arabicPeriod" startAt="2"/>
              <a:tabLst>
                <a:tab pos="366395" algn="l"/>
              </a:tabLst>
            </a:pPr>
            <a:r>
              <a:rPr sz="1600" b="1" dirty="0">
                <a:latin typeface="Times New Roman"/>
                <a:cs typeface="Times New Roman"/>
              </a:rPr>
              <a:t>Deliverables</a:t>
            </a:r>
            <a:r>
              <a:rPr sz="1600" b="1" spc="-5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and</a:t>
            </a:r>
            <a:r>
              <a:rPr sz="1600" b="1" spc="-6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Development</a:t>
            </a:r>
            <a:r>
              <a:rPr sz="1600" b="1" spc="-55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Requirements</a:t>
            </a:r>
            <a:endParaRPr sz="1600">
              <a:latin typeface="Times New Roman"/>
              <a:cs typeface="Times New Roman"/>
            </a:endParaRPr>
          </a:p>
          <a:p>
            <a:pPr marL="468630" lvl="2" indent="-227965" algn="just">
              <a:lnSpc>
                <a:spcPct val="100000"/>
              </a:lnSpc>
              <a:spcBef>
                <a:spcPts val="1555"/>
              </a:spcBef>
              <a:buFont typeface="Symbol"/>
              <a:buChar char=""/>
              <a:tabLst>
                <a:tab pos="468630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Deliverables</a:t>
            </a:r>
            <a:endParaRPr sz="1200">
              <a:latin typeface="Times New Roman"/>
              <a:cs typeface="Times New Roman"/>
            </a:endParaRPr>
          </a:p>
          <a:p>
            <a:pPr marL="12700" marR="8255" algn="just">
              <a:lnSpc>
                <a:spcPct val="143600"/>
              </a:lnSpc>
              <a:spcBef>
                <a:spcPts val="715"/>
              </a:spcBef>
            </a:pP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context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our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project,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"Auction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Abode: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AI-Powered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Platform," </a:t>
            </a:r>
            <a:r>
              <a:rPr sz="1200" dirty="0">
                <a:latin typeface="Times New Roman"/>
                <a:cs typeface="Times New Roman"/>
              </a:rPr>
              <a:t>deliverables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represent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tangible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outcomes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expected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completion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specific </a:t>
            </a:r>
            <a:r>
              <a:rPr sz="1200" dirty="0">
                <a:latin typeface="Times New Roman"/>
                <a:cs typeface="Times New Roman"/>
              </a:rPr>
              <a:t>phases.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deliverables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measurable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indicators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progress,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guiding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project </a:t>
            </a:r>
            <a:r>
              <a:rPr sz="1200" dirty="0">
                <a:latin typeface="Times New Roman"/>
                <a:cs typeface="Times New Roman"/>
              </a:rPr>
              <a:t>toward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objectives.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12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5315" cy="78022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latin typeface="Times New Roman"/>
                <a:cs typeface="Times New Roman"/>
              </a:rPr>
              <a:t>Potential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deliverables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include: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marR="5080" indent="-228600">
              <a:lnSpc>
                <a:spcPct val="144200"/>
              </a:lnSpc>
              <a:buAutoNum type="arabicPeriod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Real-Time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Bidding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System: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Develop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and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deploy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real-time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WebSocket-based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 </a:t>
            </a:r>
            <a:r>
              <a:rPr sz="1200" dirty="0">
                <a:latin typeface="Times New Roman"/>
                <a:cs typeface="Times New Roman"/>
              </a:rPr>
              <a:t>system,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instant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transparency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users.</a:t>
            </a:r>
            <a:endParaRPr sz="1200">
              <a:latin typeface="Times New Roman"/>
              <a:cs typeface="Times New Roman"/>
            </a:endParaRPr>
          </a:p>
          <a:p>
            <a:pPr marL="469265" marR="6985" indent="-228600">
              <a:lnSpc>
                <a:spcPts val="2080"/>
              </a:lnSpc>
              <a:spcBef>
                <a:spcPts val="160"/>
              </a:spcBef>
              <a:buAutoNum type="arabicPeriod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Prediction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Model: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Implement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machine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learning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algorithms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to </a:t>
            </a:r>
            <a:r>
              <a:rPr sz="1200" dirty="0">
                <a:latin typeface="Times New Roman"/>
                <a:cs typeface="Times New Roman"/>
              </a:rPr>
              <a:t>analyze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trends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data-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recommendations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properties.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445"/>
              </a:spcBef>
              <a:buAutoNum type="arabicPeriod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Mechanism: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Integrate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AI-based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verification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anomaly</a:t>
            </a:r>
            <a:endParaRPr sz="1200">
              <a:latin typeface="Times New Roman"/>
              <a:cs typeface="Times New Roman"/>
            </a:endParaRPr>
          </a:p>
          <a:p>
            <a:pPr marL="469265">
              <a:lnSpc>
                <a:spcPct val="100000"/>
              </a:lnSpc>
              <a:spcBef>
                <a:spcPts val="635"/>
              </a:spcBef>
            </a:pPr>
            <a:r>
              <a:rPr sz="1200" dirty="0">
                <a:latin typeface="Times New Roman"/>
                <a:cs typeface="Times New Roman"/>
              </a:rPr>
              <a:t>detection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prevent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fraudulent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manipulations.</a:t>
            </a:r>
            <a:endParaRPr sz="1200">
              <a:latin typeface="Times New Roman"/>
              <a:cs typeface="Times New Roman"/>
            </a:endParaRPr>
          </a:p>
          <a:p>
            <a:pPr marL="469265" marR="6985" indent="-228600">
              <a:lnSpc>
                <a:spcPts val="2080"/>
              </a:lnSpc>
              <a:spcBef>
                <a:spcPts val="160"/>
              </a:spcBef>
              <a:buAutoNum type="arabicPeriod" startAt="4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Cloud-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4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Platform:</a:t>
            </a:r>
            <a:r>
              <a:rPr sz="1200" spc="4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Deliver</a:t>
            </a:r>
            <a:r>
              <a:rPr sz="1200" spc="4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scalable,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web-based</a:t>
            </a:r>
            <a:r>
              <a:rPr sz="1200" spc="43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 </a:t>
            </a:r>
            <a:r>
              <a:rPr sz="1200" dirty="0">
                <a:latin typeface="Times New Roman"/>
                <a:cs typeface="Times New Roman"/>
              </a:rPr>
              <a:t>accessible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administrators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location.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445"/>
              </a:spcBef>
              <a:buAutoNum type="arabicPeriod" startAt="4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Interface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Design: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Create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responsive,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intuitive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UI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tailored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different user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roles,</a:t>
            </a:r>
            <a:endParaRPr sz="1200">
              <a:latin typeface="Times New Roman"/>
              <a:cs typeface="Times New Roman"/>
            </a:endParaRPr>
          </a:p>
          <a:p>
            <a:pPr marL="469265">
              <a:lnSpc>
                <a:spcPct val="100000"/>
              </a:lnSpc>
              <a:spcBef>
                <a:spcPts val="640"/>
              </a:spcBef>
            </a:pP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smooth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navigation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user-</a:t>
            </a:r>
            <a:r>
              <a:rPr sz="1200" dirty="0">
                <a:latin typeface="Times New Roman"/>
                <a:cs typeface="Times New Roman"/>
              </a:rPr>
              <a:t>friendly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management.</a:t>
            </a:r>
            <a:endParaRPr sz="1200">
              <a:latin typeface="Times New Roman"/>
              <a:cs typeface="Times New Roman"/>
            </a:endParaRPr>
          </a:p>
          <a:p>
            <a:pPr marL="469265" marR="5080" indent="-228600">
              <a:lnSpc>
                <a:spcPct val="143300"/>
              </a:lnSpc>
              <a:buAutoNum type="arabicPeriod" startAt="6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Secure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Database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Infrastructure: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MongoDB-based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database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store property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details,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profiles,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bidding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history,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data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integrity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security.</a:t>
            </a:r>
            <a:endParaRPr sz="1200">
              <a:latin typeface="Times New Roman"/>
              <a:cs typeface="Times New Roman"/>
            </a:endParaRPr>
          </a:p>
          <a:p>
            <a:pPr marL="469265" marR="8255" indent="-228600">
              <a:lnSpc>
                <a:spcPct val="143300"/>
              </a:lnSpc>
              <a:spcBef>
                <a:spcPts val="10"/>
              </a:spcBef>
              <a:buAutoNum type="arabicPeriod" startAt="6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Validation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Reports: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detailed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reports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performance, </a:t>
            </a:r>
            <a:r>
              <a:rPr sz="1200" dirty="0">
                <a:latin typeface="Times New Roman"/>
                <a:cs typeface="Times New Roman"/>
              </a:rPr>
              <a:t>security,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accuracy,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reliability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compliance.</a:t>
            </a:r>
            <a:endParaRPr sz="1200">
              <a:latin typeface="Times New Roman"/>
              <a:cs typeface="Times New Roman"/>
            </a:endParaRPr>
          </a:p>
          <a:p>
            <a:pPr marL="469265" marR="5715" indent="-228600">
              <a:lnSpc>
                <a:spcPct val="143500"/>
              </a:lnSpc>
              <a:spcBef>
                <a:spcPts val="10"/>
              </a:spcBef>
              <a:buAutoNum type="arabicPeriod" startAt="6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Support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Resources: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Develop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comprehensive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documentation,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FAQs,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tutorials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assist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understanding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features.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5"/>
              </a:spcBef>
              <a:buFont typeface="Times New Roman"/>
              <a:buAutoNum type="arabicPeriod" startAt="6"/>
            </a:pPr>
            <a:endParaRPr sz="1200">
              <a:latin typeface="Times New Roman"/>
              <a:cs typeface="Times New Roman"/>
            </a:endParaRPr>
          </a:p>
          <a:p>
            <a:pPr marL="12700" marR="8255" algn="just">
              <a:lnSpc>
                <a:spcPct val="143300"/>
              </a:lnSpc>
            </a:pP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delivering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these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components,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Abode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aims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enhance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efficiency,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security,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trust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online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fostering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seamless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experience.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75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ct val="100000"/>
              </a:lnSpc>
              <a:buFont typeface="Symbol"/>
              <a:buChar char=""/>
              <a:tabLst>
                <a:tab pos="469265" algn="l"/>
              </a:tabLst>
            </a:pPr>
            <a:r>
              <a:rPr sz="1400" b="1" dirty="0">
                <a:latin typeface="Times New Roman"/>
                <a:cs typeface="Times New Roman"/>
              </a:rPr>
              <a:t>Development</a:t>
            </a:r>
            <a:r>
              <a:rPr sz="1400" b="1" spc="-60" dirty="0">
                <a:latin typeface="Times New Roman"/>
                <a:cs typeface="Times New Roman"/>
              </a:rPr>
              <a:t> </a:t>
            </a:r>
            <a:r>
              <a:rPr sz="1400" b="1" spc="-10" dirty="0">
                <a:latin typeface="Times New Roman"/>
                <a:cs typeface="Times New Roman"/>
              </a:rPr>
              <a:t>Requirements</a:t>
            </a:r>
            <a:endParaRPr sz="1400">
              <a:latin typeface="Times New Roman"/>
              <a:cs typeface="Times New Roman"/>
            </a:endParaRPr>
          </a:p>
          <a:p>
            <a:pPr marL="12700" marR="7620" algn="just">
              <a:lnSpc>
                <a:spcPct val="143400"/>
              </a:lnSpc>
              <a:spcBef>
                <a:spcPts val="71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outline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technical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specifications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constraints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that </a:t>
            </a:r>
            <a:r>
              <a:rPr sz="1200" dirty="0">
                <a:latin typeface="Times New Roman"/>
                <a:cs typeface="Times New Roman"/>
              </a:rPr>
              <a:t>"Auction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Abode"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meet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effective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reliable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platform.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foundation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implementation.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</a:pPr>
            <a:r>
              <a:rPr sz="1200" spc="-10" dirty="0">
                <a:latin typeface="Times New Roman"/>
                <a:cs typeface="Times New Roman"/>
              </a:rPr>
              <a:t>Development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include: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marR="5715" indent="-228600">
              <a:lnSpc>
                <a:spcPct val="143300"/>
              </a:lnSpc>
            </a:pPr>
            <a:r>
              <a:rPr sz="1200" dirty="0">
                <a:latin typeface="Times New Roman"/>
                <a:cs typeface="Times New Roman"/>
              </a:rPr>
              <a:t>1.</a:t>
            </a:r>
            <a:r>
              <a:rPr sz="1200" spc="125" dirty="0">
                <a:latin typeface="Times New Roman"/>
                <a:cs typeface="Times New Roman"/>
              </a:rPr>
              <a:t> 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Performance: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Implement</a:t>
            </a:r>
            <a:r>
              <a:rPr sz="1200" spc="4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WebSocket’s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support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instantaneous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bid </a:t>
            </a:r>
            <a:r>
              <a:rPr sz="1200" dirty="0">
                <a:latin typeface="Times New Roman"/>
                <a:cs typeface="Times New Roman"/>
              </a:rPr>
              <a:t>updates,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high-</a:t>
            </a:r>
            <a:r>
              <a:rPr sz="1200" dirty="0">
                <a:latin typeface="Times New Roman"/>
                <a:cs typeface="Times New Roman"/>
              </a:rPr>
              <a:t>speed,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scalable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processing.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13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12037"/>
            <a:ext cx="5695950" cy="51974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265" marR="8255" indent="-228600" algn="just">
              <a:lnSpc>
                <a:spcPct val="143300"/>
              </a:lnSpc>
              <a:spcBef>
                <a:spcPts val="100"/>
              </a:spcBef>
              <a:buAutoNum type="arabicPeriod" startAt="2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Estimation: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Train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machine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learning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historical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data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accurate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suggestions,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decision-making.</a:t>
            </a:r>
            <a:endParaRPr sz="1200">
              <a:latin typeface="Times New Roman"/>
              <a:cs typeface="Times New Roman"/>
            </a:endParaRPr>
          </a:p>
          <a:p>
            <a:pPr marL="469265" marR="9525" indent="-228600" algn="just">
              <a:lnSpc>
                <a:spcPct val="143700"/>
              </a:lnSpc>
              <a:spcBef>
                <a:spcPts val="5"/>
              </a:spcBef>
              <a:buAutoNum type="arabicPeriod" startAt="2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Scalability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Reliability: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handle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traffic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volumes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multiple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concurrent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users,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fast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stable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peak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 times.</a:t>
            </a:r>
            <a:endParaRPr sz="1200">
              <a:latin typeface="Times New Roman"/>
              <a:cs typeface="Times New Roman"/>
            </a:endParaRPr>
          </a:p>
          <a:p>
            <a:pPr marL="469265" marR="10795" indent="-228600" algn="just">
              <a:lnSpc>
                <a:spcPts val="2080"/>
              </a:lnSpc>
              <a:spcBef>
                <a:spcPts val="160"/>
              </a:spcBef>
              <a:buAutoNum type="arabicPeriod" startAt="2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Privacy: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Utilize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JWT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authentication,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SSL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encryption,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access </a:t>
            </a:r>
            <a:r>
              <a:rPr sz="1200" dirty="0">
                <a:latin typeface="Times New Roman"/>
                <a:cs typeface="Times New Roman"/>
              </a:rPr>
              <a:t>controls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safeguard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against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cyber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threats.</a:t>
            </a:r>
            <a:endParaRPr sz="1200">
              <a:latin typeface="Times New Roman"/>
              <a:cs typeface="Times New Roman"/>
            </a:endParaRPr>
          </a:p>
          <a:p>
            <a:pPr marL="469265" indent="-228600" algn="just">
              <a:lnSpc>
                <a:spcPct val="100000"/>
              </a:lnSpc>
              <a:spcBef>
                <a:spcPts val="445"/>
              </a:spcBef>
              <a:buAutoNum type="arabicPeriod" startAt="2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Prevention: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verification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mechanisms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automatically</a:t>
            </a:r>
            <a:endParaRPr sz="1200">
              <a:latin typeface="Times New Roman"/>
              <a:cs typeface="Times New Roman"/>
            </a:endParaRPr>
          </a:p>
          <a:p>
            <a:pPr marL="469265" marR="8890" algn="just">
              <a:lnSpc>
                <a:spcPct val="143300"/>
              </a:lnSpc>
              <a:spcBef>
                <a:spcPts val="15"/>
              </a:spcBef>
            </a:pPr>
            <a:r>
              <a:rPr sz="1200" dirty="0">
                <a:latin typeface="Times New Roman"/>
                <a:cs typeface="Times New Roman"/>
              </a:rPr>
              <a:t>validate</a:t>
            </a:r>
            <a:r>
              <a:rPr sz="1200" spc="4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4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documents,</a:t>
            </a:r>
            <a:r>
              <a:rPr sz="1200" spc="4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minimizing</a:t>
            </a:r>
            <a:r>
              <a:rPr sz="1200" spc="4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fraudulent</a:t>
            </a:r>
            <a:r>
              <a:rPr sz="1200" spc="4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listings</a:t>
            </a:r>
            <a:r>
              <a:rPr sz="1200" spc="4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unauthorized transactions.</a:t>
            </a:r>
            <a:endParaRPr sz="1200">
              <a:latin typeface="Times New Roman"/>
              <a:cs typeface="Times New Roman"/>
            </a:endParaRPr>
          </a:p>
          <a:p>
            <a:pPr marL="469265" marR="10795" indent="-228600">
              <a:lnSpc>
                <a:spcPct val="143300"/>
              </a:lnSpc>
              <a:spcBef>
                <a:spcPts val="15"/>
              </a:spcBef>
              <a:buAutoNum type="arabicPeriod" startAt="6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Intuitive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Experience: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UI/UX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simple,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responsive,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accessible, </a:t>
            </a:r>
            <a:r>
              <a:rPr sz="1200" dirty="0">
                <a:latin typeface="Times New Roman"/>
                <a:cs typeface="Times New Roman"/>
              </a:rPr>
              <a:t>making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participation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easy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administrators.</a:t>
            </a:r>
            <a:endParaRPr sz="1200">
              <a:latin typeface="Times New Roman"/>
              <a:cs typeface="Times New Roman"/>
            </a:endParaRPr>
          </a:p>
          <a:p>
            <a:pPr marL="469265" marR="6985" indent="-228600">
              <a:lnSpc>
                <a:spcPct val="143300"/>
              </a:lnSpc>
              <a:spcBef>
                <a:spcPts val="10"/>
              </a:spcBef>
              <a:buAutoNum type="arabicPeriod" startAt="6"/>
              <a:tabLst>
                <a:tab pos="469265" algn="l"/>
                <a:tab pos="1299845" algn="l"/>
                <a:tab pos="1944370" algn="l"/>
                <a:tab pos="2935605" algn="l"/>
                <a:tab pos="3749040" algn="l"/>
                <a:tab pos="4978400" algn="l"/>
                <a:tab pos="5461000" algn="l"/>
              </a:tabLst>
            </a:pPr>
            <a:r>
              <a:rPr sz="1200" spc="-10" dirty="0">
                <a:latin typeface="Times New Roman"/>
                <a:cs typeface="Times New Roman"/>
              </a:rPr>
              <a:t>Automated</a:t>
            </a:r>
            <a:r>
              <a:rPr sz="1200" dirty="0">
                <a:latin typeface="Times New Roman"/>
                <a:cs typeface="Times New Roman"/>
              </a:rPr>
              <a:t>	</a:t>
            </a:r>
            <a:r>
              <a:rPr sz="1200" spc="-10" dirty="0">
                <a:latin typeface="Times New Roman"/>
                <a:cs typeface="Times New Roman"/>
              </a:rPr>
              <a:t>Auction</a:t>
            </a:r>
            <a:r>
              <a:rPr sz="1200" dirty="0">
                <a:latin typeface="Times New Roman"/>
                <a:cs typeface="Times New Roman"/>
              </a:rPr>
              <a:t>	</a:t>
            </a:r>
            <a:r>
              <a:rPr sz="1200" spc="-10" dirty="0">
                <a:latin typeface="Times New Roman"/>
                <a:cs typeface="Times New Roman"/>
              </a:rPr>
              <a:t>Notifications:</a:t>
            </a:r>
            <a:r>
              <a:rPr sz="1200" dirty="0">
                <a:latin typeface="Times New Roman"/>
                <a:cs typeface="Times New Roman"/>
              </a:rPr>
              <a:t>	</a:t>
            </a:r>
            <a:r>
              <a:rPr sz="1200" spc="-10" dirty="0">
                <a:latin typeface="Times New Roman"/>
                <a:cs typeface="Times New Roman"/>
              </a:rPr>
              <a:t>Implement</a:t>
            </a:r>
            <a:r>
              <a:rPr sz="1200" dirty="0">
                <a:latin typeface="Times New Roman"/>
                <a:cs typeface="Times New Roman"/>
              </a:rPr>
              <a:t>	</a:t>
            </a:r>
            <a:r>
              <a:rPr sz="1200" spc="-10" dirty="0">
                <a:latin typeface="Times New Roman"/>
                <a:cs typeface="Times New Roman"/>
              </a:rPr>
              <a:t>geofencing-based</a:t>
            </a:r>
            <a:r>
              <a:rPr sz="1200" dirty="0">
                <a:latin typeface="Times New Roman"/>
                <a:cs typeface="Times New Roman"/>
              </a:rPr>
              <a:t>	</a:t>
            </a:r>
            <a:r>
              <a:rPr sz="1200" spc="-10" dirty="0">
                <a:latin typeface="Times New Roman"/>
                <a:cs typeface="Times New Roman"/>
              </a:rPr>
              <a:t>alerts</a:t>
            </a:r>
            <a:r>
              <a:rPr sz="1200" dirty="0">
                <a:latin typeface="Times New Roman"/>
                <a:cs typeface="Times New Roman"/>
              </a:rPr>
              <a:t>	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spc="-10" dirty="0">
                <a:latin typeface="Times New Roman"/>
                <a:cs typeface="Times New Roman"/>
              </a:rPr>
              <a:t>personalized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notifications,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keeping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informed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about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relevant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auctions.</a:t>
            </a:r>
            <a:endParaRPr sz="1200">
              <a:latin typeface="Times New Roman"/>
              <a:cs typeface="Times New Roman"/>
            </a:endParaRPr>
          </a:p>
          <a:p>
            <a:pPr marL="469265" marR="6985" indent="-228600">
              <a:lnSpc>
                <a:spcPct val="143300"/>
              </a:lnSpc>
              <a:spcBef>
                <a:spcPts val="15"/>
              </a:spcBef>
              <a:buAutoNum type="arabicPeriod" startAt="6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Regulatory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Compliance: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adherence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laws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ethical </a:t>
            </a:r>
            <a:r>
              <a:rPr sz="1200" dirty="0">
                <a:latin typeface="Times New Roman"/>
                <a:cs typeface="Times New Roman"/>
              </a:rPr>
              <a:t>standards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maintain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legally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compliant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trustworthy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700"/>
              </a:lnSpc>
            </a:pP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meeting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technical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guarantees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secure, scalable,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efficient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online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property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experience,</a:t>
            </a:r>
            <a:r>
              <a:rPr sz="12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transforming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10" dirty="0">
                <a:latin typeface="Times New Roman"/>
                <a:cs typeface="Times New Roman"/>
              </a:rPr>
              <a:t> real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estate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bidding </a:t>
            </a:r>
            <a:r>
              <a:rPr sz="1200" dirty="0">
                <a:latin typeface="Times New Roman"/>
                <a:cs typeface="Times New Roman"/>
              </a:rPr>
              <a:t>landscape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automation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transparency.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14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88238"/>
            <a:ext cx="5697220" cy="72351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latin typeface="Times New Roman"/>
                <a:cs typeface="Times New Roman"/>
              </a:rPr>
              <a:t>Chapter</a:t>
            </a:r>
            <a:r>
              <a:rPr sz="1600" b="1" spc="-5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3:</a:t>
            </a:r>
            <a:r>
              <a:rPr sz="1600" b="1" spc="-10" dirty="0">
                <a:latin typeface="Times New Roman"/>
                <a:cs typeface="Times New Roman"/>
              </a:rPr>
              <a:t> Requirement</a:t>
            </a:r>
            <a:r>
              <a:rPr sz="1600" b="1" spc="-90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Analysis</a:t>
            </a:r>
            <a:endParaRPr sz="1600">
              <a:latin typeface="Times New Roman"/>
              <a:cs typeface="Times New Roman"/>
            </a:endParaRPr>
          </a:p>
          <a:p>
            <a:pPr marL="12700" marR="6985" algn="just">
              <a:lnSpc>
                <a:spcPct val="143800"/>
              </a:lnSpc>
              <a:spcBef>
                <a:spcPts val="1639"/>
              </a:spcBef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chapter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delves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comprehensive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analysis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project</a:t>
            </a:r>
            <a:r>
              <a:rPr sz="1200" b="1" spc="-10" dirty="0">
                <a:latin typeface="Times New Roman"/>
                <a:cs typeface="Times New Roman"/>
              </a:rPr>
              <a:t>,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"Auction </a:t>
            </a:r>
            <a:r>
              <a:rPr sz="1200" dirty="0">
                <a:latin typeface="Times New Roman"/>
                <a:cs typeface="Times New Roman"/>
              </a:rPr>
              <a:t>Abode: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Platform."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Central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analysis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Software Requirements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Specification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(SRS)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which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foundation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defining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essential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functionalities,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features,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technical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specifications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required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platform’s </a:t>
            </a:r>
            <a:r>
              <a:rPr sz="1200" dirty="0">
                <a:latin typeface="Times New Roman"/>
                <a:cs typeface="Times New Roman"/>
              </a:rPr>
              <a:t>successful development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 implementation. By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detailing the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 scope, user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needs,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constraints,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SRS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structured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roadmap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subsequent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phases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spc="-10" dirty="0">
                <a:latin typeface="Times New Roman"/>
                <a:cs typeface="Times New Roman"/>
              </a:rPr>
              <a:t>project.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6350" algn="just">
              <a:lnSpc>
                <a:spcPct val="1437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chapter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highlights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importance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gathering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shaping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project’s direction.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Through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detailed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analysis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continuous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stakeholder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engagement,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project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team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clear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understanding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expectations,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demands,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concerns</a:t>
            </a:r>
            <a:r>
              <a:rPr sz="1200" b="1" spc="-10" dirty="0">
                <a:latin typeface="Times New Roman"/>
                <a:cs typeface="Times New Roman"/>
              </a:rPr>
              <a:t>. </a:t>
            </a:r>
            <a:r>
              <a:rPr sz="1200" dirty="0">
                <a:latin typeface="Times New Roman"/>
                <a:cs typeface="Times New Roman"/>
              </a:rPr>
              <a:t>This systematic approach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facilitates the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identification of key use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cases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 form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basis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development.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4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analysis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include: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marR="6350" indent="-228600" algn="just">
              <a:lnSpc>
                <a:spcPct val="1433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Functional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Requirements: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Defining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capabilities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real-time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bidding, 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prediction,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management.</a:t>
            </a:r>
            <a:endParaRPr sz="1200">
              <a:latin typeface="Times New Roman"/>
              <a:cs typeface="Times New Roman"/>
            </a:endParaRPr>
          </a:p>
          <a:p>
            <a:pPr marL="469265" marR="5080" indent="-228600" algn="just">
              <a:lnSpc>
                <a:spcPct val="143700"/>
              </a:lnSpc>
              <a:spcBef>
                <a:spcPts val="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Non-</a:t>
            </a: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Requirements: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Addressing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metrics,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including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 </a:t>
            </a:r>
            <a:r>
              <a:rPr sz="1200" dirty="0">
                <a:latin typeface="Times New Roman"/>
                <a:cs typeface="Times New Roman"/>
              </a:rPr>
              <a:t>reliability,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scalability,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low-latency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processing,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compliance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10" dirty="0">
                <a:latin typeface="Times New Roman"/>
                <a:cs typeface="Times New Roman"/>
              </a:rPr>
              <a:t> security standards.</a:t>
            </a:r>
            <a:endParaRPr sz="1200">
              <a:latin typeface="Times New Roman"/>
              <a:cs typeface="Times New Roman"/>
            </a:endParaRPr>
          </a:p>
          <a:p>
            <a:pPr marL="469265" marR="6350" indent="-228600" algn="just">
              <a:lnSpc>
                <a:spcPts val="2080"/>
              </a:lnSpc>
              <a:spcBef>
                <a:spcPts val="16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4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Requirements:</a:t>
            </a:r>
            <a:r>
              <a:rPr sz="1200" spc="4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Understanding</a:t>
            </a:r>
            <a:r>
              <a:rPr sz="1200" spc="4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specific</a:t>
            </a:r>
            <a:r>
              <a:rPr sz="1200" spc="4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needs</a:t>
            </a:r>
            <a:r>
              <a:rPr sz="1200" spc="45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4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buyers,</a:t>
            </a:r>
            <a:r>
              <a:rPr sz="1200" spc="4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sellers,</a:t>
            </a:r>
            <a:r>
              <a:rPr sz="1200" spc="459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administrators,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intuitive,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accessible,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efficient.</a:t>
            </a: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700"/>
              </a:lnSpc>
              <a:spcBef>
                <a:spcPts val="1225"/>
              </a:spcBef>
            </a:pP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thoroughly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analyzing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requirements,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lays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solid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foundation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designing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implementing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robust,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secure,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user-</a:t>
            </a:r>
            <a:r>
              <a:rPr sz="1200" dirty="0">
                <a:latin typeface="Times New Roman"/>
                <a:cs typeface="Times New Roman"/>
              </a:rPr>
              <a:t>friendly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estate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aligned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with </a:t>
            </a:r>
            <a:r>
              <a:rPr sz="1200" dirty="0">
                <a:latin typeface="Times New Roman"/>
                <a:cs typeface="Times New Roman"/>
              </a:rPr>
              <a:t>both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technical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business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objectives.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15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89761"/>
            <a:ext cx="5696585" cy="81146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400" b="1" dirty="0">
                <a:latin typeface="Times New Roman"/>
                <a:cs typeface="Times New Roman"/>
              </a:rPr>
              <a:t>3.1.</a:t>
            </a:r>
            <a:r>
              <a:rPr sz="1400" b="1" spc="-6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Functional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Requirements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5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11430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following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functionalities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features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meet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needs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objectives: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10"/>
              </a:spcBef>
              <a:buAutoNum type="arabicPeriod"/>
              <a:tabLst>
                <a:tab pos="165100" algn="l"/>
              </a:tabLst>
            </a:pPr>
            <a:r>
              <a:rPr sz="1200" b="1" dirty="0">
                <a:latin typeface="Times New Roman"/>
                <a:cs typeface="Times New Roman"/>
              </a:rPr>
              <a:t>Data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Collection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Analysis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Font typeface="Times New Roman"/>
              <a:buAutoNum type="arabicPeriod"/>
            </a:pPr>
            <a:endParaRPr sz="1200">
              <a:latin typeface="Times New Roman"/>
              <a:cs typeface="Times New Roman"/>
            </a:endParaRPr>
          </a:p>
          <a:p>
            <a:pPr marL="469265" marR="6350" lvl="1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Data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Collection</a:t>
            </a:r>
            <a:r>
              <a:rPr sz="1200" spc="-10" dirty="0">
                <a:latin typeface="Times New Roman"/>
                <a:cs typeface="Times New Roman"/>
              </a:rPr>
              <a:t>: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collect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store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bidding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histories,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profiles,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trends.</a:t>
            </a:r>
            <a:endParaRPr sz="1200">
              <a:latin typeface="Times New Roman"/>
              <a:cs typeface="Times New Roman"/>
            </a:endParaRPr>
          </a:p>
          <a:p>
            <a:pPr marL="469265" marR="10795" lvl="1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Data</a:t>
            </a:r>
            <a:r>
              <a:rPr sz="1200" b="1" spc="1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Analysis</a:t>
            </a:r>
            <a:r>
              <a:rPr sz="1200" dirty="0">
                <a:latin typeface="Times New Roman"/>
                <a:cs typeface="Times New Roman"/>
              </a:rPr>
              <a:t>: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models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analyze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historical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predict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prices,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fraudulent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activities,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strategies.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10"/>
              </a:spcBef>
              <a:buAutoNum type="arabicPeriod"/>
              <a:tabLst>
                <a:tab pos="165100" algn="l"/>
              </a:tabLst>
            </a:pPr>
            <a:r>
              <a:rPr sz="1200" b="1" dirty="0">
                <a:latin typeface="Times New Roman"/>
                <a:cs typeface="Times New Roman"/>
              </a:rPr>
              <a:t>Property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Listing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Management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  <a:buFont typeface="Times New Roman"/>
              <a:buAutoNum type="arabicPeriod"/>
            </a:pPr>
            <a:endParaRPr sz="1200">
              <a:latin typeface="Times New Roman"/>
              <a:cs typeface="Times New Roman"/>
            </a:endParaRPr>
          </a:p>
          <a:p>
            <a:pPr marL="469265" marR="10795" lvl="1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User-</a:t>
            </a:r>
            <a:r>
              <a:rPr sz="1200" b="1" dirty="0">
                <a:latin typeface="Times New Roman"/>
                <a:cs typeface="Times New Roman"/>
              </a:rPr>
              <a:t>Friendly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Interface</a:t>
            </a:r>
            <a:r>
              <a:rPr sz="1200" dirty="0">
                <a:latin typeface="Times New Roman"/>
                <a:cs typeface="Times New Roman"/>
              </a:rPr>
              <a:t>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intuitive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dashboard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properties, </a:t>
            </a:r>
            <a:r>
              <a:rPr sz="1200" dirty="0">
                <a:latin typeface="Times New Roman"/>
                <a:cs typeface="Times New Roman"/>
              </a:rPr>
              <a:t>manage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details,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track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activity.</a:t>
            </a:r>
            <a:endParaRPr sz="1200">
              <a:latin typeface="Times New Roman"/>
              <a:cs typeface="Times New Roman"/>
            </a:endParaRPr>
          </a:p>
          <a:p>
            <a:pPr marL="469265" marR="5080" lvl="1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Validation</a:t>
            </a:r>
            <a:r>
              <a:rPr sz="1200" b="1" spc="5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5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Storage</a:t>
            </a:r>
            <a:r>
              <a:rPr sz="1200" dirty="0">
                <a:latin typeface="Times New Roman"/>
                <a:cs typeface="Times New Roman"/>
              </a:rPr>
              <a:t>: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Uploaded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documents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validated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AI- 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detection.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securely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stored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MongoDB database.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00"/>
              </a:spcBef>
              <a:buAutoNum type="arabicPeriod"/>
              <a:tabLst>
                <a:tab pos="165100" algn="l"/>
              </a:tabLst>
            </a:pPr>
            <a:r>
              <a:rPr sz="1200" b="1" dirty="0">
                <a:latin typeface="Times New Roman"/>
                <a:cs typeface="Times New Roman"/>
              </a:rPr>
              <a:t>User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Registration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Authentication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spcBef>
                <a:spcPts val="134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Registration</a:t>
            </a:r>
            <a:r>
              <a:rPr sz="1200" dirty="0">
                <a:latin typeface="Times New Roman"/>
                <a:cs typeface="Times New Roman"/>
              </a:rPr>
              <a:t>: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administrators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register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platform.</a:t>
            </a:r>
            <a:endParaRPr sz="1200">
              <a:latin typeface="Times New Roman"/>
              <a:cs typeface="Times New Roman"/>
            </a:endParaRPr>
          </a:p>
          <a:p>
            <a:pPr marL="469265" marR="8255" lvl="1" indent="-228600" algn="just">
              <a:lnSpc>
                <a:spcPts val="1380"/>
              </a:lnSpc>
              <a:spcBef>
                <a:spcPts val="7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Authentication</a:t>
            </a:r>
            <a:r>
              <a:rPr sz="1200" dirty="0">
                <a:latin typeface="Times New Roman"/>
                <a:cs typeface="Times New Roman"/>
              </a:rPr>
              <a:t>: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JWT-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login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two-</a:t>
            </a:r>
            <a:r>
              <a:rPr sz="1200" dirty="0">
                <a:latin typeface="Times New Roman"/>
                <a:cs typeface="Times New Roman"/>
              </a:rPr>
              <a:t>factor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authentication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(2FA)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ensure </a:t>
            </a:r>
            <a:r>
              <a:rPr sz="1200" dirty="0">
                <a:latin typeface="Times New Roman"/>
                <a:cs typeface="Times New Roman"/>
              </a:rPr>
              <a:t>secure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participation.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10"/>
              </a:spcBef>
              <a:buAutoNum type="arabicPeriod"/>
              <a:tabLst>
                <a:tab pos="165100" algn="l"/>
              </a:tabLst>
            </a:pPr>
            <a:r>
              <a:rPr sz="1200" b="1" dirty="0">
                <a:latin typeface="Times New Roman"/>
                <a:cs typeface="Times New Roman"/>
              </a:rPr>
              <a:t>User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Interface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(UI)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spcBef>
                <a:spcPts val="133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Design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Features</a:t>
            </a:r>
            <a:r>
              <a:rPr sz="1200" spc="-10" dirty="0">
                <a:latin typeface="Times New Roman"/>
                <a:cs typeface="Times New Roman"/>
              </a:rPr>
              <a:t>:</a:t>
            </a:r>
            <a:endParaRPr sz="1200">
              <a:latin typeface="Times New Roman"/>
              <a:cs typeface="Times New Roman"/>
            </a:endParaRPr>
          </a:p>
          <a:p>
            <a:pPr marL="926465" lvl="2" indent="-228600">
              <a:lnSpc>
                <a:spcPts val="1380"/>
              </a:lnSpc>
              <a:buSzPct val="83333"/>
              <a:buFont typeface="Courier New"/>
              <a:buChar char="o"/>
              <a:tabLst>
                <a:tab pos="926465" algn="l"/>
              </a:tabLst>
            </a:pP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modern,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responsive,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easy-to-</a:t>
            </a:r>
            <a:r>
              <a:rPr sz="1200" dirty="0">
                <a:latin typeface="Times New Roman"/>
                <a:cs typeface="Times New Roman"/>
              </a:rPr>
              <a:t>navigate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interface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used.</a:t>
            </a:r>
            <a:endParaRPr sz="1200">
              <a:latin typeface="Times New Roman"/>
              <a:cs typeface="Times New Roman"/>
            </a:endParaRPr>
          </a:p>
          <a:p>
            <a:pPr marL="926465" lvl="2" indent="-228600">
              <a:lnSpc>
                <a:spcPts val="1410"/>
              </a:lnSpc>
              <a:buSzPct val="83333"/>
              <a:buFont typeface="Courier New"/>
              <a:buChar char="o"/>
              <a:tabLst>
                <a:tab pos="926465" algn="l"/>
              </a:tabLst>
            </a:pP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dashboards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show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live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trends.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45"/>
              </a:spcBef>
              <a:buAutoNum type="arabicPeriod"/>
              <a:tabLst>
                <a:tab pos="165100" algn="l"/>
              </a:tabLst>
            </a:pPr>
            <a:r>
              <a:rPr sz="1200" b="1" dirty="0">
                <a:latin typeface="Times New Roman"/>
                <a:cs typeface="Times New Roman"/>
              </a:rPr>
              <a:t>Feedback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Information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Input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  <a:buFont typeface="Times New Roman"/>
              <a:buAutoNum type="arabicPeriod"/>
            </a:pPr>
            <a:endParaRPr sz="1200">
              <a:latin typeface="Times New Roman"/>
              <a:cs typeface="Times New Roman"/>
            </a:endParaRPr>
          </a:p>
          <a:p>
            <a:pPr marL="469265" marR="11430" lvl="1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submit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descriptions,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legal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documents,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details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via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interactive forms.</a:t>
            </a:r>
            <a:endParaRPr sz="1200">
              <a:latin typeface="Times New Roman"/>
              <a:cs typeface="Times New Roman"/>
            </a:endParaRPr>
          </a:p>
          <a:p>
            <a:pPr marL="469265" marR="10795" lvl="1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Feedback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tools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rate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experiences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report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suspicious activity.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00"/>
              </a:spcBef>
              <a:buAutoNum type="arabicPeriod"/>
              <a:tabLst>
                <a:tab pos="165100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AI-</a:t>
            </a:r>
            <a:r>
              <a:rPr sz="1200" b="1" dirty="0">
                <a:latin typeface="Times New Roman"/>
                <a:cs typeface="Times New Roman"/>
              </a:rPr>
              <a:t>Powered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Bidding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Pricing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Models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spcBef>
                <a:spcPts val="134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offer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predictions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competitive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starting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prices.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monitor</a:t>
            </a:r>
            <a:r>
              <a:rPr sz="1200" spc="-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flag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irregular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patterns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indicating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potential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fraud.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45"/>
              </a:spcBef>
              <a:buAutoNum type="arabicPeriod"/>
              <a:tabLst>
                <a:tab pos="165100" algn="l"/>
              </a:tabLst>
            </a:pPr>
            <a:r>
              <a:rPr sz="1200" b="1" dirty="0">
                <a:latin typeface="Times New Roman"/>
                <a:cs typeface="Times New Roman"/>
              </a:rPr>
              <a:t>User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Feedback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Interaction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16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2775" cy="4079875"/>
          </a:xfrm>
          <a:prstGeom prst="rect">
            <a:avLst/>
          </a:prstGeom>
        </p:spPr>
        <p:txBody>
          <a:bodyPr vert="horz" wrap="square" lIns="0" tIns="24765" rIns="0" bIns="0" rtlCol="0">
            <a:spAutoFit/>
          </a:bodyPr>
          <a:lstStyle/>
          <a:p>
            <a:pPr marL="469265" marR="7620" indent="-228600">
              <a:lnSpc>
                <a:spcPts val="1380"/>
              </a:lnSpc>
              <a:spcBef>
                <a:spcPts val="19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share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feedback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pricing,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fairness,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 usability.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45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Machine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learning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feedback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refine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future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predictions.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45"/>
              </a:spcBef>
              <a:buAutoNum type="arabicPeriod" startAt="8"/>
              <a:tabLst>
                <a:tab pos="165100" algn="l"/>
              </a:tabLst>
            </a:pPr>
            <a:r>
              <a:rPr sz="1200" b="1" dirty="0">
                <a:latin typeface="Times New Roman"/>
                <a:cs typeface="Times New Roman"/>
              </a:rPr>
              <a:t>Admin </a:t>
            </a:r>
            <a:r>
              <a:rPr sz="1200" b="1" spc="-10" dirty="0">
                <a:latin typeface="Times New Roman"/>
                <a:cs typeface="Times New Roman"/>
              </a:rPr>
              <a:t>Functionality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45"/>
              </a:spcBef>
              <a:buFont typeface="Times New Roman"/>
              <a:buAutoNum type="arabicPeriod" startAt="8"/>
            </a:pPr>
            <a:endParaRPr sz="1200">
              <a:latin typeface="Times New Roman"/>
              <a:cs typeface="Times New Roman"/>
            </a:endParaRPr>
          </a:p>
          <a:p>
            <a:pPr marL="469265" marR="5080" lvl="1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Administrators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accounts,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approve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listings,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maintain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 security.</a:t>
            </a:r>
            <a:endParaRPr sz="1200">
              <a:latin typeface="Times New Roman"/>
              <a:cs typeface="Times New Roman"/>
            </a:endParaRPr>
          </a:p>
          <a:p>
            <a:pPr marL="469265" marR="7620" lvl="1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Admins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track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performance,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modify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rules,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legal compliance.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10"/>
              </a:spcBef>
              <a:buAutoNum type="arabicPeriod" startAt="8"/>
              <a:tabLst>
                <a:tab pos="165100" algn="l"/>
              </a:tabLst>
            </a:pPr>
            <a:r>
              <a:rPr sz="1200" b="1" dirty="0">
                <a:latin typeface="Times New Roman"/>
                <a:cs typeface="Times New Roman"/>
              </a:rPr>
              <a:t>Notification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System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spcBef>
                <a:spcPts val="134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alerts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sent</a:t>
            </a:r>
            <a:r>
              <a:rPr sz="1200" spc="-20" dirty="0">
                <a:latin typeface="Times New Roman"/>
                <a:cs typeface="Times New Roman"/>
              </a:rPr>
              <a:t> for:</a:t>
            </a:r>
            <a:endParaRPr sz="1200">
              <a:latin typeface="Times New Roman"/>
              <a:cs typeface="Times New Roman"/>
            </a:endParaRPr>
          </a:p>
          <a:p>
            <a:pPr marL="926465" lvl="2" indent="-228600">
              <a:lnSpc>
                <a:spcPts val="1380"/>
              </a:lnSpc>
              <a:buSzPct val="83333"/>
              <a:buFont typeface="Courier New"/>
              <a:buChar char="o"/>
              <a:tabLst>
                <a:tab pos="926465" algn="l"/>
              </a:tabLst>
            </a:pPr>
            <a:r>
              <a:rPr sz="1200" dirty="0">
                <a:latin typeface="Times New Roman"/>
                <a:cs typeface="Times New Roman"/>
              </a:rPr>
              <a:t>New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selected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categories.</a:t>
            </a:r>
            <a:endParaRPr sz="1200">
              <a:latin typeface="Times New Roman"/>
              <a:cs typeface="Times New Roman"/>
            </a:endParaRPr>
          </a:p>
          <a:p>
            <a:pPr marL="926465" lvl="2" indent="-228600">
              <a:lnSpc>
                <a:spcPts val="1380"/>
              </a:lnSpc>
              <a:buSzPct val="83333"/>
              <a:buFont typeface="Courier New"/>
              <a:buChar char="o"/>
              <a:tabLst>
                <a:tab pos="926465" algn="l"/>
              </a:tabLst>
            </a:pP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status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changes.</a:t>
            </a:r>
            <a:endParaRPr sz="1200">
              <a:latin typeface="Times New Roman"/>
              <a:cs typeface="Times New Roman"/>
            </a:endParaRPr>
          </a:p>
          <a:p>
            <a:pPr marL="926465" lvl="2" indent="-228600">
              <a:lnSpc>
                <a:spcPts val="1410"/>
              </a:lnSpc>
              <a:buSzPct val="83333"/>
              <a:buFont typeface="Courier New"/>
              <a:buChar char="o"/>
              <a:tabLst>
                <a:tab pos="926465" algn="l"/>
              </a:tabLst>
            </a:pP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detection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warnings.</a:t>
            </a:r>
            <a:endParaRPr sz="1200">
              <a:latin typeface="Times New Roman"/>
              <a:cs typeface="Times New Roman"/>
            </a:endParaRPr>
          </a:p>
          <a:p>
            <a:pPr marL="241300" indent="-228600">
              <a:lnSpc>
                <a:spcPct val="100000"/>
              </a:lnSpc>
              <a:spcBef>
                <a:spcPts val="1335"/>
              </a:spcBef>
              <a:buAutoNum type="arabicPeriod" startAt="8"/>
              <a:tabLst>
                <a:tab pos="241300" algn="l"/>
              </a:tabLst>
            </a:pPr>
            <a:r>
              <a:rPr sz="1200" b="1" dirty="0">
                <a:latin typeface="Times New Roman"/>
                <a:cs typeface="Times New Roman"/>
              </a:rPr>
              <a:t>Progress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Tracking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Reporting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spcBef>
                <a:spcPts val="134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Sellers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monitor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performance.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view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history.</a:t>
            </a:r>
            <a:endParaRPr sz="1200">
              <a:latin typeface="Times New Roman"/>
              <a:cs typeface="Times New Roman"/>
            </a:endParaRPr>
          </a:p>
          <a:p>
            <a:pPr marL="469265" marR="6985" lvl="1" indent="-228600">
              <a:lnSpc>
                <a:spcPts val="1380"/>
              </a:lnSpc>
              <a:spcBef>
                <a:spcPts val="6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generate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detailed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reports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activity,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trends,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events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for </a:t>
            </a:r>
            <a:r>
              <a:rPr sz="1200" spc="-10" dirty="0">
                <a:latin typeface="Times New Roman"/>
                <a:cs typeface="Times New Roman"/>
              </a:rPr>
              <a:t>stakeholders.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5466969"/>
            <a:ext cx="5695950" cy="35877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latin typeface="Times New Roman"/>
                <a:cs typeface="Times New Roman"/>
              </a:rPr>
              <a:t>3.2.</a:t>
            </a:r>
            <a:r>
              <a:rPr sz="1400" b="1" spc="-5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Non-</a:t>
            </a:r>
            <a:r>
              <a:rPr sz="1200" b="1" dirty="0">
                <a:latin typeface="Times New Roman"/>
                <a:cs typeface="Times New Roman"/>
              </a:rPr>
              <a:t>Functional</a:t>
            </a:r>
            <a:r>
              <a:rPr sz="1200" b="1" spc="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Requirements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10795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12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non-functional</a:t>
            </a:r>
            <a:r>
              <a:rPr sz="1200" spc="13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requirements</a:t>
            </a:r>
            <a:r>
              <a:rPr sz="1200" spc="13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12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2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overall</a:t>
            </a:r>
            <a:r>
              <a:rPr sz="1200" spc="13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efficiency,</a:t>
            </a:r>
            <a:r>
              <a:rPr sz="1200" spc="14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performance,</a:t>
            </a:r>
            <a:r>
              <a:rPr sz="1200" spc="135" dirty="0">
                <a:latin typeface="Times New Roman"/>
                <a:cs typeface="Times New Roman"/>
              </a:rPr>
              <a:t> 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spc="-10" dirty="0">
                <a:latin typeface="Times New Roman"/>
                <a:cs typeface="Times New Roman"/>
              </a:rPr>
              <a:t>compliance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05"/>
              </a:spcBef>
              <a:buAutoNum type="arabicPeriod"/>
              <a:tabLst>
                <a:tab pos="165100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Usability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"/>
              </a:spcBef>
              <a:buFont typeface="Times New Roman"/>
              <a:buAutoNum type="arabicPeriod"/>
            </a:pPr>
            <a:endParaRPr sz="1200">
              <a:latin typeface="Times New Roman"/>
              <a:cs typeface="Times New Roman"/>
            </a:endParaRPr>
          </a:p>
          <a:p>
            <a:pPr marL="469265" marR="5080" lvl="1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user-</a:t>
            </a:r>
            <a:r>
              <a:rPr sz="1200" dirty="0">
                <a:latin typeface="Times New Roman"/>
                <a:cs typeface="Times New Roman"/>
              </a:rPr>
              <a:t>friendly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interface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roles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(buyers,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sellers, admins).</a:t>
            </a:r>
            <a:endParaRPr sz="1200">
              <a:latin typeface="Times New Roman"/>
              <a:cs typeface="Times New Roman"/>
            </a:endParaRPr>
          </a:p>
          <a:p>
            <a:pPr marL="469265" marR="5715" lvl="1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Navigation</a:t>
            </a:r>
            <a:r>
              <a:rPr sz="1200" spc="48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48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4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clear,</a:t>
            </a:r>
            <a:r>
              <a:rPr sz="1200" spc="4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48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tooltips,</a:t>
            </a:r>
            <a:r>
              <a:rPr sz="1200" spc="48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step-by-</a:t>
            </a:r>
            <a:r>
              <a:rPr sz="1200" dirty="0">
                <a:latin typeface="Times New Roman"/>
                <a:cs typeface="Times New Roman"/>
              </a:rPr>
              <a:t>step</a:t>
            </a:r>
            <a:r>
              <a:rPr sz="1200" spc="4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workflows,</a:t>
            </a:r>
            <a:r>
              <a:rPr sz="1200" spc="10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8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guided instructions.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10"/>
              </a:spcBef>
              <a:buAutoNum type="arabicPeriod"/>
              <a:tabLst>
                <a:tab pos="165100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Reliability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spcBef>
                <a:spcPts val="134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maintain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availability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minimal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downtime.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tracking,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processing,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happen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time.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30"/>
              </a:spcBef>
              <a:buAutoNum type="arabicPeriod"/>
              <a:tabLst>
                <a:tab pos="165100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Performance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ct val="100000"/>
              </a:lnSpc>
              <a:spcBef>
                <a:spcPts val="134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support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large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numbers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concurrent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auctions.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17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4045" cy="44380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265" indent="-228600">
              <a:lnSpc>
                <a:spcPct val="100000"/>
              </a:lnSpc>
              <a:spcBef>
                <a:spcPts val="10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milliseconds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accuracy.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45"/>
              </a:spcBef>
              <a:buAutoNum type="arabicPeriod" startAt="4"/>
              <a:tabLst>
                <a:tab pos="165100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Supportability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spcBef>
                <a:spcPts val="133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Built-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error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handling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recovery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options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assist users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issues.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Help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resources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like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FAQs,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tutorials,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live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support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should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available.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45"/>
              </a:spcBef>
              <a:buAutoNum type="arabicPeriod" startAt="4"/>
              <a:tabLst>
                <a:tab pos="165100" algn="l"/>
              </a:tabLst>
            </a:pPr>
            <a:r>
              <a:rPr sz="1200" b="1" dirty="0">
                <a:latin typeface="Times New Roman"/>
                <a:cs typeface="Times New Roman"/>
              </a:rPr>
              <a:t>Design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Constraints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spcBef>
                <a:spcPts val="134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comply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relevant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legal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financial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regulations.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should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scalable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modular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future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upgrades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without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major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redesign.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35"/>
              </a:spcBef>
              <a:buAutoNum type="arabicPeriod" startAt="4"/>
              <a:tabLst>
                <a:tab pos="165100" algn="l"/>
              </a:tabLst>
            </a:pPr>
            <a:r>
              <a:rPr sz="1200" b="1" dirty="0">
                <a:latin typeface="Times New Roman"/>
                <a:cs typeface="Times New Roman"/>
              </a:rPr>
              <a:t>Licensing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Requirements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  <a:buFont typeface="Times New Roman"/>
              <a:buAutoNum type="arabicPeriod" startAt="4"/>
            </a:pPr>
            <a:endParaRPr sz="1200">
              <a:latin typeface="Times New Roman"/>
              <a:cs typeface="Times New Roman"/>
            </a:endParaRPr>
          </a:p>
          <a:p>
            <a:pPr marL="469265" marR="5080" lvl="1" indent="-228600">
              <a:lnSpc>
                <a:spcPts val="1380"/>
              </a:lnSpc>
              <a:spcBef>
                <a:spcPts val="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third-</a:t>
            </a:r>
            <a:r>
              <a:rPr sz="1200" dirty="0">
                <a:latin typeface="Times New Roman"/>
                <a:cs typeface="Times New Roman"/>
              </a:rPr>
              <a:t>party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tools,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APIs,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cloud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services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have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licenses,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properly </a:t>
            </a:r>
            <a:r>
              <a:rPr sz="1200" dirty="0">
                <a:latin typeface="Times New Roman"/>
                <a:cs typeface="Times New Roman"/>
              </a:rPr>
              <a:t>documented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maintained.</a:t>
            </a:r>
            <a:endParaRPr sz="1200">
              <a:latin typeface="Times New Roman"/>
              <a:cs typeface="Times New Roman"/>
            </a:endParaRPr>
          </a:p>
          <a:p>
            <a:pPr marL="165100" indent="-152400">
              <a:lnSpc>
                <a:spcPct val="100000"/>
              </a:lnSpc>
              <a:spcBef>
                <a:spcPts val="1305"/>
              </a:spcBef>
              <a:buAutoNum type="arabicPeriod" startAt="4"/>
              <a:tabLst>
                <a:tab pos="165100" algn="l"/>
              </a:tabLst>
            </a:pPr>
            <a:r>
              <a:rPr sz="1200" b="1" dirty="0">
                <a:latin typeface="Times New Roman"/>
                <a:cs typeface="Times New Roman"/>
              </a:rPr>
              <a:t>Data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Privacy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Security</a:t>
            </a:r>
            <a:endParaRPr sz="1200">
              <a:latin typeface="Times New Roman"/>
              <a:cs typeface="Times New Roman"/>
            </a:endParaRPr>
          </a:p>
          <a:p>
            <a:pPr marL="469265" lvl="1" indent="-228600">
              <a:lnSpc>
                <a:spcPts val="1410"/>
              </a:lnSpc>
              <a:spcBef>
                <a:spcPts val="13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encrypted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(AES-</a:t>
            </a:r>
            <a:r>
              <a:rPr sz="1200" dirty="0">
                <a:latin typeface="Times New Roman"/>
                <a:cs typeface="Times New Roman"/>
              </a:rPr>
              <a:t>256)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both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transit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rest.</a:t>
            </a:r>
            <a:endParaRPr sz="1200">
              <a:latin typeface="Times New Roman"/>
              <a:cs typeface="Times New Roman"/>
            </a:endParaRPr>
          </a:p>
          <a:p>
            <a:pPr marL="469265" marR="8255" lvl="1" indent="-228600">
              <a:lnSpc>
                <a:spcPts val="1380"/>
              </a:lnSpc>
              <a:spcBef>
                <a:spcPts val="6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Role-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Control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(RBAC)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must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implemented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prevent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unauthorized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sensitive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information.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8255">
              <a:lnSpc>
                <a:spcPts val="138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essential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 building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secure,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stable,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legally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compliant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delivers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long-</a:t>
            </a:r>
            <a:r>
              <a:rPr sz="1200" dirty="0">
                <a:latin typeface="Times New Roman"/>
                <a:cs typeface="Times New Roman"/>
              </a:rPr>
              <a:t>term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value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trust.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5828157"/>
            <a:ext cx="5695950" cy="27844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lvl="1" indent="-228600">
              <a:lnSpc>
                <a:spcPct val="100000"/>
              </a:lnSpc>
              <a:spcBef>
                <a:spcPts val="100"/>
              </a:spcBef>
              <a:buAutoNum type="arabicPeriod" startAt="3"/>
              <a:tabLst>
                <a:tab pos="241300" algn="l"/>
              </a:tabLst>
            </a:pPr>
            <a:r>
              <a:rPr sz="1200" b="1" dirty="0">
                <a:latin typeface="Times New Roman"/>
                <a:cs typeface="Times New Roman"/>
              </a:rPr>
              <a:t>Use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Case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Model</a:t>
            </a:r>
            <a:endParaRPr sz="120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buFont typeface="Times New Roman"/>
              <a:buAutoNum type="arabicPeriod" startAt="3"/>
            </a:pPr>
            <a:endParaRPr sz="120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spcBef>
                <a:spcPts val="45"/>
              </a:spcBef>
              <a:buFont typeface="Times New Roman"/>
              <a:buAutoNum type="arabicPeriod" startAt="3"/>
            </a:pPr>
            <a:endParaRPr sz="1200">
              <a:latin typeface="Times New Roman"/>
              <a:cs typeface="Times New Roman"/>
            </a:endParaRPr>
          </a:p>
          <a:p>
            <a:pPr marL="12700" marR="11430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outlines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how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(actors)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system's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functionalities.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It </a:t>
            </a:r>
            <a:r>
              <a:rPr sz="1200" spc="-10" dirty="0">
                <a:latin typeface="Times New Roman"/>
                <a:cs typeface="Times New Roman"/>
              </a:rPr>
              <a:t>includes: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spcBef>
                <a:spcPts val="130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description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actors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(e.g.,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admin)</a:t>
            </a:r>
            <a:endParaRPr sz="1200">
              <a:latin typeface="Times New Roman"/>
              <a:cs typeface="Times New Roman"/>
            </a:endParaRPr>
          </a:p>
          <a:p>
            <a:pPr marL="469265" marR="5080" indent="-228600">
              <a:lnSpc>
                <a:spcPts val="1380"/>
              </a:lnSpc>
              <a:spcBef>
                <a:spcPts val="6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detailed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description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each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such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login,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placement,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10" dirty="0">
                <a:latin typeface="Times New Roman"/>
                <a:cs typeface="Times New Roman"/>
              </a:rPr>
              <a:t> listing,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feedback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submission.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35"/>
              </a:spcBef>
            </a:pPr>
            <a:endParaRPr sz="1200">
              <a:latin typeface="Times New Roman"/>
              <a:cs typeface="Times New Roman"/>
            </a:endParaRPr>
          </a:p>
          <a:p>
            <a:pPr marL="355600" lvl="2" indent="-342900">
              <a:lnSpc>
                <a:spcPct val="100000"/>
              </a:lnSpc>
              <a:buAutoNum type="arabicPeriod"/>
              <a:tabLst>
                <a:tab pos="355600" algn="l"/>
              </a:tabLst>
            </a:pPr>
            <a:r>
              <a:rPr sz="1200" dirty="0">
                <a:solidFill>
                  <a:srgbClr val="233E5F"/>
                </a:solidFill>
                <a:latin typeface="Times New Roman"/>
                <a:cs typeface="Times New Roman"/>
              </a:rPr>
              <a:t>Use</a:t>
            </a:r>
            <a:r>
              <a:rPr sz="1200" spc="-25" dirty="0">
                <a:solidFill>
                  <a:srgbClr val="233E5F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3E5F"/>
                </a:solidFill>
                <a:latin typeface="Times New Roman"/>
                <a:cs typeface="Times New Roman"/>
              </a:rPr>
              <a:t>Case</a:t>
            </a:r>
            <a:r>
              <a:rPr sz="1200" spc="-15" dirty="0">
                <a:solidFill>
                  <a:srgbClr val="233E5F"/>
                </a:solidFill>
                <a:latin typeface="Times New Roman"/>
                <a:cs typeface="Times New Roman"/>
              </a:rPr>
              <a:t> </a:t>
            </a:r>
            <a:r>
              <a:rPr sz="1200" spc="-10" dirty="0">
                <a:solidFill>
                  <a:srgbClr val="233E5F"/>
                </a:solidFill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4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Use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Case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Diagram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shows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different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actors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(users)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interactions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324" y="6071996"/>
            <a:ext cx="5696585" cy="24047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365F91"/>
                </a:solidFill>
                <a:latin typeface="Times New Roman"/>
                <a:cs typeface="Times New Roman"/>
              </a:rPr>
              <a:t>Diagram</a:t>
            </a:r>
            <a:r>
              <a:rPr sz="1200" spc="-60" dirty="0">
                <a:solidFill>
                  <a:srgbClr val="365F91"/>
                </a:solidFill>
                <a:latin typeface="Times New Roman"/>
                <a:cs typeface="Times New Roman"/>
              </a:rPr>
              <a:t> </a:t>
            </a:r>
            <a:r>
              <a:rPr sz="1200" spc="-10" dirty="0">
                <a:solidFill>
                  <a:srgbClr val="365F91"/>
                </a:solidFill>
                <a:latin typeface="Times New Roman"/>
                <a:cs typeface="Times New Roman"/>
              </a:rPr>
              <a:t>Explanation: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Actors: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Represent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different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(Buyers,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Admin).</a:t>
            </a:r>
            <a:endParaRPr sz="1200">
              <a:latin typeface="Times New Roman"/>
              <a:cs typeface="Times New Roman"/>
            </a:endParaRPr>
          </a:p>
          <a:p>
            <a:pPr marL="469265" marR="5080" indent="-228600">
              <a:lnSpc>
                <a:spcPct val="1433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Use</a:t>
            </a:r>
            <a:r>
              <a:rPr sz="1200" b="1" spc="4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Cases:</a:t>
            </a:r>
            <a:r>
              <a:rPr sz="1200" b="1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Represent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functionalities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like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Registration,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Listing,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 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Verification,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Notifications,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Payment,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Bidder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Reallocation.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64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Relationships:</a:t>
            </a:r>
            <a:endParaRPr sz="1200">
              <a:latin typeface="Times New Roman"/>
              <a:cs typeface="Times New Roman"/>
            </a:endParaRPr>
          </a:p>
          <a:p>
            <a:pPr marL="926465" lvl="1" indent="-228600">
              <a:lnSpc>
                <a:spcPct val="100000"/>
              </a:lnSpc>
              <a:spcBef>
                <a:spcPts val="620"/>
              </a:spcBef>
              <a:buSzPct val="83333"/>
              <a:buFont typeface="Courier New"/>
              <a:buChar char="o"/>
              <a:tabLst>
                <a:tab pos="926465" algn="l"/>
              </a:tabLst>
            </a:pPr>
            <a:r>
              <a:rPr sz="1200" b="1" dirty="0">
                <a:latin typeface="Times New Roman"/>
                <a:cs typeface="Times New Roman"/>
              </a:rPr>
              <a:t>Direct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interaction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(solid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lines)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between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functionalities.</a:t>
            </a:r>
            <a:endParaRPr sz="1200">
              <a:latin typeface="Times New Roman"/>
              <a:cs typeface="Times New Roman"/>
            </a:endParaRPr>
          </a:p>
          <a:p>
            <a:pPr marL="926465" lvl="1" indent="-228600">
              <a:lnSpc>
                <a:spcPct val="100000"/>
              </a:lnSpc>
              <a:spcBef>
                <a:spcPts val="640"/>
              </a:spcBef>
              <a:buSzPct val="83333"/>
              <a:buFont typeface="Courier New"/>
              <a:buChar char="o"/>
              <a:tabLst>
                <a:tab pos="926465" algn="l"/>
              </a:tabLst>
            </a:pPr>
            <a:r>
              <a:rPr sz="1200" b="1" dirty="0">
                <a:latin typeface="Times New Roman"/>
                <a:cs typeface="Times New Roman"/>
              </a:rPr>
              <a:t>System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actions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(dashed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lines)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where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processes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automatically.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4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solidFill>
                  <a:srgbClr val="233E5F"/>
                </a:solidFill>
                <a:latin typeface="Times New Roman"/>
                <a:cs typeface="Times New Roman"/>
              </a:rPr>
              <a:t>3.3.2</a:t>
            </a:r>
            <a:r>
              <a:rPr sz="1200" spc="-15" dirty="0">
                <a:solidFill>
                  <a:srgbClr val="233E5F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3E5F"/>
                </a:solidFill>
                <a:latin typeface="Times New Roman"/>
                <a:cs typeface="Times New Roman"/>
              </a:rPr>
              <a:t>Actors</a:t>
            </a:r>
            <a:r>
              <a:rPr sz="1200" spc="-10" dirty="0">
                <a:solidFill>
                  <a:srgbClr val="233E5F"/>
                </a:solidFill>
                <a:latin typeface="Times New Roman"/>
                <a:cs typeface="Times New Roman"/>
              </a:rPr>
              <a:t> Description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914400"/>
            <a:ext cx="5669280" cy="4905375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18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19</a:t>
            </a:r>
          </a:p>
        </p:txBody>
      </p:sp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1189024" y="914399"/>
          <a:ext cx="4227194" cy="19589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867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97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073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marL="67945">
                        <a:lnSpc>
                          <a:spcPts val="133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Actor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ts val="1330"/>
                        </a:lnSpc>
                      </a:pPr>
                      <a:r>
                        <a:rPr sz="1200" b="1" spc="-20" dirty="0">
                          <a:latin typeface="Times New Roman"/>
                          <a:cs typeface="Times New Roman"/>
                        </a:rPr>
                        <a:t>Role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>
                        <a:lnSpc>
                          <a:spcPts val="133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Responsibilities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6755">
                <a:tc>
                  <a:txBody>
                    <a:bodyPr/>
                    <a:lstStyle/>
                    <a:p>
                      <a:pPr marL="67945">
                        <a:lnSpc>
                          <a:spcPts val="138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Buyer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ts val="138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Participates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in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auctions.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289560" indent="-221615">
                        <a:lnSpc>
                          <a:spcPts val="1350"/>
                        </a:lnSpc>
                        <a:buChar char="-"/>
                        <a:tabLst>
                          <a:tab pos="289560" algn="l"/>
                          <a:tab pos="1000760" algn="l"/>
                          <a:tab pos="1348105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Searches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for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properties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233679" indent="-165735">
                        <a:lnSpc>
                          <a:spcPts val="1380"/>
                        </a:lnSpc>
                        <a:buChar char="-"/>
                        <a:tabLst>
                          <a:tab pos="233679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Places</a:t>
                      </a:r>
                      <a:r>
                        <a:rPr sz="1200" spc="14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bids</a:t>
                      </a:r>
                      <a:r>
                        <a:rPr sz="1200" spc="14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in</a:t>
                      </a:r>
                      <a:r>
                        <a:rPr sz="1200" spc="14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real</a:t>
                      </a:r>
                      <a:r>
                        <a:rPr sz="1200" spc="15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time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384175" indent="-316230">
                        <a:lnSpc>
                          <a:spcPts val="1380"/>
                        </a:lnSpc>
                        <a:buChar char="-"/>
                        <a:tabLst>
                          <a:tab pos="384175" algn="l"/>
                          <a:tab pos="1197610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Receives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notifications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55575" indent="-87630">
                        <a:lnSpc>
                          <a:spcPts val="1360"/>
                        </a:lnSpc>
                        <a:buChar char="-"/>
                        <a:tabLst>
                          <a:tab pos="15557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Completes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payments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1495">
                <a:tc>
                  <a:txBody>
                    <a:bodyPr/>
                    <a:lstStyle/>
                    <a:p>
                      <a:pPr marL="67945">
                        <a:lnSpc>
                          <a:spcPts val="138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Seller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ts val="138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Lists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properties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for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sale.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20040" indent="-252095">
                        <a:lnSpc>
                          <a:spcPts val="1350"/>
                        </a:lnSpc>
                        <a:buChar char="-"/>
                        <a:tabLst>
                          <a:tab pos="320040" algn="l"/>
                          <a:tab pos="842644" algn="l"/>
                          <a:tab pos="1561465" algn="l"/>
                        </a:tabLst>
                      </a:pP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Adds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property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details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506095" indent="-438150">
                        <a:lnSpc>
                          <a:spcPts val="1380"/>
                        </a:lnSpc>
                        <a:buChar char="-"/>
                        <a:tabLst>
                          <a:tab pos="506095" algn="l"/>
                          <a:tab pos="1452245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Monitors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auctions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55575" indent="-87630">
                        <a:lnSpc>
                          <a:spcPts val="1360"/>
                        </a:lnSpc>
                        <a:buChar char="-"/>
                        <a:tabLst>
                          <a:tab pos="15557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Manages</a:t>
                      </a:r>
                      <a:r>
                        <a:rPr sz="12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listings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2765">
                <a:tc>
                  <a:txBody>
                    <a:bodyPr/>
                    <a:lstStyle/>
                    <a:p>
                      <a:pPr marL="67945">
                        <a:lnSpc>
                          <a:spcPts val="139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Admin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ts val="139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Manages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system.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96240" indent="-328295">
                        <a:lnSpc>
                          <a:spcPts val="1360"/>
                        </a:lnSpc>
                        <a:buChar char="-"/>
                        <a:tabLst>
                          <a:tab pos="396240" algn="l"/>
                          <a:tab pos="1231265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Oversees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transactions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55575" indent="-87630">
                        <a:lnSpc>
                          <a:spcPts val="1380"/>
                        </a:lnSpc>
                        <a:buChar char="-"/>
                        <a:tabLst>
                          <a:tab pos="15557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Verifies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property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authenticity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155575" indent="-87630">
                        <a:lnSpc>
                          <a:spcPts val="1360"/>
                        </a:lnSpc>
                        <a:buChar char="-"/>
                        <a:tabLst>
                          <a:tab pos="15557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Handles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disputes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" name="object 3"/>
          <p:cNvSpPr txBox="1"/>
          <p:nvPr/>
        </p:nvSpPr>
        <p:spPr>
          <a:xfrm>
            <a:off x="1176324" y="3189858"/>
            <a:ext cx="4466590" cy="650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233E5F"/>
                </a:solidFill>
                <a:latin typeface="Times New Roman"/>
                <a:cs typeface="Times New Roman"/>
              </a:rPr>
              <a:t>3.3.3</a:t>
            </a:r>
            <a:r>
              <a:rPr sz="1200" spc="-10" dirty="0">
                <a:solidFill>
                  <a:srgbClr val="233E5F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3E5F"/>
                </a:solidFill>
                <a:latin typeface="Times New Roman"/>
                <a:cs typeface="Times New Roman"/>
              </a:rPr>
              <a:t>Use</a:t>
            </a:r>
            <a:r>
              <a:rPr sz="1200" spc="-15" dirty="0">
                <a:solidFill>
                  <a:srgbClr val="233E5F"/>
                </a:solidFill>
                <a:latin typeface="Times New Roman"/>
                <a:cs typeface="Times New Roman"/>
              </a:rPr>
              <a:t> </a:t>
            </a:r>
            <a:r>
              <a:rPr sz="1200" dirty="0">
                <a:solidFill>
                  <a:srgbClr val="233E5F"/>
                </a:solidFill>
                <a:latin typeface="Times New Roman"/>
                <a:cs typeface="Times New Roman"/>
              </a:rPr>
              <a:t>Case</a:t>
            </a:r>
            <a:r>
              <a:rPr sz="1200" spc="-15" dirty="0">
                <a:solidFill>
                  <a:srgbClr val="233E5F"/>
                </a:solidFill>
                <a:latin typeface="Times New Roman"/>
                <a:cs typeface="Times New Roman"/>
              </a:rPr>
              <a:t> </a:t>
            </a:r>
            <a:r>
              <a:rPr sz="1200" spc="-10" dirty="0">
                <a:solidFill>
                  <a:srgbClr val="233E5F"/>
                </a:solidFill>
                <a:latin typeface="Times New Roman"/>
                <a:cs typeface="Times New Roman"/>
              </a:rPr>
              <a:t>Description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Each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use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case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represents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between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actor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system.</a:t>
            </a:r>
            <a:endParaRPr sz="1200">
              <a:latin typeface="Times New Roman"/>
              <a:cs typeface="Times New Roman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1189024" y="4095622"/>
          <a:ext cx="5662928" cy="49815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547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67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3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56235">
                <a:tc>
                  <a:txBody>
                    <a:bodyPr/>
                    <a:lstStyle/>
                    <a:p>
                      <a:pPr marL="67945" marR="61594">
                        <a:lnSpc>
                          <a:spcPts val="1380"/>
                        </a:lnSpc>
                        <a:tabLst>
                          <a:tab pos="671830" algn="l"/>
                        </a:tabLst>
                      </a:pPr>
                      <a:r>
                        <a:rPr sz="1200" b="1" spc="-25" dirty="0">
                          <a:latin typeface="Times New Roman"/>
                          <a:cs typeface="Times New Roman"/>
                        </a:rPr>
                        <a:t>Use</a:t>
                      </a:r>
                      <a:r>
                        <a:rPr sz="1200" b="1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b="1" spc="-20" dirty="0">
                          <a:latin typeface="Times New Roman"/>
                          <a:cs typeface="Times New Roman"/>
                        </a:rPr>
                        <a:t>Case Name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ts val="138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Actors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6675">
                        <a:lnSpc>
                          <a:spcPts val="138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Preconditions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>
                        <a:lnSpc>
                          <a:spcPts val="1380"/>
                        </a:lnSpc>
                      </a:pPr>
                      <a:r>
                        <a:rPr sz="1200" b="1" dirty="0">
                          <a:latin typeface="Times New Roman"/>
                          <a:cs typeface="Times New Roman"/>
                        </a:rPr>
                        <a:t>Flow</a:t>
                      </a:r>
                      <a:r>
                        <a:rPr sz="1200" b="1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b="1" dirty="0">
                          <a:latin typeface="Times New Roman"/>
                          <a:cs typeface="Times New Roman"/>
                        </a:rPr>
                        <a:t>of</a:t>
                      </a:r>
                      <a:r>
                        <a:rPr sz="1200" b="1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Events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ts val="138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Postconditions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2650">
                <a:tc>
                  <a:txBody>
                    <a:bodyPr/>
                    <a:lstStyle/>
                    <a:p>
                      <a:pPr marL="67945" marR="175895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b="1" spc="-20" dirty="0">
                          <a:latin typeface="Times New Roman"/>
                          <a:cs typeface="Times New Roman"/>
                        </a:rPr>
                        <a:t>User </a:t>
                      </a: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Registration </a:t>
                      </a:r>
                      <a:r>
                        <a:rPr sz="1200" b="1" dirty="0">
                          <a:latin typeface="Times New Roman"/>
                          <a:cs typeface="Times New Roman"/>
                        </a:rPr>
                        <a:t>&amp;</a:t>
                      </a:r>
                      <a:r>
                        <a:rPr sz="1200" b="1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Login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marR="207010" algn="just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Buyer, Seller, Admin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6675" marR="62865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User</a:t>
                      </a:r>
                      <a:r>
                        <a:rPr sz="12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must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have</a:t>
                      </a:r>
                      <a:r>
                        <a:rPr sz="12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valid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email/credentials.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0960" indent="303530">
                        <a:lnSpc>
                          <a:spcPts val="1380"/>
                        </a:lnSpc>
                        <a:spcBef>
                          <a:spcPts val="35"/>
                        </a:spcBef>
                        <a:buAutoNum type="arabicPeriod"/>
                        <a:tabLst>
                          <a:tab pos="371475" algn="l"/>
                          <a:tab pos="846455" algn="l"/>
                        </a:tabLst>
                      </a:pP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User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enters details.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945" marR="59690" indent="176530">
                        <a:lnSpc>
                          <a:spcPts val="1380"/>
                        </a:lnSpc>
                        <a:buAutoNum type="arabicPeriod"/>
                        <a:tabLst>
                          <a:tab pos="24447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System</a:t>
                      </a:r>
                      <a:r>
                        <a:rPr sz="1200" spc="1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verifies credentials.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220345" indent="-152400">
                        <a:lnSpc>
                          <a:spcPts val="1295"/>
                        </a:lnSpc>
                        <a:buAutoNum type="arabicPeriod"/>
                        <a:tabLst>
                          <a:tab pos="22034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User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logs</a:t>
                      </a:r>
                      <a:r>
                        <a:rPr sz="12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in.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marR="63500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User</a:t>
                      </a:r>
                      <a:r>
                        <a:rPr sz="1200" spc="38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can</a:t>
                      </a:r>
                      <a:r>
                        <a:rPr sz="1200" spc="39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access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system.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2015">
                <a:tc>
                  <a:txBody>
                    <a:bodyPr/>
                    <a:lstStyle/>
                    <a:p>
                      <a:pPr marL="67945" marR="396240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Property Listing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ts val="1380"/>
                        </a:lnSpc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Seller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6675" marR="62865">
                        <a:lnSpc>
                          <a:spcPts val="1380"/>
                        </a:lnSpc>
                        <a:spcBef>
                          <a:spcPts val="35"/>
                        </a:spcBef>
                        <a:tabLst>
                          <a:tab pos="663575" algn="l"/>
                          <a:tab pos="1202690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Seller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must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be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logged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in.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0325" indent="214629" algn="just">
                        <a:lnSpc>
                          <a:spcPts val="1380"/>
                        </a:lnSpc>
                        <a:spcBef>
                          <a:spcPts val="35"/>
                        </a:spcBef>
                        <a:buAutoNum type="arabicPeriod"/>
                        <a:tabLst>
                          <a:tab pos="28257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Seller</a:t>
                      </a:r>
                      <a:r>
                        <a:rPr sz="1200" spc="4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uploads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property</a:t>
                      </a:r>
                      <a:r>
                        <a:rPr sz="1200" spc="42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details.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945" marR="59690" indent="176530" algn="just">
                        <a:lnSpc>
                          <a:spcPts val="1380"/>
                        </a:lnSpc>
                        <a:buAutoNum type="arabicPeriod"/>
                        <a:tabLst>
                          <a:tab pos="24447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System</a:t>
                      </a:r>
                      <a:r>
                        <a:rPr sz="1200" spc="1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verifies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sz="1200" spc="49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saves</a:t>
                      </a:r>
                      <a:r>
                        <a:rPr sz="1200" spc="49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the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listing.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marR="61594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Property</a:t>
                      </a:r>
                      <a:r>
                        <a:rPr sz="1200" spc="1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is</a:t>
                      </a:r>
                      <a:r>
                        <a:rPr sz="1200" spc="1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listed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for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auction.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57275">
                <a:tc>
                  <a:txBody>
                    <a:bodyPr/>
                    <a:lstStyle/>
                    <a:p>
                      <a:pPr marL="67945" marR="293370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Real-</a:t>
                      </a:r>
                      <a:r>
                        <a:rPr sz="1200" b="1" spc="-20" dirty="0">
                          <a:latin typeface="Times New Roman"/>
                          <a:cs typeface="Times New Roman"/>
                        </a:rPr>
                        <a:t>Time </a:t>
                      </a: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Bidding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marR="181610" algn="just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Buyer, Seller, System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6675" marR="62230" algn="just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User</a:t>
                      </a:r>
                      <a:r>
                        <a:rPr sz="1200" spc="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must</a:t>
                      </a:r>
                      <a:r>
                        <a:rPr sz="1200" spc="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be</a:t>
                      </a:r>
                      <a:r>
                        <a:rPr sz="1200" spc="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logged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in,</a:t>
                      </a:r>
                      <a:r>
                        <a:rPr sz="1200" spc="9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and</a:t>
                      </a:r>
                      <a:r>
                        <a:rPr sz="1200" spc="9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auction</a:t>
                      </a:r>
                      <a:r>
                        <a:rPr sz="1200" spc="9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must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be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active.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0960" indent="184150">
                        <a:lnSpc>
                          <a:spcPts val="1380"/>
                        </a:lnSpc>
                        <a:spcBef>
                          <a:spcPts val="35"/>
                        </a:spcBef>
                        <a:buAutoNum type="arabicPeriod"/>
                        <a:tabLst>
                          <a:tab pos="25209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Buyer</a:t>
                      </a:r>
                      <a:r>
                        <a:rPr sz="1200" spc="2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places</a:t>
                      </a:r>
                      <a:r>
                        <a:rPr sz="1200" spc="2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a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bid.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945" marR="60960" indent="188595">
                        <a:lnSpc>
                          <a:spcPts val="1380"/>
                        </a:lnSpc>
                        <a:buAutoNum type="arabicPeriod"/>
                        <a:tabLst>
                          <a:tab pos="256540" algn="l"/>
                          <a:tab pos="901700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Bid</a:t>
                      </a:r>
                      <a:r>
                        <a:rPr sz="1200" spc="254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updates</a:t>
                      </a:r>
                      <a:r>
                        <a:rPr sz="1200" spc="2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in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real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time.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945" marR="60325" indent="200660">
                        <a:lnSpc>
                          <a:spcPts val="1380"/>
                        </a:lnSpc>
                        <a:buAutoNum type="arabicPeriod"/>
                        <a:tabLst>
                          <a:tab pos="26860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Highest</a:t>
                      </a:r>
                      <a:r>
                        <a:rPr sz="1200" spc="3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bid</a:t>
                      </a:r>
                      <a:r>
                        <a:rPr sz="1200" spc="3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is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displayed.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marR="62865" algn="just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Auction</a:t>
                      </a:r>
                      <a:r>
                        <a:rPr sz="1200" spc="10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updates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with</a:t>
                      </a:r>
                      <a:r>
                        <a:rPr sz="1200" spc="25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1200" spc="25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latest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bid.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57910">
                <a:tc>
                  <a:txBody>
                    <a:bodyPr/>
                    <a:lstStyle/>
                    <a:p>
                      <a:pPr marL="67945">
                        <a:lnSpc>
                          <a:spcPts val="1355"/>
                        </a:lnSpc>
                      </a:pPr>
                      <a:r>
                        <a:rPr sz="1200" b="1" spc="-25" dirty="0">
                          <a:latin typeface="Times New Roman"/>
                          <a:cs typeface="Times New Roman"/>
                        </a:rPr>
                        <a:t>AI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945">
                        <a:lnSpc>
                          <a:spcPts val="141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Verification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>
                        <a:lnSpc>
                          <a:spcPts val="1385"/>
                        </a:lnSpc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System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6675" marR="62865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Property</a:t>
                      </a:r>
                      <a:r>
                        <a:rPr sz="1200" spc="40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documents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must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be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uploaded.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1594" indent="238760">
                        <a:lnSpc>
                          <a:spcPts val="1380"/>
                        </a:lnSpc>
                        <a:spcBef>
                          <a:spcPts val="35"/>
                        </a:spcBef>
                        <a:buAutoNum type="arabicPeriod"/>
                        <a:tabLst>
                          <a:tab pos="30670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System</a:t>
                      </a:r>
                      <a:r>
                        <a:rPr sz="1200" spc="17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scans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documents.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945" marR="62230" indent="205104">
                        <a:lnSpc>
                          <a:spcPts val="1380"/>
                        </a:lnSpc>
                        <a:buAutoNum type="arabicPeriod"/>
                        <a:tabLst>
                          <a:tab pos="273050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AI</a:t>
                      </a:r>
                      <a:r>
                        <a:rPr sz="1200" spc="4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checks</a:t>
                      </a:r>
                      <a:r>
                        <a:rPr sz="1200" spc="40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for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fraud.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945" marR="60325" indent="391795">
                        <a:lnSpc>
                          <a:spcPts val="1380"/>
                        </a:lnSpc>
                        <a:buAutoNum type="arabicPeriod"/>
                        <a:tabLst>
                          <a:tab pos="459740" algn="l"/>
                          <a:tab pos="1109980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Status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is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updated.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marR="63500">
                        <a:lnSpc>
                          <a:spcPts val="1380"/>
                        </a:lnSpc>
                        <a:spcBef>
                          <a:spcPts val="35"/>
                        </a:spcBef>
                        <a:tabLst>
                          <a:tab pos="1030605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Property verification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is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completed.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06755">
                <a:tc>
                  <a:txBody>
                    <a:bodyPr/>
                    <a:lstStyle/>
                    <a:p>
                      <a:pPr marL="67945" marR="149860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Notifications </a:t>
                      </a:r>
                      <a:r>
                        <a:rPr sz="1200" b="1" dirty="0">
                          <a:latin typeface="Times New Roman"/>
                          <a:cs typeface="Times New Roman"/>
                        </a:rPr>
                        <a:t>&amp;</a:t>
                      </a:r>
                      <a:r>
                        <a:rPr sz="1200" b="1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Alerts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marR="220345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Buyer, Seller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6675" marR="62865" algn="just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User</a:t>
                      </a:r>
                      <a:r>
                        <a:rPr sz="1200" spc="41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must</a:t>
                      </a:r>
                      <a:r>
                        <a:rPr sz="1200" spc="420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be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subscribed</a:t>
                      </a:r>
                      <a:r>
                        <a:rPr sz="1200" spc="40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to</a:t>
                      </a:r>
                      <a:r>
                        <a:rPr sz="1200" spc="409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an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auction.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0325" indent="193040" algn="just">
                        <a:lnSpc>
                          <a:spcPts val="1380"/>
                        </a:lnSpc>
                        <a:spcBef>
                          <a:spcPts val="35"/>
                        </a:spcBef>
                        <a:buAutoNum type="arabicPeriod"/>
                        <a:tabLst>
                          <a:tab pos="26098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System</a:t>
                      </a:r>
                      <a:r>
                        <a:rPr sz="1200" spc="29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detects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an</a:t>
                      </a:r>
                      <a:r>
                        <a:rPr sz="1200" spc="24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event</a:t>
                      </a:r>
                      <a:r>
                        <a:rPr sz="1200" spc="250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(bid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placed,</a:t>
                      </a:r>
                      <a:r>
                        <a:rPr sz="1200" spc="36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auction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945" algn="just">
                        <a:lnSpc>
                          <a:spcPts val="1290"/>
                        </a:lnSpc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start,</a:t>
                      </a:r>
                      <a:r>
                        <a:rPr sz="1200" spc="315" dirty="0">
                          <a:latin typeface="Times New Roman"/>
                          <a:cs typeface="Times New Roman"/>
                        </a:rPr>
                        <a:t>  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payment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marR="62865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User</a:t>
                      </a:r>
                      <a:r>
                        <a:rPr sz="1200" spc="2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receives</a:t>
                      </a:r>
                      <a:r>
                        <a:rPr sz="1200" spc="204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an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update.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20</a:t>
            </a:r>
          </a:p>
        </p:txBody>
      </p:sp>
      <p:graphicFrame>
        <p:nvGraphicFramePr>
          <p:cNvPr id="2" name="object 2"/>
          <p:cNvGraphicFramePr>
            <a:graphicFrameLocks noGrp="1"/>
          </p:cNvGraphicFramePr>
          <p:nvPr/>
        </p:nvGraphicFramePr>
        <p:xfrm>
          <a:off x="1189024" y="914399"/>
          <a:ext cx="5662928" cy="23202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5473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67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5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03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3149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>
                        <a:lnSpc>
                          <a:spcPts val="1350"/>
                        </a:lnSpc>
                      </a:pP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due).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945" marR="60960">
                        <a:lnSpc>
                          <a:spcPts val="1380"/>
                        </a:lnSpc>
                        <a:tabLst>
                          <a:tab pos="481330" algn="l"/>
                          <a:tab pos="1143635" algn="l"/>
                        </a:tabLst>
                      </a:pP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2.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Sends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a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notification.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82015">
                <a:tc>
                  <a:txBody>
                    <a:bodyPr/>
                    <a:lstStyle/>
                    <a:p>
                      <a:pPr marL="67945" marR="285115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Payment Processing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marR="181610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Buyer, System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6675" marR="60960">
                        <a:lnSpc>
                          <a:spcPts val="1380"/>
                        </a:lnSpc>
                        <a:spcBef>
                          <a:spcPts val="35"/>
                        </a:spcBef>
                        <a:tabLst>
                          <a:tab pos="732155" algn="l"/>
                          <a:tab pos="1204595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Auction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must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be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completed.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1594" indent="174625">
                        <a:lnSpc>
                          <a:spcPts val="1380"/>
                        </a:lnSpc>
                        <a:spcBef>
                          <a:spcPts val="35"/>
                        </a:spcBef>
                        <a:buAutoNum type="arabicPeriod"/>
                        <a:tabLst>
                          <a:tab pos="242570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Buyer</a:t>
                      </a:r>
                      <a:r>
                        <a:rPr sz="1200" spc="1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selects</a:t>
                      </a:r>
                      <a:r>
                        <a:rPr sz="1200" spc="1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a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payment</a:t>
                      </a:r>
                      <a:r>
                        <a:rPr sz="1200" spc="160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method.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945" marR="61594" indent="311150">
                        <a:lnSpc>
                          <a:spcPts val="1380"/>
                        </a:lnSpc>
                        <a:buAutoNum type="arabicPeriod"/>
                        <a:tabLst>
                          <a:tab pos="379095" algn="l"/>
                          <a:tab pos="1109345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Payment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is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processed</a:t>
                      </a:r>
                      <a:r>
                        <a:rPr sz="1200" spc="5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securely.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marR="63500">
                        <a:lnSpc>
                          <a:spcPts val="1380"/>
                        </a:lnSpc>
                        <a:spcBef>
                          <a:spcPts val="35"/>
                        </a:spcBef>
                        <a:tabLst>
                          <a:tab pos="1031240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Transaction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is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completed.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83919">
                <a:tc>
                  <a:txBody>
                    <a:bodyPr/>
                    <a:lstStyle/>
                    <a:p>
                      <a:pPr marL="67945" marR="167005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Bidder Reallocation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marR="143510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System, Buyer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6675" marR="64135">
                        <a:lnSpc>
                          <a:spcPts val="1380"/>
                        </a:lnSpc>
                        <a:spcBef>
                          <a:spcPts val="35"/>
                        </a:spcBef>
                        <a:tabLst>
                          <a:tab pos="922655" algn="l"/>
                        </a:tabLst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Original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winner withdraws.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marR="60325" indent="200660" algn="just">
                        <a:lnSpc>
                          <a:spcPts val="1380"/>
                        </a:lnSpc>
                        <a:spcBef>
                          <a:spcPts val="35"/>
                        </a:spcBef>
                        <a:buAutoNum type="arabicPeriod"/>
                        <a:tabLst>
                          <a:tab pos="26860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System</a:t>
                      </a:r>
                      <a:r>
                        <a:rPr sz="1200" spc="3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selects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1200" spc="18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next</a:t>
                      </a:r>
                      <a:r>
                        <a:rPr sz="1200" spc="195" dirty="0">
                          <a:latin typeface="Times New Roman"/>
                          <a:cs typeface="Times New Roman"/>
                        </a:rPr>
                        <a:t> 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highest bidder.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  <a:p>
                      <a:pPr marL="67945" marR="60960" indent="412750" algn="just">
                        <a:lnSpc>
                          <a:spcPts val="1380"/>
                        </a:lnSpc>
                        <a:buAutoNum type="arabicPeriod"/>
                        <a:tabLst>
                          <a:tab pos="480695" algn="l"/>
                        </a:tabLst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Sends</a:t>
                      </a:r>
                      <a:r>
                        <a:rPr sz="1200" spc="475" dirty="0">
                          <a:latin typeface="Times New Roman"/>
                          <a:cs typeface="Times New Roman"/>
                        </a:rPr>
                        <a:t>   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a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confirmation.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8580" marR="63500">
                        <a:lnSpc>
                          <a:spcPts val="1380"/>
                        </a:lnSpc>
                        <a:spcBef>
                          <a:spcPts val="3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The</a:t>
                      </a:r>
                      <a:r>
                        <a:rPr sz="1200" spc="49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property</a:t>
                      </a:r>
                      <a:r>
                        <a:rPr sz="1200" spc="49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is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reassigned.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4445" marB="0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21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1455165"/>
            <a:ext cx="5696585" cy="59531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latin typeface="Times New Roman"/>
                <a:cs typeface="Times New Roman"/>
              </a:rPr>
              <a:t>Chapter</a:t>
            </a:r>
            <a:r>
              <a:rPr sz="1600" b="1" spc="-6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4:</a:t>
            </a:r>
            <a:r>
              <a:rPr sz="1600" b="1" spc="-1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Design</a:t>
            </a:r>
            <a:r>
              <a:rPr sz="1600" b="1" spc="-25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and</a:t>
            </a:r>
            <a:r>
              <a:rPr sz="1600" b="1" spc="-90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Architecture</a:t>
            </a:r>
            <a:endParaRPr sz="16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675"/>
              </a:spcBef>
            </a:pPr>
            <a:endParaRPr sz="1600">
              <a:latin typeface="Times New Roman"/>
              <a:cs typeface="Times New Roman"/>
            </a:endParaRPr>
          </a:p>
          <a:p>
            <a:pPr marL="12700" marR="6350" algn="just">
              <a:lnSpc>
                <a:spcPct val="143700"/>
              </a:lnSpc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chapter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explores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architecture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"Auction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"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system, emphasizing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principles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decisions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vital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project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success.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outlines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significance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0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thoughtful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considerations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meeting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project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objectives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efficiently.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spc="-20" dirty="0">
                <a:latin typeface="Times New Roman"/>
                <a:cs typeface="Times New Roman"/>
              </a:rPr>
              <a:t>From </a:t>
            </a:r>
            <a:r>
              <a:rPr sz="1200" spc="-10" dirty="0">
                <a:latin typeface="Times New Roman"/>
                <a:cs typeface="Times New Roman"/>
              </a:rPr>
              <a:t>conceptualizing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structure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detailing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architectural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components,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serves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blueprint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translating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into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solution.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Providing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insights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into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project's </a:t>
            </a:r>
            <a:r>
              <a:rPr sz="1200" dirty="0">
                <a:latin typeface="Times New Roman"/>
                <a:cs typeface="Times New Roman"/>
              </a:rPr>
              <a:t>technical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foundation,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fosters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deeper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understanding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process.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6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  <a:tabLst>
                <a:tab pos="469265" algn="l"/>
              </a:tabLst>
            </a:pPr>
            <a:r>
              <a:rPr sz="1400" b="1" spc="-20" dirty="0">
                <a:latin typeface="Times New Roman"/>
                <a:cs typeface="Times New Roman"/>
              </a:rPr>
              <a:t>4.1.</a:t>
            </a:r>
            <a:r>
              <a:rPr sz="1400" b="1" dirty="0">
                <a:latin typeface="Times New Roman"/>
                <a:cs typeface="Times New Roman"/>
              </a:rPr>
              <a:t>	</a:t>
            </a:r>
            <a:r>
              <a:rPr sz="1200" b="1" dirty="0">
                <a:latin typeface="Times New Roman"/>
                <a:cs typeface="Times New Roman"/>
              </a:rPr>
              <a:t>System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Architecture</a:t>
            </a: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700"/>
              </a:lnSpc>
              <a:spcBef>
                <a:spcPts val="135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Abode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follows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three-</a:t>
            </a:r>
            <a:r>
              <a:rPr sz="1200" dirty="0">
                <a:latin typeface="Times New Roman"/>
                <a:cs typeface="Times New Roman"/>
              </a:rPr>
              <a:t>tier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architecture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consisting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front-</a:t>
            </a:r>
            <a:r>
              <a:rPr sz="1200" dirty="0">
                <a:latin typeface="Times New Roman"/>
                <a:cs typeface="Times New Roman"/>
              </a:rPr>
              <a:t>end,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back-</a:t>
            </a:r>
            <a:r>
              <a:rPr sz="1200" spc="-20" dirty="0">
                <a:latin typeface="Times New Roman"/>
                <a:cs typeface="Times New Roman"/>
              </a:rPr>
              <a:t>end,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database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layers,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scalability,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efficiency,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performance.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front- </a:t>
            </a:r>
            <a:r>
              <a:rPr sz="1200" dirty="0">
                <a:latin typeface="Times New Roman"/>
                <a:cs typeface="Times New Roman"/>
              </a:rPr>
              <a:t>end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(React.js)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interface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 a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responsive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design, allowing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 </a:t>
            </a:r>
            <a:r>
              <a:rPr sz="1200" spc="-10" dirty="0">
                <a:latin typeface="Times New Roman"/>
                <a:cs typeface="Times New Roman"/>
              </a:rPr>
              <a:t>browse </a:t>
            </a:r>
            <a:r>
              <a:rPr sz="1200" dirty="0">
                <a:latin typeface="Times New Roman"/>
                <a:cs typeface="Times New Roman"/>
              </a:rPr>
              <a:t>properties,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place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bids,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via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WebSocket’s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(Socket.io).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Redux </a:t>
            </a:r>
            <a:r>
              <a:rPr sz="1200" dirty="0">
                <a:latin typeface="Times New Roman"/>
                <a:cs typeface="Times New Roman"/>
              </a:rPr>
              <a:t>handles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state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management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smooth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flow.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back-</a:t>
            </a:r>
            <a:r>
              <a:rPr sz="1200" dirty="0">
                <a:latin typeface="Times New Roman"/>
                <a:cs typeface="Times New Roman"/>
              </a:rPr>
              <a:t>end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(Node.js,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Express.js)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acts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as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API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gateway,</a:t>
            </a:r>
            <a:r>
              <a:rPr sz="1200" spc="1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handling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authentication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(JWT),</a:t>
            </a:r>
            <a:r>
              <a:rPr sz="1200" spc="1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1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logic,</a:t>
            </a:r>
            <a:r>
              <a:rPr sz="1200" spc="1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AI-based</a:t>
            </a:r>
            <a:r>
              <a:rPr sz="1200" spc="120" dirty="0">
                <a:latin typeface="Times New Roman"/>
                <a:cs typeface="Times New Roman"/>
              </a:rPr>
              <a:t>  </a:t>
            </a:r>
            <a:r>
              <a:rPr sz="1200" spc="-10" dirty="0">
                <a:latin typeface="Times New Roman"/>
                <a:cs typeface="Times New Roman"/>
              </a:rPr>
              <a:t>property </a:t>
            </a:r>
            <a:r>
              <a:rPr sz="1200" dirty="0">
                <a:latin typeface="Times New Roman"/>
                <a:cs typeface="Times New Roman"/>
              </a:rPr>
              <a:t>verification,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payment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processing.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integrates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notification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service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 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alerts.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database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layer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(MongoDB)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stores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users,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properties,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bids,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transactions, </a:t>
            </a:r>
            <a:r>
              <a:rPr sz="1200" dirty="0">
                <a:latin typeface="Times New Roman"/>
                <a:cs typeface="Times New Roman"/>
              </a:rPr>
              <a:t>supporting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high-</a:t>
            </a:r>
            <a:r>
              <a:rPr sz="1200" dirty="0">
                <a:latin typeface="Times New Roman"/>
                <a:cs typeface="Times New Roman"/>
              </a:rPr>
              <a:t>speed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queries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management.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This </a:t>
            </a:r>
            <a:r>
              <a:rPr sz="1200" spc="-10" dirty="0">
                <a:latin typeface="Times New Roman"/>
                <a:cs typeface="Times New Roman"/>
              </a:rPr>
              <a:t>three-</a:t>
            </a:r>
            <a:r>
              <a:rPr sz="1200" dirty="0">
                <a:latin typeface="Times New Roman"/>
                <a:cs typeface="Times New Roman"/>
              </a:rPr>
              <a:t>tier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structure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secure,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scalable,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high-</a:t>
            </a:r>
            <a:r>
              <a:rPr sz="1200" dirty="0">
                <a:latin typeface="Times New Roman"/>
                <a:cs typeface="Times New Roman"/>
              </a:rPr>
              <a:t>performance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spc="-20" dirty="0">
                <a:latin typeface="Times New Roman"/>
                <a:cs typeface="Times New Roman"/>
              </a:rPr>
              <a:t>time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bidding.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080130" y="3462654"/>
            <a:ext cx="188722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4.1: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System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Architecture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4468495"/>
            <a:ext cx="5696585" cy="34658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5"/>
              </a:spcBef>
            </a:pPr>
            <a:r>
              <a:rPr sz="1400" b="1" dirty="0">
                <a:latin typeface="Times New Roman"/>
                <a:cs typeface="Times New Roman"/>
              </a:rPr>
              <a:t>4.2.</a:t>
            </a:r>
            <a:r>
              <a:rPr sz="1400" b="1" spc="375" dirty="0">
                <a:latin typeface="Times New Roman"/>
                <a:cs typeface="Times New Roman"/>
              </a:rPr>
              <a:t>  </a:t>
            </a:r>
            <a:r>
              <a:rPr sz="1200" b="1" dirty="0">
                <a:latin typeface="Times New Roman"/>
                <a:cs typeface="Times New Roman"/>
              </a:rPr>
              <a:t>System </a:t>
            </a:r>
            <a:r>
              <a:rPr sz="1200" b="1" spc="-10" dirty="0">
                <a:latin typeface="Times New Roman"/>
                <a:cs typeface="Times New Roman"/>
              </a:rPr>
              <a:t>Design</a:t>
            </a: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800"/>
              </a:lnSpc>
              <a:spcBef>
                <a:spcPts val="550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follows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modular,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scalable,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architecture,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ensuring seamless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interactions,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business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logic,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data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management.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interface,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built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with </a:t>
            </a:r>
            <a:r>
              <a:rPr sz="1200" dirty="0">
                <a:latin typeface="Times New Roman"/>
                <a:cs typeface="Times New Roman"/>
              </a:rPr>
              <a:t>React.js,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provides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responsive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interactive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experience,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allowing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browse </a:t>
            </a:r>
            <a:r>
              <a:rPr sz="1200" dirty="0">
                <a:latin typeface="Times New Roman"/>
                <a:cs typeface="Times New Roman"/>
              </a:rPr>
              <a:t>properties,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place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bids,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accounts.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State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management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Redux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ensures </a:t>
            </a:r>
            <a:r>
              <a:rPr sz="1200" dirty="0">
                <a:latin typeface="Times New Roman"/>
                <a:cs typeface="Times New Roman"/>
              </a:rPr>
              <a:t>smooth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handling,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while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WebSocket’s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(Socket.io)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enable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updates.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backend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API,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developed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Node.js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Express.js,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acts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gateway,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managing </a:t>
            </a:r>
            <a:r>
              <a:rPr sz="1200" dirty="0">
                <a:latin typeface="Times New Roman"/>
                <a:cs typeface="Times New Roman"/>
              </a:rPr>
              <a:t>authentication</a:t>
            </a:r>
            <a:r>
              <a:rPr sz="1200" spc="4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(JWT),</a:t>
            </a:r>
            <a:r>
              <a:rPr sz="1200" spc="10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10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logic,</a:t>
            </a:r>
            <a:r>
              <a:rPr sz="1200" spc="100" dirty="0">
                <a:latin typeface="Times New Roman"/>
                <a:cs typeface="Times New Roman"/>
              </a:rPr>
              <a:t> 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10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0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verification,</a:t>
            </a:r>
            <a:r>
              <a:rPr sz="1200" spc="10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00" dirty="0">
                <a:latin typeface="Times New Roman"/>
                <a:cs typeface="Times New Roman"/>
              </a:rPr>
              <a:t>  </a:t>
            </a:r>
            <a:r>
              <a:rPr sz="1200" spc="-10" dirty="0">
                <a:latin typeface="Times New Roman"/>
                <a:cs typeface="Times New Roman"/>
              </a:rPr>
              <a:t>transaction </a:t>
            </a:r>
            <a:r>
              <a:rPr sz="1200" dirty="0">
                <a:latin typeface="Times New Roman"/>
                <a:cs typeface="Times New Roman"/>
              </a:rPr>
              <a:t>processing.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integrates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external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services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like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payment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gateways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(Stripe,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PayPal)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transactions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notification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services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(Email/SMS)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alerts.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database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layer,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MongoDB,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efficiently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stores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users,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properties,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bids,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transactions,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fast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queries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synchronization.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structured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design </a:t>
            </a:r>
            <a:r>
              <a:rPr sz="1200" dirty="0">
                <a:latin typeface="Times New Roman"/>
                <a:cs typeface="Times New Roman"/>
              </a:rPr>
              <a:t>guarantees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high-performance,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secure,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10" dirty="0">
                <a:latin typeface="Times New Roman"/>
                <a:cs typeface="Times New Roman"/>
              </a:rPr>
              <a:t> experience.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914400"/>
            <a:ext cx="5669280" cy="2304415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22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324" y="891285"/>
            <a:ext cx="5694680" cy="26079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93065" lvl="2" indent="-380365" algn="just">
              <a:lnSpc>
                <a:spcPct val="100000"/>
              </a:lnSpc>
              <a:spcBef>
                <a:spcPts val="100"/>
              </a:spcBef>
              <a:buFont typeface="Times New Roman"/>
              <a:buAutoNum type="arabicPeriod"/>
              <a:tabLst>
                <a:tab pos="393065" algn="l"/>
              </a:tabLst>
            </a:pPr>
            <a:r>
              <a:rPr sz="1200" b="1" dirty="0">
                <a:latin typeface="Times New Roman"/>
                <a:cs typeface="Times New Roman"/>
              </a:rPr>
              <a:t>UML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Behavioral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Diagrams</a:t>
            </a:r>
            <a:endParaRPr sz="1200">
              <a:latin typeface="Times New Roman"/>
              <a:cs typeface="Times New Roman"/>
            </a:endParaRPr>
          </a:p>
          <a:p>
            <a:pPr lvl="2">
              <a:lnSpc>
                <a:spcPct val="100000"/>
              </a:lnSpc>
              <a:spcBef>
                <a:spcPts val="15"/>
              </a:spcBef>
              <a:buFont typeface="Times New Roman"/>
              <a:buAutoNum type="arabicPeriod"/>
            </a:pPr>
            <a:endParaRPr sz="1200">
              <a:latin typeface="Times New Roman"/>
              <a:cs typeface="Times New Roman"/>
            </a:endParaRPr>
          </a:p>
          <a:p>
            <a:pPr marL="12700" marR="6985" algn="just">
              <a:lnSpc>
                <a:spcPct val="143800"/>
              </a:lnSpc>
            </a:pPr>
            <a:r>
              <a:rPr sz="1200" dirty="0">
                <a:latin typeface="Times New Roman"/>
                <a:cs typeface="Times New Roman"/>
              </a:rPr>
              <a:t>UML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(Unified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Modeling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Language)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behavioral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diagrams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visual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representation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system’s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structure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interactions.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diagrams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illustrate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dynamic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aspects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system,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focusing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how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actors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operation.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75"/>
              </a:spcBef>
            </a:pPr>
            <a:endParaRPr sz="1200">
              <a:latin typeface="Times New Roman"/>
              <a:cs typeface="Times New Roman"/>
            </a:endParaRPr>
          </a:p>
          <a:p>
            <a:pPr marL="527050" lvl="3" indent="-456565" algn="just">
              <a:lnSpc>
                <a:spcPct val="100000"/>
              </a:lnSpc>
              <a:buFont typeface="Times New Roman"/>
              <a:buAutoNum type="arabicPeriod"/>
              <a:tabLst>
                <a:tab pos="527050" algn="l"/>
              </a:tabLst>
            </a:pPr>
            <a:r>
              <a:rPr sz="1200" b="1" dirty="0">
                <a:latin typeface="Times New Roman"/>
                <a:cs typeface="Times New Roman"/>
              </a:rPr>
              <a:t>Component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Diagram:</a:t>
            </a: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900"/>
              </a:lnSpc>
              <a:spcBef>
                <a:spcPts val="595"/>
              </a:spcBef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illustrates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system's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components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interactions,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offering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visual representation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system's</a:t>
            </a:r>
            <a:r>
              <a:rPr sz="1200" spc="-10" dirty="0">
                <a:latin typeface="Times New Roman"/>
                <a:cs typeface="Times New Roman"/>
              </a:rPr>
              <a:t> architecture.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showcases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how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various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collaborate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achieve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10" dirty="0">
                <a:latin typeface="Times New Roman"/>
                <a:cs typeface="Times New Roman"/>
              </a:rPr>
              <a:t> functionality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highlights</a:t>
            </a:r>
            <a:r>
              <a:rPr sz="1200" spc="-10" dirty="0">
                <a:latin typeface="Times New Roman"/>
                <a:cs typeface="Times New Roman"/>
              </a:rPr>
              <a:t> dependencies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between</a:t>
            </a:r>
            <a:r>
              <a:rPr sz="1200" spc="-10" dirty="0">
                <a:latin typeface="Times New Roman"/>
                <a:cs typeface="Times New Roman"/>
              </a:rPr>
              <a:t> them.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5748909"/>
            <a:ext cx="5695950" cy="200596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4.2: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Component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200" b="1" dirty="0">
                <a:latin typeface="Times New Roman"/>
                <a:cs typeface="Times New Roman"/>
              </a:rPr>
              <a:t>4.2.1.2.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System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Component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40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3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</a:t>
            </a:r>
            <a:r>
              <a:rPr sz="1200" spc="3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visually</a:t>
            </a:r>
            <a:r>
              <a:rPr sz="1200" spc="3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represents</a:t>
            </a:r>
            <a:r>
              <a:rPr sz="1200" spc="3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high-</a:t>
            </a:r>
            <a:r>
              <a:rPr sz="1200" dirty="0">
                <a:latin typeface="Times New Roman"/>
                <a:cs typeface="Times New Roman"/>
              </a:rPr>
              <a:t>level</a:t>
            </a:r>
            <a:r>
              <a:rPr sz="1200" spc="3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architecture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b="1" dirty="0">
                <a:latin typeface="Times New Roman"/>
                <a:cs typeface="Times New Roman"/>
              </a:rPr>
              <a:t>"Auction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Abode"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illustrating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interactions.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provides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clear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overview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how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different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modules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subsystems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within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organized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interconnected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achieve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desired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functionality.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3991355"/>
            <a:ext cx="5669280" cy="1271419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23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324" y="4410583"/>
            <a:ext cx="5697220" cy="19037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4.3: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System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Component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  <a:spcBef>
                <a:spcPts val="5"/>
              </a:spcBef>
            </a:pPr>
            <a:r>
              <a:rPr sz="1200" b="1" dirty="0">
                <a:latin typeface="Times New Roman"/>
                <a:cs typeface="Times New Roman"/>
              </a:rPr>
              <a:t>4.2.1.3.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Package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Diagram:</a:t>
            </a: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600"/>
              </a:lnSpc>
              <a:spcBef>
                <a:spcPts val="610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Package</a:t>
            </a:r>
            <a:r>
              <a:rPr sz="1200" b="1" spc="19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Diagram</a:t>
            </a:r>
            <a:r>
              <a:rPr sz="1200" b="1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organizes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components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"Auction</a:t>
            </a:r>
            <a:r>
              <a:rPr sz="1200" b="1" spc="19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Abode"</a:t>
            </a:r>
            <a:r>
              <a:rPr sz="1200" b="1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into </a:t>
            </a:r>
            <a:r>
              <a:rPr sz="1200" dirty="0">
                <a:latin typeface="Times New Roman"/>
                <a:cs typeface="Times New Roman"/>
              </a:rPr>
              <a:t>logical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groupings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packages,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illustrating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modular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structure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system.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 </a:t>
            </a:r>
            <a:r>
              <a:rPr sz="1200" dirty="0">
                <a:latin typeface="Times New Roman"/>
                <a:cs typeface="Times New Roman"/>
              </a:rPr>
              <a:t>overview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system’s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dependencies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relationships,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aiding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better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understanding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spc="-10" dirty="0">
                <a:latin typeface="Times New Roman"/>
                <a:cs typeface="Times New Roman"/>
              </a:rPr>
              <a:t>management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complexity.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914400"/>
            <a:ext cx="5669280" cy="2969895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24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324" y="7276338"/>
            <a:ext cx="5697220" cy="164083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4.4: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Package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7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</a:pPr>
            <a:r>
              <a:rPr sz="1200" b="1" dirty="0">
                <a:latin typeface="Times New Roman"/>
                <a:cs typeface="Times New Roman"/>
              </a:rPr>
              <a:t>4.2.1.4.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Deployment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Diagram:</a:t>
            </a: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700"/>
              </a:lnSpc>
              <a:spcBef>
                <a:spcPts val="59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Deployment</a:t>
            </a:r>
            <a:r>
              <a:rPr sz="1200" b="1" spc="16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Diagram</a:t>
            </a:r>
            <a:r>
              <a:rPr sz="1200" b="1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illustrates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physical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deployment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"Auction</a:t>
            </a:r>
            <a:r>
              <a:rPr sz="1200" b="1" spc="17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Abode"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across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various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hardware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nodes.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provides</a:t>
            </a:r>
            <a:r>
              <a:rPr sz="1200" spc="22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detailed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view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22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how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system's </a:t>
            </a:r>
            <a:r>
              <a:rPr sz="1200" dirty="0">
                <a:latin typeface="Times New Roman"/>
                <a:cs typeface="Times New Roman"/>
              </a:rPr>
              <a:t>software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components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distributed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interconnected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within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network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infrastructure.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914400"/>
            <a:ext cx="5641443" cy="5791151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25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324" y="812037"/>
            <a:ext cx="5690235" cy="5499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43300"/>
              </a:lnSpc>
              <a:spcBef>
                <a:spcPts val="100"/>
              </a:spcBef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</a:t>
            </a:r>
            <a:r>
              <a:rPr sz="1200" spc="45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4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clarity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understanding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system's</a:t>
            </a:r>
            <a:r>
              <a:rPr sz="1200" spc="4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deployment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architecture, facilitating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effective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deployment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management.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7501890"/>
            <a:ext cx="5693410" cy="14795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4.5: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Deployment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7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b="1" dirty="0">
                <a:latin typeface="Times New Roman"/>
                <a:cs typeface="Times New Roman"/>
              </a:rPr>
              <a:t>4.2.2.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UML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Behavioral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45"/>
              </a:spcBef>
            </a:pPr>
            <a:endParaRPr sz="120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sz="1200" b="1" dirty="0">
                <a:latin typeface="Times New Roman"/>
                <a:cs typeface="Times New Roman"/>
              </a:rPr>
              <a:t>UML</a:t>
            </a:r>
            <a:r>
              <a:rPr sz="1200" b="1" spc="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Behavioral</a:t>
            </a:r>
            <a:r>
              <a:rPr sz="1200" b="1" spc="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Diagrams</a:t>
            </a:r>
            <a:r>
              <a:rPr sz="1200" b="1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visual representation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dynamic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behavior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</a:t>
            </a:r>
            <a:endParaRPr sz="120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  <a:spcBef>
                <a:spcPts val="620"/>
              </a:spcBef>
            </a:pPr>
            <a:r>
              <a:rPr sz="1200" b="1" dirty="0">
                <a:latin typeface="Times New Roman"/>
                <a:cs typeface="Times New Roman"/>
              </a:rPr>
              <a:t>"Auction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Abode"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system.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illustrate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interactions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among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components,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2194560"/>
            <a:ext cx="5622079" cy="4997611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26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324" y="812037"/>
            <a:ext cx="5694045" cy="24250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715">
              <a:lnSpc>
                <a:spcPct val="143300"/>
              </a:lnSpc>
              <a:spcBef>
                <a:spcPts val="100"/>
              </a:spcBef>
            </a:pPr>
            <a:r>
              <a:rPr sz="1200" dirty="0">
                <a:latin typeface="Times New Roman"/>
                <a:cs typeface="Times New Roman"/>
              </a:rPr>
              <a:t>entities,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users,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showcasing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how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tasks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accomplished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processes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flow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within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spc="-10" dirty="0">
                <a:latin typeface="Times New Roman"/>
                <a:cs typeface="Times New Roman"/>
              </a:rPr>
              <a:t>system.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8255">
              <a:lnSpc>
                <a:spcPct val="143300"/>
              </a:lnSpc>
            </a:pPr>
            <a:r>
              <a:rPr sz="1200" dirty="0">
                <a:latin typeface="Times New Roman"/>
                <a:cs typeface="Times New Roman"/>
              </a:rPr>
              <a:t>Behavioral diagrams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offer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insights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into functionality, message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passing, and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state </a:t>
            </a:r>
            <a:r>
              <a:rPr sz="1200" spc="-10" dirty="0">
                <a:latin typeface="Times New Roman"/>
                <a:cs typeface="Times New Roman"/>
              </a:rPr>
              <a:t>transitions, </a:t>
            </a:r>
            <a:r>
              <a:rPr sz="1200" dirty="0">
                <a:latin typeface="Times New Roman"/>
                <a:cs typeface="Times New Roman"/>
              </a:rPr>
              <a:t>aiding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effective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communication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stakeholders.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7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b="1" dirty="0">
                <a:latin typeface="Times New Roman"/>
                <a:cs typeface="Times New Roman"/>
              </a:rPr>
              <a:t>4.2.2.1.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Activity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Diagrams:</a:t>
            </a:r>
            <a:endParaRPr sz="1200">
              <a:latin typeface="Times New Roman"/>
              <a:cs typeface="Times New Roman"/>
            </a:endParaRPr>
          </a:p>
          <a:p>
            <a:pPr marL="12700" marR="5080">
              <a:lnSpc>
                <a:spcPct val="144400"/>
              </a:lnSpc>
              <a:spcBef>
                <a:spcPts val="58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flow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activities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illustrating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sequence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actions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steps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required</a:t>
            </a:r>
            <a:r>
              <a:rPr sz="1200" spc="-25" dirty="0">
                <a:latin typeface="Times New Roman"/>
                <a:cs typeface="Times New Roman"/>
              </a:rPr>
              <a:t> to </a:t>
            </a:r>
            <a:r>
              <a:rPr sz="1200" dirty="0">
                <a:latin typeface="Times New Roman"/>
                <a:cs typeface="Times New Roman"/>
              </a:rPr>
              <a:t>accomplish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specific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task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behavior.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182239" y="8498585"/>
            <a:ext cx="168402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4.6: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Activity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3729228"/>
            <a:ext cx="4639945" cy="4266565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27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324" y="891285"/>
            <a:ext cx="5695950" cy="10725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4.2.2.2.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State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Machine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Diagrams:</a:t>
            </a: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700"/>
              </a:lnSpc>
              <a:spcBef>
                <a:spcPts val="595"/>
              </a:spcBef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behavior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individual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objects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within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system, depicting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states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transitions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between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them.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offers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visual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representation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how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responds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events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stimuli,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guiding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understanding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dynamic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behavior.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971926" y="8702750"/>
            <a:ext cx="210312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4.7: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State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Machine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2118360"/>
            <a:ext cx="5405120" cy="5672194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28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324" y="891285"/>
            <a:ext cx="5697855" cy="2548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93065" lvl="2" indent="-380365">
              <a:lnSpc>
                <a:spcPct val="100000"/>
              </a:lnSpc>
              <a:spcBef>
                <a:spcPts val="100"/>
              </a:spcBef>
              <a:buFont typeface="Times New Roman"/>
              <a:buAutoNum type="arabicPeriod" startAt="3"/>
              <a:tabLst>
                <a:tab pos="393065" algn="l"/>
              </a:tabLst>
            </a:pPr>
            <a:r>
              <a:rPr sz="1200" b="1" dirty="0">
                <a:latin typeface="Times New Roman"/>
                <a:cs typeface="Times New Roman"/>
              </a:rPr>
              <a:t>UML</a:t>
            </a:r>
            <a:r>
              <a:rPr sz="1200" b="1" spc="5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Interaction-diagrams</a:t>
            </a:r>
            <a:endParaRPr sz="1200">
              <a:latin typeface="Times New Roman"/>
              <a:cs typeface="Times New Roman"/>
            </a:endParaRPr>
          </a:p>
          <a:p>
            <a:pPr marL="12700" marR="10160">
              <a:lnSpc>
                <a:spcPct val="144200"/>
              </a:lnSpc>
              <a:spcBef>
                <a:spcPts val="585"/>
              </a:spcBef>
            </a:pPr>
            <a:r>
              <a:rPr sz="1200" dirty="0">
                <a:latin typeface="Times New Roman"/>
                <a:cs typeface="Times New Roman"/>
              </a:rPr>
              <a:t>UML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Interaction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Diagrams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illustrate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dynamic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behavior,</a:t>
            </a:r>
            <a:r>
              <a:rPr sz="1200" spc="1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emphasizing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spc="-10" dirty="0">
                <a:latin typeface="Times New Roman"/>
                <a:cs typeface="Times New Roman"/>
              </a:rPr>
              <a:t>object </a:t>
            </a:r>
            <a:r>
              <a:rPr sz="1200" dirty="0">
                <a:latin typeface="Times New Roman"/>
                <a:cs typeface="Times New Roman"/>
              </a:rPr>
              <a:t>interactions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runtime.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Sequence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showing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message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flow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chronologically.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65"/>
              </a:spcBef>
            </a:pPr>
            <a:endParaRPr sz="1200">
              <a:latin typeface="Times New Roman"/>
              <a:cs typeface="Times New Roman"/>
            </a:endParaRPr>
          </a:p>
          <a:p>
            <a:pPr marL="565150" lvl="3" indent="-494665">
              <a:lnSpc>
                <a:spcPct val="100000"/>
              </a:lnSpc>
              <a:buFont typeface="Times New Roman"/>
              <a:buAutoNum type="arabicPeriod"/>
              <a:tabLst>
                <a:tab pos="565150" algn="l"/>
              </a:tabLst>
            </a:pPr>
            <a:r>
              <a:rPr sz="1200" b="1" dirty="0">
                <a:latin typeface="Times New Roman"/>
                <a:cs typeface="Times New Roman"/>
              </a:rPr>
              <a:t>Sequence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Diagrams</a:t>
            </a:r>
            <a:endParaRPr sz="1200">
              <a:latin typeface="Times New Roman"/>
              <a:cs typeface="Times New Roman"/>
            </a:endParaRPr>
          </a:p>
          <a:p>
            <a:pPr marL="12700" marR="5080">
              <a:lnSpc>
                <a:spcPct val="143300"/>
              </a:lnSpc>
              <a:spcBef>
                <a:spcPts val="615"/>
              </a:spcBef>
            </a:pPr>
            <a:r>
              <a:rPr sz="1200" dirty="0">
                <a:latin typeface="Times New Roman"/>
                <a:cs typeface="Times New Roman"/>
              </a:rPr>
              <a:t>Sequence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diagrams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UML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illustrate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interactions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between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objects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components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spc="-50" dirty="0">
                <a:latin typeface="Times New Roman"/>
                <a:cs typeface="Times New Roman"/>
              </a:rPr>
              <a:t>a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over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time,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depicting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flow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messages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between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them.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75"/>
              </a:spcBef>
            </a:pPr>
            <a:endParaRPr sz="1200">
              <a:latin typeface="Times New Roman"/>
              <a:cs typeface="Times New Roman"/>
            </a:endParaRPr>
          </a:p>
          <a:p>
            <a:pPr marL="679450" lvl="4" indent="-608965">
              <a:lnSpc>
                <a:spcPct val="100000"/>
              </a:lnSpc>
              <a:buFont typeface="Times New Roman"/>
              <a:buAutoNum type="arabicPeriod"/>
              <a:tabLst>
                <a:tab pos="679450" algn="l"/>
              </a:tabLst>
            </a:pPr>
            <a:r>
              <a:rPr sz="1200" b="1" dirty="0">
                <a:latin typeface="Times New Roman"/>
                <a:cs typeface="Times New Roman"/>
              </a:rPr>
              <a:t>Registration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sequence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7956042"/>
            <a:ext cx="4025900" cy="775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8148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4.8: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Register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Sequence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200" b="1" dirty="0">
                <a:latin typeface="Times New Roman"/>
                <a:cs typeface="Times New Roman"/>
              </a:rPr>
              <a:t>4.2.3.1.2.</a:t>
            </a:r>
            <a:r>
              <a:rPr sz="1200" b="1" spc="26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Login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Sequence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3931920"/>
            <a:ext cx="3823334" cy="3542665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29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324" y="7384542"/>
            <a:ext cx="3921125" cy="775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86889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4.9: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Login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sequence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200" b="1" dirty="0">
                <a:latin typeface="Times New Roman"/>
                <a:cs typeface="Times New Roman"/>
              </a:rPr>
              <a:t>4.2.3.1.3.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User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Activity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Sequence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1253489"/>
            <a:ext cx="5669279" cy="4970145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30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324" y="6236589"/>
            <a:ext cx="5694045" cy="1981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4.10: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User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Sequence</a:t>
            </a:r>
            <a:r>
              <a:rPr sz="1200" b="1" spc="-10" dirty="0">
                <a:latin typeface="Times New Roman"/>
                <a:cs typeface="Times New Roman"/>
              </a:rPr>
              <a:t> Diagram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7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b="1" dirty="0">
                <a:latin typeface="Times New Roman"/>
                <a:cs typeface="Times New Roman"/>
              </a:rPr>
              <a:t>4.2.4.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Node </a:t>
            </a:r>
            <a:r>
              <a:rPr sz="1200" b="1" spc="-10" dirty="0">
                <a:latin typeface="Times New Roman"/>
                <a:cs typeface="Times New Roman"/>
              </a:rPr>
              <a:t>Structure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9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800"/>
              </a:lnSpc>
            </a:pPr>
            <a:r>
              <a:rPr sz="1200" dirty="0">
                <a:latin typeface="Times New Roman"/>
                <a:cs typeface="Times New Roman"/>
              </a:rPr>
              <a:t>Node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structure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refers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arrangement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organization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nodes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within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network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or </a:t>
            </a:r>
            <a:r>
              <a:rPr sz="1200" spc="-10" dirty="0">
                <a:latin typeface="Times New Roman"/>
                <a:cs typeface="Times New Roman"/>
              </a:rPr>
              <a:t>hierarchical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defining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their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relationships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connectivity.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establishes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framework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transmission,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processing,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communication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across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network.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914400"/>
            <a:ext cx="2792095" cy="5181219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31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324" y="4326763"/>
            <a:ext cx="5695315" cy="1717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4.11: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Node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Structure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sz="1200" b="1" dirty="0">
                <a:latin typeface="Times New Roman"/>
                <a:cs typeface="Times New Roman"/>
              </a:rPr>
              <a:t>4.2.5.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Communication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Design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Protocol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0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>
              <a:lnSpc>
                <a:spcPct val="144200"/>
              </a:lnSpc>
            </a:pPr>
            <a:r>
              <a:rPr sz="1200" dirty="0">
                <a:latin typeface="Times New Roman"/>
                <a:cs typeface="Times New Roman"/>
              </a:rPr>
              <a:t>Communication</a:t>
            </a:r>
            <a:r>
              <a:rPr sz="1200" spc="22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22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Protocol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exchanging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information.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defines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protocols, </a:t>
            </a:r>
            <a:r>
              <a:rPr sz="1200" dirty="0">
                <a:latin typeface="Times New Roman"/>
                <a:cs typeface="Times New Roman"/>
              </a:rPr>
              <a:t>formats,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procedures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seamless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communication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architecture.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1297305"/>
            <a:ext cx="5669280" cy="2208529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32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648839" y="7966709"/>
            <a:ext cx="27463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4.12: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Communication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Design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Protocol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88719" y="914400"/>
            <a:ext cx="6130736" cy="6556168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33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176324" y="1458214"/>
            <a:ext cx="136779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4.2.6.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Class </a:t>
            </a:r>
            <a:r>
              <a:rPr sz="1200" b="1" spc="-10" dirty="0">
                <a:latin typeface="Times New Roman"/>
                <a:cs typeface="Times New Roman"/>
              </a:rPr>
              <a:t>Diagram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227958" y="8817050"/>
            <a:ext cx="159194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4.13: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Class</a:t>
            </a:r>
            <a:r>
              <a:rPr sz="1200" b="1" spc="-10" dirty="0">
                <a:latin typeface="Times New Roman"/>
                <a:cs typeface="Times New Roman"/>
              </a:rPr>
              <a:t> Diagram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29411" y="2192184"/>
            <a:ext cx="3186626" cy="6456357"/>
          </a:xfrm>
          <a:prstGeom prst="rect">
            <a:avLst/>
          </a:prstGeom>
        </p:spPr>
      </p:pic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34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35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2821051" y="1325626"/>
            <a:ext cx="240220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latin typeface="Times New Roman"/>
                <a:cs typeface="Times New Roman"/>
              </a:rPr>
              <a:t>Chapter</a:t>
            </a:r>
            <a:r>
              <a:rPr sz="1600" b="1" spc="-5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5:</a:t>
            </a:r>
            <a:r>
              <a:rPr sz="1600" b="1" spc="-25" dirty="0">
                <a:latin typeface="Times New Roman"/>
                <a:cs typeface="Times New Roman"/>
              </a:rPr>
              <a:t> </a:t>
            </a:r>
            <a:r>
              <a:rPr sz="1600" b="1" spc="-10" dirty="0">
                <a:latin typeface="Times New Roman"/>
                <a:cs typeface="Times New Roman"/>
              </a:rPr>
              <a:t>Implementation</a:t>
            </a:r>
            <a:endParaRPr sz="16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2432050"/>
            <a:ext cx="5693410" cy="671258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lvl="1" indent="-228600">
              <a:lnSpc>
                <a:spcPct val="100000"/>
              </a:lnSpc>
              <a:spcBef>
                <a:spcPts val="100"/>
              </a:spcBef>
              <a:buAutoNum type="arabicPeriod"/>
              <a:tabLst>
                <a:tab pos="241300" algn="l"/>
              </a:tabLst>
            </a:pPr>
            <a:r>
              <a:rPr sz="1200" b="1" dirty="0">
                <a:latin typeface="Times New Roman"/>
                <a:cs typeface="Times New Roman"/>
              </a:rPr>
              <a:t>Introduction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to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Implementation</a:t>
            </a:r>
            <a:endParaRPr sz="120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spcBef>
                <a:spcPts val="30"/>
              </a:spcBef>
              <a:buFont typeface="Times New Roman"/>
              <a:buAutoNum type="arabicPeriod"/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6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implementation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phase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marks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translation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specifications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into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working </a:t>
            </a:r>
            <a:r>
              <a:rPr sz="1200" dirty="0">
                <a:latin typeface="Times New Roman"/>
                <a:cs typeface="Times New Roman"/>
              </a:rPr>
              <a:t>system.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built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full-</a:t>
            </a:r>
            <a:r>
              <a:rPr sz="1200" dirty="0">
                <a:latin typeface="Times New Roman"/>
                <a:cs typeface="Times New Roman"/>
              </a:rPr>
              <a:t>stack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application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capabilities.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focus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auctions,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authentication,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intelligent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pricing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suggestions,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fraud prevention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via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document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verification.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Implementation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was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carried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out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incrementally,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ensuring </a:t>
            </a: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units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developed,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smoothly.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>
              <a:latin typeface="Times New Roman"/>
              <a:cs typeface="Times New Roman"/>
            </a:endParaRPr>
          </a:p>
          <a:p>
            <a:pPr marL="241300" lvl="1" indent="-228600">
              <a:lnSpc>
                <a:spcPct val="100000"/>
              </a:lnSpc>
              <a:buAutoNum type="arabicPeriod" startAt="2"/>
              <a:tabLst>
                <a:tab pos="241300" algn="l"/>
              </a:tabLst>
            </a:pPr>
            <a:r>
              <a:rPr sz="1200" b="1" dirty="0">
                <a:latin typeface="Times New Roman"/>
                <a:cs typeface="Times New Roman"/>
              </a:rPr>
              <a:t>System</a:t>
            </a:r>
            <a:r>
              <a:rPr sz="1200" b="1" spc="-5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Development</a:t>
            </a:r>
            <a:r>
              <a:rPr sz="1200" b="1" spc="-5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Environment</a:t>
            </a:r>
            <a:endParaRPr sz="120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spcBef>
                <a:spcPts val="660"/>
              </a:spcBef>
              <a:buFont typeface="Times New Roman"/>
              <a:buAutoNum type="arabicPeriod" startAt="2"/>
            </a:pP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modern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web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tools: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Frontend</a:t>
            </a:r>
            <a:r>
              <a:rPr sz="1200" b="1" dirty="0">
                <a:latin typeface="Times New Roman"/>
                <a:cs typeface="Times New Roman"/>
              </a:rPr>
              <a:t>: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React.js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responsive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UI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spcBef>
                <a:spcPts val="62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Backend</a:t>
            </a:r>
            <a:r>
              <a:rPr sz="1200" b="1" dirty="0">
                <a:latin typeface="Times New Roman"/>
                <a:cs typeface="Times New Roman"/>
              </a:rPr>
              <a:t>: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Node.js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Express.js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routing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handling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spcBef>
                <a:spcPts val="6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Database: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MongoDB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(NoSQL)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spcBef>
                <a:spcPts val="62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b="1" dirty="0">
                <a:latin typeface="Times New Roman"/>
                <a:cs typeface="Times New Roman"/>
              </a:rPr>
              <a:t>: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Python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Scikit-</a:t>
            </a:r>
            <a:r>
              <a:rPr sz="1200" dirty="0">
                <a:latin typeface="Times New Roman"/>
                <a:cs typeface="Times New Roman"/>
              </a:rPr>
              <a:t>learn,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Tesseract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OCR,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0" dirty="0">
                <a:latin typeface="Times New Roman"/>
                <a:cs typeface="Times New Roman"/>
              </a:rPr>
              <a:t> spaCy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spcBef>
                <a:spcPts val="6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Engine: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Socket.io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updates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spcBef>
                <a:spcPts val="62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Security: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JWT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authentication,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Bcrypt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password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hashing,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SSL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encryption</a:t>
            </a:r>
            <a:endParaRPr sz="1200">
              <a:latin typeface="Times New Roman"/>
              <a:cs typeface="Times New Roman"/>
            </a:endParaRPr>
          </a:p>
          <a:p>
            <a:pPr marL="469265" marR="5080" lvl="2" indent="-228600">
              <a:lnSpc>
                <a:spcPct val="143300"/>
              </a:lnSpc>
              <a:spcBef>
                <a:spcPts val="1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Deployment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Tools: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Netlify,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Render,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MongoDB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Atlas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environment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ensured </a:t>
            </a:r>
            <a:r>
              <a:rPr sz="1200" dirty="0">
                <a:latin typeface="Times New Roman"/>
                <a:cs typeface="Times New Roman"/>
              </a:rPr>
              <a:t>scalability,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ease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maintenance,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fast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cycles.</a:t>
            </a:r>
            <a:endParaRPr sz="1200">
              <a:latin typeface="Times New Roman"/>
              <a:cs typeface="Times New Roman"/>
            </a:endParaRPr>
          </a:p>
          <a:p>
            <a:pPr lvl="2">
              <a:lnSpc>
                <a:spcPct val="100000"/>
              </a:lnSpc>
              <a:spcBef>
                <a:spcPts val="650"/>
              </a:spcBef>
              <a:buFont typeface="Symbol"/>
              <a:buChar char=""/>
            </a:pPr>
            <a:endParaRPr sz="1200">
              <a:latin typeface="Times New Roman"/>
              <a:cs typeface="Times New Roman"/>
            </a:endParaRPr>
          </a:p>
          <a:p>
            <a:pPr marL="241300" lvl="1" indent="-228600">
              <a:lnSpc>
                <a:spcPct val="100000"/>
              </a:lnSpc>
              <a:buAutoNum type="arabicPeriod" startAt="3"/>
              <a:tabLst>
                <a:tab pos="241300" algn="l"/>
              </a:tabLst>
            </a:pPr>
            <a:r>
              <a:rPr sz="1200" b="1" dirty="0">
                <a:latin typeface="Times New Roman"/>
                <a:cs typeface="Times New Roman"/>
              </a:rPr>
              <a:t>Backend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Implementation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(Node.js,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Express.js)</a:t>
            </a:r>
            <a:endParaRPr sz="120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spcBef>
                <a:spcPts val="660"/>
              </a:spcBef>
              <a:buFont typeface="Times New Roman"/>
              <a:buAutoNum type="arabicPeriod" startAt="3"/>
            </a:pP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backend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logic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related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to: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accounts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role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management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spcBef>
                <a:spcPts val="62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creation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spcBef>
                <a:spcPts val="6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storage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36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7220" cy="7508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69265" indent="-228600">
              <a:lnSpc>
                <a:spcPct val="100000"/>
              </a:lnSpc>
              <a:spcBef>
                <a:spcPts val="10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Integration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(for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pricing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checks)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6350" algn="just">
              <a:lnSpc>
                <a:spcPct val="143800"/>
              </a:lnSpc>
            </a:pPr>
            <a:r>
              <a:rPr sz="1200" dirty="0">
                <a:latin typeface="Times New Roman"/>
                <a:cs typeface="Times New Roman"/>
              </a:rPr>
              <a:t>Express.js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handles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route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management.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Controllers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manage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business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logic,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while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Mongoose </a:t>
            </a:r>
            <a:r>
              <a:rPr sz="1200" dirty="0">
                <a:latin typeface="Times New Roman"/>
                <a:cs typeface="Times New Roman"/>
              </a:rPr>
              <a:t>models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structure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MongoDB.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Middleware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created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role-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JWT </a:t>
            </a:r>
            <a:r>
              <a:rPr sz="1200" dirty="0">
                <a:latin typeface="Times New Roman"/>
                <a:cs typeface="Times New Roman"/>
              </a:rPr>
              <a:t>token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verification.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b="1" dirty="0">
                <a:latin typeface="Times New Roman"/>
                <a:cs typeface="Times New Roman"/>
              </a:rPr>
              <a:t>5.4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Frontend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Implementation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(React.js)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715" algn="just">
              <a:lnSpc>
                <a:spcPct val="1435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React.js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frontend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built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reusable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components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modular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routing.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Role-</a:t>
            </a:r>
            <a:r>
              <a:rPr sz="1200" spc="-10" dirty="0">
                <a:latin typeface="Times New Roman"/>
                <a:cs typeface="Times New Roman"/>
              </a:rPr>
              <a:t>based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control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each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type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(admin,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buyer,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seller)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sees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only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permitted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features.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4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features: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Live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detail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pages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6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interface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62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form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suggestion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6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Admin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dashboard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review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62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Toast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notifications,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modals,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alerts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feedback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"/>
              </a:spcBef>
              <a:buFont typeface="Symbol"/>
              <a:buChar char=""/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4200"/>
              </a:lnSpc>
              <a:spcBef>
                <a:spcPts val="5"/>
              </a:spcBef>
            </a:pPr>
            <a:r>
              <a:rPr sz="1200" dirty="0">
                <a:latin typeface="Times New Roman"/>
                <a:cs typeface="Times New Roman"/>
              </a:rPr>
              <a:t>Styling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done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Material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UI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custom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CSS.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React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Router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used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navigation </a:t>
            </a:r>
            <a:r>
              <a:rPr sz="1200" dirty="0">
                <a:latin typeface="Times New Roman"/>
                <a:cs typeface="Times New Roman"/>
              </a:rPr>
              <a:t>between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views.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4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b="1" dirty="0">
                <a:latin typeface="Times New Roman"/>
                <a:cs typeface="Times New Roman"/>
              </a:rPr>
              <a:t>5.5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Real-</a:t>
            </a:r>
            <a:r>
              <a:rPr sz="1200" b="1" dirty="0">
                <a:latin typeface="Times New Roman"/>
                <a:cs typeface="Times New Roman"/>
              </a:rPr>
              <a:t>Time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Bidding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System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(Socket.io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Integration)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Socket.io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enables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seamless,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bi-directional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communication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between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clients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server: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45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join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specific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room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64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When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placed,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validates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broadcasts</a:t>
            </a:r>
            <a:r>
              <a:rPr sz="1200" spc="-25" dirty="0">
                <a:latin typeface="Times New Roman"/>
                <a:cs typeface="Times New Roman"/>
              </a:rPr>
              <a:t> it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ct val="100000"/>
              </a:lnSpc>
              <a:spcBef>
                <a:spcPts val="62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connected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instantly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6350" algn="just">
              <a:lnSpc>
                <a:spcPct val="144200"/>
              </a:lnSpc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mechanism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fairness,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transparency,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competition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—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core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values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dirty="0">
                <a:latin typeface="Times New Roman"/>
                <a:cs typeface="Times New Roman"/>
              </a:rPr>
              <a:t>any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37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4045" cy="79482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lvl="1" indent="-228600">
              <a:lnSpc>
                <a:spcPct val="100000"/>
              </a:lnSpc>
              <a:spcBef>
                <a:spcPts val="100"/>
              </a:spcBef>
              <a:buAutoNum type="arabicPeriod" startAt="6"/>
              <a:tabLst>
                <a:tab pos="241300" algn="l"/>
              </a:tabLst>
            </a:pPr>
            <a:r>
              <a:rPr sz="1200" b="1" dirty="0">
                <a:latin typeface="Times New Roman"/>
                <a:cs typeface="Times New Roman"/>
              </a:rPr>
              <a:t>AI </a:t>
            </a:r>
            <a:r>
              <a:rPr sz="1200" b="1" spc="-10" dirty="0">
                <a:latin typeface="Times New Roman"/>
                <a:cs typeface="Times New Roman"/>
              </a:rPr>
              <a:t>Modules</a:t>
            </a:r>
            <a:endParaRPr sz="120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spcBef>
                <a:spcPts val="645"/>
              </a:spcBef>
              <a:buFont typeface="Times New Roman"/>
              <a:buAutoNum type="arabicPeriod" startAt="6"/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Two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features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enhance</a:t>
            </a:r>
            <a:r>
              <a:rPr sz="1200" spc="-10" dirty="0">
                <a:latin typeface="Times New Roman"/>
                <a:cs typeface="Times New Roman"/>
              </a:rPr>
              <a:t> decision-</a:t>
            </a:r>
            <a:r>
              <a:rPr sz="1200" dirty="0">
                <a:latin typeface="Times New Roman"/>
                <a:cs typeface="Times New Roman"/>
              </a:rPr>
              <a:t>making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0" dirty="0">
                <a:latin typeface="Times New Roman"/>
                <a:cs typeface="Times New Roman"/>
              </a:rPr>
              <a:t> trust: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>
              <a:latin typeface="Times New Roman"/>
              <a:cs typeface="Times New Roman"/>
            </a:endParaRPr>
          </a:p>
          <a:p>
            <a:pPr marL="355600" lvl="2" indent="-342900">
              <a:lnSpc>
                <a:spcPct val="100000"/>
              </a:lnSpc>
              <a:buAutoNum type="arabicPeriod"/>
              <a:tabLst>
                <a:tab pos="355600" algn="l"/>
              </a:tabLst>
            </a:pPr>
            <a:r>
              <a:rPr sz="1200" b="1" dirty="0">
                <a:latin typeface="Times New Roman"/>
                <a:cs typeface="Times New Roman"/>
              </a:rPr>
              <a:t>Price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Suggestion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Model</a:t>
            </a:r>
            <a:endParaRPr sz="1200">
              <a:latin typeface="Times New Roman"/>
              <a:cs typeface="Times New Roman"/>
            </a:endParaRPr>
          </a:p>
          <a:p>
            <a:pPr lvl="2">
              <a:lnSpc>
                <a:spcPct val="100000"/>
              </a:lnSpc>
              <a:spcBef>
                <a:spcPts val="35"/>
              </a:spcBef>
              <a:buFont typeface="Times New Roman"/>
              <a:buAutoNum type="arabicPeriod"/>
            </a:pPr>
            <a:endParaRPr sz="1200">
              <a:latin typeface="Times New Roman"/>
              <a:cs typeface="Times New Roman"/>
            </a:endParaRPr>
          </a:p>
          <a:p>
            <a:pPr marL="12700" marR="9525">
              <a:lnSpc>
                <a:spcPct val="1433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suggestion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engine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uses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machine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learning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regression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trained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property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(location,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area,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type,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rates).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Scikit-</a:t>
            </a:r>
            <a:r>
              <a:rPr sz="1200" dirty="0">
                <a:latin typeface="Times New Roman"/>
                <a:cs typeface="Times New Roman"/>
              </a:rPr>
              <a:t>learn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Python: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lvl="3" indent="-228600">
              <a:lnSpc>
                <a:spcPct val="1000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Inputs: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location,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size,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type</a:t>
            </a:r>
            <a:endParaRPr sz="1200">
              <a:latin typeface="Times New Roman"/>
              <a:cs typeface="Times New Roman"/>
            </a:endParaRPr>
          </a:p>
          <a:p>
            <a:pPr marL="469265" lvl="3" indent="-228600">
              <a:lnSpc>
                <a:spcPct val="100000"/>
              </a:lnSpc>
              <a:spcBef>
                <a:spcPts val="64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Output: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Suggested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starting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bid</a:t>
            </a:r>
            <a:endParaRPr sz="1200">
              <a:latin typeface="Times New Roman"/>
              <a:cs typeface="Times New Roman"/>
            </a:endParaRPr>
          </a:p>
          <a:p>
            <a:pPr marL="469265" marR="5080" lvl="3" indent="-228600">
              <a:lnSpc>
                <a:spcPts val="2080"/>
              </a:lnSpc>
              <a:spcBef>
                <a:spcPts val="16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deployed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via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Flask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REST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consumed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Node.js </a:t>
            </a:r>
            <a:r>
              <a:rPr sz="1200" dirty="0">
                <a:latin typeface="Times New Roman"/>
                <a:cs typeface="Times New Roman"/>
              </a:rPr>
              <a:t>backend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understand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value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better.</a:t>
            </a:r>
            <a:endParaRPr sz="1200">
              <a:latin typeface="Times New Roman"/>
              <a:cs typeface="Times New Roman"/>
            </a:endParaRPr>
          </a:p>
          <a:p>
            <a:pPr lvl="3">
              <a:lnSpc>
                <a:spcPct val="100000"/>
              </a:lnSpc>
              <a:spcBef>
                <a:spcPts val="465"/>
              </a:spcBef>
              <a:buFont typeface="Symbol"/>
              <a:buChar char=""/>
            </a:pPr>
            <a:endParaRPr sz="1200">
              <a:latin typeface="Times New Roman"/>
              <a:cs typeface="Times New Roman"/>
            </a:endParaRPr>
          </a:p>
          <a:p>
            <a:pPr marL="355600" lvl="2" indent="-342900">
              <a:lnSpc>
                <a:spcPct val="100000"/>
              </a:lnSpc>
              <a:buAutoNum type="arabicPeriod" startAt="2"/>
              <a:tabLst>
                <a:tab pos="355600" algn="l"/>
              </a:tabLst>
            </a:pPr>
            <a:r>
              <a:rPr sz="1200" b="1" dirty="0">
                <a:latin typeface="Times New Roman"/>
                <a:cs typeface="Times New Roman"/>
              </a:rPr>
              <a:t>Property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Document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Verification</a:t>
            </a:r>
            <a:endParaRPr sz="1200">
              <a:latin typeface="Times New Roman"/>
              <a:cs typeface="Times New Roman"/>
            </a:endParaRPr>
          </a:p>
          <a:p>
            <a:pPr lvl="2">
              <a:lnSpc>
                <a:spcPct val="100000"/>
              </a:lnSpc>
              <a:spcBef>
                <a:spcPts val="650"/>
              </a:spcBef>
              <a:buFont typeface="Times New Roman"/>
              <a:buAutoNum type="arabicPeriod" startAt="2"/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prevents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fake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verifying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uploaded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AI: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45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lvl="3" indent="-228600">
              <a:lnSpc>
                <a:spcPct val="100000"/>
              </a:lnSpc>
              <a:spcBef>
                <a:spcPts val="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OCR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(Tesseract)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extracts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text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images</a:t>
            </a:r>
            <a:endParaRPr sz="1200">
              <a:latin typeface="Times New Roman"/>
              <a:cs typeface="Times New Roman"/>
            </a:endParaRPr>
          </a:p>
          <a:p>
            <a:pPr marL="469265" lvl="3" indent="-228600">
              <a:lnSpc>
                <a:spcPct val="100000"/>
              </a:lnSpc>
              <a:spcBef>
                <a:spcPts val="62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spaCy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(NLP)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parses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content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fields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(owner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name,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title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ID,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registry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number)</a:t>
            </a:r>
            <a:endParaRPr sz="1200">
              <a:latin typeface="Times New Roman"/>
              <a:cs typeface="Times New Roman"/>
            </a:endParaRPr>
          </a:p>
          <a:p>
            <a:pPr marL="469265" lvl="3" indent="-228600">
              <a:lnSpc>
                <a:spcPct val="100000"/>
              </a:lnSpc>
              <a:spcBef>
                <a:spcPts val="6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Checks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missing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altered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data</a:t>
            </a:r>
            <a:endParaRPr sz="1200">
              <a:latin typeface="Times New Roman"/>
              <a:cs typeface="Times New Roman"/>
            </a:endParaRPr>
          </a:p>
          <a:p>
            <a:pPr marL="469265" lvl="3" indent="-228600">
              <a:lnSpc>
                <a:spcPct val="100000"/>
              </a:lnSpc>
              <a:spcBef>
                <a:spcPts val="62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Flags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manual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review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suspicious</a:t>
            </a:r>
            <a:endParaRPr sz="1200">
              <a:latin typeface="Times New Roman"/>
              <a:cs typeface="Times New Roman"/>
            </a:endParaRPr>
          </a:p>
          <a:p>
            <a:pPr lvl="3">
              <a:lnSpc>
                <a:spcPct val="100000"/>
              </a:lnSpc>
              <a:spcBef>
                <a:spcPts val="660"/>
              </a:spcBef>
              <a:buFont typeface="Symbol"/>
              <a:buChar char=""/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boosts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trust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filter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automatically.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45"/>
              </a:spcBef>
            </a:pPr>
            <a:endParaRPr sz="1200">
              <a:latin typeface="Times New Roman"/>
              <a:cs typeface="Times New Roman"/>
            </a:endParaRPr>
          </a:p>
          <a:p>
            <a:pPr marL="241300" lvl="1" indent="-228600">
              <a:lnSpc>
                <a:spcPct val="100000"/>
              </a:lnSpc>
              <a:buAutoNum type="arabicPeriod" startAt="7"/>
              <a:tabLst>
                <a:tab pos="241300" algn="l"/>
              </a:tabLst>
            </a:pPr>
            <a:r>
              <a:rPr sz="1200" b="1" dirty="0">
                <a:latin typeface="Times New Roman"/>
                <a:cs typeface="Times New Roman"/>
              </a:rPr>
              <a:t>Database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Integration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(MongoDB)</a:t>
            </a:r>
            <a:endParaRPr sz="120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spcBef>
                <a:spcPts val="25"/>
              </a:spcBef>
              <a:buFont typeface="Times New Roman"/>
              <a:buAutoNum type="arabicPeriod" startAt="7"/>
            </a:pPr>
            <a:endParaRPr sz="1200">
              <a:latin typeface="Times New Roman"/>
              <a:cs typeface="Times New Roman"/>
            </a:endParaRPr>
          </a:p>
          <a:p>
            <a:pPr marL="12700" marR="5715">
              <a:lnSpc>
                <a:spcPct val="143500"/>
              </a:lnSpc>
            </a:pPr>
            <a:r>
              <a:rPr sz="1200" dirty="0">
                <a:latin typeface="Times New Roman"/>
                <a:cs typeface="Times New Roman"/>
              </a:rPr>
              <a:t>MongoDB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chosen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its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schema-</a:t>
            </a:r>
            <a:r>
              <a:rPr sz="1200" dirty="0">
                <a:latin typeface="Times New Roman"/>
                <a:cs typeface="Times New Roman"/>
              </a:rPr>
              <a:t>less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structure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ability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handle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complex,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nested documents: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6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lvl="3" indent="-228600">
              <a:lnSpc>
                <a:spcPct val="1000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Collections</a:t>
            </a:r>
            <a:r>
              <a:rPr sz="1200" b="1" dirty="0">
                <a:latin typeface="Times New Roman"/>
                <a:cs typeface="Times New Roman"/>
              </a:rPr>
              <a:t>: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properties,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notifications</a:t>
            </a:r>
            <a:endParaRPr sz="1200">
              <a:latin typeface="Times New Roman"/>
              <a:cs typeface="Times New Roman"/>
            </a:endParaRPr>
          </a:p>
          <a:p>
            <a:pPr marL="469265" lvl="3" indent="-228600">
              <a:lnSpc>
                <a:spcPct val="100000"/>
              </a:lnSpc>
              <a:spcBef>
                <a:spcPts val="62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Properties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store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status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(active/closed),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prediction,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ID</a:t>
            </a:r>
            <a:endParaRPr sz="1200">
              <a:latin typeface="Times New Roman"/>
              <a:cs typeface="Times New Roman"/>
            </a:endParaRPr>
          </a:p>
          <a:p>
            <a:pPr marL="469265" marR="6985" lvl="3" indent="-228600">
              <a:lnSpc>
                <a:spcPct val="143300"/>
              </a:lnSpc>
              <a:spcBef>
                <a:spcPts val="1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Auctions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store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history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timestamps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IDs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Indexing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schema </a:t>
            </a:r>
            <a:r>
              <a:rPr sz="1200" dirty="0">
                <a:latin typeface="Times New Roman"/>
                <a:cs typeface="Times New Roman"/>
              </a:rPr>
              <a:t>validation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(via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Mongoose)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implemented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reliability.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38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1229614"/>
            <a:ext cx="5695950" cy="71405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1300" lvl="1" indent="-228600">
              <a:lnSpc>
                <a:spcPct val="100000"/>
              </a:lnSpc>
              <a:spcBef>
                <a:spcPts val="100"/>
              </a:spcBef>
              <a:buAutoNum type="arabicPeriod" startAt="8"/>
              <a:tabLst>
                <a:tab pos="241300" algn="l"/>
              </a:tabLst>
            </a:pPr>
            <a:r>
              <a:rPr sz="1200" b="1" dirty="0">
                <a:latin typeface="Times New Roman"/>
                <a:cs typeface="Times New Roman"/>
              </a:rPr>
              <a:t>Security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Authentication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(JWT,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SSL)</a:t>
            </a:r>
            <a:endParaRPr sz="120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spcBef>
                <a:spcPts val="660"/>
              </a:spcBef>
              <a:buAutoNum type="arabicPeriod" startAt="8"/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implementations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included: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45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JWT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tokens: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Issued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login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verified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each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call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spcBef>
                <a:spcPts val="62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Password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hashing: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Bcrypt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password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safety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leaks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spcBef>
                <a:spcPts val="6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Role-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routes: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can’t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pages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without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authorization</a:t>
            </a:r>
            <a:endParaRPr sz="1200">
              <a:latin typeface="Times New Roman"/>
              <a:cs typeface="Times New Roman"/>
            </a:endParaRPr>
          </a:p>
          <a:p>
            <a:pPr marL="469265" marR="5080" lvl="2" indent="-228600">
              <a:lnSpc>
                <a:spcPts val="2080"/>
              </a:lnSpc>
              <a:spcBef>
                <a:spcPts val="16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SSL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encryption: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Secures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transmission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layers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robust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protection </a:t>
            </a:r>
            <a:r>
              <a:rPr sz="1200" dirty="0">
                <a:latin typeface="Times New Roman"/>
                <a:cs typeface="Times New Roman"/>
              </a:rPr>
              <a:t>against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unauthorized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tampering.</a:t>
            </a:r>
            <a:endParaRPr sz="1200">
              <a:latin typeface="Times New Roman"/>
              <a:cs typeface="Times New Roman"/>
            </a:endParaRPr>
          </a:p>
          <a:p>
            <a:pPr lvl="2">
              <a:lnSpc>
                <a:spcPct val="100000"/>
              </a:lnSpc>
              <a:spcBef>
                <a:spcPts val="470"/>
              </a:spcBef>
              <a:buFont typeface="Symbol"/>
              <a:buChar char=""/>
            </a:pPr>
            <a:endParaRPr sz="1200">
              <a:latin typeface="Times New Roman"/>
              <a:cs typeface="Times New Roman"/>
            </a:endParaRPr>
          </a:p>
          <a:p>
            <a:pPr marL="241300" lvl="1" indent="-228600">
              <a:lnSpc>
                <a:spcPct val="100000"/>
              </a:lnSpc>
              <a:spcBef>
                <a:spcPts val="5"/>
              </a:spcBef>
              <a:buAutoNum type="arabicPeriod" startAt="9"/>
              <a:tabLst>
                <a:tab pos="241300" algn="l"/>
              </a:tabLst>
            </a:pPr>
            <a:r>
              <a:rPr sz="1200" b="1" dirty="0">
                <a:latin typeface="Times New Roman"/>
                <a:cs typeface="Times New Roman"/>
              </a:rPr>
              <a:t>Deployment</a:t>
            </a:r>
            <a:r>
              <a:rPr sz="1200" b="1" spc="-6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Overview</a:t>
            </a:r>
            <a:endParaRPr sz="1200">
              <a:latin typeface="Times New Roman"/>
              <a:cs typeface="Times New Roman"/>
            </a:endParaRPr>
          </a:p>
          <a:p>
            <a:pPr lvl="1">
              <a:lnSpc>
                <a:spcPct val="100000"/>
              </a:lnSpc>
              <a:spcBef>
                <a:spcPts val="645"/>
              </a:spcBef>
              <a:buAutoNum type="arabicPeriod" startAt="9"/>
            </a:pP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deployed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using: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5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Frontend</a:t>
            </a:r>
            <a:r>
              <a:rPr sz="1200" b="1" dirty="0">
                <a:latin typeface="Times New Roman"/>
                <a:cs typeface="Times New Roman"/>
              </a:rPr>
              <a:t>: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Netlify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(React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build)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spcBef>
                <a:spcPts val="6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Backend</a:t>
            </a:r>
            <a:r>
              <a:rPr sz="1200" b="1" dirty="0">
                <a:latin typeface="Times New Roman"/>
                <a:cs typeface="Times New Roman"/>
              </a:rPr>
              <a:t>:</a:t>
            </a:r>
            <a:r>
              <a:rPr sz="1200" b="1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Render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(Node.js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Express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server)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spcBef>
                <a:spcPts val="62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Services:</a:t>
            </a:r>
            <a:r>
              <a:rPr sz="1200" spc="-10" dirty="0">
                <a:latin typeface="Times New Roman"/>
                <a:cs typeface="Times New Roman"/>
              </a:rPr>
              <a:t> Python-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hosted</a:t>
            </a:r>
            <a:r>
              <a:rPr sz="1200" spc="-10" dirty="0">
                <a:latin typeface="Times New Roman"/>
                <a:cs typeface="Times New Roman"/>
              </a:rPr>
              <a:t> separately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ct val="100000"/>
              </a:lnSpc>
              <a:spcBef>
                <a:spcPts val="6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Database: </a:t>
            </a:r>
            <a:r>
              <a:rPr sz="1200" dirty="0">
                <a:latin typeface="Times New Roman"/>
                <a:cs typeface="Times New Roman"/>
              </a:rPr>
              <a:t>MongoDB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Atlas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cloud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service</a:t>
            </a:r>
            <a:endParaRPr sz="1200">
              <a:latin typeface="Times New Roman"/>
              <a:cs typeface="Times New Roman"/>
            </a:endParaRPr>
          </a:p>
          <a:p>
            <a:pPr lvl="2">
              <a:lnSpc>
                <a:spcPct val="100000"/>
              </a:lnSpc>
              <a:spcBef>
                <a:spcPts val="90"/>
              </a:spcBef>
              <a:buFont typeface="Symbol"/>
              <a:buChar char=""/>
            </a:pPr>
            <a:endParaRPr sz="1200">
              <a:latin typeface="Times New Roman"/>
              <a:cs typeface="Times New Roman"/>
            </a:endParaRPr>
          </a:p>
          <a:p>
            <a:pPr marL="12700" marR="6350">
              <a:lnSpc>
                <a:spcPct val="143600"/>
              </a:lnSpc>
            </a:pPr>
            <a:r>
              <a:rPr sz="1100" dirty="0">
                <a:latin typeface="Times New Roman"/>
                <a:cs typeface="Times New Roman"/>
              </a:rPr>
              <a:t>Version</a:t>
            </a:r>
            <a:r>
              <a:rPr sz="1100" spc="-35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control</a:t>
            </a:r>
            <a:r>
              <a:rPr sz="1100" spc="-35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was</a:t>
            </a:r>
            <a:r>
              <a:rPr sz="1100" spc="-40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managed</a:t>
            </a:r>
            <a:r>
              <a:rPr sz="1100" spc="-30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through</a:t>
            </a:r>
            <a:r>
              <a:rPr sz="1100" spc="-30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GitHub,</a:t>
            </a:r>
            <a:r>
              <a:rPr sz="1100" spc="-40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and</a:t>
            </a:r>
            <a:r>
              <a:rPr sz="1100" spc="-30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CI/CD</a:t>
            </a:r>
            <a:r>
              <a:rPr sz="1100" spc="-35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pipelines</a:t>
            </a:r>
            <a:r>
              <a:rPr sz="1100" spc="-30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were</a:t>
            </a:r>
            <a:r>
              <a:rPr sz="1100" spc="-40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optionally</a:t>
            </a:r>
            <a:r>
              <a:rPr sz="1100" spc="-35" dirty="0">
                <a:latin typeface="Times New Roman"/>
                <a:cs typeface="Times New Roman"/>
              </a:rPr>
              <a:t> </a:t>
            </a:r>
            <a:r>
              <a:rPr sz="1100" dirty="0">
                <a:latin typeface="Times New Roman"/>
                <a:cs typeface="Times New Roman"/>
              </a:rPr>
              <a:t>configured</a:t>
            </a:r>
            <a:r>
              <a:rPr sz="1100" spc="-30" dirty="0">
                <a:latin typeface="Times New Roman"/>
                <a:cs typeface="Times New Roman"/>
              </a:rPr>
              <a:t> </a:t>
            </a:r>
            <a:r>
              <a:rPr sz="1100" spc="-10" dirty="0">
                <a:latin typeface="Times New Roman"/>
                <a:cs typeface="Times New Roman"/>
              </a:rPr>
              <a:t>using </a:t>
            </a:r>
            <a:r>
              <a:rPr sz="1100" dirty="0">
                <a:latin typeface="Times New Roman"/>
                <a:cs typeface="Times New Roman"/>
              </a:rPr>
              <a:t>GitHub</a:t>
            </a:r>
            <a:r>
              <a:rPr sz="1100" spc="-25" dirty="0">
                <a:latin typeface="Times New Roman"/>
                <a:cs typeface="Times New Roman"/>
              </a:rPr>
              <a:t> </a:t>
            </a:r>
            <a:r>
              <a:rPr sz="1100" spc="-10" dirty="0">
                <a:latin typeface="Times New Roman"/>
                <a:cs typeface="Times New Roman"/>
              </a:rPr>
              <a:t>Actions.</a:t>
            </a: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90"/>
              </a:spcBef>
            </a:pPr>
            <a:endParaRPr sz="1100">
              <a:latin typeface="Times New Roman"/>
              <a:cs typeface="Times New Roman"/>
            </a:endParaRPr>
          </a:p>
          <a:p>
            <a:pPr marL="368300" lvl="1" indent="-355600">
              <a:lnSpc>
                <a:spcPct val="100000"/>
              </a:lnSpc>
              <a:buAutoNum type="arabicPeriod" startAt="10"/>
              <a:tabLst>
                <a:tab pos="368300" algn="l"/>
              </a:tabLst>
            </a:pPr>
            <a:r>
              <a:rPr sz="1400" b="1" dirty="0">
                <a:latin typeface="Times New Roman"/>
                <a:cs typeface="Times New Roman"/>
              </a:rPr>
              <a:t>User</a:t>
            </a:r>
            <a:r>
              <a:rPr sz="1400" b="1" spc="-50" dirty="0">
                <a:latin typeface="Times New Roman"/>
                <a:cs typeface="Times New Roman"/>
              </a:rPr>
              <a:t> </a:t>
            </a:r>
            <a:r>
              <a:rPr sz="1400" b="1" dirty="0">
                <a:latin typeface="Times New Roman"/>
                <a:cs typeface="Times New Roman"/>
              </a:rPr>
              <a:t>Interface</a:t>
            </a:r>
            <a:r>
              <a:rPr sz="1400" b="1" spc="-50" dirty="0">
                <a:latin typeface="Times New Roman"/>
                <a:cs typeface="Times New Roman"/>
              </a:rPr>
              <a:t> </a:t>
            </a:r>
            <a:r>
              <a:rPr sz="1400" b="1" spc="-10" dirty="0">
                <a:latin typeface="Times New Roman"/>
                <a:cs typeface="Times New Roman"/>
              </a:rPr>
              <a:t>Screenshots</a:t>
            </a:r>
            <a:endParaRPr sz="1400">
              <a:latin typeface="Times New Roman"/>
              <a:cs typeface="Times New Roman"/>
            </a:endParaRPr>
          </a:p>
          <a:p>
            <a:pPr marL="12700" marR="5080">
              <a:lnSpc>
                <a:spcPts val="1380"/>
              </a:lnSpc>
              <a:spcBef>
                <a:spcPts val="142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UI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developed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usability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mind,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targeting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both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tech-</a:t>
            </a:r>
            <a:r>
              <a:rPr sz="1200" dirty="0">
                <a:latin typeface="Times New Roman"/>
                <a:cs typeface="Times New Roman"/>
              </a:rPr>
              <a:t>savvy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general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users. </a:t>
            </a:r>
            <a:r>
              <a:rPr sz="1200" dirty="0">
                <a:latin typeface="Times New Roman"/>
                <a:cs typeface="Times New Roman"/>
              </a:rPr>
              <a:t>Key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screens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include: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ts val="1410"/>
              </a:lnSpc>
              <a:spcBef>
                <a:spcPts val="131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Login/Registration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Pages: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role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selection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login.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Dashboard: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Displays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live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updates.</a:t>
            </a:r>
            <a:endParaRPr sz="1200">
              <a:latin typeface="Times New Roman"/>
              <a:cs typeface="Times New Roman"/>
            </a:endParaRPr>
          </a:p>
          <a:p>
            <a:pPr marL="469265" marR="6350" lvl="2" indent="-228600">
              <a:lnSpc>
                <a:spcPts val="1380"/>
              </a:lnSpc>
              <a:spcBef>
                <a:spcPts val="7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Form: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seller-</a:t>
            </a:r>
            <a:r>
              <a:rPr sz="1200" dirty="0">
                <a:latin typeface="Times New Roman"/>
                <a:cs typeface="Times New Roman"/>
              </a:rPr>
              <a:t>facing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interface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suggests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AI </a:t>
            </a:r>
            <a:r>
              <a:rPr sz="1200" spc="-10" dirty="0">
                <a:latin typeface="Times New Roman"/>
                <a:cs typeface="Times New Roman"/>
              </a:rPr>
              <a:t>model.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ts val="1315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Interface: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place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instantly.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Admin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Panel: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Enables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review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flagged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reports.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717416" y="4146930"/>
            <a:ext cx="106997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5.1: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Contact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69944" y="8356661"/>
            <a:ext cx="102108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5.2: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Abouts</a:t>
            </a:r>
            <a:endParaRPr sz="1200" dirty="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45844" y="762319"/>
            <a:ext cx="5669280" cy="271970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89988" y="5152026"/>
            <a:ext cx="5669280" cy="2707385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39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556633" y="7543800"/>
            <a:ext cx="93599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5.3: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Login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45844" y="1524000"/>
            <a:ext cx="5669280" cy="5396865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40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332479" y="8526710"/>
            <a:ext cx="109601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5.4: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Register</a:t>
            </a:r>
            <a:endParaRPr sz="1200" dirty="0">
              <a:latin typeface="Times New Roman"/>
              <a:cs typeface="Times New Roman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45844" y="751415"/>
            <a:ext cx="5669280" cy="7477125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41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810382" y="3232531"/>
            <a:ext cx="2031364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5.5: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Property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Management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949066" y="8091678"/>
            <a:ext cx="175260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5.6: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User</a:t>
            </a:r>
            <a:r>
              <a:rPr sz="1200" b="1" spc="-10" dirty="0">
                <a:latin typeface="Times New Roman"/>
                <a:cs typeface="Times New Roman"/>
              </a:rPr>
              <a:t> Management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19200" y="914400"/>
            <a:ext cx="5669280" cy="180403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219200" y="4667122"/>
            <a:ext cx="5669280" cy="2202815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42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898775" y="4590415"/>
            <a:ext cx="170053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5.7: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Manage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Property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868295" y="8553450"/>
            <a:ext cx="176085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5.8: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Admin </a:t>
            </a:r>
            <a:r>
              <a:rPr sz="1200" b="1" spc="-10" dirty="0">
                <a:latin typeface="Times New Roman"/>
                <a:cs typeface="Times New Roman"/>
              </a:rPr>
              <a:t>Dashboard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143000" y="1620519"/>
            <a:ext cx="5669280" cy="2351804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143000" y="5320284"/>
            <a:ext cx="5669280" cy="2725039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43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2944495" y="3765930"/>
            <a:ext cx="145542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5.9:</a:t>
            </a:r>
            <a:r>
              <a:rPr sz="1200" b="1" spc="-1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Add</a:t>
            </a:r>
            <a:r>
              <a:rPr sz="1200" b="1" spc="-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Property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162681" y="8769807"/>
            <a:ext cx="102108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dirty="0">
                <a:latin typeface="Times New Roman"/>
                <a:cs typeface="Times New Roman"/>
              </a:rPr>
              <a:t>Fig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5.10: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Home</a:t>
            </a:r>
            <a:endParaRPr sz="1200">
              <a:latin typeface="Times New Roman"/>
              <a:cs typeface="Times New Roman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66800" y="914400"/>
            <a:ext cx="5669279" cy="233362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66800" y="5200522"/>
            <a:ext cx="5669280" cy="2707640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44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45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2315082" y="886714"/>
            <a:ext cx="34163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Times New Roman"/>
                <a:cs typeface="Times New Roman"/>
              </a:rPr>
              <a:t>Chapter</a:t>
            </a:r>
            <a:r>
              <a:rPr sz="1800" b="1" spc="-25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6:</a:t>
            </a:r>
            <a:r>
              <a:rPr sz="1800" b="1" spc="-25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Testing</a:t>
            </a:r>
            <a:r>
              <a:rPr sz="1800" b="1" spc="-30" dirty="0">
                <a:latin typeface="Times New Roman"/>
                <a:cs typeface="Times New Roman"/>
              </a:rPr>
              <a:t> </a:t>
            </a:r>
            <a:r>
              <a:rPr sz="1800" b="1" dirty="0">
                <a:latin typeface="Times New Roman"/>
                <a:cs typeface="Times New Roman"/>
              </a:rPr>
              <a:t>and</a:t>
            </a:r>
            <a:r>
              <a:rPr sz="1800" b="1" spc="-25" dirty="0">
                <a:latin typeface="Times New Roman"/>
                <a:cs typeface="Times New Roman"/>
              </a:rPr>
              <a:t> </a:t>
            </a:r>
            <a:r>
              <a:rPr sz="1800" b="1" spc="-10" dirty="0">
                <a:latin typeface="Times New Roman"/>
                <a:cs typeface="Times New Roman"/>
              </a:rPr>
              <a:t>Evaluation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1770633"/>
            <a:ext cx="5695950" cy="44488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270510" lvl="1" indent="-257810">
              <a:lnSpc>
                <a:spcPct val="100000"/>
              </a:lnSpc>
              <a:spcBef>
                <a:spcPts val="105"/>
              </a:spcBef>
              <a:buAutoNum type="arabicPeriod"/>
              <a:tabLst>
                <a:tab pos="270510" algn="l"/>
              </a:tabLst>
            </a:pPr>
            <a:r>
              <a:rPr sz="1350" b="1" dirty="0">
                <a:latin typeface="Times New Roman"/>
                <a:cs typeface="Times New Roman"/>
              </a:rPr>
              <a:t>Introduction</a:t>
            </a:r>
            <a:r>
              <a:rPr sz="1350" b="1" spc="-40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to</a:t>
            </a:r>
            <a:r>
              <a:rPr sz="1350" b="1" spc="-35" dirty="0">
                <a:latin typeface="Times New Roman"/>
                <a:cs typeface="Times New Roman"/>
              </a:rPr>
              <a:t> </a:t>
            </a:r>
            <a:r>
              <a:rPr sz="1350" b="1" spc="-10" dirty="0">
                <a:latin typeface="Times New Roman"/>
                <a:cs typeface="Times New Roman"/>
              </a:rPr>
              <a:t>Testing</a:t>
            </a:r>
            <a:endParaRPr sz="1350">
              <a:latin typeface="Times New Roman"/>
              <a:cs typeface="Times New Roman"/>
            </a:endParaRPr>
          </a:p>
          <a:p>
            <a:pPr marL="12700" marR="5715" algn="just">
              <a:lnSpc>
                <a:spcPts val="1380"/>
              </a:lnSpc>
              <a:spcBef>
                <a:spcPts val="1435"/>
              </a:spcBef>
            </a:pP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vital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aspect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software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lifecycle,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aimed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at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developed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performs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intended,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satisfies user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requirements,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free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critical </a:t>
            </a:r>
            <a:r>
              <a:rPr sz="1200" dirty="0">
                <a:latin typeface="Times New Roman"/>
                <a:cs typeface="Times New Roman"/>
              </a:rPr>
              <a:t>errors or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vulnerabilities.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serves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multiple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purposes: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identifying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bugs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early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in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development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cycle,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validating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business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logic,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ensuring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compatibility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across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different </a:t>
            </a:r>
            <a:r>
              <a:rPr sz="1200" dirty="0">
                <a:latin typeface="Times New Roman"/>
                <a:cs typeface="Times New Roman"/>
              </a:rPr>
              <a:t>platforms,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evaluating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system’s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various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operational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loads.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Auction</a:t>
            </a:r>
            <a:r>
              <a:rPr sz="1200" b="1" spc="1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Abode</a:t>
            </a:r>
            <a:r>
              <a:rPr sz="1200" b="1" spc="1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platform—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web-</a:t>
            </a:r>
            <a:r>
              <a:rPr sz="1200" dirty="0">
                <a:latin typeface="Times New Roman"/>
                <a:cs typeface="Times New Roman"/>
              </a:rPr>
              <a:t>based,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integrated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 system—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even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more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critical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due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nature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bidding,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role-based functionality,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involvement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machine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learning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price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document </a:t>
            </a:r>
            <a:r>
              <a:rPr sz="1200" dirty="0">
                <a:latin typeface="Times New Roman"/>
                <a:cs typeface="Times New Roman"/>
              </a:rPr>
              <a:t>verification.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chapter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discusses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various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types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performed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development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including: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ts val="1410"/>
              </a:lnSpc>
              <a:spcBef>
                <a:spcPts val="131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-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Unit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-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Performance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Usability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</a:t>
            </a:r>
            <a:endParaRPr sz="1200">
              <a:latin typeface="Times New Roman"/>
              <a:cs typeface="Times New Roman"/>
            </a:endParaRPr>
          </a:p>
          <a:p>
            <a:pPr marL="469265" lvl="2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Evaluation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via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Metrics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6350" algn="just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combination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automated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manual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strategies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holistic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validation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both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technical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perspectives.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76324" y="6716648"/>
            <a:ext cx="5695315" cy="19919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350" b="1" dirty="0">
                <a:latin typeface="Times New Roman"/>
                <a:cs typeface="Times New Roman"/>
              </a:rPr>
              <a:t>6.2</a:t>
            </a:r>
            <a:r>
              <a:rPr sz="1350" b="1" spc="-40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Functional</a:t>
            </a:r>
            <a:r>
              <a:rPr sz="1350" b="1" spc="-25" dirty="0">
                <a:latin typeface="Times New Roman"/>
                <a:cs typeface="Times New Roman"/>
              </a:rPr>
              <a:t> </a:t>
            </a:r>
            <a:r>
              <a:rPr sz="1350" b="1" spc="-10" dirty="0">
                <a:latin typeface="Times New Roman"/>
                <a:cs typeface="Times New Roman"/>
              </a:rPr>
              <a:t>Testing</a:t>
            </a:r>
            <a:endParaRPr sz="1350">
              <a:latin typeface="Times New Roman"/>
              <a:cs typeface="Times New Roman"/>
            </a:endParaRPr>
          </a:p>
          <a:p>
            <a:pPr marL="12700" marR="5080" algn="just">
              <a:lnSpc>
                <a:spcPct val="95900"/>
              </a:lnSpc>
              <a:spcBef>
                <a:spcPts val="1385"/>
              </a:spcBef>
            </a:pP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type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black-</a:t>
            </a:r>
            <a:r>
              <a:rPr sz="1200" dirty="0">
                <a:latin typeface="Times New Roman"/>
                <a:cs typeface="Times New Roman"/>
              </a:rPr>
              <a:t>box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used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verify</a:t>
            </a:r>
            <a:r>
              <a:rPr sz="1200" spc="1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software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 </a:t>
            </a:r>
            <a:r>
              <a:rPr sz="1200" dirty="0">
                <a:latin typeface="Times New Roman"/>
                <a:cs typeface="Times New Roman"/>
              </a:rPr>
              <a:t>performs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its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intended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functions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specified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requirements.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Each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unit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was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isolation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combination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reliability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completeness.</a:t>
            </a: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  <a:spcBef>
                <a:spcPts val="134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major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functionalities</a:t>
            </a:r>
            <a:r>
              <a:rPr sz="1200" dirty="0">
                <a:latin typeface="Times New Roman"/>
                <a:cs typeface="Times New Roman"/>
              </a:rPr>
              <a:t> tested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phase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included: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marR="8255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User</a:t>
            </a:r>
            <a:r>
              <a:rPr sz="1200" b="1" spc="114" dirty="0">
                <a:latin typeface="Times New Roman"/>
                <a:cs typeface="Times New Roman"/>
              </a:rPr>
              <a:t>  </a:t>
            </a:r>
            <a:r>
              <a:rPr sz="1200" b="1" dirty="0">
                <a:latin typeface="Times New Roman"/>
                <a:cs typeface="Times New Roman"/>
              </a:rPr>
              <a:t>Registration</a:t>
            </a:r>
            <a:r>
              <a:rPr sz="1200" b="1" spc="114" dirty="0">
                <a:latin typeface="Times New Roman"/>
                <a:cs typeface="Times New Roman"/>
              </a:rPr>
              <a:t> 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110" dirty="0">
                <a:latin typeface="Times New Roman"/>
                <a:cs typeface="Times New Roman"/>
              </a:rPr>
              <a:t>  </a:t>
            </a:r>
            <a:r>
              <a:rPr sz="1200" b="1" dirty="0">
                <a:latin typeface="Times New Roman"/>
                <a:cs typeface="Times New Roman"/>
              </a:rPr>
              <a:t>Login:</a:t>
            </a:r>
            <a:r>
              <a:rPr sz="1200" b="1" spc="1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Separate</a:t>
            </a:r>
            <a:r>
              <a:rPr sz="1200" spc="12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workflows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buyers,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sellers,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administrators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implemented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tested.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redirection,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token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issuance </a:t>
            </a:r>
            <a:r>
              <a:rPr sz="1200" dirty="0">
                <a:latin typeface="Times New Roman"/>
                <a:cs typeface="Times New Roman"/>
              </a:rPr>
              <a:t>(JWT),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role-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dashboard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validated.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46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6585" cy="3016250"/>
          </a:xfrm>
          <a:prstGeom prst="rect">
            <a:avLst/>
          </a:prstGeom>
        </p:spPr>
        <p:txBody>
          <a:bodyPr vert="horz" wrap="square" lIns="0" tIns="24765" rIns="0" bIns="0" rtlCol="0">
            <a:spAutoFit/>
          </a:bodyPr>
          <a:lstStyle/>
          <a:p>
            <a:pPr marL="469265" marR="5080" indent="-228600" algn="just">
              <a:lnSpc>
                <a:spcPts val="1380"/>
              </a:lnSpc>
              <a:spcBef>
                <a:spcPts val="19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Property</a:t>
            </a:r>
            <a:r>
              <a:rPr sz="1200" b="1" spc="7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Listing</a:t>
            </a:r>
            <a:r>
              <a:rPr sz="1200" b="1" spc="7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and</a:t>
            </a:r>
            <a:r>
              <a:rPr sz="1200" b="1" spc="6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Management:</a:t>
            </a:r>
            <a:r>
              <a:rPr sz="1200" b="1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could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new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properties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images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legal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documents.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edit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delete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functionalities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data </a:t>
            </a:r>
            <a:r>
              <a:rPr sz="1200" dirty="0">
                <a:latin typeface="Times New Roman"/>
                <a:cs typeface="Times New Roman"/>
              </a:rPr>
              <a:t>persistence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validation.</a:t>
            </a:r>
            <a:endParaRPr sz="1200">
              <a:latin typeface="Times New Roman"/>
              <a:cs typeface="Times New Roman"/>
            </a:endParaRPr>
          </a:p>
          <a:p>
            <a:pPr marL="469265" marR="5080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Real-</a:t>
            </a:r>
            <a:r>
              <a:rPr sz="1200" b="1" dirty="0">
                <a:latin typeface="Times New Roman"/>
                <a:cs typeface="Times New Roman"/>
              </a:rPr>
              <a:t>Time</a:t>
            </a:r>
            <a:r>
              <a:rPr sz="1200" b="1" spc="14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Bidding:</a:t>
            </a:r>
            <a:r>
              <a:rPr sz="1200" b="1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able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participate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live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auctions.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 </a:t>
            </a:r>
            <a:r>
              <a:rPr sz="1200" dirty="0">
                <a:latin typeface="Times New Roman"/>
                <a:cs typeface="Times New Roman"/>
              </a:rPr>
              <a:t>handled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 in real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time using WebSockets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(Socket.io),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which was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 </a:t>
            </a:r>
            <a:r>
              <a:rPr sz="1200" spc="-25" dirty="0">
                <a:latin typeface="Times New Roman"/>
                <a:cs typeface="Times New Roman"/>
              </a:rPr>
              <a:t>for </a:t>
            </a:r>
            <a:r>
              <a:rPr sz="1200" dirty="0">
                <a:latin typeface="Times New Roman"/>
                <a:cs typeface="Times New Roman"/>
              </a:rPr>
              <a:t>latency,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accuracy,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synchronization.</a:t>
            </a:r>
            <a:endParaRPr sz="1200">
              <a:latin typeface="Times New Roman"/>
              <a:cs typeface="Times New Roman"/>
            </a:endParaRPr>
          </a:p>
          <a:p>
            <a:pPr marL="469265" marR="6985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AI</a:t>
            </a:r>
            <a:r>
              <a:rPr sz="1200" b="1" spc="28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Module</a:t>
            </a:r>
            <a:r>
              <a:rPr sz="1200" b="1" spc="28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Integration:</a:t>
            </a:r>
            <a:r>
              <a:rPr sz="1200" b="1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prediction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used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regression-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model,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while document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verification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NLP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image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processing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techniques.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Both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modules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were </a:t>
            </a:r>
            <a:r>
              <a:rPr sz="1200" dirty="0">
                <a:latin typeface="Times New Roman"/>
                <a:cs typeface="Times New Roman"/>
              </a:rPr>
              <a:t>integrated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backend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Flask</a:t>
            </a:r>
            <a:r>
              <a:rPr sz="1200" spc="2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APIs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2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thoroughly</a:t>
            </a:r>
            <a:r>
              <a:rPr sz="1200" spc="2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correct outputs.</a:t>
            </a:r>
            <a:endParaRPr sz="1200">
              <a:latin typeface="Times New Roman"/>
              <a:cs typeface="Times New Roman"/>
            </a:endParaRPr>
          </a:p>
          <a:p>
            <a:pPr marL="469265" marR="8890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b="1" dirty="0">
                <a:latin typeface="Times New Roman"/>
                <a:cs typeface="Times New Roman"/>
              </a:rPr>
              <a:t>Notification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System: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confirmations,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start/end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alerts,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messages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delivered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instantly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through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toast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notifications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email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(SendGrid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API</a:t>
            </a:r>
            <a:endParaRPr sz="1200">
              <a:latin typeface="Times New Roman"/>
              <a:cs typeface="Times New Roman"/>
            </a:endParaRPr>
          </a:p>
          <a:p>
            <a:pPr marL="469265" algn="just">
              <a:lnSpc>
                <a:spcPts val="1345"/>
              </a:lnSpc>
            </a:pP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well).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10160" algn="just">
              <a:lnSpc>
                <a:spcPts val="1380"/>
              </a:lnSpc>
            </a:pPr>
            <a:r>
              <a:rPr sz="1200" b="1" dirty="0">
                <a:latin typeface="Times New Roman"/>
                <a:cs typeface="Times New Roman"/>
              </a:rPr>
              <a:t>Outcome:</a:t>
            </a:r>
            <a:r>
              <a:rPr sz="1200" b="1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modules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behaved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expected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various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scenarios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edge </a:t>
            </a:r>
            <a:r>
              <a:rPr sz="1200" dirty="0">
                <a:latin typeface="Times New Roman"/>
                <a:cs typeface="Times New Roman"/>
              </a:rPr>
              <a:t>cases.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confirmed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full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compliance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Software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Requirements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Specification (SRS).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4402963"/>
            <a:ext cx="5696585" cy="463169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350" b="1" dirty="0">
                <a:latin typeface="Times New Roman"/>
                <a:cs typeface="Times New Roman"/>
              </a:rPr>
              <a:t>6.3</a:t>
            </a:r>
            <a:r>
              <a:rPr sz="1350" b="1" spc="-25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Unit</a:t>
            </a:r>
            <a:r>
              <a:rPr sz="1350" b="1" spc="-5" dirty="0">
                <a:latin typeface="Times New Roman"/>
                <a:cs typeface="Times New Roman"/>
              </a:rPr>
              <a:t> </a:t>
            </a:r>
            <a:r>
              <a:rPr sz="1350" b="1" spc="-10" dirty="0">
                <a:latin typeface="Times New Roman"/>
                <a:cs typeface="Times New Roman"/>
              </a:rPr>
              <a:t>Testing</a:t>
            </a:r>
            <a:endParaRPr sz="1350">
              <a:latin typeface="Times New Roman"/>
              <a:cs typeface="Times New Roman"/>
            </a:endParaRPr>
          </a:p>
          <a:p>
            <a:pPr marL="12700" marR="6985" algn="just">
              <a:lnSpc>
                <a:spcPts val="1380"/>
              </a:lnSpc>
              <a:spcBef>
                <a:spcPts val="1435"/>
              </a:spcBef>
            </a:pPr>
            <a:r>
              <a:rPr sz="1200" dirty="0">
                <a:latin typeface="Times New Roman"/>
                <a:cs typeface="Times New Roman"/>
              </a:rPr>
              <a:t>Unit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involves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validation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individual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components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"units"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in </a:t>
            </a:r>
            <a:r>
              <a:rPr sz="1200" dirty="0">
                <a:latin typeface="Times New Roman"/>
                <a:cs typeface="Times New Roman"/>
              </a:rPr>
              <a:t>isolation.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level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allows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developers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catch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bugs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at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earliest</a:t>
            </a:r>
            <a:r>
              <a:rPr sz="1200" spc="2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stage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spc="-10" dirty="0">
                <a:latin typeface="Times New Roman"/>
                <a:cs typeface="Times New Roman"/>
              </a:rPr>
              <a:t>development,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often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before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begins.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10"/>
              </a:spcBef>
            </a:pPr>
            <a:r>
              <a:rPr sz="1200" b="1" dirty="0">
                <a:latin typeface="Times New Roman"/>
                <a:cs typeface="Times New Roman"/>
              </a:rPr>
              <a:t>Backend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Testing: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spcBef>
                <a:spcPts val="133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Frameworks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used: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Mocha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(test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runner)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Chai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(assertion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library).</a:t>
            </a:r>
            <a:endParaRPr sz="1200">
              <a:latin typeface="Times New Roman"/>
              <a:cs typeface="Times New Roman"/>
            </a:endParaRPr>
          </a:p>
          <a:p>
            <a:pPr marL="469265" marR="5080" indent="-228600">
              <a:lnSpc>
                <a:spcPts val="1380"/>
              </a:lnSpc>
              <a:spcBef>
                <a:spcPts val="6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Coverage: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authentication,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CRUD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operations,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logic, and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Flask- 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endpoints.</a:t>
            </a:r>
            <a:endParaRPr sz="1200">
              <a:latin typeface="Times New Roman"/>
              <a:cs typeface="Times New Roman"/>
            </a:endParaRPr>
          </a:p>
          <a:p>
            <a:pPr marL="469265" marR="10795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Example: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registration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route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data,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duplicate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emails, </a:t>
            </a:r>
            <a:r>
              <a:rPr sz="1200" dirty="0">
                <a:latin typeface="Times New Roman"/>
                <a:cs typeface="Times New Roman"/>
              </a:rPr>
              <a:t>missing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fields,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password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mismatches.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10"/>
              </a:spcBef>
            </a:pPr>
            <a:r>
              <a:rPr sz="1200" b="1" dirty="0">
                <a:latin typeface="Times New Roman"/>
                <a:cs typeface="Times New Roman"/>
              </a:rPr>
              <a:t>Frontend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Testing: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spcBef>
                <a:spcPts val="13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Tool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used: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Jest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React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Library.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Scope: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rendering,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button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click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events,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state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changes,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form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validation.</a:t>
            </a:r>
            <a:endParaRPr sz="1200">
              <a:latin typeface="Times New Roman"/>
              <a:cs typeface="Times New Roman"/>
            </a:endParaRPr>
          </a:p>
          <a:p>
            <a:pPr marL="469265" marR="12065" indent="-228600">
              <a:lnSpc>
                <a:spcPts val="1380"/>
              </a:lnSpc>
              <a:spcBef>
                <a:spcPts val="6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Example: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component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 bid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triggered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WebSocket </a:t>
            </a:r>
            <a:r>
              <a:rPr sz="1200" dirty="0">
                <a:latin typeface="Times New Roman"/>
                <a:cs typeface="Times New Roman"/>
              </a:rPr>
              <a:t>emissions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UI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refresh.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10"/>
              </a:spcBef>
            </a:pPr>
            <a:r>
              <a:rPr sz="1200" b="1" dirty="0">
                <a:latin typeface="Times New Roman"/>
                <a:cs typeface="Times New Roman"/>
              </a:rPr>
              <a:t>AI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Model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Testing: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spcBef>
                <a:spcPts val="134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Tool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used: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PyTest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(Python).</a:t>
            </a:r>
            <a:endParaRPr sz="1200">
              <a:latin typeface="Times New Roman"/>
              <a:cs typeface="Times New Roman"/>
            </a:endParaRPr>
          </a:p>
          <a:p>
            <a:pPr marL="469265" marR="9525" indent="-228600">
              <a:lnSpc>
                <a:spcPts val="1380"/>
              </a:lnSpc>
              <a:spcBef>
                <a:spcPts val="6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prediction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different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sets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evaluate </a:t>
            </a:r>
            <a:r>
              <a:rPr sz="1200" dirty="0">
                <a:latin typeface="Times New Roman"/>
                <a:cs typeface="Times New Roman"/>
              </a:rPr>
              <a:t>consistency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correctness.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47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5315" cy="1968500"/>
          </a:xfrm>
          <a:prstGeom prst="rect">
            <a:avLst/>
          </a:prstGeom>
        </p:spPr>
        <p:txBody>
          <a:bodyPr vert="horz" wrap="square" lIns="0" tIns="24765" rIns="0" bIns="0" rtlCol="0">
            <a:spAutoFit/>
          </a:bodyPr>
          <a:lstStyle/>
          <a:p>
            <a:pPr marL="469265" marR="8255" indent="-228600">
              <a:lnSpc>
                <a:spcPts val="1380"/>
              </a:lnSpc>
              <a:spcBef>
                <a:spcPts val="19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Edge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cases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like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missing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values,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unrealistic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inputs,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noisy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17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for </a:t>
            </a:r>
            <a:r>
              <a:rPr sz="1200" dirty="0">
                <a:latin typeface="Times New Roman"/>
                <a:cs typeface="Times New Roman"/>
              </a:rPr>
              <a:t>graceful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handling.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10"/>
              </a:spcBef>
            </a:pPr>
            <a:r>
              <a:rPr sz="1200" b="1" dirty="0">
                <a:latin typeface="Times New Roman"/>
                <a:cs typeface="Times New Roman"/>
              </a:rPr>
              <a:t>Test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Categories: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spcBef>
                <a:spcPts val="133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Normal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–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regular,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data.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Boundary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–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Input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extremes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(e.g.,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highest/lowest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bid).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Error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–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Invalid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formats,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unauthorized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missing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fields.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Result: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Unit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tests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achieved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over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90%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code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coverage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helped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maintain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stable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codebase </a:t>
            </a:r>
            <a:r>
              <a:rPr sz="1200" dirty="0">
                <a:latin typeface="Times New Roman"/>
                <a:cs typeface="Times New Roman"/>
              </a:rPr>
              <a:t>throughout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development.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3357498"/>
            <a:ext cx="5694680" cy="46259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350" b="1" dirty="0">
                <a:latin typeface="Times New Roman"/>
                <a:cs typeface="Times New Roman"/>
              </a:rPr>
              <a:t>6.4</a:t>
            </a:r>
            <a:r>
              <a:rPr sz="1350" b="1" spc="-30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Integration</a:t>
            </a:r>
            <a:r>
              <a:rPr sz="1350" b="1" spc="-30" dirty="0">
                <a:latin typeface="Times New Roman"/>
                <a:cs typeface="Times New Roman"/>
              </a:rPr>
              <a:t> </a:t>
            </a:r>
            <a:r>
              <a:rPr sz="1350" b="1" spc="-10" dirty="0">
                <a:latin typeface="Times New Roman"/>
                <a:cs typeface="Times New Roman"/>
              </a:rPr>
              <a:t>Testing</a:t>
            </a:r>
            <a:endParaRPr sz="1350">
              <a:latin typeface="Times New Roman"/>
              <a:cs typeface="Times New Roman"/>
            </a:endParaRPr>
          </a:p>
          <a:p>
            <a:pPr marL="12700" marR="8890" algn="just">
              <a:lnSpc>
                <a:spcPts val="1380"/>
              </a:lnSpc>
              <a:spcBef>
                <a:spcPts val="1420"/>
              </a:spcBef>
            </a:pP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examines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interaction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between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multiple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modules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they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work </a:t>
            </a:r>
            <a:r>
              <a:rPr sz="1200" dirty="0">
                <a:latin typeface="Times New Roman"/>
                <a:cs typeface="Times New Roman"/>
              </a:rPr>
              <a:t>together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seamlessly.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Auction</a:t>
            </a:r>
            <a:r>
              <a:rPr sz="1200" i="1" spc="-4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Times New Roman"/>
                <a:cs typeface="Times New Roman"/>
              </a:rPr>
              <a:t>Abode</a:t>
            </a:r>
            <a:r>
              <a:rPr sz="1200" dirty="0">
                <a:latin typeface="Times New Roman"/>
                <a:cs typeface="Times New Roman"/>
              </a:rPr>
              <a:t>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several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critical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evaluated: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marR="5715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Frontend-Backend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Interaction: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RESTful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endpoints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were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ensure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they </a:t>
            </a:r>
            <a:r>
              <a:rPr sz="1200" dirty="0">
                <a:latin typeface="Times New Roman"/>
                <a:cs typeface="Times New Roman"/>
              </a:rPr>
              <a:t>return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expected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JSON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HTTP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status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codes.</a:t>
            </a:r>
            <a:endParaRPr sz="1200">
              <a:latin typeface="Times New Roman"/>
              <a:cs typeface="Times New Roman"/>
            </a:endParaRPr>
          </a:p>
          <a:p>
            <a:pPr marL="469265" marR="5080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WebSocket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Communication: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handled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through </a:t>
            </a:r>
            <a:r>
              <a:rPr sz="1200" dirty="0">
                <a:latin typeface="Times New Roman"/>
                <a:cs typeface="Times New Roman"/>
              </a:rPr>
              <a:t>Socket.io.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tests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confirmed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emission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reception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messages,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bid </a:t>
            </a:r>
            <a:r>
              <a:rPr sz="1200" dirty="0">
                <a:latin typeface="Times New Roman"/>
                <a:cs typeface="Times New Roman"/>
              </a:rPr>
              <a:t>queuing,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UI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synchronization.</a:t>
            </a:r>
            <a:endParaRPr sz="1200">
              <a:latin typeface="Times New Roman"/>
              <a:cs typeface="Times New Roman"/>
            </a:endParaRPr>
          </a:p>
          <a:p>
            <a:pPr marL="469265" marR="7620" indent="-228600" algn="just">
              <a:lnSpc>
                <a:spcPts val="1380"/>
              </a:lnSpc>
              <a:spcBef>
                <a:spcPts val="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Backend-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Services: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Flask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APIs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hosted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separate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server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interacted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Node.js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backend.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1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prediction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routes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1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estimation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document</a:t>
            </a:r>
            <a:r>
              <a:rPr sz="1200" spc="-5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classification/verification.</a:t>
            </a:r>
            <a:endParaRPr sz="1200">
              <a:latin typeface="Times New Roman"/>
              <a:cs typeface="Times New Roman"/>
            </a:endParaRPr>
          </a:p>
          <a:p>
            <a:pPr marL="469265" marR="6350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Database</a:t>
            </a:r>
            <a:r>
              <a:rPr sz="1200" spc="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(MongoDB):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Insertions,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updates,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retrievals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to </a:t>
            </a:r>
            <a:r>
              <a:rPr sz="1200" dirty="0">
                <a:latin typeface="Times New Roman"/>
                <a:cs typeface="Times New Roman"/>
              </a:rPr>
              <a:t>confirm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consistency.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Edge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cases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like</a:t>
            </a:r>
            <a:r>
              <a:rPr sz="1200" spc="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simultaneous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deletion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during </a:t>
            </a:r>
            <a:r>
              <a:rPr sz="1200" dirty="0">
                <a:latin typeface="Times New Roman"/>
                <a:cs typeface="Times New Roman"/>
              </a:rPr>
              <a:t>active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evaluated.</a:t>
            </a:r>
            <a:endParaRPr sz="1200">
              <a:latin typeface="Times New Roman"/>
              <a:cs typeface="Times New Roman"/>
            </a:endParaRPr>
          </a:p>
          <a:p>
            <a:pPr marL="12700" algn="just">
              <a:lnSpc>
                <a:spcPct val="100000"/>
              </a:lnSpc>
              <a:spcBef>
                <a:spcPts val="1295"/>
              </a:spcBef>
            </a:pPr>
            <a:r>
              <a:rPr sz="1200" b="1" dirty="0">
                <a:latin typeface="Times New Roman"/>
                <a:cs typeface="Times New Roman"/>
              </a:rPr>
              <a:t>Tools </a:t>
            </a:r>
            <a:r>
              <a:rPr sz="1200" b="1" spc="-10" dirty="0">
                <a:latin typeface="Times New Roman"/>
                <a:cs typeface="Times New Roman"/>
              </a:rPr>
              <a:t>Used: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spcBef>
                <a:spcPts val="134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Postman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(for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manual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testing)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Jest/Mocha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end-to-</a:t>
            </a:r>
            <a:r>
              <a:rPr sz="1200" dirty="0">
                <a:latin typeface="Times New Roman"/>
                <a:cs typeface="Times New Roman"/>
              </a:rPr>
              <a:t>end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scripts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Socket.io-</a:t>
            </a:r>
            <a:r>
              <a:rPr sz="1200" dirty="0">
                <a:latin typeface="Times New Roman"/>
                <a:cs typeface="Times New Roman"/>
              </a:rPr>
              <a:t>client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simulating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sessions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715" algn="just">
              <a:lnSpc>
                <a:spcPts val="1380"/>
              </a:lnSpc>
            </a:pPr>
            <a:r>
              <a:rPr sz="1200" b="1" dirty="0">
                <a:latin typeface="Times New Roman"/>
                <a:cs typeface="Times New Roman"/>
              </a:rPr>
              <a:t>Result:</a:t>
            </a:r>
            <a:r>
              <a:rPr sz="1200" b="1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modules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integrated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successfully,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mismatches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2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flow</a:t>
            </a:r>
            <a:r>
              <a:rPr sz="1200" spc="254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or </a:t>
            </a:r>
            <a:r>
              <a:rPr sz="1200" dirty="0">
                <a:latin typeface="Times New Roman"/>
                <a:cs typeface="Times New Roman"/>
              </a:rPr>
              <a:t>response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formats.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validated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 architectural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soundness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MERN </a:t>
            </a:r>
            <a:r>
              <a:rPr sz="1200" dirty="0">
                <a:latin typeface="Times New Roman"/>
                <a:cs typeface="Times New Roman"/>
              </a:rPr>
              <a:t>stack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used.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76324" y="8478773"/>
            <a:ext cx="1393190" cy="23241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350" b="1" dirty="0">
                <a:latin typeface="Times New Roman"/>
                <a:cs typeface="Times New Roman"/>
              </a:rPr>
              <a:t>6.5</a:t>
            </a:r>
            <a:r>
              <a:rPr sz="1350" b="1" spc="-25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System</a:t>
            </a:r>
            <a:r>
              <a:rPr sz="1350" b="1" spc="5" dirty="0">
                <a:latin typeface="Times New Roman"/>
                <a:cs typeface="Times New Roman"/>
              </a:rPr>
              <a:t> </a:t>
            </a:r>
            <a:r>
              <a:rPr sz="1350" b="1" spc="-10" dirty="0">
                <a:latin typeface="Times New Roman"/>
                <a:cs typeface="Times New Roman"/>
              </a:rPr>
              <a:t>Testing</a:t>
            </a:r>
            <a:endParaRPr sz="135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48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6585" cy="3724910"/>
          </a:xfrm>
          <a:prstGeom prst="rect">
            <a:avLst/>
          </a:prstGeom>
        </p:spPr>
        <p:txBody>
          <a:bodyPr vert="horz" wrap="square" lIns="0" tIns="24765" rIns="0" bIns="0" rtlCol="0">
            <a:spAutoFit/>
          </a:bodyPr>
          <a:lstStyle/>
          <a:p>
            <a:pPr marL="12700" marR="9525" algn="just">
              <a:lnSpc>
                <a:spcPts val="1380"/>
              </a:lnSpc>
              <a:spcBef>
                <a:spcPts val="195"/>
              </a:spcBef>
            </a:pP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45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4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involved</a:t>
            </a:r>
            <a:r>
              <a:rPr sz="1200" spc="4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4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5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complete</a:t>
            </a:r>
            <a:r>
              <a:rPr sz="1200" spc="4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application</a:t>
            </a:r>
            <a:r>
              <a:rPr sz="1200" spc="4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4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4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simulated</a:t>
            </a:r>
            <a:r>
              <a:rPr sz="1200" spc="459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production </a:t>
            </a:r>
            <a:r>
              <a:rPr sz="1200" dirty="0">
                <a:latin typeface="Times New Roman"/>
                <a:cs typeface="Times New Roman"/>
              </a:rPr>
              <a:t>environment.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entire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deployed on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 staging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server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tested end-to-</a:t>
            </a:r>
            <a:r>
              <a:rPr sz="1200" dirty="0">
                <a:latin typeface="Times New Roman"/>
                <a:cs typeface="Times New Roman"/>
              </a:rPr>
              <a:t>end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mimic</a:t>
            </a:r>
            <a:r>
              <a:rPr sz="1200" spc="-10" dirty="0">
                <a:latin typeface="Times New Roman"/>
                <a:cs typeface="Times New Roman"/>
              </a:rPr>
              <a:t> real-</a:t>
            </a:r>
            <a:r>
              <a:rPr sz="1200" dirty="0">
                <a:latin typeface="Times New Roman"/>
                <a:cs typeface="Times New Roman"/>
              </a:rPr>
              <a:t>world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scenarios.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10"/>
              </a:spcBef>
            </a:pPr>
            <a:r>
              <a:rPr sz="1200" b="1" dirty="0">
                <a:latin typeface="Times New Roman"/>
                <a:cs typeface="Times New Roman"/>
              </a:rPr>
              <a:t>Key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Scenarios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Tested: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45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marR="5080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Simulated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Sessions: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Multiple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participated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scheduled auction.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Bids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placed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quick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succession,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race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conditions,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</a:t>
            </a:r>
            <a:r>
              <a:rPr sz="1200" spc="9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handling,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conflict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resolution.</a:t>
            </a:r>
            <a:endParaRPr sz="1200">
              <a:latin typeface="Times New Roman"/>
              <a:cs typeface="Times New Roman"/>
            </a:endParaRPr>
          </a:p>
          <a:p>
            <a:pPr marL="469265" marR="8890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Document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Verification: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Admins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uploaded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files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approved/rejected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them </a:t>
            </a:r>
            <a:r>
              <a:rPr sz="1200" dirty="0">
                <a:latin typeface="Times New Roman"/>
                <a:cs typeface="Times New Roman"/>
              </a:rPr>
              <a:t>after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automated</a:t>
            </a:r>
            <a:r>
              <a:rPr sz="1200" spc="-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verification.</a:t>
            </a:r>
            <a:endParaRPr sz="1200">
              <a:latin typeface="Times New Roman"/>
              <a:cs typeface="Times New Roman"/>
            </a:endParaRPr>
          </a:p>
          <a:p>
            <a:pPr marL="469265" marR="8890" indent="-228600" algn="just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Confirmation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Flow: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received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notifications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upon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successful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placement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outbid.</a:t>
            </a:r>
            <a:endParaRPr sz="1200">
              <a:latin typeface="Times New Roman"/>
              <a:cs typeface="Times New Roman"/>
            </a:endParaRPr>
          </a:p>
          <a:p>
            <a:pPr marL="469265" marR="8255" indent="-228600" algn="just">
              <a:lnSpc>
                <a:spcPts val="1380"/>
              </a:lnSpc>
              <a:spcBef>
                <a:spcPts val="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Role-</a:t>
            </a:r>
            <a:r>
              <a:rPr sz="1200" dirty="0">
                <a:latin typeface="Times New Roman"/>
                <a:cs typeface="Times New Roman"/>
              </a:rPr>
              <a:t>Specific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Control: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could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not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admin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features;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could </a:t>
            </a:r>
            <a:r>
              <a:rPr sz="1200" dirty="0">
                <a:latin typeface="Times New Roman"/>
                <a:cs typeface="Times New Roman"/>
              </a:rPr>
              <a:t>not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properties.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05"/>
              </a:spcBef>
            </a:pPr>
            <a:r>
              <a:rPr sz="1200" b="1" spc="-10" dirty="0">
                <a:latin typeface="Times New Roman"/>
                <a:cs typeface="Times New Roman"/>
              </a:rPr>
              <a:t>Results: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spcBef>
                <a:spcPts val="134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exhibited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stability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workflows.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No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critical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errors,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deadlocks,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incorrect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redirections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observed.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Role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segregation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privileges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worked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perfectly.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5111877"/>
            <a:ext cx="5690235" cy="252222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350" b="1" dirty="0">
                <a:latin typeface="Times New Roman"/>
                <a:cs typeface="Times New Roman"/>
              </a:rPr>
              <a:t>6.6</a:t>
            </a:r>
            <a:r>
              <a:rPr sz="1350" b="1" spc="-45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Performance</a:t>
            </a:r>
            <a:r>
              <a:rPr sz="1350" b="1" spc="-35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(Load)</a:t>
            </a:r>
            <a:r>
              <a:rPr sz="1350" b="1" spc="-25" dirty="0">
                <a:latin typeface="Times New Roman"/>
                <a:cs typeface="Times New Roman"/>
              </a:rPr>
              <a:t> </a:t>
            </a:r>
            <a:r>
              <a:rPr sz="1350" b="1" spc="-10" dirty="0">
                <a:latin typeface="Times New Roman"/>
                <a:cs typeface="Times New Roman"/>
              </a:rPr>
              <a:t>Testing</a:t>
            </a:r>
            <a:endParaRPr sz="1350">
              <a:latin typeface="Times New Roman"/>
              <a:cs typeface="Times New Roman"/>
            </a:endParaRPr>
          </a:p>
          <a:p>
            <a:pPr marL="12700" marR="5080">
              <a:lnSpc>
                <a:spcPts val="1380"/>
              </a:lnSpc>
              <a:spcBef>
                <a:spcPts val="1435"/>
              </a:spcBef>
            </a:pPr>
            <a:r>
              <a:rPr sz="1200" dirty="0">
                <a:latin typeface="Times New Roman"/>
                <a:cs typeface="Times New Roman"/>
              </a:rPr>
              <a:t>Performance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essential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verify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could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handle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concurrency, </a:t>
            </a:r>
            <a:r>
              <a:rPr sz="1200" dirty="0">
                <a:latin typeface="Times New Roman"/>
                <a:cs typeface="Times New Roman"/>
              </a:rPr>
              <a:t>especially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during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live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auctions.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05"/>
              </a:spcBef>
            </a:pPr>
            <a:r>
              <a:rPr sz="1200" b="1" dirty="0">
                <a:latin typeface="Times New Roman"/>
                <a:cs typeface="Times New Roman"/>
              </a:rPr>
              <a:t>Tool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Used:</a:t>
            </a:r>
            <a:r>
              <a:rPr sz="1200" b="1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Apache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JMeter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35"/>
              </a:spcBef>
            </a:pPr>
            <a:r>
              <a:rPr sz="1200" b="1" dirty="0">
                <a:latin typeface="Times New Roman"/>
                <a:cs typeface="Times New Roman"/>
              </a:rPr>
              <a:t>Test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Parameters: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spcBef>
                <a:spcPts val="1340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Simulated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1000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concurrent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users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Simultaneous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sessions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listings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Stress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Flask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services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35"/>
              </a:spcBef>
            </a:pPr>
            <a:r>
              <a:rPr sz="1200" b="1" dirty="0">
                <a:latin typeface="Times New Roman"/>
                <a:cs typeface="Times New Roman"/>
              </a:rPr>
              <a:t>Metrics</a:t>
            </a:r>
            <a:r>
              <a:rPr sz="1200" b="1" spc="-5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Recorded:</a:t>
            </a:r>
            <a:endParaRPr sz="1200">
              <a:latin typeface="Times New Roman"/>
              <a:cs typeface="Times New Roman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1186230" y="7837508"/>
          <a:ext cx="2475864" cy="12325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65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056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marL="31750">
                        <a:lnSpc>
                          <a:spcPts val="131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Metric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19050">
                        <a:lnSpc>
                          <a:spcPts val="131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Result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725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API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Response</a:t>
                      </a:r>
                      <a:r>
                        <a:rPr sz="12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Time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(avg)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tc>
                  <a:txBody>
                    <a:bodyPr/>
                    <a:lstStyle/>
                    <a:p>
                      <a:pPr marL="190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430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ms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WebSocket</a:t>
                      </a:r>
                      <a:r>
                        <a:rPr sz="1200" spc="-7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Latency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tc>
                  <a:txBody>
                    <a:bodyPr/>
                    <a:lstStyle/>
                    <a:p>
                      <a:pPr marL="190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&lt;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1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second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725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AI</a:t>
                      </a:r>
                      <a:r>
                        <a:rPr sz="12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Prediction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Response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tc>
                  <a:txBody>
                    <a:bodyPr/>
                    <a:lstStyle/>
                    <a:p>
                      <a:pPr marL="190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&lt;</a:t>
                      </a:r>
                      <a:r>
                        <a:rPr sz="12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600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ms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725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Server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Crash/Timeouts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tc>
                  <a:txBody>
                    <a:bodyPr/>
                    <a:lstStyle/>
                    <a:p>
                      <a:pPr marL="190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None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31750">
                        <a:lnSpc>
                          <a:spcPts val="136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System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Uptime</a:t>
                      </a:r>
                      <a:r>
                        <a:rPr sz="12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During</a:t>
                      </a:r>
                      <a:r>
                        <a:rPr sz="12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Test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tc>
                  <a:txBody>
                    <a:bodyPr/>
                    <a:lstStyle/>
                    <a:p>
                      <a:pPr marL="19050">
                        <a:lnSpc>
                          <a:spcPts val="1360"/>
                        </a:lnSpc>
                        <a:spcBef>
                          <a:spcPts val="45"/>
                        </a:spcBef>
                      </a:pP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100%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49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91285"/>
            <a:ext cx="5692140" cy="383540"/>
          </a:xfrm>
          <a:prstGeom prst="rect">
            <a:avLst/>
          </a:prstGeom>
        </p:spPr>
        <p:txBody>
          <a:bodyPr vert="horz" wrap="square" lIns="0" tIns="24765" rIns="0" bIns="0" rtlCol="0">
            <a:spAutoFit/>
          </a:bodyPr>
          <a:lstStyle/>
          <a:p>
            <a:pPr marL="12700" marR="5080">
              <a:lnSpc>
                <a:spcPts val="1380"/>
              </a:lnSpc>
              <a:spcBef>
                <a:spcPts val="195"/>
              </a:spcBef>
            </a:pPr>
            <a:r>
              <a:rPr sz="1200" b="1" dirty="0">
                <a:latin typeface="Times New Roman"/>
                <a:cs typeface="Times New Roman"/>
              </a:rPr>
              <a:t>Conclusion: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platform-</a:t>
            </a:r>
            <a:r>
              <a:rPr sz="1200" dirty="0">
                <a:latin typeface="Times New Roman"/>
                <a:cs typeface="Times New Roman"/>
              </a:rPr>
              <a:t>maintained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responsiveness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low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latency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simulated</a:t>
            </a:r>
            <a:r>
              <a:rPr sz="1200" spc="-10" dirty="0">
                <a:latin typeface="Times New Roman"/>
                <a:cs typeface="Times New Roman"/>
              </a:rPr>
              <a:t> load, </a:t>
            </a:r>
            <a:r>
              <a:rPr sz="1200" dirty="0">
                <a:latin typeface="Times New Roman"/>
                <a:cs typeface="Times New Roman"/>
              </a:rPr>
              <a:t>confirming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its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scalability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readiness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public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deployment.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6324" y="1772157"/>
            <a:ext cx="5697220" cy="339534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350" b="1" dirty="0">
                <a:latin typeface="Times New Roman"/>
                <a:cs typeface="Times New Roman"/>
              </a:rPr>
              <a:t>6.7</a:t>
            </a:r>
            <a:r>
              <a:rPr sz="1350" b="1" spc="-25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Security</a:t>
            </a:r>
            <a:r>
              <a:rPr sz="1350" b="1" spc="-15" dirty="0">
                <a:latin typeface="Times New Roman"/>
                <a:cs typeface="Times New Roman"/>
              </a:rPr>
              <a:t> </a:t>
            </a:r>
            <a:r>
              <a:rPr sz="1350" b="1" spc="-10" dirty="0">
                <a:latin typeface="Times New Roman"/>
                <a:cs typeface="Times New Roman"/>
              </a:rPr>
              <a:t>Testing</a:t>
            </a:r>
            <a:endParaRPr sz="1350">
              <a:latin typeface="Times New Roman"/>
              <a:cs typeface="Times New Roman"/>
            </a:endParaRPr>
          </a:p>
          <a:p>
            <a:pPr marL="12700" marR="6350">
              <a:lnSpc>
                <a:spcPts val="1380"/>
              </a:lnSpc>
              <a:spcBef>
                <a:spcPts val="1420"/>
              </a:spcBef>
            </a:pPr>
            <a:r>
              <a:rPr sz="1200" dirty="0">
                <a:latin typeface="Times New Roman"/>
                <a:cs typeface="Times New Roman"/>
              </a:rPr>
              <a:t>Given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sensitive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nature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(user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information,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legal</a:t>
            </a:r>
            <a:r>
              <a:rPr sz="1200" spc="4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documents,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financial </a:t>
            </a:r>
            <a:r>
              <a:rPr sz="1200" dirty="0">
                <a:latin typeface="Times New Roman"/>
                <a:cs typeface="Times New Roman"/>
              </a:rPr>
              <a:t>transactions),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robust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essential.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10"/>
              </a:spcBef>
            </a:pPr>
            <a:r>
              <a:rPr sz="1200" b="1" dirty="0">
                <a:latin typeface="Times New Roman"/>
                <a:cs typeface="Times New Roman"/>
              </a:rPr>
              <a:t>Security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dirty="0">
                <a:latin typeface="Times New Roman"/>
                <a:cs typeface="Times New Roman"/>
              </a:rPr>
              <a:t>Measures</a:t>
            </a:r>
            <a:r>
              <a:rPr sz="1200" b="1" spc="-4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Evaluated: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marR="6985" indent="-228600">
              <a:lnSpc>
                <a:spcPts val="1380"/>
              </a:lnSpc>
              <a:spcBef>
                <a:spcPts val="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20" dirty="0">
                <a:latin typeface="Times New Roman"/>
                <a:cs typeface="Times New Roman"/>
              </a:rPr>
              <a:t>JWT-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-10" dirty="0">
                <a:latin typeface="Times New Roman"/>
                <a:cs typeface="Times New Roman"/>
              </a:rPr>
              <a:t> Authentication: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protected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routes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accessible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only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via </a:t>
            </a:r>
            <a:r>
              <a:rPr sz="1200" dirty="0">
                <a:latin typeface="Times New Roman"/>
                <a:cs typeface="Times New Roman"/>
              </a:rPr>
              <a:t>valid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tokens.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15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Password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Hashing: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Used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Bcrypt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salt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encrypt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passwords.</a:t>
            </a:r>
            <a:endParaRPr sz="1200">
              <a:latin typeface="Times New Roman"/>
              <a:cs typeface="Times New Roman"/>
            </a:endParaRPr>
          </a:p>
          <a:p>
            <a:pPr marL="469265" marR="8255" indent="-228600">
              <a:lnSpc>
                <a:spcPts val="1380"/>
              </a:lnSpc>
              <a:spcBef>
                <a:spcPts val="6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XSS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NoSQL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Injection: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Simulated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attempts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inject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malicious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scripts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NoSQL </a:t>
            </a:r>
            <a:r>
              <a:rPr sz="1200" dirty="0">
                <a:latin typeface="Times New Roman"/>
                <a:cs typeface="Times New Roman"/>
              </a:rPr>
              <a:t>queries;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both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mitigated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via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input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validation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schema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restrictions.</a:t>
            </a:r>
            <a:endParaRPr sz="1200">
              <a:latin typeface="Times New Roman"/>
              <a:cs typeface="Times New Roman"/>
            </a:endParaRPr>
          </a:p>
          <a:p>
            <a:pPr marL="469265" marR="5080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SSL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Enforcement:</a:t>
            </a:r>
            <a:r>
              <a:rPr sz="1200" spc="4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45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communication</a:t>
            </a:r>
            <a:r>
              <a:rPr sz="1200" spc="4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45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enforced</a:t>
            </a:r>
            <a:r>
              <a:rPr sz="1200" spc="4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over</a:t>
            </a:r>
            <a:r>
              <a:rPr sz="1200" spc="4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HTTPS</a:t>
            </a:r>
            <a:r>
              <a:rPr sz="1200" spc="4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4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valid certificates.</a:t>
            </a:r>
            <a:endParaRPr sz="1200">
              <a:latin typeface="Times New Roman"/>
              <a:cs typeface="Times New Roman"/>
            </a:endParaRPr>
          </a:p>
          <a:p>
            <a:pPr marL="469265" marR="12700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Security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Tools: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OWASP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ZAP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used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scan</a:t>
            </a:r>
            <a:r>
              <a:rPr sz="1200" spc="3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application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common vulnerabilities.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1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10160">
              <a:lnSpc>
                <a:spcPts val="1380"/>
              </a:lnSpc>
            </a:pPr>
            <a:r>
              <a:rPr sz="1200" b="1" dirty="0">
                <a:latin typeface="Times New Roman"/>
                <a:cs typeface="Times New Roman"/>
              </a:rPr>
              <a:t>Outcome: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critical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vulnerabilities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found.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known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attack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vectors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successfully </a:t>
            </a:r>
            <a:r>
              <a:rPr sz="1200" dirty="0">
                <a:latin typeface="Times New Roman"/>
                <a:cs typeface="Times New Roman"/>
              </a:rPr>
              <a:t>mitigated,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demonstrating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platform's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resilience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cyber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threats.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76324" y="5665089"/>
            <a:ext cx="5691505" cy="34016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350" b="1" dirty="0">
                <a:latin typeface="Times New Roman"/>
                <a:cs typeface="Times New Roman"/>
              </a:rPr>
              <a:t>6.8</a:t>
            </a:r>
            <a:r>
              <a:rPr sz="1350" b="1" spc="-35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Usability</a:t>
            </a:r>
            <a:r>
              <a:rPr sz="1350" b="1" spc="-20" dirty="0">
                <a:latin typeface="Times New Roman"/>
                <a:cs typeface="Times New Roman"/>
              </a:rPr>
              <a:t> </a:t>
            </a:r>
            <a:r>
              <a:rPr sz="1350" b="1" spc="-10" dirty="0">
                <a:latin typeface="Times New Roman"/>
                <a:cs typeface="Times New Roman"/>
              </a:rPr>
              <a:t>Testing</a:t>
            </a:r>
            <a:endParaRPr sz="135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35"/>
              </a:spcBef>
            </a:pPr>
            <a:r>
              <a:rPr sz="1200" dirty="0">
                <a:latin typeface="Times New Roman"/>
                <a:cs typeface="Times New Roman"/>
              </a:rPr>
              <a:t>Usability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measures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how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effectively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navigate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system.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35"/>
              </a:spcBef>
            </a:pPr>
            <a:r>
              <a:rPr sz="1200" b="1" dirty="0">
                <a:latin typeface="Times New Roman"/>
                <a:cs typeface="Times New Roman"/>
              </a:rPr>
              <a:t>Testing</a:t>
            </a:r>
            <a:r>
              <a:rPr sz="1200" b="1" spc="-15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Methodology: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spcBef>
                <a:spcPts val="134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Sample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Size: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20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(10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5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sellers,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5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admins)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Task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Set: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Create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join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place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documents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Evaluation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Metrics</a:t>
            </a:r>
            <a:r>
              <a:rPr sz="1200" b="1" dirty="0">
                <a:latin typeface="Times New Roman"/>
                <a:cs typeface="Times New Roman"/>
              </a:rPr>
              <a:t>:</a:t>
            </a:r>
            <a:r>
              <a:rPr sz="1200" b="1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Navigation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ease,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UI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clarity,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documentation,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error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recovery</a:t>
            </a:r>
            <a:endParaRPr sz="1200">
              <a:latin typeface="Times New Roman"/>
              <a:cs typeface="Times New Roman"/>
            </a:endParaRPr>
          </a:p>
          <a:p>
            <a:pPr marL="12700">
              <a:lnSpc>
                <a:spcPct val="100000"/>
              </a:lnSpc>
              <a:spcBef>
                <a:spcPts val="1345"/>
              </a:spcBef>
            </a:pPr>
            <a:r>
              <a:rPr sz="1200" b="1" dirty="0">
                <a:latin typeface="Times New Roman"/>
                <a:cs typeface="Times New Roman"/>
              </a:rPr>
              <a:t>Feedback</a:t>
            </a:r>
            <a:r>
              <a:rPr sz="1200" b="1" spc="-50" dirty="0">
                <a:latin typeface="Times New Roman"/>
                <a:cs typeface="Times New Roman"/>
              </a:rPr>
              <a:t> </a:t>
            </a:r>
            <a:r>
              <a:rPr sz="1200" b="1" spc="-10" dirty="0">
                <a:latin typeface="Times New Roman"/>
                <a:cs typeface="Times New Roman"/>
              </a:rPr>
              <a:t>Summary: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spcBef>
                <a:spcPts val="13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92%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found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interface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intuitive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self-explanatory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85%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completed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their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assigned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tasks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without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external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help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Users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appreciated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dashboard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layout,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color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scheme,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prompt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feedback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Suggestions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included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better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tooltips,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onboarding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tutorial,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mobile-</a:t>
            </a:r>
            <a:r>
              <a:rPr sz="1200" dirty="0">
                <a:latin typeface="Times New Roman"/>
                <a:cs typeface="Times New Roman"/>
              </a:rPr>
              <a:t>friendly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layout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>
              <a:lnSpc>
                <a:spcPts val="1380"/>
              </a:lnSpc>
            </a:pPr>
            <a:r>
              <a:rPr sz="1200" b="1" dirty="0">
                <a:latin typeface="Times New Roman"/>
                <a:cs typeface="Times New Roman"/>
              </a:rPr>
              <a:t>Conclusion:</a:t>
            </a:r>
            <a:r>
              <a:rPr sz="1200" b="1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UI/UX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achieved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satisfaction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levels.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Minor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feedback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points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are </a:t>
            </a:r>
            <a:r>
              <a:rPr sz="1200" dirty="0">
                <a:latin typeface="Times New Roman"/>
                <a:cs typeface="Times New Roman"/>
              </a:rPr>
              <a:t>already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planned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implementation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next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version.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50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1243330"/>
            <a:ext cx="5690235" cy="7600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350" b="1" dirty="0">
                <a:latin typeface="Times New Roman"/>
                <a:cs typeface="Times New Roman"/>
              </a:rPr>
              <a:t>6.9</a:t>
            </a:r>
            <a:r>
              <a:rPr sz="1350" b="1" spc="15" dirty="0">
                <a:latin typeface="Times New Roman"/>
                <a:cs typeface="Times New Roman"/>
              </a:rPr>
              <a:t> </a:t>
            </a:r>
            <a:r>
              <a:rPr sz="1350" b="1" spc="-10" dirty="0">
                <a:latin typeface="Times New Roman"/>
                <a:cs typeface="Times New Roman"/>
              </a:rPr>
              <a:t>Evaluation</a:t>
            </a:r>
            <a:r>
              <a:rPr sz="1350" b="1" dirty="0">
                <a:latin typeface="Times New Roman"/>
                <a:cs typeface="Times New Roman"/>
              </a:rPr>
              <a:t> </a:t>
            </a:r>
            <a:r>
              <a:rPr sz="1350" b="1" spc="-10" dirty="0">
                <a:latin typeface="Times New Roman"/>
                <a:cs typeface="Times New Roman"/>
              </a:rPr>
              <a:t>Metrics</a:t>
            </a:r>
            <a:endParaRPr sz="1350">
              <a:latin typeface="Times New Roman"/>
              <a:cs typeface="Times New Roman"/>
            </a:endParaRPr>
          </a:p>
          <a:p>
            <a:pPr marL="12700" marR="5080">
              <a:lnSpc>
                <a:spcPts val="1380"/>
              </a:lnSpc>
              <a:spcBef>
                <a:spcPts val="1435"/>
              </a:spcBef>
            </a:pPr>
            <a:r>
              <a:rPr sz="1200" dirty="0">
                <a:latin typeface="Times New Roman"/>
                <a:cs typeface="Times New Roman"/>
              </a:rPr>
              <a:t>Quantitative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evaluation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KPIs,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accuracy,</a:t>
            </a:r>
            <a:r>
              <a:rPr sz="1200" spc="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user </a:t>
            </a:r>
            <a:r>
              <a:rPr sz="1200" spc="-10" dirty="0">
                <a:latin typeface="Times New Roman"/>
                <a:cs typeface="Times New Roman"/>
              </a:rPr>
              <a:t>satisfaction:</a:t>
            </a:r>
            <a:endParaRPr sz="1200">
              <a:latin typeface="Times New Roman"/>
              <a:cs typeface="Times New Roman"/>
            </a:endParaRP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1186230" y="2205312"/>
          <a:ext cx="2793999" cy="14465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81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246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marL="31750">
                        <a:lnSpc>
                          <a:spcPts val="131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Metric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20320">
                        <a:lnSpc>
                          <a:spcPts val="1310"/>
                        </a:lnSpc>
                      </a:pPr>
                      <a:r>
                        <a:rPr sz="1200" b="1" spc="-10" dirty="0">
                          <a:latin typeface="Times New Roman"/>
                          <a:cs typeface="Times New Roman"/>
                        </a:rPr>
                        <a:t>Value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725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Price</a:t>
                      </a: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Prediction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Accuracy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tc>
                  <a:txBody>
                    <a:bodyPr/>
                    <a:lstStyle/>
                    <a:p>
                      <a:pPr marL="2032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87%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Document</a:t>
                      </a:r>
                      <a:r>
                        <a:rPr sz="12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Verification</a:t>
                      </a:r>
                      <a:r>
                        <a:rPr sz="12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Accuracy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tc>
                  <a:txBody>
                    <a:bodyPr/>
                    <a:lstStyle/>
                    <a:p>
                      <a:pPr marL="2032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91.5%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API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Average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Response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Time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tc>
                  <a:txBody>
                    <a:bodyPr/>
                    <a:lstStyle/>
                    <a:p>
                      <a:pPr marL="2032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&lt;</a:t>
                      </a:r>
                      <a:r>
                        <a:rPr sz="1200" spc="-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500 </a:t>
                      </a: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ms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WebSocket</a:t>
                      </a:r>
                      <a:r>
                        <a:rPr sz="1200" spc="-7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Latency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tc>
                  <a:txBody>
                    <a:bodyPr/>
                    <a:lstStyle/>
                    <a:p>
                      <a:pPr marL="2032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&lt;</a:t>
                      </a:r>
                      <a:r>
                        <a:rPr sz="12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1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second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725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User</a:t>
                      </a:r>
                      <a:r>
                        <a:rPr sz="12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dirty="0">
                          <a:latin typeface="Times New Roman"/>
                          <a:cs typeface="Times New Roman"/>
                        </a:rPr>
                        <a:t>Satisfaction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20" dirty="0">
                          <a:latin typeface="Times New Roman"/>
                          <a:cs typeface="Times New Roman"/>
                        </a:rPr>
                        <a:t>Rate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tc>
                  <a:txBody>
                    <a:bodyPr/>
                    <a:lstStyle/>
                    <a:p>
                      <a:pPr marL="20320">
                        <a:lnSpc>
                          <a:spcPct val="100000"/>
                        </a:lnSpc>
                        <a:spcBef>
                          <a:spcPts val="45"/>
                        </a:spcBef>
                      </a:pP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92%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marL="31750">
                        <a:lnSpc>
                          <a:spcPts val="1360"/>
                        </a:lnSpc>
                        <a:spcBef>
                          <a:spcPts val="45"/>
                        </a:spcBef>
                      </a:pPr>
                      <a:r>
                        <a:rPr sz="1200" dirty="0">
                          <a:latin typeface="Times New Roman"/>
                          <a:cs typeface="Times New Roman"/>
                        </a:rPr>
                        <a:t>Successful</a:t>
                      </a:r>
                      <a:r>
                        <a:rPr sz="1200" spc="-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200" spc="-10" dirty="0">
                          <a:latin typeface="Times New Roman"/>
                          <a:cs typeface="Times New Roman"/>
                        </a:rPr>
                        <a:t>Transactions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tc>
                  <a:txBody>
                    <a:bodyPr/>
                    <a:lstStyle/>
                    <a:p>
                      <a:pPr marL="20320">
                        <a:lnSpc>
                          <a:spcPts val="1360"/>
                        </a:lnSpc>
                        <a:spcBef>
                          <a:spcPts val="45"/>
                        </a:spcBef>
                      </a:pPr>
                      <a:r>
                        <a:rPr sz="1200" spc="-25" dirty="0">
                          <a:latin typeface="Times New Roman"/>
                          <a:cs typeface="Times New Roman"/>
                        </a:rPr>
                        <a:t>97%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5715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object 4"/>
          <p:cNvSpPr txBox="1"/>
          <p:nvPr/>
        </p:nvSpPr>
        <p:spPr>
          <a:xfrm>
            <a:off x="1176324" y="3837559"/>
            <a:ext cx="5693410" cy="383540"/>
          </a:xfrm>
          <a:prstGeom prst="rect">
            <a:avLst/>
          </a:prstGeom>
        </p:spPr>
        <p:txBody>
          <a:bodyPr vert="horz" wrap="square" lIns="0" tIns="24765" rIns="0" bIns="0" rtlCol="0">
            <a:spAutoFit/>
          </a:bodyPr>
          <a:lstStyle/>
          <a:p>
            <a:pPr marL="12700" marR="5080">
              <a:lnSpc>
                <a:spcPts val="1380"/>
              </a:lnSpc>
              <a:spcBef>
                <a:spcPts val="195"/>
              </a:spcBef>
            </a:pP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metrics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establish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not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only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technically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sound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but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performs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well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world</a:t>
            </a:r>
            <a:r>
              <a:rPr sz="1200" spc="-10" dirty="0">
                <a:latin typeface="Times New Roman"/>
                <a:cs typeface="Times New Roman"/>
              </a:rPr>
              <a:t> usage.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176324" y="4718430"/>
            <a:ext cx="5693410" cy="251777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350" b="1" dirty="0">
                <a:latin typeface="Times New Roman"/>
                <a:cs typeface="Times New Roman"/>
              </a:rPr>
              <a:t>6.10</a:t>
            </a:r>
            <a:r>
              <a:rPr sz="1350" b="1" spc="-15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Summary</a:t>
            </a:r>
            <a:r>
              <a:rPr sz="1350" b="1" spc="-30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of</a:t>
            </a:r>
            <a:r>
              <a:rPr sz="1350" b="1" spc="-15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Test</a:t>
            </a:r>
            <a:r>
              <a:rPr sz="1350" b="1" spc="-15" dirty="0">
                <a:latin typeface="Times New Roman"/>
                <a:cs typeface="Times New Roman"/>
              </a:rPr>
              <a:t> </a:t>
            </a:r>
            <a:r>
              <a:rPr sz="1350" b="1" spc="-10" dirty="0">
                <a:latin typeface="Times New Roman"/>
                <a:cs typeface="Times New Roman"/>
              </a:rPr>
              <a:t>Results</a:t>
            </a:r>
            <a:endParaRPr sz="1350">
              <a:latin typeface="Times New Roman"/>
              <a:cs typeface="Times New Roman"/>
            </a:endParaRPr>
          </a:p>
          <a:p>
            <a:pPr marL="12700" marR="5080" algn="just">
              <a:lnSpc>
                <a:spcPct val="95900"/>
              </a:lnSpc>
              <a:spcBef>
                <a:spcPts val="1395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comprehensive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strategy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applied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proved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successful.</a:t>
            </a:r>
            <a:r>
              <a:rPr sz="1200" spc="32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passed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all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 and non-functional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reliability and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consistency.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1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modules,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features,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backend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services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demonstrated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performance </a:t>
            </a:r>
            <a:r>
              <a:rPr sz="1200" dirty="0">
                <a:latin typeface="Times New Roman"/>
                <a:cs typeface="Times New Roman"/>
              </a:rPr>
              <a:t>under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stress.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spcBef>
                <a:spcPts val="1335"/>
              </a:spcBef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Functionality: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Fully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operational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minimal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bugs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spc="-10" dirty="0">
                <a:latin typeface="Times New Roman"/>
                <a:cs typeface="Times New Roman"/>
              </a:rPr>
              <a:t>Performance:</a:t>
            </a:r>
            <a:r>
              <a:rPr sz="1200" dirty="0">
                <a:latin typeface="Times New Roman"/>
                <a:cs typeface="Times New Roman"/>
              </a:rPr>
              <a:t> Maintained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performance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under </a:t>
            </a:r>
            <a:r>
              <a:rPr sz="1200" spc="-20" dirty="0">
                <a:latin typeface="Times New Roman"/>
                <a:cs typeface="Times New Roman"/>
              </a:rPr>
              <a:t>load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38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Security: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Free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from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major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vulnerabilities</a:t>
            </a:r>
            <a:endParaRPr sz="1200">
              <a:latin typeface="Times New Roman"/>
              <a:cs typeface="Times New Roman"/>
            </a:endParaRPr>
          </a:p>
          <a:p>
            <a:pPr marL="469265" indent="-228600">
              <a:lnSpc>
                <a:spcPts val="1410"/>
              </a:lnSpc>
              <a:buSzPct val="83333"/>
              <a:buFont typeface="Symbol"/>
              <a:buChar char=""/>
              <a:tabLst>
                <a:tab pos="469265" algn="l"/>
              </a:tabLst>
            </a:pPr>
            <a:r>
              <a:rPr sz="1200" dirty="0">
                <a:latin typeface="Times New Roman"/>
                <a:cs typeface="Times New Roman"/>
              </a:rPr>
              <a:t>Usability</a:t>
            </a:r>
            <a:r>
              <a:rPr sz="1200" b="1" dirty="0">
                <a:latin typeface="Times New Roman"/>
                <a:cs typeface="Times New Roman"/>
              </a:rPr>
              <a:t>: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Rated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users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0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6985" algn="just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Only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minor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UI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refinements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recommended,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which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have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been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documented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6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next </a:t>
            </a:r>
            <a:r>
              <a:rPr sz="1200" spc="-10" dirty="0">
                <a:latin typeface="Times New Roman"/>
                <a:cs typeface="Times New Roman"/>
              </a:rPr>
              <a:t>development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sprint.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176324" y="7733538"/>
            <a:ext cx="5694680" cy="128778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350" b="1" dirty="0">
                <a:latin typeface="Times New Roman"/>
                <a:cs typeface="Times New Roman"/>
              </a:rPr>
              <a:t>6.11</a:t>
            </a:r>
            <a:r>
              <a:rPr sz="1350" b="1" spc="-25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Limitations</a:t>
            </a:r>
            <a:r>
              <a:rPr sz="1350" b="1" spc="-25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and</a:t>
            </a:r>
            <a:r>
              <a:rPr sz="1350" b="1" spc="-40" dirty="0">
                <a:latin typeface="Times New Roman"/>
                <a:cs typeface="Times New Roman"/>
              </a:rPr>
              <a:t> </a:t>
            </a:r>
            <a:r>
              <a:rPr sz="1350" b="1" dirty="0">
                <a:latin typeface="Times New Roman"/>
                <a:cs typeface="Times New Roman"/>
              </a:rPr>
              <a:t>Future</a:t>
            </a:r>
            <a:r>
              <a:rPr sz="1350" b="1" spc="-30" dirty="0">
                <a:latin typeface="Times New Roman"/>
                <a:cs typeface="Times New Roman"/>
              </a:rPr>
              <a:t> </a:t>
            </a:r>
            <a:r>
              <a:rPr sz="1350" b="1" spc="-10" dirty="0">
                <a:latin typeface="Times New Roman"/>
                <a:cs typeface="Times New Roman"/>
              </a:rPr>
              <a:t>Improvements</a:t>
            </a:r>
            <a:endParaRPr sz="1350">
              <a:latin typeface="Times New Roman"/>
              <a:cs typeface="Times New Roman"/>
            </a:endParaRPr>
          </a:p>
          <a:p>
            <a:pPr marL="12700" marR="5715">
              <a:lnSpc>
                <a:spcPts val="1380"/>
              </a:lnSpc>
              <a:spcBef>
                <a:spcPts val="1420"/>
              </a:spcBef>
            </a:pPr>
            <a:r>
              <a:rPr sz="1200" dirty="0">
                <a:latin typeface="Times New Roman"/>
                <a:cs typeface="Times New Roman"/>
              </a:rPr>
              <a:t>While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outcomes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overwhelmingly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positive,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few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limitations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areas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dirty="0">
                <a:latin typeface="Times New Roman"/>
                <a:cs typeface="Times New Roman"/>
              </a:rPr>
              <a:t>future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enhancement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were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noted: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25"/>
              </a:spcBef>
            </a:pPr>
            <a:endParaRPr sz="1200">
              <a:latin typeface="Times New Roman"/>
              <a:cs typeface="Times New Roman"/>
            </a:endParaRPr>
          </a:p>
          <a:p>
            <a:pPr marL="469265" marR="5080" indent="-228600">
              <a:lnSpc>
                <a:spcPts val="1380"/>
              </a:lnSpc>
            </a:pPr>
            <a:r>
              <a:rPr sz="1200" dirty="0">
                <a:latin typeface="Times New Roman"/>
                <a:cs typeface="Times New Roman"/>
              </a:rPr>
              <a:t>1.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Training: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Current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models,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though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reasonably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accurate,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improved </a:t>
            </a:r>
            <a:r>
              <a:rPr sz="1200" dirty="0">
                <a:latin typeface="Times New Roman"/>
                <a:cs typeface="Times New Roman"/>
              </a:rPr>
              <a:t>by </a:t>
            </a:r>
            <a:r>
              <a:rPr sz="1200" spc="-10" dirty="0">
                <a:latin typeface="Times New Roman"/>
                <a:cs typeface="Times New Roman"/>
              </a:rPr>
              <a:t>incorporating</a:t>
            </a:r>
            <a:r>
              <a:rPr sz="1200" dirty="0">
                <a:latin typeface="Times New Roman"/>
                <a:cs typeface="Times New Roman"/>
              </a:rPr>
              <a:t> more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 and </a:t>
            </a:r>
            <a:r>
              <a:rPr sz="1200" spc="-10" dirty="0">
                <a:latin typeface="Times New Roman"/>
                <a:cs typeface="Times New Roman"/>
              </a:rPr>
              <a:t>region-</a:t>
            </a:r>
            <a:r>
              <a:rPr sz="1200" dirty="0">
                <a:latin typeface="Times New Roman"/>
                <a:cs typeface="Times New Roman"/>
              </a:rPr>
              <a:t>specific </a:t>
            </a:r>
            <a:r>
              <a:rPr sz="1200" spc="-10" dirty="0">
                <a:latin typeface="Times New Roman"/>
                <a:cs typeface="Times New Roman"/>
              </a:rPr>
              <a:t>data.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51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404874" y="891285"/>
            <a:ext cx="5466715" cy="1610360"/>
          </a:xfrm>
          <a:prstGeom prst="rect">
            <a:avLst/>
          </a:prstGeom>
        </p:spPr>
        <p:txBody>
          <a:bodyPr vert="horz" wrap="square" lIns="0" tIns="24765" rIns="0" bIns="0" rtlCol="0">
            <a:spAutoFit/>
          </a:bodyPr>
          <a:lstStyle/>
          <a:p>
            <a:pPr marL="241300" marR="5080" indent="-228600" algn="just">
              <a:lnSpc>
                <a:spcPts val="1380"/>
              </a:lnSpc>
              <a:spcBef>
                <a:spcPts val="195"/>
              </a:spcBef>
              <a:buAutoNum type="arabicPeriod" startAt="2"/>
              <a:tabLst>
                <a:tab pos="241300" algn="l"/>
              </a:tabLst>
            </a:pPr>
            <a:r>
              <a:rPr sz="1200" dirty="0">
                <a:latin typeface="Times New Roman"/>
                <a:cs typeface="Times New Roman"/>
              </a:rPr>
              <a:t>Mobile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Accessibility:</a:t>
            </a:r>
            <a:r>
              <a:rPr sz="1200" spc="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currently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lacks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dedicated</a:t>
            </a:r>
            <a:r>
              <a:rPr sz="1200" spc="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mobile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app,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limiting accessibility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mobile-</a:t>
            </a:r>
            <a:r>
              <a:rPr sz="1200" dirty="0">
                <a:latin typeface="Times New Roman"/>
                <a:cs typeface="Times New Roman"/>
              </a:rPr>
              <a:t>first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users.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cross-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Flutter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proposed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future development.</a:t>
            </a:r>
            <a:endParaRPr sz="1200">
              <a:latin typeface="Times New Roman"/>
              <a:cs typeface="Times New Roman"/>
            </a:endParaRPr>
          </a:p>
          <a:p>
            <a:pPr marL="241300" marR="8890" indent="-228600" algn="just">
              <a:lnSpc>
                <a:spcPts val="1380"/>
              </a:lnSpc>
              <a:buAutoNum type="arabicPeriod" startAt="2"/>
              <a:tabLst>
                <a:tab pos="241300" algn="l"/>
              </a:tabLst>
            </a:pPr>
            <a:r>
              <a:rPr sz="1200" dirty="0">
                <a:latin typeface="Times New Roman"/>
                <a:cs typeface="Times New Roman"/>
              </a:rPr>
              <a:t>Offline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Payment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Verification: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Currently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handled</a:t>
            </a:r>
            <a:r>
              <a:rPr sz="1200" spc="1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manually,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this</a:t>
            </a:r>
            <a:r>
              <a:rPr sz="1200" spc="16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18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automated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QR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codes,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SMS-based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confirmations,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payment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</a:t>
            </a:r>
            <a:r>
              <a:rPr sz="1200" spc="-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integrations.</a:t>
            </a:r>
            <a:endParaRPr sz="1200">
              <a:latin typeface="Times New Roman"/>
              <a:cs typeface="Times New Roman"/>
            </a:endParaRPr>
          </a:p>
          <a:p>
            <a:pPr marL="241300" marR="8255" indent="-228600" algn="just">
              <a:lnSpc>
                <a:spcPts val="1380"/>
              </a:lnSpc>
              <a:buAutoNum type="arabicPeriod" startAt="2"/>
              <a:tabLst>
                <a:tab pos="241300" algn="l"/>
              </a:tabLst>
            </a:pPr>
            <a:r>
              <a:rPr sz="1200" dirty="0">
                <a:latin typeface="Times New Roman"/>
                <a:cs typeface="Times New Roman"/>
              </a:rPr>
              <a:t>Land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Records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Integration: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trustworthiness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verification, </a:t>
            </a: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national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record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databases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is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recommended.</a:t>
            </a:r>
            <a:endParaRPr sz="1200">
              <a:latin typeface="Times New Roman"/>
              <a:cs typeface="Times New Roman"/>
            </a:endParaRPr>
          </a:p>
          <a:p>
            <a:pPr marL="241300" marR="5715" indent="-228600" algn="just">
              <a:lnSpc>
                <a:spcPts val="1380"/>
              </a:lnSpc>
              <a:buAutoNum type="arabicPeriod" startAt="2"/>
              <a:tabLst>
                <a:tab pos="241300" algn="l"/>
              </a:tabLst>
            </a:pPr>
            <a:r>
              <a:rPr sz="1200" dirty="0">
                <a:latin typeface="Times New Roman"/>
                <a:cs typeface="Times New Roman"/>
              </a:rPr>
              <a:t>User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Onboarding: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step-by-</a:t>
            </a:r>
            <a:r>
              <a:rPr sz="1200" dirty="0">
                <a:latin typeface="Times New Roman"/>
                <a:cs typeface="Times New Roman"/>
              </a:rPr>
              <a:t>step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tutorial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guided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demo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can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help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first-time</a:t>
            </a:r>
            <a:r>
              <a:rPr sz="1200" spc="1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users </a:t>
            </a:r>
            <a:r>
              <a:rPr sz="1200" dirty="0">
                <a:latin typeface="Times New Roman"/>
                <a:cs typeface="Times New Roman"/>
              </a:rPr>
              <a:t>navigate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more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effectively.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67310">
              <a:lnSpc>
                <a:spcPts val="1410"/>
              </a:lnSpc>
            </a:pPr>
            <a:r>
              <a:rPr spc="-25" dirty="0"/>
              <a:t>52</a:t>
            </a:r>
          </a:p>
        </p:txBody>
      </p:sp>
      <p:sp>
        <p:nvSpPr>
          <p:cNvPr id="2" name="object 2"/>
          <p:cNvSpPr txBox="1"/>
          <p:nvPr/>
        </p:nvSpPr>
        <p:spPr>
          <a:xfrm>
            <a:off x="1176324" y="888238"/>
            <a:ext cx="5696585" cy="71774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sz="1600" b="1" dirty="0">
                <a:latin typeface="Times New Roman"/>
                <a:cs typeface="Times New Roman"/>
              </a:rPr>
              <a:t>Chapter</a:t>
            </a:r>
            <a:r>
              <a:rPr sz="1600" b="1" spc="-4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7:</a:t>
            </a:r>
            <a:r>
              <a:rPr sz="1600" b="1" spc="-30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Conclusion</a:t>
            </a:r>
            <a:r>
              <a:rPr sz="1600" b="1" spc="-3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and</a:t>
            </a:r>
            <a:r>
              <a:rPr sz="1600" b="1" spc="-35" dirty="0">
                <a:latin typeface="Times New Roman"/>
                <a:cs typeface="Times New Roman"/>
              </a:rPr>
              <a:t> </a:t>
            </a:r>
            <a:r>
              <a:rPr sz="1600" b="1" dirty="0">
                <a:latin typeface="Times New Roman"/>
                <a:cs typeface="Times New Roman"/>
              </a:rPr>
              <a:t>Future</a:t>
            </a:r>
            <a:r>
              <a:rPr sz="1600" b="1" spc="-30" dirty="0">
                <a:latin typeface="Times New Roman"/>
                <a:cs typeface="Times New Roman"/>
              </a:rPr>
              <a:t> </a:t>
            </a:r>
            <a:r>
              <a:rPr sz="1600" b="1" spc="-20" dirty="0">
                <a:latin typeface="Times New Roman"/>
                <a:cs typeface="Times New Roman"/>
              </a:rPr>
              <a:t>Work</a:t>
            </a:r>
            <a:endParaRPr sz="1600">
              <a:latin typeface="Times New Roman"/>
              <a:cs typeface="Times New Roman"/>
            </a:endParaRPr>
          </a:p>
          <a:p>
            <a:pPr marL="241300" lvl="1" indent="-228600" algn="just">
              <a:lnSpc>
                <a:spcPct val="100000"/>
              </a:lnSpc>
              <a:spcBef>
                <a:spcPts val="1470"/>
              </a:spcBef>
              <a:buAutoNum type="arabicPeriod"/>
              <a:tabLst>
                <a:tab pos="241300" algn="l"/>
              </a:tabLst>
            </a:pPr>
            <a:r>
              <a:rPr sz="1200" b="1" spc="-10" dirty="0">
                <a:latin typeface="Times New Roman"/>
                <a:cs typeface="Times New Roman"/>
              </a:rPr>
              <a:t>Conclusion</a:t>
            </a: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700"/>
              </a:lnSpc>
              <a:spcBef>
                <a:spcPts val="590"/>
              </a:spcBef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“Auction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Abode: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Platform”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was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designed</a:t>
            </a:r>
            <a:r>
              <a:rPr sz="1200" spc="40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implemented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address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core</a:t>
            </a:r>
            <a:r>
              <a:rPr sz="1200" spc="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challenges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traditional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auctions,</a:t>
            </a:r>
            <a:r>
              <a:rPr sz="1200" spc="1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including</a:t>
            </a:r>
            <a:r>
              <a:rPr sz="1200" spc="11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lack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of </a:t>
            </a:r>
            <a:r>
              <a:rPr sz="1200" dirty="0">
                <a:latin typeface="Times New Roman"/>
                <a:cs typeface="Times New Roman"/>
              </a:rPr>
              <a:t>transparency,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delayed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updates,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fraudulent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listings.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Through</a:t>
            </a:r>
            <a:r>
              <a:rPr sz="1200" spc="1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1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12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AI- </a:t>
            </a:r>
            <a:r>
              <a:rPr sz="1200" dirty="0">
                <a:latin typeface="Times New Roman"/>
                <a:cs typeface="Times New Roman"/>
              </a:rPr>
              <a:t>driven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price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prediction,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3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synchronization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using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Socket.io,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40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document </a:t>
            </a:r>
            <a:r>
              <a:rPr sz="1200" dirty="0">
                <a:latin typeface="Times New Roman"/>
                <a:cs typeface="Times New Roman"/>
              </a:rPr>
              <a:t>verification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via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NLP,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ensures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fair,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fast,</a:t>
            </a:r>
            <a:r>
              <a:rPr sz="1200" spc="3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3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secure</a:t>
            </a:r>
            <a:r>
              <a:rPr sz="1200" spc="3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3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transactions.</a:t>
            </a:r>
            <a:endParaRPr sz="12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695"/>
              </a:spcBef>
            </a:pP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800"/>
              </a:lnSpc>
            </a:pP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system’s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three-</a:t>
            </a:r>
            <a:r>
              <a:rPr sz="1200" dirty="0">
                <a:latin typeface="Times New Roman"/>
                <a:cs typeface="Times New Roman"/>
              </a:rPr>
              <a:t>tier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architecture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use</a:t>
            </a:r>
            <a:r>
              <a:rPr sz="1200" spc="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modern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technologies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like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React.js,</a:t>
            </a:r>
            <a:r>
              <a:rPr sz="1200" spc="8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Node.js, </a:t>
            </a:r>
            <a:r>
              <a:rPr sz="1200" dirty="0">
                <a:latin typeface="Times New Roman"/>
                <a:cs typeface="Times New Roman"/>
              </a:rPr>
              <a:t>MongoDB,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Python-</a:t>
            </a:r>
            <a:r>
              <a:rPr sz="1200" dirty="0">
                <a:latin typeface="Times New Roman"/>
                <a:cs typeface="Times New Roman"/>
              </a:rPr>
              <a:t>based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modules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contributed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2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robust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scalable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solution. </a:t>
            </a:r>
            <a:r>
              <a:rPr sz="1200" dirty="0">
                <a:latin typeface="Times New Roman"/>
                <a:cs typeface="Times New Roman"/>
              </a:rPr>
              <a:t>Rigorous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testing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validated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platform’s</a:t>
            </a:r>
            <a:r>
              <a:rPr sz="1200" spc="-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performance,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security,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usability,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high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Times New Roman"/>
                <a:cs typeface="Times New Roman"/>
              </a:rPr>
              <a:t>user </a:t>
            </a:r>
            <a:r>
              <a:rPr sz="1200" dirty="0">
                <a:latin typeface="Times New Roman"/>
                <a:cs typeface="Times New Roman"/>
              </a:rPr>
              <a:t>satisfaction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rates.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Ultimately,</a:t>
            </a:r>
            <a:r>
              <a:rPr sz="1200" spc="37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demonstrates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3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significant</a:t>
            </a:r>
            <a:r>
              <a:rPr sz="1200" spc="37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technological </a:t>
            </a:r>
            <a:r>
              <a:rPr sz="1200" dirty="0">
                <a:latin typeface="Times New Roman"/>
                <a:cs typeface="Times New Roman"/>
              </a:rPr>
              <a:t>advancement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digital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auctions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by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providing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transparent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intelligent</a:t>
            </a:r>
            <a:r>
              <a:rPr sz="1200" spc="5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bidding </a:t>
            </a:r>
            <a:r>
              <a:rPr sz="1200" dirty="0">
                <a:latin typeface="Times New Roman"/>
                <a:cs typeface="Times New Roman"/>
              </a:rPr>
              <a:t>environment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that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promotes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trust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efficiency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buyers,</a:t>
            </a:r>
            <a:r>
              <a:rPr sz="1200" spc="-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sellers,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administrators.</a:t>
            </a:r>
            <a:endParaRPr sz="1200">
              <a:latin typeface="Times New Roman"/>
              <a:cs typeface="Times New Roman"/>
            </a:endParaRPr>
          </a:p>
          <a:p>
            <a:pPr marL="241300" lvl="1" indent="-228600" algn="just">
              <a:lnSpc>
                <a:spcPct val="100000"/>
              </a:lnSpc>
              <a:spcBef>
                <a:spcPts val="1225"/>
              </a:spcBef>
              <a:buAutoNum type="arabicPeriod" startAt="2"/>
              <a:tabLst>
                <a:tab pos="241300" algn="l"/>
              </a:tabLst>
            </a:pPr>
            <a:r>
              <a:rPr sz="1200" b="1" dirty="0">
                <a:latin typeface="Times New Roman"/>
                <a:cs typeface="Times New Roman"/>
              </a:rPr>
              <a:t>Future</a:t>
            </a:r>
            <a:r>
              <a:rPr sz="1200" b="1" spc="-35" dirty="0">
                <a:latin typeface="Times New Roman"/>
                <a:cs typeface="Times New Roman"/>
              </a:rPr>
              <a:t> </a:t>
            </a:r>
            <a:r>
              <a:rPr sz="1200" b="1" spc="-20" dirty="0">
                <a:latin typeface="Times New Roman"/>
                <a:cs typeface="Times New Roman"/>
              </a:rPr>
              <a:t>Work</a:t>
            </a:r>
            <a:endParaRPr sz="1200">
              <a:latin typeface="Times New Roman"/>
              <a:cs typeface="Times New Roman"/>
            </a:endParaRPr>
          </a:p>
          <a:p>
            <a:pPr marL="12700" marR="5080" algn="just">
              <a:lnSpc>
                <a:spcPct val="143800"/>
              </a:lnSpc>
              <a:spcBef>
                <a:spcPts val="605"/>
              </a:spcBef>
            </a:pPr>
            <a:r>
              <a:rPr sz="1200" dirty="0">
                <a:latin typeface="Times New Roman"/>
                <a:cs typeface="Times New Roman"/>
              </a:rPr>
              <a:t>While</a:t>
            </a:r>
            <a:r>
              <a:rPr sz="1200" spc="10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0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current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implementation</a:t>
            </a:r>
            <a:r>
              <a:rPr sz="1200" spc="114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effectively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meets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105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defined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dirty="0">
                <a:latin typeface="Times New Roman"/>
                <a:cs typeface="Times New Roman"/>
              </a:rPr>
              <a:t>objectives,</a:t>
            </a:r>
            <a:r>
              <a:rPr sz="1200" spc="110" dirty="0">
                <a:latin typeface="Times New Roman"/>
                <a:cs typeface="Times New Roman"/>
              </a:rPr>
              <a:t>  </a:t>
            </a:r>
            <a:r>
              <a:rPr sz="1200" spc="-10" dirty="0">
                <a:latin typeface="Times New Roman"/>
                <a:cs typeface="Times New Roman"/>
              </a:rPr>
              <a:t>several </a:t>
            </a:r>
            <a:r>
              <a:rPr sz="1200" dirty="0">
                <a:latin typeface="Times New Roman"/>
                <a:cs typeface="Times New Roman"/>
              </a:rPr>
              <a:t>enhancements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proposed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further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elevate</a:t>
            </a:r>
            <a:r>
              <a:rPr sz="1200" spc="3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functionality.</a:t>
            </a:r>
            <a:r>
              <a:rPr sz="1200" spc="3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3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include</a:t>
            </a:r>
            <a:r>
              <a:rPr sz="1200" spc="33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development of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mobile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application for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Android</a:t>
            </a:r>
            <a:r>
              <a:rPr sz="1200" spc="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 iOS</a:t>
            </a:r>
            <a:r>
              <a:rPr sz="1200" spc="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 enable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 bidding on </a:t>
            </a:r>
            <a:r>
              <a:rPr sz="1200" spc="-25" dirty="0">
                <a:latin typeface="Times New Roman"/>
                <a:cs typeface="Times New Roman"/>
              </a:rPr>
              <a:t>the </a:t>
            </a:r>
            <a:r>
              <a:rPr sz="1200" dirty="0">
                <a:latin typeface="Times New Roman"/>
                <a:cs typeface="Times New Roman"/>
              </a:rPr>
              <a:t>go,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integration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government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land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record</a:t>
            </a:r>
            <a:r>
              <a:rPr sz="1200" spc="28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systems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verify</a:t>
            </a:r>
            <a:r>
              <a:rPr sz="1200" spc="29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property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titles</a:t>
            </a:r>
            <a:r>
              <a:rPr sz="1200" spc="29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and </a:t>
            </a:r>
            <a:r>
              <a:rPr sz="1200" dirty="0">
                <a:latin typeface="Times New Roman"/>
                <a:cs typeface="Times New Roman"/>
              </a:rPr>
              <a:t>ownership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greater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accuracy.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advanced</a:t>
            </a:r>
            <a:r>
              <a:rPr sz="1200" spc="16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analytics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dashboard</a:t>
            </a:r>
            <a:r>
              <a:rPr sz="1200" spc="15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1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introduced</a:t>
            </a:r>
            <a:r>
              <a:rPr sz="1200" spc="15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to </a:t>
            </a:r>
            <a:r>
              <a:rPr sz="1200" dirty="0">
                <a:latin typeface="Times New Roman"/>
                <a:cs typeface="Times New Roman"/>
              </a:rPr>
              <a:t>provide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buyers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sellers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with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real-</a:t>
            </a:r>
            <a:r>
              <a:rPr sz="1200" dirty="0">
                <a:latin typeface="Times New Roman"/>
                <a:cs typeface="Times New Roman"/>
              </a:rPr>
              <a:t>time</a:t>
            </a:r>
            <a:r>
              <a:rPr sz="1200" spc="20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visual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insights</a:t>
            </a:r>
            <a:r>
              <a:rPr sz="1200" spc="2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into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trends</a:t>
            </a:r>
            <a:r>
              <a:rPr sz="1200" spc="204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1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bidding </a:t>
            </a:r>
            <a:r>
              <a:rPr sz="1200" dirty="0">
                <a:latin typeface="Times New Roman"/>
                <a:cs typeface="Times New Roman"/>
              </a:rPr>
              <a:t>history.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Additionally,</a:t>
            </a:r>
            <a:r>
              <a:rPr sz="1200" spc="409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APIs</a:t>
            </a:r>
            <a:r>
              <a:rPr sz="1200" spc="4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or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OCR-based</a:t>
            </a:r>
            <a:r>
              <a:rPr sz="1200" spc="4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systems</a:t>
            </a:r>
            <a:r>
              <a:rPr sz="1200" spc="4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will</a:t>
            </a:r>
            <a:r>
              <a:rPr sz="1200" spc="4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be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developed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for</a:t>
            </a:r>
            <a:r>
              <a:rPr sz="1200" spc="4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automated </a:t>
            </a:r>
            <a:r>
              <a:rPr sz="1200" dirty="0">
                <a:latin typeface="Times New Roman"/>
                <a:cs typeface="Times New Roman"/>
              </a:rPr>
              <a:t>reconciliation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offline</a:t>
            </a:r>
            <a:r>
              <a:rPr sz="1200" spc="24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payments.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Enhancements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AI</a:t>
            </a:r>
            <a:r>
              <a:rPr sz="1200" spc="2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model</a:t>
            </a:r>
            <a:r>
              <a:rPr sz="1200" spc="23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are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also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planned</a:t>
            </a:r>
            <a:r>
              <a:rPr sz="1200" spc="240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by </a:t>
            </a:r>
            <a:r>
              <a:rPr sz="1200" dirty="0">
                <a:latin typeface="Times New Roman"/>
                <a:cs typeface="Times New Roman"/>
              </a:rPr>
              <a:t>expanding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training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dataset and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incorporating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live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market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data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feeds.</a:t>
            </a:r>
            <a:r>
              <a:rPr sz="1200" spc="-1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These</a:t>
            </a:r>
            <a:r>
              <a:rPr sz="1200" spc="-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upgrades</a:t>
            </a:r>
            <a:r>
              <a:rPr sz="1200" spc="-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Times New Roman"/>
                <a:cs typeface="Times New Roman"/>
              </a:rPr>
              <a:t>aim </a:t>
            </a:r>
            <a:r>
              <a:rPr sz="1200" dirty="0">
                <a:latin typeface="Times New Roman"/>
                <a:cs typeface="Times New Roman"/>
              </a:rPr>
              <a:t>to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make</a:t>
            </a:r>
            <a:r>
              <a:rPr sz="1200" spc="1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Auction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Abode</a:t>
            </a:r>
            <a:r>
              <a:rPr sz="1200" spc="3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more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reliable,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user-</a:t>
            </a:r>
            <a:r>
              <a:rPr sz="1200" dirty="0">
                <a:latin typeface="Times New Roman"/>
                <a:cs typeface="Times New Roman"/>
              </a:rPr>
              <a:t>friendly,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and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scalable,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setting</a:t>
            </a:r>
            <a:r>
              <a:rPr sz="1200" spc="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a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new</a:t>
            </a:r>
            <a:r>
              <a:rPr sz="1200" spc="2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benchmark </a:t>
            </a:r>
            <a:r>
              <a:rPr sz="1200" dirty="0">
                <a:latin typeface="Times New Roman"/>
                <a:cs typeface="Times New Roman"/>
              </a:rPr>
              <a:t>in</a:t>
            </a:r>
            <a:r>
              <a:rPr sz="1200" spc="-30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AI-</a:t>
            </a:r>
            <a:r>
              <a:rPr sz="1200" dirty="0">
                <a:latin typeface="Times New Roman"/>
                <a:cs typeface="Times New Roman"/>
              </a:rPr>
              <a:t>powered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real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estate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bidding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Times New Roman"/>
                <a:cs typeface="Times New Roman"/>
              </a:rPr>
              <a:t>platforms</a:t>
            </a:r>
            <a:r>
              <a:rPr sz="1200" spc="-25" dirty="0">
                <a:latin typeface="Times New Roman"/>
                <a:cs typeface="Times New Roman"/>
              </a:rPr>
              <a:t> </a:t>
            </a:r>
            <a:r>
              <a:rPr sz="1200" spc="-10" dirty="0">
                <a:latin typeface="Times New Roman"/>
                <a:cs typeface="Times New Roman"/>
              </a:rPr>
              <a:t>worldwide.</a:t>
            </a:r>
            <a:endParaRPr sz="12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</TotalTime>
  <Words>10228</Words>
  <Application>Microsoft Office PowerPoint</Application>
  <PresentationFormat>Custom</PresentationFormat>
  <Paragraphs>948</Paragraphs>
  <Slides>61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6" baseType="lpstr">
      <vt:lpstr>Calibri</vt:lpstr>
      <vt:lpstr>Courier New</vt:lpstr>
      <vt:lpstr>Symbol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MEHBOOB</dc:creator>
  <cp:lastModifiedBy>Malik Hasnain</cp:lastModifiedBy>
  <cp:revision>3</cp:revision>
  <dcterms:created xsi:type="dcterms:W3CDTF">2025-11-09T19:01:49Z</dcterms:created>
  <dcterms:modified xsi:type="dcterms:W3CDTF">2025-11-09T19:58:03Z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2025-06-30T00:00:00Z</vt:filetime>
  </property>
  <property fmtid="{D5CDD505-2E9C-101B-9397-08002B2CF9AE}" pid="3" name="Creator">
    <vt:lpwstr>Microsoft® Word LTSC</vt:lpwstr>
  </property>
  <property fmtid="{D5CDD505-2E9C-101B-9397-08002B2CF9AE}" pid="4" name="LastSaved">
    <vt:filetime>2025-11-09T00:00:00Z</vt:filetime>
  </property>
  <property fmtid="{D5CDD505-2E9C-101B-9397-08002B2CF9AE}" pid="5" name="Producer">
    <vt:lpwstr>Microsoft® Word LTSC</vt:lpwstr>
  </property>
</Properties>
</file>