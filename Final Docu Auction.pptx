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43" autoAdjust="0"/>
    <p:restoredTop sz="94660"/>
  </p:normalViewPr>
  <p:slideViewPr>
    <p:cSldViewPr>
      <p:cViewPr>
        <p:scale>
          <a:sx n="75" d="100"/>
          <a:sy n="75" d="100"/>
        </p:scale>
        <p:origin x="1419" y="-40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a:xfrm>
            <a:off x="3880484" y="9420690"/>
            <a:ext cx="288289"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fld id="{81D60167-4931-47E6-BA6A-407CBD079E47}" type="slidenum">
              <a:rPr spc="-20" dirty="0"/>
              <a:t>‹#›</a:t>
            </a:fld>
            <a:endParaRPr spc="-2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6200" y="2339022"/>
            <a:ext cx="7772399" cy="838691"/>
          </a:xfrm>
          <a:prstGeom prst="rect">
            <a:avLst/>
          </a:prstGeom>
        </p:spPr>
        <p:txBody>
          <a:bodyPr vert="horz" wrap="square" lIns="0" tIns="12700" rIns="0" bIns="0" rtlCol="0">
            <a:spAutoFit/>
          </a:bodyPr>
          <a:lstStyle/>
          <a:p>
            <a:pPr marL="12700" algn="ctr">
              <a:lnSpc>
                <a:spcPct val="100000"/>
              </a:lnSpc>
              <a:spcBef>
                <a:spcPts val="100"/>
              </a:spcBef>
            </a:pPr>
            <a:r>
              <a:rPr lang="en-US" sz="1600" b="1" dirty="0">
                <a:latin typeface="Times New Roman"/>
                <a:cs typeface="Times New Roman"/>
              </a:rPr>
              <a:t>Department of Computer Science and IT,</a:t>
            </a:r>
          </a:p>
          <a:p>
            <a:pPr marL="12700" algn="ctr">
              <a:lnSpc>
                <a:spcPct val="100000"/>
              </a:lnSpc>
              <a:spcBef>
                <a:spcPts val="100"/>
              </a:spcBef>
            </a:pPr>
            <a:r>
              <a:rPr lang="en-US" b="1" dirty="0">
                <a:latin typeface="Times New Roman"/>
                <a:cs typeface="Times New Roman"/>
              </a:rPr>
              <a:t>Barani Institute of Management Sciences,</a:t>
            </a:r>
          </a:p>
          <a:p>
            <a:pPr marL="12700" algn="ctr">
              <a:lnSpc>
                <a:spcPct val="100000"/>
              </a:lnSpc>
              <a:spcBef>
                <a:spcPts val="100"/>
              </a:spcBef>
            </a:pPr>
            <a:r>
              <a:rPr lang="en-US" b="1" dirty="0">
                <a:latin typeface="Times New Roman"/>
                <a:cs typeface="Times New Roman"/>
              </a:rPr>
              <a:t>Rawalpindi Pakistan</a:t>
            </a:r>
            <a:endParaRPr dirty="0">
              <a:latin typeface="Times New Roman"/>
              <a:cs typeface="Times New Roman"/>
            </a:endParaRPr>
          </a:p>
        </p:txBody>
      </p:sp>
      <p:sp>
        <p:nvSpPr>
          <p:cNvPr id="3" name="object 3"/>
          <p:cNvSpPr txBox="1"/>
          <p:nvPr/>
        </p:nvSpPr>
        <p:spPr>
          <a:xfrm>
            <a:off x="5138165" y="2735326"/>
            <a:ext cx="76200"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imes New Roman"/>
                <a:cs typeface="Times New Roman"/>
              </a:rPr>
              <a:t>`</a:t>
            </a:r>
            <a:endParaRPr sz="1200">
              <a:latin typeface="Times New Roman"/>
              <a:cs typeface="Times New Roman"/>
            </a:endParaRPr>
          </a:p>
        </p:txBody>
      </p:sp>
      <p:sp>
        <p:nvSpPr>
          <p:cNvPr id="4" name="object 4"/>
          <p:cNvSpPr txBox="1"/>
          <p:nvPr/>
        </p:nvSpPr>
        <p:spPr>
          <a:xfrm>
            <a:off x="1" y="4831710"/>
            <a:ext cx="7772400" cy="197490"/>
          </a:xfrm>
          <a:prstGeom prst="rect">
            <a:avLst/>
          </a:prstGeom>
        </p:spPr>
        <p:txBody>
          <a:bodyPr vert="horz" wrap="square" lIns="0" tIns="12700" rIns="0" bIns="0" rtlCol="0">
            <a:spAutoFit/>
          </a:bodyPr>
          <a:lstStyle/>
          <a:p>
            <a:pPr marL="1905" algn="ctr">
              <a:lnSpc>
                <a:spcPct val="100000"/>
              </a:lnSpc>
              <a:spcBef>
                <a:spcPts val="100"/>
              </a:spcBef>
            </a:pPr>
            <a:r>
              <a:rPr sz="1200" b="1" i="1" spc="-25" dirty="0">
                <a:latin typeface="Times New Roman"/>
                <a:cs typeface="Times New Roman"/>
              </a:rPr>
              <a:t>By</a:t>
            </a:r>
            <a:endParaRPr sz="1200" dirty="0">
              <a:latin typeface="Times New Roman"/>
              <a:cs typeface="Times New Roman"/>
            </a:endParaRPr>
          </a:p>
        </p:txBody>
      </p:sp>
      <p:sp>
        <p:nvSpPr>
          <p:cNvPr id="7" name="object 7"/>
          <p:cNvSpPr txBox="1"/>
          <p:nvPr/>
        </p:nvSpPr>
        <p:spPr>
          <a:xfrm>
            <a:off x="2161667" y="7215107"/>
            <a:ext cx="3449065" cy="548640"/>
          </a:xfrm>
          <a:prstGeom prst="rect">
            <a:avLst/>
          </a:prstGeom>
        </p:spPr>
        <p:txBody>
          <a:bodyPr vert="horz" wrap="square" lIns="0" tIns="12700" rIns="0" bIns="0" rtlCol="0">
            <a:spAutoFit/>
          </a:bodyPr>
          <a:lstStyle/>
          <a:p>
            <a:pPr algn="ctr">
              <a:lnSpc>
                <a:spcPct val="100000"/>
              </a:lnSpc>
              <a:spcBef>
                <a:spcPts val="100"/>
              </a:spcBef>
            </a:pPr>
            <a:r>
              <a:rPr sz="1200" b="1" i="1" spc="-10" dirty="0">
                <a:latin typeface="Times New Roman"/>
                <a:cs typeface="Times New Roman"/>
              </a:rPr>
              <a:t>Supervisor</a:t>
            </a:r>
            <a:endParaRPr sz="1200" dirty="0">
              <a:latin typeface="Times New Roman"/>
              <a:cs typeface="Times New Roman"/>
            </a:endParaRPr>
          </a:p>
          <a:p>
            <a:pPr algn="ctr">
              <a:lnSpc>
                <a:spcPct val="100000"/>
              </a:lnSpc>
              <a:spcBef>
                <a:spcPts val="1235"/>
              </a:spcBef>
            </a:pPr>
            <a:r>
              <a:rPr lang="en-US" sz="1200" b="1" dirty="0">
                <a:latin typeface="Times New Roman"/>
                <a:cs typeface="Times New Roman"/>
              </a:rPr>
              <a:t>Ms.</a:t>
            </a:r>
            <a:r>
              <a:rPr sz="1200" b="1" spc="-35" dirty="0">
                <a:latin typeface="Times New Roman"/>
                <a:cs typeface="Times New Roman"/>
              </a:rPr>
              <a:t> </a:t>
            </a:r>
            <a:r>
              <a:rPr lang="en-US" sz="1200" b="1" spc="-10" dirty="0">
                <a:latin typeface="Times New Roman"/>
                <a:cs typeface="Times New Roman"/>
              </a:rPr>
              <a:t>Fakhar Un Nisa</a:t>
            </a:r>
            <a:endParaRPr sz="1200" dirty="0">
              <a:latin typeface="Times New Roman"/>
              <a:cs typeface="Times New Roman"/>
            </a:endParaRPr>
          </a:p>
        </p:txBody>
      </p:sp>
      <p:pic>
        <p:nvPicPr>
          <p:cNvPr id="10" name="Picture 9">
            <a:extLst>
              <a:ext uri="{FF2B5EF4-FFF2-40B4-BE49-F238E27FC236}">
                <a16:creationId xmlns:a16="http://schemas.microsoft.com/office/drawing/2014/main" id="{F16AEB8B-F9AC-9487-D427-E42A349A6429}"/>
              </a:ext>
            </a:extLst>
          </p:cNvPr>
          <p:cNvPicPr/>
          <p:nvPr/>
        </p:nvPicPr>
        <p:blipFill>
          <a:blip r:embed="rId2" cstate="print">
            <a:extLst>
              <a:ext uri="{28A0092B-C50C-407E-A947-70E740481C1C}">
                <a14:useLocalDpi xmlns:a14="http://schemas.microsoft.com/office/drawing/2010/main" val="0"/>
              </a:ext>
            </a:extLst>
          </a:blip>
          <a:stretch>
            <a:fillRect/>
          </a:stretch>
        </p:blipFill>
        <p:spPr bwMode="auto">
          <a:xfrm rot="10800000" flipH="1" flipV="1">
            <a:off x="3186679" y="460968"/>
            <a:ext cx="1465584" cy="1386840"/>
          </a:xfrm>
          <a:prstGeom prst="rect">
            <a:avLst/>
          </a:prstGeom>
          <a:noFill/>
          <a:ln>
            <a:noFill/>
          </a:ln>
        </p:spPr>
      </p:pic>
      <p:grpSp>
        <p:nvGrpSpPr>
          <p:cNvPr id="12" name="Group 11">
            <a:extLst>
              <a:ext uri="{FF2B5EF4-FFF2-40B4-BE49-F238E27FC236}">
                <a16:creationId xmlns:a16="http://schemas.microsoft.com/office/drawing/2014/main" id="{427BA250-E808-CC06-3DC5-3ACAE132DBF8}"/>
              </a:ext>
            </a:extLst>
          </p:cNvPr>
          <p:cNvGrpSpPr/>
          <p:nvPr/>
        </p:nvGrpSpPr>
        <p:grpSpPr>
          <a:xfrm>
            <a:off x="2497766" y="5255231"/>
            <a:ext cx="3030860" cy="228365"/>
            <a:chOff x="2370771" y="3253042"/>
            <a:chExt cx="3030860" cy="228365"/>
          </a:xfrm>
        </p:grpSpPr>
        <p:sp>
          <p:nvSpPr>
            <p:cNvPr id="9" name="object 5">
              <a:extLst>
                <a:ext uri="{FF2B5EF4-FFF2-40B4-BE49-F238E27FC236}">
                  <a16:creationId xmlns:a16="http://schemas.microsoft.com/office/drawing/2014/main" id="{A50E15A7-2466-FD95-0539-244E2BF430FA}"/>
                </a:ext>
              </a:extLst>
            </p:cNvPr>
            <p:cNvSpPr txBox="1"/>
            <p:nvPr/>
          </p:nvSpPr>
          <p:spPr>
            <a:xfrm>
              <a:off x="2370771" y="3253139"/>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Hasnain </a:t>
              </a:r>
              <a:r>
                <a:rPr lang="en-US" sz="1400" b="1" dirty="0" err="1">
                  <a:latin typeface="Times New Roman"/>
                  <a:cs typeface="Times New Roman"/>
                </a:rPr>
                <a:t>Mahvia</a:t>
              </a:r>
              <a:endParaRPr sz="1400" b="1" dirty="0">
                <a:latin typeface="Times New Roman"/>
                <a:cs typeface="Times New Roman"/>
              </a:endParaRPr>
            </a:p>
          </p:txBody>
        </p:sp>
        <p:sp>
          <p:nvSpPr>
            <p:cNvPr id="11" name="object 5">
              <a:extLst>
                <a:ext uri="{FF2B5EF4-FFF2-40B4-BE49-F238E27FC236}">
                  <a16:creationId xmlns:a16="http://schemas.microsoft.com/office/drawing/2014/main" id="{EEC48DC5-022E-1267-0305-486F144FCAFA}"/>
                </a:ext>
              </a:extLst>
            </p:cNvPr>
            <p:cNvSpPr txBox="1"/>
            <p:nvPr/>
          </p:nvSpPr>
          <p:spPr>
            <a:xfrm>
              <a:off x="4030031" y="3253042"/>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22-ARID-487</a:t>
              </a:r>
              <a:endParaRPr sz="1400" b="1" dirty="0">
                <a:latin typeface="Times New Roman"/>
                <a:cs typeface="Times New Roman"/>
              </a:endParaRPr>
            </a:p>
          </p:txBody>
        </p:sp>
      </p:grpSp>
      <p:grpSp>
        <p:nvGrpSpPr>
          <p:cNvPr id="18" name="Group 17">
            <a:extLst>
              <a:ext uri="{FF2B5EF4-FFF2-40B4-BE49-F238E27FC236}">
                <a16:creationId xmlns:a16="http://schemas.microsoft.com/office/drawing/2014/main" id="{8984D038-0246-02E8-C551-945CE74BFD54}"/>
              </a:ext>
            </a:extLst>
          </p:cNvPr>
          <p:cNvGrpSpPr/>
          <p:nvPr/>
        </p:nvGrpSpPr>
        <p:grpSpPr>
          <a:xfrm>
            <a:off x="2485066" y="5647091"/>
            <a:ext cx="3030860" cy="228365"/>
            <a:chOff x="2370771" y="3253042"/>
            <a:chExt cx="3030860" cy="228365"/>
          </a:xfrm>
        </p:grpSpPr>
        <p:sp>
          <p:nvSpPr>
            <p:cNvPr id="19" name="object 5">
              <a:extLst>
                <a:ext uri="{FF2B5EF4-FFF2-40B4-BE49-F238E27FC236}">
                  <a16:creationId xmlns:a16="http://schemas.microsoft.com/office/drawing/2014/main" id="{34CC8B3C-17A6-0DF1-4549-C9D89C053193}"/>
                </a:ext>
              </a:extLst>
            </p:cNvPr>
            <p:cNvSpPr txBox="1"/>
            <p:nvPr/>
          </p:nvSpPr>
          <p:spPr>
            <a:xfrm>
              <a:off x="2370771" y="3253139"/>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Hafsa Saeed</a:t>
              </a:r>
              <a:endParaRPr sz="1400" b="1" dirty="0">
                <a:latin typeface="Times New Roman"/>
                <a:cs typeface="Times New Roman"/>
              </a:endParaRPr>
            </a:p>
          </p:txBody>
        </p:sp>
        <p:sp>
          <p:nvSpPr>
            <p:cNvPr id="20" name="object 5">
              <a:extLst>
                <a:ext uri="{FF2B5EF4-FFF2-40B4-BE49-F238E27FC236}">
                  <a16:creationId xmlns:a16="http://schemas.microsoft.com/office/drawing/2014/main" id="{DCE0537B-7167-BFFD-180C-2E8209880483}"/>
                </a:ext>
              </a:extLst>
            </p:cNvPr>
            <p:cNvSpPr txBox="1"/>
            <p:nvPr/>
          </p:nvSpPr>
          <p:spPr>
            <a:xfrm>
              <a:off x="4030031" y="3253042"/>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22-ARID-483</a:t>
              </a:r>
              <a:endParaRPr sz="1400" b="1" dirty="0">
                <a:latin typeface="Times New Roman"/>
                <a:cs typeface="Times New Roman"/>
              </a:endParaRPr>
            </a:p>
          </p:txBody>
        </p:sp>
      </p:grpSp>
      <p:grpSp>
        <p:nvGrpSpPr>
          <p:cNvPr id="21" name="Group 20">
            <a:extLst>
              <a:ext uri="{FF2B5EF4-FFF2-40B4-BE49-F238E27FC236}">
                <a16:creationId xmlns:a16="http://schemas.microsoft.com/office/drawing/2014/main" id="{E63C96A3-98EE-E90C-8C39-0B1660C48A51}"/>
              </a:ext>
            </a:extLst>
          </p:cNvPr>
          <p:cNvGrpSpPr/>
          <p:nvPr/>
        </p:nvGrpSpPr>
        <p:grpSpPr>
          <a:xfrm>
            <a:off x="2497766" y="6034859"/>
            <a:ext cx="3030860" cy="228365"/>
            <a:chOff x="2370771" y="3253042"/>
            <a:chExt cx="3030860" cy="228365"/>
          </a:xfrm>
        </p:grpSpPr>
        <p:sp>
          <p:nvSpPr>
            <p:cNvPr id="22" name="object 5">
              <a:extLst>
                <a:ext uri="{FF2B5EF4-FFF2-40B4-BE49-F238E27FC236}">
                  <a16:creationId xmlns:a16="http://schemas.microsoft.com/office/drawing/2014/main" id="{C280DFC4-996B-9857-30FD-799BDB143FA8}"/>
                </a:ext>
              </a:extLst>
            </p:cNvPr>
            <p:cNvSpPr txBox="1"/>
            <p:nvPr/>
          </p:nvSpPr>
          <p:spPr>
            <a:xfrm>
              <a:off x="2370771" y="3253139"/>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Ali Mahmood</a:t>
              </a:r>
              <a:endParaRPr sz="1400" b="1" dirty="0">
                <a:latin typeface="Times New Roman"/>
                <a:cs typeface="Times New Roman"/>
              </a:endParaRPr>
            </a:p>
          </p:txBody>
        </p:sp>
        <p:sp>
          <p:nvSpPr>
            <p:cNvPr id="23" name="object 5">
              <a:extLst>
                <a:ext uri="{FF2B5EF4-FFF2-40B4-BE49-F238E27FC236}">
                  <a16:creationId xmlns:a16="http://schemas.microsoft.com/office/drawing/2014/main" id="{977CF331-B393-AC1E-534C-BADCBDDE2F52}"/>
                </a:ext>
              </a:extLst>
            </p:cNvPr>
            <p:cNvSpPr txBox="1"/>
            <p:nvPr/>
          </p:nvSpPr>
          <p:spPr>
            <a:xfrm>
              <a:off x="4030031" y="3253042"/>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22-ARID-497</a:t>
              </a:r>
              <a:endParaRPr sz="1400" b="1" dirty="0">
                <a:latin typeface="Times New Roman"/>
                <a:cs typeface="Times New Roman"/>
              </a:endParaRPr>
            </a:p>
          </p:txBody>
        </p:sp>
      </p:grpSp>
      <p:grpSp>
        <p:nvGrpSpPr>
          <p:cNvPr id="24" name="Group 23">
            <a:extLst>
              <a:ext uri="{FF2B5EF4-FFF2-40B4-BE49-F238E27FC236}">
                <a16:creationId xmlns:a16="http://schemas.microsoft.com/office/drawing/2014/main" id="{088CDA4E-9CFE-FFEA-9A98-B63730B75F7A}"/>
              </a:ext>
            </a:extLst>
          </p:cNvPr>
          <p:cNvGrpSpPr/>
          <p:nvPr/>
        </p:nvGrpSpPr>
        <p:grpSpPr>
          <a:xfrm>
            <a:off x="2491416" y="6393927"/>
            <a:ext cx="3030860" cy="228365"/>
            <a:chOff x="2370771" y="3253042"/>
            <a:chExt cx="3030860" cy="228365"/>
          </a:xfrm>
        </p:grpSpPr>
        <p:sp>
          <p:nvSpPr>
            <p:cNvPr id="25" name="object 5">
              <a:extLst>
                <a:ext uri="{FF2B5EF4-FFF2-40B4-BE49-F238E27FC236}">
                  <a16:creationId xmlns:a16="http://schemas.microsoft.com/office/drawing/2014/main" id="{40B3C951-907C-3B22-2E1D-6C20E98ED0BF}"/>
                </a:ext>
              </a:extLst>
            </p:cNvPr>
            <p:cNvSpPr txBox="1"/>
            <p:nvPr/>
          </p:nvSpPr>
          <p:spPr>
            <a:xfrm>
              <a:off x="2370771" y="3253139"/>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Zakria Aftab</a:t>
              </a:r>
              <a:endParaRPr sz="1400" b="1" dirty="0">
                <a:latin typeface="Times New Roman"/>
                <a:cs typeface="Times New Roman"/>
              </a:endParaRPr>
            </a:p>
          </p:txBody>
        </p:sp>
        <p:sp>
          <p:nvSpPr>
            <p:cNvPr id="26" name="object 5">
              <a:extLst>
                <a:ext uri="{FF2B5EF4-FFF2-40B4-BE49-F238E27FC236}">
                  <a16:creationId xmlns:a16="http://schemas.microsoft.com/office/drawing/2014/main" id="{B9ACF658-C716-A91F-1FB1-798C726421D3}"/>
                </a:ext>
              </a:extLst>
            </p:cNvPr>
            <p:cNvSpPr txBox="1"/>
            <p:nvPr/>
          </p:nvSpPr>
          <p:spPr>
            <a:xfrm>
              <a:off x="4030031" y="3253042"/>
              <a:ext cx="1371600" cy="228268"/>
            </a:xfrm>
            <a:prstGeom prst="rect">
              <a:avLst/>
            </a:prstGeom>
          </p:spPr>
          <p:txBody>
            <a:bodyPr vert="horz" wrap="square" lIns="0" tIns="12700" rIns="0" bIns="0" rtlCol="0">
              <a:spAutoFit/>
            </a:bodyPr>
            <a:lstStyle/>
            <a:p>
              <a:pPr algn="l">
                <a:lnSpc>
                  <a:spcPct val="100000"/>
                </a:lnSpc>
                <a:spcBef>
                  <a:spcPts val="100"/>
                </a:spcBef>
              </a:pPr>
              <a:r>
                <a:rPr lang="en-US" sz="1400" b="1" dirty="0">
                  <a:latin typeface="Times New Roman"/>
                  <a:cs typeface="Times New Roman"/>
                </a:rPr>
                <a:t>22-ARID-533</a:t>
              </a:r>
              <a:endParaRPr sz="1400" b="1" dirty="0">
                <a:latin typeface="Times New Roman"/>
                <a:cs typeface="Times New Roman"/>
              </a:endParaRPr>
            </a:p>
          </p:txBody>
        </p:sp>
      </p:grpSp>
      <p:sp>
        <p:nvSpPr>
          <p:cNvPr id="30" name="object 2">
            <a:extLst>
              <a:ext uri="{FF2B5EF4-FFF2-40B4-BE49-F238E27FC236}">
                <a16:creationId xmlns:a16="http://schemas.microsoft.com/office/drawing/2014/main" id="{1EC05A95-17AE-FA83-CE25-84A4FB81C4CE}"/>
              </a:ext>
            </a:extLst>
          </p:cNvPr>
          <p:cNvSpPr txBox="1"/>
          <p:nvPr/>
        </p:nvSpPr>
        <p:spPr>
          <a:xfrm>
            <a:off x="-1" y="3658684"/>
            <a:ext cx="7772399" cy="382156"/>
          </a:xfrm>
          <a:prstGeom prst="rect">
            <a:avLst/>
          </a:prstGeom>
        </p:spPr>
        <p:txBody>
          <a:bodyPr vert="horz" wrap="square" lIns="0" tIns="12700" rIns="0" bIns="0" rtlCol="0">
            <a:spAutoFit/>
          </a:bodyPr>
          <a:lstStyle/>
          <a:p>
            <a:pPr marL="12700" algn="ctr">
              <a:lnSpc>
                <a:spcPct val="100000"/>
              </a:lnSpc>
              <a:spcBef>
                <a:spcPts val="100"/>
              </a:spcBef>
            </a:pPr>
            <a:r>
              <a:rPr lang="en-US" sz="2400" b="1" dirty="0">
                <a:latin typeface="Times New Roman"/>
                <a:cs typeface="Times New Roman"/>
              </a:rPr>
              <a:t>Auction Abode</a:t>
            </a:r>
            <a:endParaRPr sz="2400" dirty="0">
              <a:latin typeface="Times New Roman"/>
              <a:cs typeface="Times New Roman"/>
            </a:endParaRPr>
          </a:p>
        </p:txBody>
      </p:sp>
      <p:sp>
        <p:nvSpPr>
          <p:cNvPr id="31" name="object 2"/>
          <p:cNvSpPr txBox="1"/>
          <p:nvPr/>
        </p:nvSpPr>
        <p:spPr>
          <a:xfrm>
            <a:off x="-29534" y="8254961"/>
            <a:ext cx="7772400" cy="197490"/>
          </a:xfrm>
          <a:prstGeom prst="rect">
            <a:avLst/>
          </a:prstGeom>
        </p:spPr>
        <p:txBody>
          <a:bodyPr vert="horz" wrap="square" lIns="0" tIns="12700" rIns="0" bIns="0" rtlCol="0">
            <a:spAutoFit/>
          </a:bodyPr>
          <a:lstStyle/>
          <a:p>
            <a:pPr marL="12700" algn="ctr">
              <a:lnSpc>
                <a:spcPct val="100000"/>
              </a:lnSpc>
              <a:spcBef>
                <a:spcPts val="100"/>
              </a:spcBef>
            </a:pPr>
            <a:r>
              <a:rPr sz="1200" b="1" i="1" dirty="0">
                <a:latin typeface="Times New Roman"/>
                <a:cs typeface="Times New Roman"/>
              </a:rPr>
              <a:t>Bachelor</a:t>
            </a:r>
            <a:r>
              <a:rPr sz="1200" b="1" i="1" spc="-20" dirty="0">
                <a:latin typeface="Times New Roman"/>
                <a:cs typeface="Times New Roman"/>
              </a:rPr>
              <a:t> </a:t>
            </a:r>
            <a:r>
              <a:rPr sz="1200" b="1" i="1" dirty="0">
                <a:latin typeface="Times New Roman"/>
                <a:cs typeface="Times New Roman"/>
              </a:rPr>
              <a:t>of</a:t>
            </a:r>
            <a:r>
              <a:rPr sz="1200" b="1" i="1" spc="-15" dirty="0">
                <a:latin typeface="Times New Roman"/>
                <a:cs typeface="Times New Roman"/>
              </a:rPr>
              <a:t> </a:t>
            </a:r>
            <a:r>
              <a:rPr sz="1200" b="1" i="1" dirty="0">
                <a:latin typeface="Times New Roman"/>
                <a:cs typeface="Times New Roman"/>
              </a:rPr>
              <a:t>Science</a:t>
            </a:r>
            <a:r>
              <a:rPr sz="1200" b="1" i="1" spc="-25" dirty="0">
                <a:latin typeface="Times New Roman"/>
                <a:cs typeface="Times New Roman"/>
              </a:rPr>
              <a:t> </a:t>
            </a:r>
            <a:r>
              <a:rPr sz="1200" b="1" i="1" dirty="0">
                <a:latin typeface="Times New Roman"/>
                <a:cs typeface="Times New Roman"/>
              </a:rPr>
              <a:t>in</a:t>
            </a:r>
            <a:r>
              <a:rPr sz="1200" b="1" i="1" spc="-10" dirty="0">
                <a:latin typeface="Times New Roman"/>
                <a:cs typeface="Times New Roman"/>
              </a:rPr>
              <a:t> </a:t>
            </a:r>
            <a:r>
              <a:rPr sz="1200" b="1" i="1" dirty="0">
                <a:latin typeface="Times New Roman"/>
                <a:cs typeface="Times New Roman"/>
              </a:rPr>
              <a:t>Computer</a:t>
            </a:r>
            <a:r>
              <a:rPr sz="1200" b="1" i="1" spc="-15" dirty="0">
                <a:latin typeface="Times New Roman"/>
                <a:cs typeface="Times New Roman"/>
              </a:rPr>
              <a:t> </a:t>
            </a:r>
            <a:r>
              <a:rPr sz="1200" b="1" i="1" dirty="0">
                <a:latin typeface="Times New Roman"/>
                <a:cs typeface="Times New Roman"/>
              </a:rPr>
              <a:t>Science</a:t>
            </a:r>
            <a:r>
              <a:rPr sz="1200" b="1" i="1" spc="-15" dirty="0">
                <a:latin typeface="Times New Roman"/>
                <a:cs typeface="Times New Roman"/>
              </a:rPr>
              <a:t> </a:t>
            </a:r>
            <a:r>
              <a:rPr sz="1200" b="1" i="1" spc="-10" dirty="0">
                <a:latin typeface="Times New Roman"/>
                <a:cs typeface="Times New Roman"/>
              </a:rPr>
              <a:t>(202</a:t>
            </a:r>
            <a:r>
              <a:rPr lang="en-US" sz="1200" b="1" i="1" spc="-10" dirty="0">
                <a:latin typeface="Times New Roman"/>
                <a:cs typeface="Times New Roman"/>
              </a:rPr>
              <a:t>2</a:t>
            </a:r>
            <a:r>
              <a:rPr sz="1200" b="1" i="1" spc="-10" dirty="0">
                <a:latin typeface="Times New Roman"/>
                <a:cs typeface="Times New Roman"/>
              </a:rPr>
              <a:t>-202</a:t>
            </a:r>
            <a:r>
              <a:rPr lang="en-US" sz="1200" b="1" i="1" spc="-10" dirty="0">
                <a:latin typeface="Times New Roman"/>
                <a:cs typeface="Times New Roman"/>
              </a:rPr>
              <a:t>6</a:t>
            </a:r>
            <a:r>
              <a:rPr sz="1200" b="1" i="1" spc="-10" dirty="0">
                <a:latin typeface="Times New Roman"/>
                <a:cs typeface="Times New Roman"/>
              </a:rPr>
              <a:t>)</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295966" y="2162960"/>
            <a:ext cx="1458934" cy="228268"/>
          </a:xfrm>
          <a:prstGeom prst="rect">
            <a:avLst/>
          </a:prstGeom>
        </p:spPr>
        <p:txBody>
          <a:bodyPr vert="horz" wrap="square" lIns="0" tIns="12700" rIns="0" bIns="0" rtlCol="0">
            <a:spAutoFit/>
          </a:bodyPr>
          <a:lstStyle/>
          <a:p>
            <a:pPr marL="12700" algn="ctr">
              <a:lnSpc>
                <a:spcPct val="100000"/>
              </a:lnSpc>
              <a:spcBef>
                <a:spcPts val="100"/>
              </a:spcBef>
            </a:pPr>
            <a:r>
              <a:rPr sz="1400" b="1" spc="-10" dirty="0">
                <a:latin typeface="Times New Roman"/>
                <a:cs typeface="Times New Roman"/>
              </a:rPr>
              <a:t>DECLARATION</a:t>
            </a:r>
            <a:endParaRPr sz="1400" dirty="0">
              <a:latin typeface="Times New Roman"/>
              <a:cs typeface="Times New Roman"/>
            </a:endParaRPr>
          </a:p>
        </p:txBody>
      </p:sp>
      <p:sp>
        <p:nvSpPr>
          <p:cNvPr id="5" name="object 5"/>
          <p:cNvSpPr txBox="1"/>
          <p:nvPr/>
        </p:nvSpPr>
        <p:spPr>
          <a:xfrm>
            <a:off x="1176324" y="3276600"/>
            <a:ext cx="5695315" cy="1865630"/>
          </a:xfrm>
          <a:prstGeom prst="rect">
            <a:avLst/>
          </a:prstGeom>
        </p:spPr>
        <p:txBody>
          <a:bodyPr vert="horz" wrap="square" lIns="0" tIns="11430" rIns="0" bIns="0" rtlCol="0">
            <a:spAutoFit/>
          </a:bodyPr>
          <a:lstStyle/>
          <a:p>
            <a:pPr marL="12700" marR="5080" algn="just">
              <a:lnSpc>
                <a:spcPct val="143800"/>
              </a:lnSpc>
              <a:spcBef>
                <a:spcPts val="90"/>
              </a:spcBef>
            </a:pPr>
            <a:r>
              <a:rPr sz="1200" dirty="0">
                <a:latin typeface="Times New Roman"/>
                <a:cs typeface="Times New Roman"/>
              </a:rPr>
              <a:t>We</a:t>
            </a:r>
            <a:r>
              <a:rPr sz="1200" spc="50" dirty="0">
                <a:latin typeface="Times New Roman"/>
                <a:cs typeface="Times New Roman"/>
              </a:rPr>
              <a:t> </a:t>
            </a:r>
            <a:r>
              <a:rPr sz="1200" dirty="0">
                <a:latin typeface="Times New Roman"/>
                <a:cs typeface="Times New Roman"/>
              </a:rPr>
              <a:t>hereby</a:t>
            </a:r>
            <a:r>
              <a:rPr sz="1200" spc="55" dirty="0">
                <a:latin typeface="Times New Roman"/>
                <a:cs typeface="Times New Roman"/>
              </a:rPr>
              <a:t> </a:t>
            </a:r>
            <a:r>
              <a:rPr sz="1200" dirty="0">
                <a:latin typeface="Times New Roman"/>
                <a:cs typeface="Times New Roman"/>
              </a:rPr>
              <a:t>declare</a:t>
            </a:r>
            <a:r>
              <a:rPr sz="1200" spc="45"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this</a:t>
            </a:r>
            <a:r>
              <a:rPr sz="1200" spc="55" dirty="0">
                <a:latin typeface="Times New Roman"/>
                <a:cs typeface="Times New Roman"/>
              </a:rPr>
              <a:t> </a:t>
            </a:r>
            <a:r>
              <a:rPr sz="1200" dirty="0">
                <a:latin typeface="Times New Roman"/>
                <a:cs typeface="Times New Roman"/>
              </a:rPr>
              <a:t>software,</a:t>
            </a:r>
            <a:r>
              <a:rPr sz="1200" spc="55" dirty="0">
                <a:latin typeface="Times New Roman"/>
                <a:cs typeface="Times New Roman"/>
              </a:rPr>
              <a:t> </a:t>
            </a:r>
            <a:r>
              <a:rPr sz="1200" dirty="0">
                <a:latin typeface="Times New Roman"/>
                <a:cs typeface="Times New Roman"/>
              </a:rPr>
              <a:t>neither</a:t>
            </a:r>
            <a:r>
              <a:rPr sz="1200" spc="55" dirty="0">
                <a:latin typeface="Times New Roman"/>
                <a:cs typeface="Times New Roman"/>
              </a:rPr>
              <a:t> </a:t>
            </a:r>
            <a:r>
              <a:rPr sz="1200" dirty="0">
                <a:latin typeface="Times New Roman"/>
                <a:cs typeface="Times New Roman"/>
              </a:rPr>
              <a:t>whole</a:t>
            </a:r>
            <a:r>
              <a:rPr sz="1200" spc="55" dirty="0">
                <a:latin typeface="Times New Roman"/>
                <a:cs typeface="Times New Roman"/>
              </a:rPr>
              <a:t> </a:t>
            </a:r>
            <a:r>
              <a:rPr sz="1200" dirty="0">
                <a:latin typeface="Times New Roman"/>
                <a:cs typeface="Times New Roman"/>
              </a:rPr>
              <a:t>nor</a:t>
            </a:r>
            <a:r>
              <a:rPr sz="1200" spc="50" dirty="0">
                <a:latin typeface="Times New Roman"/>
                <a:cs typeface="Times New Roman"/>
              </a:rPr>
              <a:t> </a:t>
            </a:r>
            <a:r>
              <a:rPr sz="1200" dirty="0">
                <a:latin typeface="Times New Roman"/>
                <a:cs typeface="Times New Roman"/>
              </a:rPr>
              <a:t>as</a:t>
            </a:r>
            <a:r>
              <a:rPr sz="1200" spc="5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part</a:t>
            </a:r>
            <a:r>
              <a:rPr sz="1200" spc="55" dirty="0">
                <a:latin typeface="Times New Roman"/>
                <a:cs typeface="Times New Roman"/>
              </a:rPr>
              <a:t> </a:t>
            </a:r>
            <a:r>
              <a:rPr sz="1200" dirty="0">
                <a:latin typeface="Times New Roman"/>
                <a:cs typeface="Times New Roman"/>
              </a:rPr>
              <a:t>has</a:t>
            </a:r>
            <a:r>
              <a:rPr sz="1200" spc="55" dirty="0">
                <a:latin typeface="Times New Roman"/>
                <a:cs typeface="Times New Roman"/>
              </a:rPr>
              <a:t> </a:t>
            </a:r>
            <a:r>
              <a:rPr sz="1200" dirty="0">
                <a:latin typeface="Times New Roman"/>
                <a:cs typeface="Times New Roman"/>
              </a:rPr>
              <a:t>been</a:t>
            </a:r>
            <a:r>
              <a:rPr sz="1200" spc="55" dirty="0">
                <a:latin typeface="Times New Roman"/>
                <a:cs typeface="Times New Roman"/>
              </a:rPr>
              <a:t> </a:t>
            </a:r>
            <a:r>
              <a:rPr sz="1200" dirty="0">
                <a:latin typeface="Times New Roman"/>
                <a:cs typeface="Times New Roman"/>
              </a:rPr>
              <a:t>copied</a:t>
            </a:r>
            <a:r>
              <a:rPr sz="1200" spc="60" dirty="0">
                <a:latin typeface="Times New Roman"/>
                <a:cs typeface="Times New Roman"/>
              </a:rPr>
              <a:t> </a:t>
            </a:r>
            <a:r>
              <a:rPr sz="1200" dirty="0">
                <a:latin typeface="Times New Roman"/>
                <a:cs typeface="Times New Roman"/>
              </a:rPr>
              <a:t>out</a:t>
            </a:r>
            <a:r>
              <a:rPr sz="1200" spc="60" dirty="0">
                <a:latin typeface="Times New Roman"/>
                <a:cs typeface="Times New Roman"/>
              </a:rPr>
              <a:t> </a:t>
            </a:r>
            <a:r>
              <a:rPr sz="1200" spc="-20" dirty="0">
                <a:latin typeface="Times New Roman"/>
                <a:cs typeface="Times New Roman"/>
              </a:rPr>
              <a:t>from </a:t>
            </a:r>
            <a:r>
              <a:rPr sz="1200" dirty="0">
                <a:latin typeface="Times New Roman"/>
                <a:cs typeface="Times New Roman"/>
              </a:rPr>
              <a:t>any</a:t>
            </a:r>
            <a:r>
              <a:rPr sz="1200" spc="85" dirty="0">
                <a:latin typeface="Times New Roman"/>
                <a:cs typeface="Times New Roman"/>
              </a:rPr>
              <a:t> </a:t>
            </a:r>
            <a:r>
              <a:rPr sz="1200" dirty="0">
                <a:latin typeface="Times New Roman"/>
                <a:cs typeface="Times New Roman"/>
              </a:rPr>
              <a:t>source.</a:t>
            </a:r>
            <a:r>
              <a:rPr sz="1200" spc="105" dirty="0">
                <a:latin typeface="Times New Roman"/>
                <a:cs typeface="Times New Roman"/>
              </a:rPr>
              <a:t> </a:t>
            </a:r>
            <a:r>
              <a:rPr sz="1200" dirty="0">
                <a:latin typeface="Times New Roman"/>
                <a:cs typeface="Times New Roman"/>
              </a:rPr>
              <a:t>It</a:t>
            </a:r>
            <a:r>
              <a:rPr sz="1200" spc="90" dirty="0">
                <a:latin typeface="Times New Roman"/>
                <a:cs typeface="Times New Roman"/>
              </a:rPr>
              <a:t> </a:t>
            </a:r>
            <a:r>
              <a:rPr sz="1200" dirty="0">
                <a:latin typeface="Times New Roman"/>
                <a:cs typeface="Times New Roman"/>
              </a:rPr>
              <a:t>is</a:t>
            </a:r>
            <a:r>
              <a:rPr sz="1200" spc="95" dirty="0">
                <a:latin typeface="Times New Roman"/>
                <a:cs typeface="Times New Roman"/>
              </a:rPr>
              <a:t> </a:t>
            </a:r>
            <a:r>
              <a:rPr sz="1200" dirty="0">
                <a:latin typeface="Times New Roman"/>
                <a:cs typeface="Times New Roman"/>
              </a:rPr>
              <a:t>further</a:t>
            </a:r>
            <a:r>
              <a:rPr sz="1200" spc="95" dirty="0">
                <a:latin typeface="Times New Roman"/>
                <a:cs typeface="Times New Roman"/>
              </a:rPr>
              <a:t> </a:t>
            </a:r>
            <a:r>
              <a:rPr sz="1200" dirty="0">
                <a:latin typeface="Times New Roman"/>
                <a:cs typeface="Times New Roman"/>
              </a:rPr>
              <a:t>declared</a:t>
            </a:r>
            <a:r>
              <a:rPr sz="1200" spc="90" dirty="0">
                <a:latin typeface="Times New Roman"/>
                <a:cs typeface="Times New Roman"/>
              </a:rPr>
              <a:t> </a:t>
            </a:r>
            <a:r>
              <a:rPr sz="1200" dirty="0">
                <a:latin typeface="Times New Roman"/>
                <a:cs typeface="Times New Roman"/>
              </a:rPr>
              <a:t>that</a:t>
            </a:r>
            <a:r>
              <a:rPr sz="1200" spc="85" dirty="0">
                <a:latin typeface="Times New Roman"/>
                <a:cs typeface="Times New Roman"/>
              </a:rPr>
              <a:t> </a:t>
            </a:r>
            <a:r>
              <a:rPr sz="1200" dirty="0">
                <a:latin typeface="Times New Roman"/>
                <a:cs typeface="Times New Roman"/>
              </a:rPr>
              <a:t>we</a:t>
            </a:r>
            <a:r>
              <a:rPr sz="1200" spc="85" dirty="0">
                <a:latin typeface="Times New Roman"/>
                <a:cs typeface="Times New Roman"/>
              </a:rPr>
              <a:t> </a:t>
            </a:r>
            <a:r>
              <a:rPr sz="1200" dirty="0">
                <a:latin typeface="Times New Roman"/>
                <a:cs typeface="Times New Roman"/>
              </a:rPr>
              <a:t>have</a:t>
            </a:r>
            <a:r>
              <a:rPr sz="1200" spc="85" dirty="0">
                <a:latin typeface="Times New Roman"/>
                <a:cs typeface="Times New Roman"/>
              </a:rPr>
              <a:t> </a:t>
            </a:r>
            <a:r>
              <a:rPr sz="1200" dirty="0">
                <a:latin typeface="Times New Roman"/>
                <a:cs typeface="Times New Roman"/>
              </a:rPr>
              <a:t>developed</a:t>
            </a:r>
            <a:r>
              <a:rPr sz="1200" spc="90" dirty="0">
                <a:latin typeface="Times New Roman"/>
                <a:cs typeface="Times New Roman"/>
              </a:rPr>
              <a:t> </a:t>
            </a:r>
            <a:r>
              <a:rPr sz="1200" dirty="0">
                <a:latin typeface="Times New Roman"/>
                <a:cs typeface="Times New Roman"/>
              </a:rPr>
              <a:t>this</a:t>
            </a:r>
            <a:r>
              <a:rPr sz="1200" spc="90" dirty="0">
                <a:latin typeface="Times New Roman"/>
                <a:cs typeface="Times New Roman"/>
              </a:rPr>
              <a:t> </a:t>
            </a:r>
            <a:r>
              <a:rPr sz="1200" dirty="0">
                <a:latin typeface="Times New Roman"/>
                <a:cs typeface="Times New Roman"/>
              </a:rPr>
              <a:t>software</a:t>
            </a:r>
            <a:r>
              <a:rPr sz="1200" spc="114" dirty="0">
                <a:latin typeface="Times New Roman"/>
                <a:cs typeface="Times New Roman"/>
              </a:rPr>
              <a:t> </a:t>
            </a:r>
            <a:r>
              <a:rPr sz="1200" dirty="0">
                <a:latin typeface="Times New Roman"/>
                <a:cs typeface="Times New Roman"/>
              </a:rPr>
              <a:t>documentation</a:t>
            </a:r>
            <a:r>
              <a:rPr sz="1200" spc="100" dirty="0">
                <a:latin typeface="Times New Roman"/>
                <a:cs typeface="Times New Roman"/>
              </a:rPr>
              <a:t> </a:t>
            </a:r>
            <a:r>
              <a:rPr sz="1200" spc="-25" dirty="0">
                <a:latin typeface="Times New Roman"/>
                <a:cs typeface="Times New Roman"/>
              </a:rPr>
              <a:t>and </a:t>
            </a:r>
            <a:r>
              <a:rPr sz="1200" dirty="0">
                <a:latin typeface="Times New Roman"/>
                <a:cs typeface="Times New Roman"/>
              </a:rPr>
              <a:t>accompanied</a:t>
            </a:r>
            <a:r>
              <a:rPr sz="1200" spc="5" dirty="0">
                <a:latin typeface="Times New Roman"/>
                <a:cs typeface="Times New Roman"/>
              </a:rPr>
              <a:t> </a:t>
            </a:r>
            <a:r>
              <a:rPr sz="1200" dirty="0">
                <a:latin typeface="Times New Roman"/>
                <a:cs typeface="Times New Roman"/>
              </a:rPr>
              <a:t>report</a:t>
            </a:r>
            <a:r>
              <a:rPr sz="1200" spc="5" dirty="0">
                <a:latin typeface="Times New Roman"/>
                <a:cs typeface="Times New Roman"/>
              </a:rPr>
              <a:t> </a:t>
            </a:r>
            <a:r>
              <a:rPr sz="1200" dirty="0">
                <a:latin typeface="Times New Roman"/>
                <a:cs typeface="Times New Roman"/>
              </a:rPr>
              <a:t>entirely</a:t>
            </a:r>
            <a:r>
              <a:rPr sz="1200" spc="10"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basis</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our</a:t>
            </a:r>
            <a:r>
              <a:rPr sz="1200" spc="10" dirty="0">
                <a:latin typeface="Times New Roman"/>
                <a:cs typeface="Times New Roman"/>
              </a:rPr>
              <a:t> </a:t>
            </a:r>
            <a:r>
              <a:rPr sz="1200" dirty="0">
                <a:latin typeface="Times New Roman"/>
                <a:cs typeface="Times New Roman"/>
              </a:rPr>
              <a:t>personal</a:t>
            </a:r>
            <a:r>
              <a:rPr sz="1200" spc="10" dirty="0">
                <a:latin typeface="Times New Roman"/>
                <a:cs typeface="Times New Roman"/>
              </a:rPr>
              <a:t> </a:t>
            </a:r>
            <a:r>
              <a:rPr sz="1200" dirty="0">
                <a:latin typeface="Times New Roman"/>
                <a:cs typeface="Times New Roman"/>
              </a:rPr>
              <a:t>efforts.</a:t>
            </a:r>
            <a:r>
              <a:rPr sz="1200" spc="5" dirty="0">
                <a:latin typeface="Times New Roman"/>
                <a:cs typeface="Times New Roman"/>
              </a:rPr>
              <a:t> </a:t>
            </a:r>
            <a:r>
              <a:rPr sz="1200" dirty="0">
                <a:latin typeface="Times New Roman"/>
                <a:cs typeface="Times New Roman"/>
              </a:rPr>
              <a:t>If</a:t>
            </a:r>
            <a:r>
              <a:rPr sz="1200" spc="5" dirty="0">
                <a:latin typeface="Times New Roman"/>
                <a:cs typeface="Times New Roman"/>
              </a:rPr>
              <a:t> </a:t>
            </a:r>
            <a:r>
              <a:rPr sz="1200" dirty="0">
                <a:latin typeface="Times New Roman"/>
                <a:cs typeface="Times New Roman"/>
              </a:rPr>
              <a:t>any</a:t>
            </a:r>
            <a:r>
              <a:rPr sz="1200" spc="40" dirty="0">
                <a:latin typeface="Times New Roman"/>
                <a:cs typeface="Times New Roman"/>
              </a:rPr>
              <a:t> </a:t>
            </a:r>
            <a:r>
              <a:rPr sz="1200" dirty="0">
                <a:latin typeface="Times New Roman"/>
                <a:cs typeface="Times New Roman"/>
              </a:rPr>
              <a:t>part</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project</a:t>
            </a:r>
            <a:r>
              <a:rPr sz="1200" spc="15" dirty="0">
                <a:latin typeface="Times New Roman"/>
                <a:cs typeface="Times New Roman"/>
              </a:rPr>
              <a:t> </a:t>
            </a:r>
            <a:r>
              <a:rPr sz="1200" spc="-25" dirty="0">
                <a:latin typeface="Times New Roman"/>
                <a:cs typeface="Times New Roman"/>
              </a:rPr>
              <a:t>is </a:t>
            </a:r>
            <a:r>
              <a:rPr sz="1200" dirty="0">
                <a:latin typeface="Times New Roman"/>
                <a:cs typeface="Times New Roman"/>
              </a:rPr>
              <a:t>proved</a:t>
            </a:r>
            <a:r>
              <a:rPr sz="1200" spc="-5" dirty="0">
                <a:latin typeface="Times New Roman"/>
                <a:cs typeface="Times New Roman"/>
              </a:rPr>
              <a:t> </a:t>
            </a:r>
            <a:r>
              <a:rPr sz="1200" dirty="0">
                <a:latin typeface="Times New Roman"/>
                <a:cs typeface="Times New Roman"/>
              </a:rPr>
              <a:t>to be</a:t>
            </a:r>
            <a:r>
              <a:rPr sz="1200" spc="-5" dirty="0">
                <a:latin typeface="Times New Roman"/>
                <a:cs typeface="Times New Roman"/>
              </a:rPr>
              <a:t> </a:t>
            </a:r>
            <a:r>
              <a:rPr sz="1200" dirty="0">
                <a:latin typeface="Times New Roman"/>
                <a:cs typeface="Times New Roman"/>
              </a:rPr>
              <a:t>copied</a:t>
            </a:r>
            <a:r>
              <a:rPr sz="1200" spc="-5" dirty="0">
                <a:latin typeface="Times New Roman"/>
                <a:cs typeface="Times New Roman"/>
              </a:rPr>
              <a:t> </a:t>
            </a:r>
            <a:r>
              <a:rPr sz="1200" dirty="0">
                <a:latin typeface="Times New Roman"/>
                <a:cs typeface="Times New Roman"/>
              </a:rPr>
              <a:t>out</a:t>
            </a:r>
            <a:r>
              <a:rPr sz="1200" spc="5" dirty="0">
                <a:latin typeface="Times New Roman"/>
                <a:cs typeface="Times New Roman"/>
              </a:rPr>
              <a:t> </a:t>
            </a:r>
            <a:r>
              <a:rPr sz="1200" dirty="0">
                <a:latin typeface="Times New Roman"/>
                <a:cs typeface="Times New Roman"/>
              </a:rPr>
              <a:t>from</a:t>
            </a:r>
            <a:r>
              <a:rPr sz="1200" spc="-5" dirty="0">
                <a:latin typeface="Times New Roman"/>
                <a:cs typeface="Times New Roman"/>
              </a:rPr>
              <a:t> </a:t>
            </a:r>
            <a:r>
              <a:rPr sz="1200" dirty="0">
                <a:latin typeface="Times New Roman"/>
                <a:cs typeface="Times New Roman"/>
              </a:rPr>
              <a:t>any source</a:t>
            </a:r>
            <a:r>
              <a:rPr sz="1200" spc="-10"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found</a:t>
            </a:r>
            <a:r>
              <a:rPr sz="1200" spc="10" dirty="0">
                <a:latin typeface="Times New Roman"/>
                <a:cs typeface="Times New Roman"/>
              </a:rPr>
              <a:t> </a:t>
            </a:r>
            <a:r>
              <a:rPr sz="1200" dirty="0">
                <a:latin typeface="Times New Roman"/>
                <a:cs typeface="Times New Roman"/>
              </a:rPr>
              <a:t>to be</a:t>
            </a:r>
            <a:r>
              <a:rPr sz="1200" spc="-5" dirty="0">
                <a:latin typeface="Times New Roman"/>
                <a:cs typeface="Times New Roman"/>
              </a:rPr>
              <a:t> </a:t>
            </a:r>
            <a:r>
              <a:rPr sz="1200" dirty="0">
                <a:latin typeface="Times New Roman"/>
                <a:cs typeface="Times New Roman"/>
              </a:rPr>
              <a:t>reproduction</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some</a:t>
            </a:r>
            <a:r>
              <a:rPr sz="1200" spc="-5" dirty="0">
                <a:latin typeface="Times New Roman"/>
                <a:cs typeface="Times New Roman"/>
              </a:rPr>
              <a:t> </a:t>
            </a:r>
            <a:r>
              <a:rPr sz="1200" dirty="0">
                <a:latin typeface="Times New Roman"/>
                <a:cs typeface="Times New Roman"/>
              </a:rPr>
              <a:t>other. We</a:t>
            </a:r>
            <a:r>
              <a:rPr sz="1200" spc="-10" dirty="0">
                <a:latin typeface="Times New Roman"/>
                <a:cs typeface="Times New Roman"/>
              </a:rPr>
              <a:t> </a:t>
            </a:r>
            <a:r>
              <a:rPr sz="1200" spc="-20" dirty="0">
                <a:latin typeface="Times New Roman"/>
                <a:cs typeface="Times New Roman"/>
              </a:rPr>
              <a:t>will </a:t>
            </a:r>
            <a:r>
              <a:rPr sz="1200" dirty="0">
                <a:latin typeface="Times New Roman"/>
                <a:cs typeface="Times New Roman"/>
              </a:rPr>
              <a:t>stand</a:t>
            </a:r>
            <a:r>
              <a:rPr sz="1200" spc="150" dirty="0">
                <a:latin typeface="Times New Roman"/>
                <a:cs typeface="Times New Roman"/>
              </a:rPr>
              <a:t> </a:t>
            </a:r>
            <a:r>
              <a:rPr sz="1200" dirty="0">
                <a:latin typeface="Times New Roman"/>
                <a:cs typeface="Times New Roman"/>
              </a:rPr>
              <a:t>by</a:t>
            </a:r>
            <a:r>
              <a:rPr sz="1200" spc="155"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consequences.</a:t>
            </a:r>
            <a:r>
              <a:rPr sz="1200" spc="160" dirty="0">
                <a:latin typeface="Times New Roman"/>
                <a:cs typeface="Times New Roman"/>
              </a:rPr>
              <a:t> </a:t>
            </a:r>
            <a:r>
              <a:rPr sz="1200" dirty="0">
                <a:latin typeface="Times New Roman"/>
                <a:cs typeface="Times New Roman"/>
              </a:rPr>
              <a:t>No</a:t>
            </a:r>
            <a:r>
              <a:rPr sz="1200" spc="155" dirty="0">
                <a:latin typeface="Times New Roman"/>
                <a:cs typeface="Times New Roman"/>
              </a:rPr>
              <a:t> </a:t>
            </a:r>
            <a:r>
              <a:rPr sz="1200" dirty="0">
                <a:latin typeface="Times New Roman"/>
                <a:cs typeface="Times New Roman"/>
              </a:rPr>
              <a:t>Portion</a:t>
            </a:r>
            <a:r>
              <a:rPr sz="1200" spc="155" dirty="0">
                <a:latin typeface="Times New Roman"/>
                <a:cs typeface="Times New Roman"/>
              </a:rPr>
              <a:t> </a:t>
            </a:r>
            <a:r>
              <a:rPr sz="1200" dirty="0">
                <a:latin typeface="Times New Roman"/>
                <a:cs typeface="Times New Roman"/>
              </a:rPr>
              <a:t>of</a:t>
            </a:r>
            <a:r>
              <a:rPr sz="1200" spc="15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dirty="0">
                <a:latin typeface="Times New Roman"/>
                <a:cs typeface="Times New Roman"/>
              </a:rPr>
              <a:t>work</a:t>
            </a:r>
            <a:r>
              <a:rPr sz="1200" spc="150" dirty="0">
                <a:latin typeface="Times New Roman"/>
                <a:cs typeface="Times New Roman"/>
              </a:rPr>
              <a:t> </a:t>
            </a:r>
            <a:r>
              <a:rPr sz="1200" dirty="0">
                <a:latin typeface="Times New Roman"/>
                <a:cs typeface="Times New Roman"/>
              </a:rPr>
              <a:t>presented</a:t>
            </a:r>
            <a:r>
              <a:rPr sz="1200" spc="155" dirty="0">
                <a:latin typeface="Times New Roman"/>
                <a:cs typeface="Times New Roman"/>
              </a:rPr>
              <a:t> </a:t>
            </a:r>
            <a:r>
              <a:rPr sz="1200" dirty="0">
                <a:latin typeface="Times New Roman"/>
                <a:cs typeface="Times New Roman"/>
              </a:rPr>
              <a:t>has</a:t>
            </a:r>
            <a:r>
              <a:rPr sz="1200" spc="155" dirty="0">
                <a:latin typeface="Times New Roman"/>
                <a:cs typeface="Times New Roman"/>
              </a:rPr>
              <a:t> </a:t>
            </a:r>
            <a:r>
              <a:rPr sz="1200" dirty="0">
                <a:latin typeface="Times New Roman"/>
                <a:cs typeface="Times New Roman"/>
              </a:rPr>
              <a:t>been</a:t>
            </a:r>
            <a:r>
              <a:rPr sz="1200" spc="170" dirty="0">
                <a:latin typeface="Times New Roman"/>
                <a:cs typeface="Times New Roman"/>
              </a:rPr>
              <a:t> </a:t>
            </a:r>
            <a:r>
              <a:rPr sz="1200" dirty="0">
                <a:latin typeface="Times New Roman"/>
                <a:cs typeface="Times New Roman"/>
              </a:rPr>
              <a:t>submitted</a:t>
            </a:r>
            <a:r>
              <a:rPr sz="1200" spc="15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spc="-25" dirty="0">
                <a:latin typeface="Times New Roman"/>
                <a:cs typeface="Times New Roman"/>
              </a:rPr>
              <a:t>any </a:t>
            </a:r>
            <a:r>
              <a:rPr sz="1200" dirty="0">
                <a:latin typeface="Times New Roman"/>
                <a:cs typeface="Times New Roman"/>
              </a:rPr>
              <a:t>application</a:t>
            </a:r>
            <a:r>
              <a:rPr sz="1200" spc="-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any</a:t>
            </a:r>
            <a:r>
              <a:rPr sz="1200" spc="-5" dirty="0">
                <a:latin typeface="Times New Roman"/>
                <a:cs typeface="Times New Roman"/>
              </a:rPr>
              <a:t> </a:t>
            </a:r>
            <a:r>
              <a:rPr sz="1200" dirty="0">
                <a:latin typeface="Times New Roman"/>
                <a:cs typeface="Times New Roman"/>
              </a:rPr>
              <a:t>other</a:t>
            </a:r>
            <a:r>
              <a:rPr sz="1200" spc="5" dirty="0">
                <a:latin typeface="Times New Roman"/>
                <a:cs typeface="Times New Roman"/>
              </a:rPr>
              <a:t> </a:t>
            </a:r>
            <a:r>
              <a:rPr sz="1200" dirty="0">
                <a:latin typeface="Times New Roman"/>
                <a:cs typeface="Times New Roman"/>
              </a:rPr>
              <a:t>degree</a:t>
            </a:r>
            <a:r>
              <a:rPr sz="1200" spc="-10"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qualification</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this or</a:t>
            </a:r>
            <a:r>
              <a:rPr sz="1200" spc="-10" dirty="0">
                <a:latin typeface="Times New Roman"/>
                <a:cs typeface="Times New Roman"/>
              </a:rPr>
              <a:t> </a:t>
            </a:r>
            <a:r>
              <a:rPr sz="1200" dirty="0">
                <a:latin typeface="Times New Roman"/>
                <a:cs typeface="Times New Roman"/>
              </a:rPr>
              <a:t>any other</a:t>
            </a:r>
            <a:r>
              <a:rPr sz="1200" spc="-10" dirty="0">
                <a:latin typeface="Times New Roman"/>
                <a:cs typeface="Times New Roman"/>
              </a:rPr>
              <a:t> </a:t>
            </a:r>
            <a:r>
              <a:rPr sz="1200" dirty="0">
                <a:latin typeface="Times New Roman"/>
                <a:cs typeface="Times New Roman"/>
              </a:rPr>
              <a:t>university</a:t>
            </a:r>
            <a:r>
              <a:rPr sz="1200" spc="-5" dirty="0">
                <a:latin typeface="Times New Roman"/>
                <a:cs typeface="Times New Roman"/>
              </a:rPr>
              <a:t> </a:t>
            </a:r>
            <a:r>
              <a:rPr sz="1200" dirty="0">
                <a:latin typeface="Times New Roman"/>
                <a:cs typeface="Times New Roman"/>
              </a:rPr>
              <a:t>or</a:t>
            </a:r>
            <a:r>
              <a:rPr sz="1200" spc="-10" dirty="0">
                <a:latin typeface="Times New Roman"/>
                <a:cs typeface="Times New Roman"/>
              </a:rPr>
              <a:t> </a:t>
            </a:r>
            <a:r>
              <a:rPr sz="1200" dirty="0">
                <a:latin typeface="Times New Roman"/>
                <a:cs typeface="Times New Roman"/>
              </a:rPr>
              <a:t>institute</a:t>
            </a:r>
            <a:r>
              <a:rPr sz="1200" spc="-5" dirty="0">
                <a:latin typeface="Times New Roman"/>
                <a:cs typeface="Times New Roman"/>
              </a:rPr>
              <a:t> </a:t>
            </a:r>
            <a:r>
              <a:rPr sz="1200" spc="-25" dirty="0">
                <a:latin typeface="Times New Roman"/>
                <a:cs typeface="Times New Roman"/>
              </a:rPr>
              <a:t>of </a:t>
            </a:r>
            <a:r>
              <a:rPr sz="1200" spc="-10" dirty="0">
                <a:latin typeface="Times New Roman"/>
                <a:cs typeface="Times New Roman"/>
              </a:rPr>
              <a:t>learning.</a:t>
            </a:r>
            <a:endParaRPr sz="1200" dirty="0">
              <a:latin typeface="Times New Roman"/>
              <a:cs typeface="Times New Roman"/>
            </a:endParaRPr>
          </a:p>
        </p:txBody>
      </p:sp>
      <p:sp>
        <p:nvSpPr>
          <p:cNvPr id="6" name="object 6"/>
          <p:cNvSpPr/>
          <p:nvPr/>
        </p:nvSpPr>
        <p:spPr>
          <a:xfrm>
            <a:off x="1810082" y="6255871"/>
            <a:ext cx="1368425" cy="0"/>
          </a:xfrm>
          <a:custGeom>
            <a:avLst/>
            <a:gdLst/>
            <a:ahLst/>
            <a:cxnLst/>
            <a:rect l="l" t="t" r="r" b="b"/>
            <a:pathLst>
              <a:path w="1368425">
                <a:moveTo>
                  <a:pt x="0" y="0"/>
                </a:moveTo>
                <a:lnTo>
                  <a:pt x="1367974" y="0"/>
                </a:lnTo>
              </a:path>
            </a:pathLst>
          </a:custGeom>
          <a:ln w="11246">
            <a:solidFill>
              <a:srgbClr val="000000"/>
            </a:solidFill>
            <a:prstDash val="dash"/>
          </a:ln>
        </p:spPr>
        <p:txBody>
          <a:bodyPr wrap="square" lIns="0" tIns="0" rIns="0" bIns="0" rtlCol="0"/>
          <a:lstStyle/>
          <a:p>
            <a:endParaRPr/>
          </a:p>
        </p:txBody>
      </p:sp>
      <p:sp>
        <p:nvSpPr>
          <p:cNvPr id="7" name="object 7"/>
          <p:cNvSpPr/>
          <p:nvPr/>
        </p:nvSpPr>
        <p:spPr>
          <a:xfrm>
            <a:off x="1810081" y="7170271"/>
            <a:ext cx="1368425" cy="0"/>
          </a:xfrm>
          <a:custGeom>
            <a:avLst/>
            <a:gdLst/>
            <a:ahLst/>
            <a:cxnLst/>
            <a:rect l="l" t="t" r="r" b="b"/>
            <a:pathLst>
              <a:path w="1368425">
                <a:moveTo>
                  <a:pt x="0" y="0"/>
                </a:moveTo>
                <a:lnTo>
                  <a:pt x="1367974" y="0"/>
                </a:lnTo>
              </a:path>
            </a:pathLst>
          </a:custGeom>
          <a:ln w="11246">
            <a:solidFill>
              <a:srgbClr val="000000"/>
            </a:solidFill>
            <a:prstDash val="dash"/>
          </a:ln>
        </p:spPr>
        <p:txBody>
          <a:bodyPr wrap="square" lIns="0" tIns="0" rIns="0" bIns="0" rtlCol="0"/>
          <a:lstStyle/>
          <a:p>
            <a:endParaRPr/>
          </a:p>
        </p:txBody>
      </p:sp>
      <p:sp>
        <p:nvSpPr>
          <p:cNvPr id="8" name="object 8"/>
          <p:cNvSpPr/>
          <p:nvPr/>
        </p:nvSpPr>
        <p:spPr>
          <a:xfrm>
            <a:off x="4805045" y="7170271"/>
            <a:ext cx="1367155" cy="0"/>
          </a:xfrm>
          <a:custGeom>
            <a:avLst/>
            <a:gdLst/>
            <a:ahLst/>
            <a:cxnLst/>
            <a:rect l="l" t="t" r="r" b="b"/>
            <a:pathLst>
              <a:path w="1367154">
                <a:moveTo>
                  <a:pt x="0" y="0"/>
                </a:moveTo>
                <a:lnTo>
                  <a:pt x="1366603" y="0"/>
                </a:lnTo>
              </a:path>
            </a:pathLst>
          </a:custGeom>
          <a:ln w="11246">
            <a:solidFill>
              <a:srgbClr val="000000"/>
            </a:solidFill>
            <a:prstDash val="dash"/>
          </a:ln>
        </p:spPr>
        <p:txBody>
          <a:bodyPr wrap="square" lIns="0" tIns="0" rIns="0" bIns="0" rtlCol="0"/>
          <a:lstStyle/>
          <a:p>
            <a:endParaRPr/>
          </a:p>
        </p:txBody>
      </p:sp>
      <p:sp>
        <p:nvSpPr>
          <p:cNvPr id="9" name="object 9"/>
          <p:cNvSpPr txBox="1"/>
          <p:nvPr/>
        </p:nvSpPr>
        <p:spPr>
          <a:xfrm>
            <a:off x="1958481" y="6380893"/>
            <a:ext cx="1071626"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Hasnain</a:t>
            </a:r>
            <a:r>
              <a:rPr sz="1200" spc="-50" dirty="0">
                <a:latin typeface="Times New Roman"/>
                <a:cs typeface="Times New Roman"/>
              </a:rPr>
              <a:t> </a:t>
            </a:r>
            <a:r>
              <a:rPr lang="en-US" sz="1200" spc="-10" dirty="0" err="1">
                <a:latin typeface="Times New Roman"/>
                <a:cs typeface="Times New Roman"/>
              </a:rPr>
              <a:t>Mahiva</a:t>
            </a:r>
            <a:endParaRPr sz="1200" dirty="0">
              <a:latin typeface="Times New Roman"/>
              <a:cs typeface="Times New Roman"/>
            </a:endParaRPr>
          </a:p>
        </p:txBody>
      </p:sp>
      <p:sp>
        <p:nvSpPr>
          <p:cNvPr id="12" name="object 12"/>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dirty="0"/>
              <a:t>ii</a:t>
            </a:r>
            <a:endParaRPr spc="-20" dirty="0"/>
          </a:p>
        </p:txBody>
      </p:sp>
      <p:sp>
        <p:nvSpPr>
          <p:cNvPr id="10" name="object 10"/>
          <p:cNvSpPr txBox="1"/>
          <p:nvPr/>
        </p:nvSpPr>
        <p:spPr>
          <a:xfrm>
            <a:off x="5000320" y="6361085"/>
            <a:ext cx="960119"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Hafsa</a:t>
            </a:r>
            <a:r>
              <a:rPr sz="1200" spc="-60" dirty="0">
                <a:latin typeface="Times New Roman"/>
                <a:cs typeface="Times New Roman"/>
              </a:rPr>
              <a:t> </a:t>
            </a:r>
            <a:r>
              <a:rPr lang="en-US" sz="1200" spc="-20" dirty="0">
                <a:latin typeface="Times New Roman"/>
                <a:cs typeface="Times New Roman"/>
              </a:rPr>
              <a:t>Saeed</a:t>
            </a:r>
            <a:endParaRPr sz="1200" dirty="0">
              <a:latin typeface="Times New Roman"/>
              <a:cs typeface="Times New Roman"/>
            </a:endParaRPr>
          </a:p>
        </p:txBody>
      </p:sp>
      <p:sp>
        <p:nvSpPr>
          <p:cNvPr id="11" name="object 11"/>
          <p:cNvSpPr txBox="1"/>
          <p:nvPr/>
        </p:nvSpPr>
        <p:spPr>
          <a:xfrm>
            <a:off x="2056143" y="7309806"/>
            <a:ext cx="87630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Ali</a:t>
            </a:r>
            <a:r>
              <a:rPr lang="en-US" sz="1200" spc="-50" dirty="0">
                <a:latin typeface="Times New Roman"/>
                <a:cs typeface="Times New Roman"/>
              </a:rPr>
              <a:t> Mahmood</a:t>
            </a:r>
            <a:endParaRPr lang="en-US" sz="1200" dirty="0">
              <a:latin typeface="Times New Roman"/>
              <a:cs typeface="Times New Roman"/>
            </a:endParaRPr>
          </a:p>
        </p:txBody>
      </p:sp>
      <p:sp>
        <p:nvSpPr>
          <p:cNvPr id="13" name="object 6">
            <a:extLst>
              <a:ext uri="{FF2B5EF4-FFF2-40B4-BE49-F238E27FC236}">
                <a16:creationId xmlns:a16="http://schemas.microsoft.com/office/drawing/2014/main" id="{3ECE6DA2-AA16-5DD0-7DF4-D3350D5C0370}"/>
              </a:ext>
            </a:extLst>
          </p:cNvPr>
          <p:cNvSpPr/>
          <p:nvPr/>
        </p:nvSpPr>
        <p:spPr>
          <a:xfrm>
            <a:off x="4754900" y="6255871"/>
            <a:ext cx="1368425" cy="0"/>
          </a:xfrm>
          <a:custGeom>
            <a:avLst/>
            <a:gdLst/>
            <a:ahLst/>
            <a:cxnLst/>
            <a:rect l="l" t="t" r="r" b="b"/>
            <a:pathLst>
              <a:path w="1368425">
                <a:moveTo>
                  <a:pt x="0" y="0"/>
                </a:moveTo>
                <a:lnTo>
                  <a:pt x="1367974" y="0"/>
                </a:lnTo>
              </a:path>
            </a:pathLst>
          </a:custGeom>
          <a:ln w="11246">
            <a:solidFill>
              <a:srgbClr val="000000"/>
            </a:solidFill>
            <a:prstDash val="dash"/>
          </a:ln>
        </p:spPr>
        <p:txBody>
          <a:bodyPr wrap="square" lIns="0" tIns="0" rIns="0" bIns="0" rtlCol="0"/>
          <a:lstStyle/>
          <a:p>
            <a:endParaRPr/>
          </a:p>
        </p:txBody>
      </p:sp>
      <p:sp>
        <p:nvSpPr>
          <p:cNvPr id="16" name="TextBox 15">
            <a:extLst>
              <a:ext uri="{FF2B5EF4-FFF2-40B4-BE49-F238E27FC236}">
                <a16:creationId xmlns:a16="http://schemas.microsoft.com/office/drawing/2014/main" id="{11B9B335-2CF5-1B40-C914-ABF17B52068D}"/>
              </a:ext>
            </a:extLst>
          </p:cNvPr>
          <p:cNvSpPr txBox="1"/>
          <p:nvPr/>
        </p:nvSpPr>
        <p:spPr>
          <a:xfrm>
            <a:off x="4985079" y="7223885"/>
            <a:ext cx="990600" cy="369332"/>
          </a:xfrm>
          <a:prstGeom prst="rect">
            <a:avLst/>
          </a:prstGeom>
          <a:noFill/>
        </p:spPr>
        <p:txBody>
          <a:bodyPr wrap="square">
            <a:spAutoFit/>
          </a:bodyPr>
          <a:lstStyle/>
          <a:p>
            <a:pPr marL="12700">
              <a:lnSpc>
                <a:spcPct val="100000"/>
              </a:lnSpc>
              <a:spcBef>
                <a:spcPts val="100"/>
              </a:spcBef>
            </a:pPr>
            <a:r>
              <a:rPr lang="en-US" sz="1200" dirty="0">
                <a:latin typeface="Times New Roman"/>
                <a:cs typeface="Times New Roman"/>
              </a:rPr>
              <a:t>Zakria</a:t>
            </a:r>
            <a:r>
              <a:rPr lang="en-US" sz="1800" spc="-50" dirty="0">
                <a:latin typeface="Times New Roman"/>
                <a:cs typeface="Times New Roman"/>
              </a:rPr>
              <a:t> </a:t>
            </a:r>
            <a:r>
              <a:rPr lang="en-US" sz="1200" spc="-50" dirty="0">
                <a:latin typeface="Times New Roman"/>
                <a:cs typeface="Times New Roman"/>
              </a:rPr>
              <a:t>Aftab</a:t>
            </a:r>
            <a:endParaRPr lang="en-US" sz="1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iii</a:t>
            </a:r>
            <a:endParaRPr spc="-20" dirty="0"/>
          </a:p>
        </p:txBody>
      </p:sp>
      <p:sp>
        <p:nvSpPr>
          <p:cNvPr id="2" name="object 2"/>
          <p:cNvSpPr txBox="1"/>
          <p:nvPr/>
        </p:nvSpPr>
        <p:spPr>
          <a:xfrm>
            <a:off x="1176324" y="1755393"/>
            <a:ext cx="5696585" cy="1960858"/>
          </a:xfrm>
          <a:prstGeom prst="rect">
            <a:avLst/>
          </a:prstGeom>
        </p:spPr>
        <p:txBody>
          <a:bodyPr vert="horz" wrap="square" lIns="0" tIns="12700" rIns="0" bIns="0" rtlCol="0">
            <a:spAutoFit/>
          </a:bodyPr>
          <a:lstStyle/>
          <a:p>
            <a:pPr algn="ctr">
              <a:lnSpc>
                <a:spcPct val="100000"/>
              </a:lnSpc>
              <a:spcBef>
                <a:spcPts val="100"/>
              </a:spcBef>
            </a:pPr>
            <a:r>
              <a:rPr sz="1400" b="1" dirty="0">
                <a:latin typeface="Times New Roman"/>
                <a:cs typeface="Times New Roman"/>
              </a:rPr>
              <a:t>CERTIFICATE</a:t>
            </a:r>
            <a:r>
              <a:rPr sz="1400" b="1" spc="-1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10" dirty="0">
                <a:latin typeface="Times New Roman"/>
                <a:cs typeface="Times New Roman"/>
              </a:rPr>
              <a:t>APPROVAL</a:t>
            </a:r>
            <a:endParaRPr sz="14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505"/>
              </a:spcBef>
            </a:pPr>
            <a:endParaRPr sz="1200" dirty="0">
              <a:latin typeface="Times New Roman"/>
              <a:cs typeface="Times New Roman"/>
            </a:endParaRPr>
          </a:p>
          <a:p>
            <a:pPr marL="12700" marR="5080" algn="ctr">
              <a:lnSpc>
                <a:spcPct val="144000"/>
              </a:lnSpc>
            </a:pPr>
            <a:r>
              <a:rPr sz="1200" dirty="0">
                <a:latin typeface="Times New Roman"/>
                <a:cs typeface="Times New Roman"/>
              </a:rPr>
              <a:t>It</a:t>
            </a:r>
            <a:r>
              <a:rPr sz="1200" spc="130" dirty="0">
                <a:latin typeface="Times New Roman"/>
                <a:cs typeface="Times New Roman"/>
              </a:rPr>
              <a:t> </a:t>
            </a:r>
            <a:r>
              <a:rPr sz="1200" dirty="0">
                <a:latin typeface="Times New Roman"/>
                <a:cs typeface="Times New Roman"/>
              </a:rPr>
              <a:t>is</a:t>
            </a:r>
            <a:r>
              <a:rPr sz="1200" spc="135" dirty="0">
                <a:latin typeface="Times New Roman"/>
                <a:cs typeface="Times New Roman"/>
              </a:rPr>
              <a:t> </a:t>
            </a:r>
            <a:r>
              <a:rPr sz="1200" dirty="0">
                <a:latin typeface="Times New Roman"/>
                <a:cs typeface="Times New Roman"/>
              </a:rPr>
              <a:t>to</a:t>
            </a:r>
            <a:r>
              <a:rPr sz="1200" spc="135" dirty="0">
                <a:latin typeface="Times New Roman"/>
                <a:cs typeface="Times New Roman"/>
              </a:rPr>
              <a:t> </a:t>
            </a:r>
            <a:r>
              <a:rPr sz="1200" dirty="0">
                <a:latin typeface="Times New Roman"/>
                <a:cs typeface="Times New Roman"/>
              </a:rPr>
              <a:t>certify</a:t>
            </a:r>
            <a:r>
              <a:rPr sz="1200" spc="125" dirty="0">
                <a:latin typeface="Times New Roman"/>
                <a:cs typeface="Times New Roman"/>
              </a:rPr>
              <a:t> </a:t>
            </a:r>
            <a:r>
              <a:rPr sz="1200" dirty="0">
                <a:latin typeface="Times New Roman"/>
                <a:cs typeface="Times New Roman"/>
              </a:rPr>
              <a:t>that</a:t>
            </a:r>
            <a:r>
              <a:rPr sz="1200" spc="135"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dirty="0">
                <a:latin typeface="Times New Roman"/>
                <a:cs typeface="Times New Roman"/>
              </a:rPr>
              <a:t>final</a:t>
            </a:r>
            <a:r>
              <a:rPr sz="1200" spc="130" dirty="0">
                <a:latin typeface="Times New Roman"/>
                <a:cs typeface="Times New Roman"/>
              </a:rPr>
              <a:t> </a:t>
            </a:r>
            <a:r>
              <a:rPr sz="1200" dirty="0">
                <a:latin typeface="Times New Roman"/>
                <a:cs typeface="Times New Roman"/>
              </a:rPr>
              <a:t>year</a:t>
            </a:r>
            <a:r>
              <a:rPr sz="1200" spc="130" dirty="0">
                <a:latin typeface="Times New Roman"/>
                <a:cs typeface="Times New Roman"/>
              </a:rPr>
              <a:t> </a:t>
            </a:r>
            <a:r>
              <a:rPr sz="1200" dirty="0">
                <a:latin typeface="Times New Roman"/>
                <a:cs typeface="Times New Roman"/>
              </a:rPr>
              <a:t>project</a:t>
            </a:r>
            <a:r>
              <a:rPr sz="1200" spc="135"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dirty="0">
                <a:latin typeface="Times New Roman"/>
                <a:cs typeface="Times New Roman"/>
              </a:rPr>
              <a:t>BS</a:t>
            </a:r>
            <a:r>
              <a:rPr sz="1200" spc="150" dirty="0">
                <a:latin typeface="Times New Roman"/>
                <a:cs typeface="Times New Roman"/>
              </a:rPr>
              <a:t> </a:t>
            </a:r>
            <a:r>
              <a:rPr sz="1200" dirty="0">
                <a:latin typeface="Times New Roman"/>
                <a:cs typeface="Times New Roman"/>
              </a:rPr>
              <a:t>(CS)</a:t>
            </a:r>
            <a:r>
              <a:rPr sz="1200" spc="130" dirty="0">
                <a:latin typeface="Times New Roman"/>
                <a:cs typeface="Times New Roman"/>
              </a:rPr>
              <a:t> </a:t>
            </a:r>
            <a:r>
              <a:rPr sz="1200" dirty="0">
                <a:latin typeface="Times New Roman"/>
                <a:cs typeface="Times New Roman"/>
              </a:rPr>
              <a:t>“Auction</a:t>
            </a:r>
            <a:r>
              <a:rPr sz="1200" spc="125" dirty="0">
                <a:latin typeface="Times New Roman"/>
                <a:cs typeface="Times New Roman"/>
              </a:rPr>
              <a:t> </a:t>
            </a:r>
            <a:r>
              <a:rPr sz="1200" dirty="0">
                <a:latin typeface="Times New Roman"/>
                <a:cs typeface="Times New Roman"/>
              </a:rPr>
              <a:t>Abode”</a:t>
            </a:r>
            <a:r>
              <a:rPr sz="1200" spc="140" dirty="0">
                <a:latin typeface="Times New Roman"/>
                <a:cs typeface="Times New Roman"/>
              </a:rPr>
              <a:t> </a:t>
            </a:r>
            <a:r>
              <a:rPr sz="1200" dirty="0">
                <a:latin typeface="Times New Roman"/>
                <a:cs typeface="Times New Roman"/>
              </a:rPr>
              <a:t>was</a:t>
            </a:r>
            <a:r>
              <a:rPr sz="1200" spc="135" dirty="0">
                <a:latin typeface="Times New Roman"/>
                <a:cs typeface="Times New Roman"/>
              </a:rPr>
              <a:t> </a:t>
            </a:r>
            <a:r>
              <a:rPr sz="1200" dirty="0">
                <a:latin typeface="Times New Roman"/>
                <a:cs typeface="Times New Roman"/>
              </a:rPr>
              <a:t>developed</a:t>
            </a:r>
            <a:r>
              <a:rPr sz="1200" spc="125" dirty="0">
                <a:latin typeface="Times New Roman"/>
                <a:cs typeface="Times New Roman"/>
              </a:rPr>
              <a:t> </a:t>
            </a:r>
            <a:r>
              <a:rPr sz="1200" spc="-25" dirty="0">
                <a:latin typeface="Times New Roman"/>
                <a:cs typeface="Times New Roman"/>
              </a:rPr>
              <a:t>by </a:t>
            </a:r>
            <a:r>
              <a:rPr sz="1200" dirty="0">
                <a:latin typeface="Times New Roman"/>
                <a:cs typeface="Times New Roman"/>
              </a:rPr>
              <a:t>“</a:t>
            </a:r>
            <a:r>
              <a:rPr lang="en-US" sz="1200" b="1" dirty="0">
                <a:latin typeface="Times New Roman"/>
                <a:cs typeface="Times New Roman"/>
              </a:rPr>
              <a:t>Hasnain</a:t>
            </a:r>
            <a:r>
              <a:rPr sz="1200" b="1" spc="125" dirty="0">
                <a:latin typeface="Times New Roman"/>
                <a:cs typeface="Times New Roman"/>
              </a:rPr>
              <a:t> </a:t>
            </a:r>
            <a:r>
              <a:rPr lang="en-US" sz="1200" b="1" dirty="0" err="1">
                <a:latin typeface="Times New Roman"/>
                <a:cs typeface="Times New Roman"/>
              </a:rPr>
              <a:t>Mahvia</a:t>
            </a:r>
            <a:r>
              <a:rPr sz="1200" b="1" dirty="0">
                <a:latin typeface="Times New Roman"/>
                <a:cs typeface="Times New Roman"/>
              </a:rPr>
              <a:t>,</a:t>
            </a:r>
            <a:r>
              <a:rPr sz="1200" b="1" spc="125" dirty="0">
                <a:latin typeface="Times New Roman"/>
                <a:cs typeface="Times New Roman"/>
              </a:rPr>
              <a:t> </a:t>
            </a:r>
            <a:r>
              <a:rPr sz="1200" b="1" spc="-10" dirty="0">
                <a:latin typeface="Times New Roman"/>
                <a:cs typeface="Times New Roman"/>
              </a:rPr>
              <a:t>2</a:t>
            </a:r>
            <a:r>
              <a:rPr lang="en-US" sz="1200" b="1" spc="-10" dirty="0">
                <a:latin typeface="Times New Roman"/>
                <a:cs typeface="Times New Roman"/>
              </a:rPr>
              <a:t>2</a:t>
            </a:r>
            <a:r>
              <a:rPr sz="1200" b="1" spc="-10" dirty="0">
                <a:latin typeface="Times New Roman"/>
                <a:cs typeface="Times New Roman"/>
              </a:rPr>
              <a:t>-Arid-</a:t>
            </a:r>
            <a:r>
              <a:rPr lang="en-US" sz="1200" b="1" spc="-10" dirty="0">
                <a:latin typeface="Times New Roman"/>
                <a:cs typeface="Times New Roman"/>
              </a:rPr>
              <a:t>487</a:t>
            </a:r>
            <a:r>
              <a:rPr sz="1200" b="1" dirty="0">
                <a:latin typeface="Times New Roman"/>
                <a:cs typeface="Times New Roman"/>
              </a:rPr>
              <a:t>”,</a:t>
            </a:r>
            <a:r>
              <a:rPr sz="1200" b="1" spc="125" dirty="0">
                <a:latin typeface="Times New Roman"/>
                <a:cs typeface="Times New Roman"/>
              </a:rPr>
              <a:t> </a:t>
            </a:r>
            <a:r>
              <a:rPr sz="1200" dirty="0">
                <a:latin typeface="Times New Roman"/>
                <a:cs typeface="Times New Roman"/>
              </a:rPr>
              <a:t>“</a:t>
            </a:r>
            <a:r>
              <a:rPr lang="en-US" sz="1200" b="1" dirty="0">
                <a:latin typeface="Times New Roman"/>
                <a:cs typeface="Times New Roman"/>
              </a:rPr>
              <a:t>Hafsa</a:t>
            </a:r>
            <a:r>
              <a:rPr lang="en-US" sz="1200" b="1" spc="135" dirty="0">
                <a:latin typeface="Times New Roman"/>
                <a:cs typeface="Times New Roman"/>
              </a:rPr>
              <a:t> </a:t>
            </a:r>
            <a:r>
              <a:rPr lang="en-US" sz="1200" b="1" dirty="0">
                <a:latin typeface="Times New Roman"/>
                <a:cs typeface="Times New Roman"/>
              </a:rPr>
              <a:t>Saeed</a:t>
            </a:r>
            <a:r>
              <a:rPr sz="1200" b="1" dirty="0">
                <a:latin typeface="Times New Roman"/>
                <a:cs typeface="Times New Roman"/>
              </a:rPr>
              <a:t>,</a:t>
            </a:r>
            <a:r>
              <a:rPr sz="1200" b="1" spc="125" dirty="0">
                <a:latin typeface="Times New Roman"/>
                <a:cs typeface="Times New Roman"/>
              </a:rPr>
              <a:t> </a:t>
            </a:r>
            <a:r>
              <a:rPr sz="1200" b="1" spc="-10" dirty="0">
                <a:latin typeface="Times New Roman"/>
                <a:cs typeface="Times New Roman"/>
              </a:rPr>
              <a:t>2</a:t>
            </a:r>
            <a:r>
              <a:rPr lang="en-US" sz="1200" b="1" spc="-10" dirty="0">
                <a:latin typeface="Times New Roman"/>
                <a:cs typeface="Times New Roman"/>
              </a:rPr>
              <a:t>2</a:t>
            </a:r>
            <a:r>
              <a:rPr sz="1200" b="1" spc="-10" dirty="0">
                <a:latin typeface="Times New Roman"/>
                <a:cs typeface="Times New Roman"/>
              </a:rPr>
              <a:t>-Arid-</a:t>
            </a:r>
            <a:r>
              <a:rPr sz="1200" b="1" dirty="0">
                <a:latin typeface="Times New Roman"/>
                <a:cs typeface="Times New Roman"/>
              </a:rPr>
              <a:t>4</a:t>
            </a:r>
            <a:r>
              <a:rPr lang="en-US" sz="1200" b="1" dirty="0">
                <a:latin typeface="Times New Roman"/>
                <a:cs typeface="Times New Roman"/>
              </a:rPr>
              <a:t>83</a:t>
            </a:r>
            <a:r>
              <a:rPr sz="1200" dirty="0">
                <a:latin typeface="Times New Roman"/>
                <a:cs typeface="Times New Roman"/>
              </a:rPr>
              <a:t>”</a:t>
            </a:r>
            <a:r>
              <a:rPr sz="1200" b="1" dirty="0">
                <a:latin typeface="Times New Roman"/>
                <a:cs typeface="Times New Roman"/>
              </a:rPr>
              <a:t>,</a:t>
            </a:r>
            <a:r>
              <a:rPr sz="1200" b="1" spc="125" dirty="0">
                <a:latin typeface="Times New Roman"/>
                <a:cs typeface="Times New Roman"/>
              </a:rPr>
              <a:t> </a:t>
            </a:r>
            <a:r>
              <a:rPr sz="1200" b="1" dirty="0">
                <a:latin typeface="Times New Roman"/>
                <a:cs typeface="Times New Roman"/>
              </a:rPr>
              <a:t>“</a:t>
            </a:r>
            <a:r>
              <a:rPr lang="en-US" sz="1200" b="1" dirty="0">
                <a:latin typeface="Times New Roman"/>
                <a:cs typeface="Times New Roman"/>
              </a:rPr>
              <a:t>Ali</a:t>
            </a:r>
            <a:r>
              <a:rPr sz="1200" b="1" spc="130" dirty="0">
                <a:latin typeface="Times New Roman"/>
                <a:cs typeface="Times New Roman"/>
              </a:rPr>
              <a:t> </a:t>
            </a:r>
            <a:r>
              <a:rPr lang="en-US" sz="1200" b="1" spc="130" dirty="0">
                <a:latin typeface="Times New Roman"/>
                <a:cs typeface="Times New Roman"/>
              </a:rPr>
              <a:t>Mahmood</a:t>
            </a:r>
            <a:r>
              <a:rPr sz="1200" b="1" dirty="0">
                <a:latin typeface="Times New Roman"/>
                <a:cs typeface="Times New Roman"/>
              </a:rPr>
              <a:t>,</a:t>
            </a:r>
            <a:r>
              <a:rPr sz="1200" b="1" spc="125" dirty="0">
                <a:latin typeface="Times New Roman"/>
                <a:cs typeface="Times New Roman"/>
              </a:rPr>
              <a:t> </a:t>
            </a:r>
            <a:r>
              <a:rPr sz="1200" b="1" spc="-25" dirty="0">
                <a:latin typeface="Times New Roman"/>
                <a:cs typeface="Times New Roman"/>
              </a:rPr>
              <a:t>2</a:t>
            </a:r>
            <a:r>
              <a:rPr lang="en-US" sz="1200" b="1" spc="-25" dirty="0">
                <a:latin typeface="Times New Roman"/>
                <a:cs typeface="Times New Roman"/>
              </a:rPr>
              <a:t>2</a:t>
            </a:r>
            <a:r>
              <a:rPr sz="1200" b="1" spc="-25" dirty="0">
                <a:latin typeface="Times New Roman"/>
                <a:cs typeface="Times New Roman"/>
              </a:rPr>
              <a:t>- </a:t>
            </a:r>
            <a:r>
              <a:rPr sz="1200" b="1" spc="-10" dirty="0">
                <a:latin typeface="Times New Roman"/>
                <a:cs typeface="Times New Roman"/>
              </a:rPr>
              <a:t>Arid-</a:t>
            </a:r>
            <a:r>
              <a:rPr sz="1200" b="1" dirty="0">
                <a:latin typeface="Times New Roman"/>
                <a:cs typeface="Times New Roman"/>
              </a:rPr>
              <a:t>4</a:t>
            </a:r>
            <a:r>
              <a:rPr lang="en-US" sz="1200" b="1" dirty="0">
                <a:latin typeface="Times New Roman"/>
                <a:cs typeface="Times New Roman"/>
              </a:rPr>
              <a:t>97</a:t>
            </a:r>
            <a:r>
              <a:rPr sz="1200" dirty="0">
                <a:latin typeface="Times New Roman"/>
                <a:cs typeface="Times New Roman"/>
              </a:rPr>
              <a:t>”</a:t>
            </a:r>
            <a:r>
              <a:rPr lang="en-US" sz="1200" b="1" dirty="0">
                <a:latin typeface="Times New Roman"/>
                <a:cs typeface="Times New Roman"/>
              </a:rPr>
              <a:t>,</a:t>
            </a:r>
            <a:r>
              <a:rPr lang="en-US" sz="1200" b="1" spc="125" dirty="0">
                <a:latin typeface="Times New Roman"/>
                <a:cs typeface="Times New Roman"/>
              </a:rPr>
              <a:t> </a:t>
            </a:r>
            <a:r>
              <a:rPr lang="en-US" sz="1200" dirty="0">
                <a:latin typeface="Times New Roman"/>
                <a:cs typeface="Times New Roman"/>
              </a:rPr>
              <a:t>“</a:t>
            </a:r>
            <a:r>
              <a:rPr lang="en-US" sz="1200" b="1" dirty="0">
                <a:latin typeface="Times New Roman"/>
                <a:cs typeface="Times New Roman"/>
              </a:rPr>
              <a:t>Zakria</a:t>
            </a:r>
            <a:r>
              <a:rPr lang="en-US" sz="1200" b="1" spc="135" dirty="0">
                <a:latin typeface="Times New Roman"/>
                <a:cs typeface="Times New Roman"/>
              </a:rPr>
              <a:t> </a:t>
            </a:r>
            <a:r>
              <a:rPr lang="en-US" sz="1200" b="1" dirty="0">
                <a:latin typeface="Times New Roman"/>
                <a:cs typeface="Times New Roman"/>
              </a:rPr>
              <a:t>Aftab,</a:t>
            </a:r>
            <a:r>
              <a:rPr lang="en-US" sz="1200" b="1" spc="125" dirty="0">
                <a:latin typeface="Times New Roman"/>
                <a:cs typeface="Times New Roman"/>
              </a:rPr>
              <a:t> </a:t>
            </a:r>
            <a:r>
              <a:rPr lang="en-US" sz="1200" b="1" spc="-10" dirty="0">
                <a:latin typeface="Times New Roman"/>
                <a:cs typeface="Times New Roman"/>
              </a:rPr>
              <a:t>22-Arid-533</a:t>
            </a:r>
            <a:r>
              <a:rPr lang="en-US" sz="1200" dirty="0">
                <a:latin typeface="Times New Roman"/>
                <a:cs typeface="Times New Roman"/>
              </a:rPr>
              <a:t>”.</a:t>
            </a:r>
            <a:r>
              <a:rPr sz="1200" spc="-50" dirty="0">
                <a:latin typeface="Times New Roman"/>
                <a:cs typeface="Times New Roman"/>
              </a:rPr>
              <a:t> </a:t>
            </a:r>
            <a:r>
              <a:rPr sz="1200" dirty="0">
                <a:latin typeface="Times New Roman"/>
                <a:cs typeface="Times New Roman"/>
              </a:rPr>
              <a:t>under</a:t>
            </a:r>
            <a:r>
              <a:rPr sz="1200" spc="-4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supervision</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a:t>
            </a:r>
            <a:r>
              <a:rPr lang="en-US" sz="1200" b="1" dirty="0">
                <a:latin typeface="Times New Roman"/>
                <a:cs typeface="Times New Roman"/>
              </a:rPr>
              <a:t>Ms.</a:t>
            </a:r>
            <a:r>
              <a:rPr sz="1200" b="1" spc="-45" dirty="0">
                <a:latin typeface="Times New Roman"/>
                <a:cs typeface="Times New Roman"/>
              </a:rPr>
              <a:t> </a:t>
            </a:r>
            <a:r>
              <a:rPr lang="en-US" sz="1200" b="1" dirty="0">
                <a:latin typeface="Times New Roman"/>
                <a:cs typeface="Times New Roman"/>
              </a:rPr>
              <a:t>Fakhar Un Nisa</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dirty="0">
                <a:latin typeface="Times New Roman"/>
                <a:cs typeface="Times New Roman"/>
              </a:rPr>
              <a:t>opinion;</a:t>
            </a:r>
            <a:r>
              <a:rPr sz="1200" spc="-40"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fully </a:t>
            </a:r>
            <a:r>
              <a:rPr sz="1200" dirty="0">
                <a:latin typeface="Times New Roman"/>
                <a:cs typeface="Times New Roman"/>
              </a:rPr>
              <a:t>adequate,</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scope</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quality</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degree</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Bachelors</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Science</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Computer</a:t>
            </a:r>
            <a:r>
              <a:rPr sz="1200" spc="-20" dirty="0">
                <a:latin typeface="Times New Roman"/>
                <a:cs typeface="Times New Roman"/>
              </a:rPr>
              <a:t> </a:t>
            </a:r>
            <a:r>
              <a:rPr sz="1200" spc="-10" dirty="0">
                <a:latin typeface="Times New Roman"/>
                <a:cs typeface="Times New Roman"/>
              </a:rPr>
              <a:t>Science.</a:t>
            </a:r>
            <a:endParaRPr sz="1200" dirty="0">
              <a:latin typeface="Times New Roman"/>
              <a:cs typeface="Times New Roman"/>
            </a:endParaRPr>
          </a:p>
        </p:txBody>
      </p:sp>
      <p:sp>
        <p:nvSpPr>
          <p:cNvPr id="3" name="object 3"/>
          <p:cNvSpPr txBox="1"/>
          <p:nvPr/>
        </p:nvSpPr>
        <p:spPr>
          <a:xfrm>
            <a:off x="2879089" y="4953000"/>
            <a:ext cx="2002789" cy="85702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20" dirty="0">
                <a:latin typeface="Times New Roman"/>
                <a:cs typeface="Times New Roman"/>
              </a:rPr>
              <a:t>-</a:t>
            </a:r>
            <a:r>
              <a:rPr sz="1200" b="1" spc="-10" dirty="0">
                <a:latin typeface="Times New Roman"/>
                <a:cs typeface="Times New Roman"/>
              </a:rPr>
              <a:t>--</a:t>
            </a:r>
            <a:r>
              <a:rPr sz="1200" b="1" spc="-50" dirty="0">
                <a:latin typeface="Times New Roman"/>
                <a:cs typeface="Times New Roman"/>
              </a:rPr>
              <a:t>-</a:t>
            </a:r>
            <a:endParaRPr sz="1200" dirty="0">
              <a:latin typeface="Times New Roman"/>
              <a:cs typeface="Times New Roman"/>
            </a:endParaRPr>
          </a:p>
          <a:p>
            <a:pPr marL="646430" marR="208915" indent="-509270" algn="ctr">
              <a:lnSpc>
                <a:spcPct val="185000"/>
              </a:lnSpc>
              <a:spcBef>
                <a:spcPts val="95"/>
              </a:spcBef>
            </a:pPr>
            <a:r>
              <a:rPr sz="1200" b="1" dirty="0">
                <a:latin typeface="Times New Roman"/>
                <a:cs typeface="Times New Roman"/>
              </a:rPr>
              <a:t>M</a:t>
            </a:r>
            <a:r>
              <a:rPr lang="en-US" sz="1200" b="1" dirty="0">
                <a:latin typeface="Times New Roman"/>
                <a:cs typeface="Times New Roman"/>
              </a:rPr>
              <a:t>s</a:t>
            </a:r>
            <a:r>
              <a:rPr sz="1200" b="1" dirty="0">
                <a:latin typeface="Times New Roman"/>
                <a:cs typeface="Times New Roman"/>
              </a:rPr>
              <a:t>.</a:t>
            </a:r>
            <a:r>
              <a:rPr sz="1200" b="1" spc="-20" dirty="0">
                <a:latin typeface="Times New Roman"/>
                <a:cs typeface="Times New Roman"/>
              </a:rPr>
              <a:t> </a:t>
            </a:r>
            <a:r>
              <a:rPr lang="en-US" sz="1200" b="1" spc="-10" dirty="0">
                <a:latin typeface="Times New Roman"/>
                <a:cs typeface="Times New Roman"/>
              </a:rPr>
              <a:t>Fakhar Un Nisa</a:t>
            </a:r>
          </a:p>
          <a:p>
            <a:pPr marL="646430" marR="208915" indent="-509270" algn="ctr">
              <a:lnSpc>
                <a:spcPct val="185000"/>
              </a:lnSpc>
              <a:spcBef>
                <a:spcPts val="95"/>
              </a:spcBef>
            </a:pPr>
            <a:r>
              <a:rPr lang="en-US" sz="1200" b="1" spc="-10" dirty="0">
                <a:latin typeface="Times New Roman"/>
                <a:cs typeface="Times New Roman"/>
              </a:rPr>
              <a:t>Supervisor</a:t>
            </a:r>
            <a:endParaRPr sz="12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iv</a:t>
            </a:r>
            <a:endParaRPr spc="-20" dirty="0"/>
          </a:p>
        </p:txBody>
      </p:sp>
      <p:sp>
        <p:nvSpPr>
          <p:cNvPr id="2" name="object 2"/>
          <p:cNvSpPr txBox="1"/>
          <p:nvPr/>
        </p:nvSpPr>
        <p:spPr>
          <a:xfrm>
            <a:off x="1176324" y="891285"/>
            <a:ext cx="5696585" cy="4685898"/>
          </a:xfrm>
          <a:prstGeom prst="rect">
            <a:avLst/>
          </a:prstGeom>
        </p:spPr>
        <p:txBody>
          <a:bodyPr vert="horz" wrap="square" lIns="0" tIns="12700" rIns="0" bIns="0" rtlCol="0">
            <a:spAutoFit/>
          </a:bodyPr>
          <a:lstStyle/>
          <a:p>
            <a:pPr marL="12700" algn="ctr">
              <a:spcBef>
                <a:spcPts val="100"/>
              </a:spcBef>
              <a:spcAft>
                <a:spcPts val="115"/>
              </a:spcAft>
            </a:pPr>
            <a:r>
              <a:rPr sz="1400" b="1" dirty="0">
                <a:latin typeface="Times New Roman"/>
                <a:cs typeface="Times New Roman"/>
              </a:rPr>
              <a:t>Executive</a:t>
            </a:r>
            <a:r>
              <a:rPr sz="1400" b="1" spc="-60" dirty="0">
                <a:latin typeface="Times New Roman"/>
                <a:cs typeface="Times New Roman"/>
              </a:rPr>
              <a:t> </a:t>
            </a:r>
            <a:r>
              <a:rPr sz="1400" b="1" spc="-10" dirty="0">
                <a:latin typeface="Times New Roman"/>
                <a:cs typeface="Times New Roman"/>
              </a:rPr>
              <a:t>Summary</a:t>
            </a:r>
            <a:endParaRPr sz="1400" dirty="0">
              <a:latin typeface="Times New Roman"/>
              <a:cs typeface="Times New Roman"/>
            </a:endParaRPr>
          </a:p>
          <a:p>
            <a:pPr>
              <a:spcBef>
                <a:spcPts val="15"/>
              </a:spcBef>
              <a:spcAft>
                <a:spcPts val="115"/>
              </a:spcAft>
            </a:pPr>
            <a:endParaRPr sz="1200" dirty="0">
              <a:latin typeface="Times New Roman"/>
              <a:cs typeface="Times New Roman"/>
            </a:endParaRPr>
          </a:p>
          <a:p>
            <a:pPr marL="12700" marR="5080" algn="just">
              <a:spcAft>
                <a:spcPts val="115"/>
              </a:spcAft>
            </a:pP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"Auction</a:t>
            </a:r>
            <a:r>
              <a:rPr sz="1200" spc="75" dirty="0">
                <a:latin typeface="Times New Roman"/>
                <a:cs typeface="Times New Roman"/>
              </a:rPr>
              <a:t> </a:t>
            </a:r>
            <a:r>
              <a:rPr sz="1200" dirty="0">
                <a:latin typeface="Times New Roman"/>
                <a:cs typeface="Times New Roman"/>
              </a:rPr>
              <a:t>Abode:</a:t>
            </a:r>
            <a:r>
              <a:rPr sz="1200" spc="80"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75" dirty="0">
                <a:latin typeface="Times New Roman"/>
                <a:cs typeface="Times New Roman"/>
              </a:rPr>
              <a:t> </a:t>
            </a:r>
            <a:r>
              <a:rPr sz="1200" dirty="0">
                <a:latin typeface="Times New Roman"/>
                <a:cs typeface="Times New Roman"/>
              </a:rPr>
              <a:t>Real</a:t>
            </a:r>
            <a:r>
              <a:rPr sz="1200" spc="75" dirty="0">
                <a:latin typeface="Times New Roman"/>
                <a:cs typeface="Times New Roman"/>
              </a:rPr>
              <a:t> </a:t>
            </a:r>
            <a:r>
              <a:rPr sz="1200" dirty="0">
                <a:latin typeface="Times New Roman"/>
                <a:cs typeface="Times New Roman"/>
              </a:rPr>
              <a:t>Estate</a:t>
            </a:r>
            <a:r>
              <a:rPr sz="1200" spc="75" dirty="0">
                <a:latin typeface="Times New Roman"/>
                <a:cs typeface="Times New Roman"/>
              </a:rPr>
              <a:t> </a:t>
            </a:r>
            <a:r>
              <a:rPr sz="1200" dirty="0">
                <a:latin typeface="Times New Roman"/>
                <a:cs typeface="Times New Roman"/>
              </a:rPr>
              <a:t>Bidding</a:t>
            </a:r>
            <a:r>
              <a:rPr sz="1200" spc="75" dirty="0">
                <a:latin typeface="Times New Roman"/>
                <a:cs typeface="Times New Roman"/>
              </a:rPr>
              <a:t> </a:t>
            </a:r>
            <a:r>
              <a:rPr sz="1200" dirty="0">
                <a:latin typeface="Times New Roman"/>
                <a:cs typeface="Times New Roman"/>
              </a:rPr>
              <a:t>Platform"</a:t>
            </a:r>
            <a:r>
              <a:rPr sz="1200" spc="100" dirty="0">
                <a:latin typeface="Times New Roman"/>
                <a:cs typeface="Times New Roman"/>
              </a:rPr>
              <a:t> </a:t>
            </a:r>
            <a:r>
              <a:rPr sz="1200" dirty="0">
                <a:latin typeface="Times New Roman"/>
                <a:cs typeface="Times New Roman"/>
              </a:rPr>
              <a:t>is</a:t>
            </a:r>
            <a:r>
              <a:rPr sz="1200" spc="80" dirty="0">
                <a:latin typeface="Times New Roman"/>
                <a:cs typeface="Times New Roman"/>
              </a:rPr>
              <a:t> </a:t>
            </a:r>
            <a:r>
              <a:rPr sz="1200" dirty="0">
                <a:latin typeface="Times New Roman"/>
                <a:cs typeface="Times New Roman"/>
              </a:rPr>
              <a:t>an</a:t>
            </a:r>
            <a:r>
              <a:rPr sz="1200" spc="80" dirty="0">
                <a:latin typeface="Times New Roman"/>
                <a:cs typeface="Times New Roman"/>
              </a:rPr>
              <a:t> </a:t>
            </a:r>
            <a:r>
              <a:rPr sz="1200" dirty="0">
                <a:latin typeface="Times New Roman"/>
                <a:cs typeface="Times New Roman"/>
              </a:rPr>
              <a:t>innovative</a:t>
            </a:r>
            <a:r>
              <a:rPr sz="1200" spc="70" dirty="0">
                <a:latin typeface="Times New Roman"/>
                <a:cs typeface="Times New Roman"/>
              </a:rPr>
              <a:t> </a:t>
            </a:r>
            <a:r>
              <a:rPr sz="1200" spc="-10" dirty="0">
                <a:latin typeface="Times New Roman"/>
                <a:cs typeface="Times New Roman"/>
              </a:rPr>
              <a:t>solution </a:t>
            </a:r>
            <a:r>
              <a:rPr sz="1200" dirty="0">
                <a:latin typeface="Times New Roman"/>
                <a:cs typeface="Times New Roman"/>
              </a:rPr>
              <a:t>that</a:t>
            </a:r>
            <a:r>
              <a:rPr sz="1200" spc="50" dirty="0">
                <a:latin typeface="Times New Roman"/>
                <a:cs typeface="Times New Roman"/>
              </a:rPr>
              <a:t> </a:t>
            </a:r>
            <a:r>
              <a:rPr sz="1200" dirty="0">
                <a:latin typeface="Times New Roman"/>
                <a:cs typeface="Times New Roman"/>
              </a:rPr>
              <a:t>redefines</a:t>
            </a:r>
            <a:r>
              <a:rPr sz="1200" spc="60" dirty="0">
                <a:latin typeface="Times New Roman"/>
                <a:cs typeface="Times New Roman"/>
              </a:rPr>
              <a:t> </a:t>
            </a:r>
            <a:r>
              <a:rPr sz="1200" dirty="0">
                <a:latin typeface="Times New Roman"/>
                <a:cs typeface="Times New Roman"/>
              </a:rPr>
              <a:t>property</a:t>
            </a:r>
            <a:r>
              <a:rPr sz="1200" spc="55" dirty="0">
                <a:latin typeface="Times New Roman"/>
                <a:cs typeface="Times New Roman"/>
              </a:rPr>
              <a:t> </a:t>
            </a:r>
            <a:r>
              <a:rPr sz="1200" dirty="0">
                <a:latin typeface="Times New Roman"/>
                <a:cs typeface="Times New Roman"/>
              </a:rPr>
              <a:t>auctions</a:t>
            </a:r>
            <a:r>
              <a:rPr sz="1200" spc="60" dirty="0">
                <a:latin typeface="Times New Roman"/>
                <a:cs typeface="Times New Roman"/>
              </a:rPr>
              <a:t> </a:t>
            </a:r>
            <a:r>
              <a:rPr sz="1200" dirty="0">
                <a:latin typeface="Times New Roman"/>
                <a:cs typeface="Times New Roman"/>
              </a:rPr>
              <a:t>by</a:t>
            </a:r>
            <a:r>
              <a:rPr sz="1200" spc="55" dirty="0">
                <a:latin typeface="Times New Roman"/>
                <a:cs typeface="Times New Roman"/>
              </a:rPr>
              <a:t> </a:t>
            </a:r>
            <a:r>
              <a:rPr sz="1200" dirty="0">
                <a:latin typeface="Times New Roman"/>
                <a:cs typeface="Times New Roman"/>
              </a:rPr>
              <a:t>integrating</a:t>
            </a:r>
            <a:r>
              <a:rPr sz="1200" spc="5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55" dirty="0">
                <a:latin typeface="Times New Roman"/>
                <a:cs typeface="Times New Roman"/>
              </a:rPr>
              <a:t> </a:t>
            </a:r>
            <a:r>
              <a:rPr sz="1200" dirty="0">
                <a:latin typeface="Times New Roman"/>
                <a:cs typeface="Times New Roman"/>
              </a:rPr>
              <a:t>bidding,</a:t>
            </a:r>
            <a:r>
              <a:rPr sz="1200" spc="55" dirty="0">
                <a:latin typeface="Times New Roman"/>
                <a:cs typeface="Times New Roman"/>
              </a:rPr>
              <a:t> </a:t>
            </a:r>
            <a:r>
              <a:rPr sz="1200" dirty="0">
                <a:latin typeface="Times New Roman"/>
                <a:cs typeface="Times New Roman"/>
              </a:rPr>
              <a:t>artificial</a:t>
            </a:r>
            <a:r>
              <a:rPr sz="1200" spc="65" dirty="0">
                <a:latin typeface="Times New Roman"/>
                <a:cs typeface="Times New Roman"/>
              </a:rPr>
              <a:t> </a:t>
            </a:r>
            <a:r>
              <a:rPr sz="1200" dirty="0">
                <a:latin typeface="Times New Roman"/>
                <a:cs typeface="Times New Roman"/>
              </a:rPr>
              <a:t>intelligence,</a:t>
            </a:r>
            <a:r>
              <a:rPr sz="1200" spc="55" dirty="0">
                <a:latin typeface="Times New Roman"/>
                <a:cs typeface="Times New Roman"/>
              </a:rPr>
              <a:t> </a:t>
            </a:r>
            <a:r>
              <a:rPr sz="1200" spc="-25" dirty="0">
                <a:latin typeface="Times New Roman"/>
                <a:cs typeface="Times New Roman"/>
              </a:rPr>
              <a:t>and </a:t>
            </a:r>
            <a:r>
              <a:rPr sz="1200" dirty="0">
                <a:latin typeface="Times New Roman"/>
                <a:cs typeface="Times New Roman"/>
              </a:rPr>
              <a:t>enhanced</a:t>
            </a:r>
            <a:r>
              <a:rPr sz="1200" spc="114" dirty="0">
                <a:latin typeface="Times New Roman"/>
                <a:cs typeface="Times New Roman"/>
              </a:rPr>
              <a:t> </a:t>
            </a:r>
            <a:r>
              <a:rPr sz="1200" dirty="0">
                <a:latin typeface="Times New Roman"/>
                <a:cs typeface="Times New Roman"/>
              </a:rPr>
              <a:t>security</a:t>
            </a:r>
            <a:r>
              <a:rPr sz="1200" spc="120" dirty="0">
                <a:latin typeface="Times New Roman"/>
                <a:cs typeface="Times New Roman"/>
              </a:rPr>
              <a:t> </a:t>
            </a:r>
            <a:r>
              <a:rPr sz="1200" dirty="0">
                <a:latin typeface="Times New Roman"/>
                <a:cs typeface="Times New Roman"/>
              </a:rPr>
              <a:t>measures.</a:t>
            </a:r>
            <a:r>
              <a:rPr sz="1200" spc="120" dirty="0">
                <a:latin typeface="Times New Roman"/>
                <a:cs typeface="Times New Roman"/>
              </a:rPr>
              <a:t> </a:t>
            </a:r>
            <a:r>
              <a:rPr sz="1200" dirty="0">
                <a:latin typeface="Times New Roman"/>
                <a:cs typeface="Times New Roman"/>
              </a:rPr>
              <a:t>Addressing</a:t>
            </a:r>
            <a:r>
              <a:rPr sz="1200" spc="114"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challenges</a:t>
            </a:r>
            <a:r>
              <a:rPr sz="1200" spc="120" dirty="0">
                <a:latin typeface="Times New Roman"/>
                <a:cs typeface="Times New Roman"/>
              </a:rPr>
              <a:t> </a:t>
            </a:r>
            <a:r>
              <a:rPr sz="1200" dirty="0">
                <a:latin typeface="Times New Roman"/>
                <a:cs typeface="Times New Roman"/>
              </a:rPr>
              <a:t>of</a:t>
            </a:r>
            <a:r>
              <a:rPr sz="1200" spc="120" dirty="0">
                <a:latin typeface="Times New Roman"/>
                <a:cs typeface="Times New Roman"/>
              </a:rPr>
              <a:t> </a:t>
            </a:r>
            <a:r>
              <a:rPr sz="1200" dirty="0">
                <a:latin typeface="Times New Roman"/>
                <a:cs typeface="Times New Roman"/>
              </a:rPr>
              <a:t>accessibility,</a:t>
            </a:r>
            <a:r>
              <a:rPr sz="1200" spc="114" dirty="0">
                <a:latin typeface="Times New Roman"/>
                <a:cs typeface="Times New Roman"/>
              </a:rPr>
              <a:t> </a:t>
            </a:r>
            <a:r>
              <a:rPr sz="1200" dirty="0">
                <a:latin typeface="Times New Roman"/>
                <a:cs typeface="Times New Roman"/>
              </a:rPr>
              <a:t>transparency,</a:t>
            </a:r>
            <a:r>
              <a:rPr sz="1200" spc="130" dirty="0">
                <a:latin typeface="Times New Roman"/>
                <a:cs typeface="Times New Roman"/>
              </a:rPr>
              <a:t> </a:t>
            </a:r>
            <a:r>
              <a:rPr sz="1200" spc="-25" dirty="0">
                <a:latin typeface="Times New Roman"/>
                <a:cs typeface="Times New Roman"/>
              </a:rPr>
              <a:t>and </a:t>
            </a:r>
            <a:r>
              <a:rPr sz="1200" dirty="0">
                <a:latin typeface="Times New Roman"/>
                <a:cs typeface="Times New Roman"/>
              </a:rPr>
              <a:t>fraud</a:t>
            </a:r>
            <a:r>
              <a:rPr sz="1200" spc="95" dirty="0">
                <a:latin typeface="Times New Roman"/>
                <a:cs typeface="Times New Roman"/>
              </a:rPr>
              <a:t> </a:t>
            </a:r>
            <a:r>
              <a:rPr sz="1200" dirty="0">
                <a:latin typeface="Times New Roman"/>
                <a:cs typeface="Times New Roman"/>
              </a:rPr>
              <a:t>prevention</a:t>
            </a:r>
            <a:r>
              <a:rPr sz="1200" spc="90" dirty="0">
                <a:latin typeface="Times New Roman"/>
                <a:cs typeface="Times New Roman"/>
              </a:rPr>
              <a:t> </a:t>
            </a:r>
            <a:r>
              <a:rPr sz="1200" dirty="0">
                <a:latin typeface="Times New Roman"/>
                <a:cs typeface="Times New Roman"/>
              </a:rPr>
              <a:t>in</a:t>
            </a:r>
            <a:r>
              <a:rPr sz="1200" spc="95" dirty="0">
                <a:latin typeface="Times New Roman"/>
                <a:cs typeface="Times New Roman"/>
              </a:rPr>
              <a:t> </a:t>
            </a:r>
            <a:r>
              <a:rPr sz="1200" dirty="0">
                <a:latin typeface="Times New Roman"/>
                <a:cs typeface="Times New Roman"/>
              </a:rPr>
              <a:t>property</a:t>
            </a:r>
            <a:r>
              <a:rPr sz="1200" spc="90" dirty="0">
                <a:latin typeface="Times New Roman"/>
                <a:cs typeface="Times New Roman"/>
              </a:rPr>
              <a:t> </a:t>
            </a:r>
            <a:r>
              <a:rPr sz="1200" dirty="0">
                <a:latin typeface="Times New Roman"/>
                <a:cs typeface="Times New Roman"/>
              </a:rPr>
              <a:t>transactions,</a:t>
            </a:r>
            <a:r>
              <a:rPr sz="1200" spc="95" dirty="0">
                <a:latin typeface="Times New Roman"/>
                <a:cs typeface="Times New Roman"/>
              </a:rPr>
              <a:t> </a:t>
            </a:r>
            <a:r>
              <a:rPr sz="1200" dirty="0">
                <a:latin typeface="Times New Roman"/>
                <a:cs typeface="Times New Roman"/>
              </a:rPr>
              <a:t>the</a:t>
            </a:r>
            <a:r>
              <a:rPr sz="1200" spc="100" dirty="0">
                <a:latin typeface="Times New Roman"/>
                <a:cs typeface="Times New Roman"/>
              </a:rPr>
              <a:t> </a:t>
            </a:r>
            <a:r>
              <a:rPr sz="1200" dirty="0">
                <a:latin typeface="Times New Roman"/>
                <a:cs typeface="Times New Roman"/>
              </a:rPr>
              <a:t>platform</a:t>
            </a:r>
            <a:r>
              <a:rPr sz="1200" spc="95" dirty="0">
                <a:latin typeface="Times New Roman"/>
                <a:cs typeface="Times New Roman"/>
              </a:rPr>
              <a:t> </a:t>
            </a:r>
            <a:r>
              <a:rPr sz="1200" dirty="0">
                <a:latin typeface="Times New Roman"/>
                <a:cs typeface="Times New Roman"/>
              </a:rPr>
              <a:t>ensures</a:t>
            </a:r>
            <a:r>
              <a:rPr sz="1200" spc="95" dirty="0">
                <a:latin typeface="Times New Roman"/>
                <a:cs typeface="Times New Roman"/>
              </a:rPr>
              <a:t> </a:t>
            </a:r>
            <a:r>
              <a:rPr sz="1200" dirty="0">
                <a:latin typeface="Times New Roman"/>
                <a:cs typeface="Times New Roman"/>
              </a:rPr>
              <a:t>a</a:t>
            </a:r>
            <a:r>
              <a:rPr sz="1200" spc="95" dirty="0">
                <a:latin typeface="Times New Roman"/>
                <a:cs typeface="Times New Roman"/>
              </a:rPr>
              <a:t> </a:t>
            </a:r>
            <a:r>
              <a:rPr sz="1200" dirty="0">
                <a:latin typeface="Times New Roman"/>
                <a:cs typeface="Times New Roman"/>
              </a:rPr>
              <a:t>seamless</a:t>
            </a:r>
            <a:r>
              <a:rPr sz="1200" spc="95"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spc="-10" dirty="0">
                <a:latin typeface="Times New Roman"/>
                <a:cs typeface="Times New Roman"/>
              </a:rPr>
              <a:t>trustworthy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experience</a:t>
            </a:r>
            <a:r>
              <a:rPr sz="1200" spc="-2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buyers,</a:t>
            </a:r>
            <a:r>
              <a:rPr sz="1200" spc="-30" dirty="0">
                <a:latin typeface="Times New Roman"/>
                <a:cs typeface="Times New Roman"/>
              </a:rPr>
              <a:t> </a:t>
            </a:r>
            <a:r>
              <a:rPr sz="1200" dirty="0">
                <a:latin typeface="Times New Roman"/>
                <a:cs typeface="Times New Roman"/>
              </a:rPr>
              <a:t>sellers,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administrators.</a:t>
            </a:r>
            <a:r>
              <a:rPr lang="en-US" sz="1200" spc="-10" dirty="0">
                <a:latin typeface="Times New Roman"/>
                <a:cs typeface="Times New Roman"/>
              </a:rPr>
              <a:t> </a:t>
            </a:r>
            <a:r>
              <a:rPr sz="1200" dirty="0">
                <a:latin typeface="Times New Roman"/>
                <a:cs typeface="Times New Roman"/>
              </a:rPr>
              <a:t>Key</a:t>
            </a:r>
            <a:r>
              <a:rPr sz="1200" spc="-40" dirty="0">
                <a:latin typeface="Times New Roman"/>
                <a:cs typeface="Times New Roman"/>
              </a:rPr>
              <a:t> </a:t>
            </a:r>
            <a:r>
              <a:rPr sz="1200" spc="-10" dirty="0">
                <a:latin typeface="Times New Roman"/>
                <a:cs typeface="Times New Roman"/>
              </a:rPr>
              <a:t>features</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project</a:t>
            </a:r>
            <a:r>
              <a:rPr sz="1200" spc="-35" dirty="0">
                <a:latin typeface="Times New Roman"/>
                <a:cs typeface="Times New Roman"/>
              </a:rPr>
              <a:t> </a:t>
            </a:r>
            <a:r>
              <a:rPr sz="1200" spc="-10" dirty="0">
                <a:latin typeface="Times New Roman"/>
                <a:cs typeface="Times New Roman"/>
              </a:rPr>
              <a:t>include</a:t>
            </a:r>
            <a:r>
              <a:rPr sz="1200" spc="-4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bidding</a:t>
            </a:r>
            <a:r>
              <a:rPr sz="1200" spc="-4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spc="-10" dirty="0">
                <a:latin typeface="Times New Roman"/>
                <a:cs typeface="Times New Roman"/>
              </a:rPr>
              <a:t>powered</a:t>
            </a:r>
            <a:r>
              <a:rPr sz="1200" spc="-3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spc="-10" dirty="0">
                <a:latin typeface="Times New Roman"/>
                <a:cs typeface="Times New Roman"/>
              </a:rPr>
              <a:t>Socket.io</a:t>
            </a:r>
            <a:r>
              <a:rPr sz="1200" b="1" spc="-10" dirty="0">
                <a:latin typeface="Times New Roman"/>
                <a:cs typeface="Times New Roman"/>
              </a:rPr>
              <a:t>,</a:t>
            </a:r>
            <a:r>
              <a:rPr sz="1200" b="1" spc="-40" dirty="0">
                <a:latin typeface="Times New Roman"/>
                <a:cs typeface="Times New Roman"/>
              </a:rPr>
              <a:t> </a:t>
            </a:r>
            <a:r>
              <a:rPr sz="1200" spc="-10" dirty="0">
                <a:latin typeface="Times New Roman"/>
                <a:cs typeface="Times New Roman"/>
              </a:rPr>
              <a:t>ensuring </a:t>
            </a:r>
            <a:r>
              <a:rPr sz="1200" dirty="0">
                <a:latin typeface="Times New Roman"/>
                <a:cs typeface="Times New Roman"/>
              </a:rPr>
              <a:t>instant</a:t>
            </a:r>
            <a:r>
              <a:rPr sz="1200" spc="204" dirty="0">
                <a:latin typeface="Times New Roman"/>
                <a:cs typeface="Times New Roman"/>
              </a:rPr>
              <a:t> </a:t>
            </a:r>
            <a:r>
              <a:rPr sz="1200" dirty="0">
                <a:latin typeface="Times New Roman"/>
                <a:cs typeface="Times New Roman"/>
              </a:rPr>
              <a:t>bid</a:t>
            </a:r>
            <a:r>
              <a:rPr sz="1200" spc="210" dirty="0">
                <a:latin typeface="Times New Roman"/>
                <a:cs typeface="Times New Roman"/>
              </a:rPr>
              <a:t> </a:t>
            </a:r>
            <a:r>
              <a:rPr sz="1200" dirty="0">
                <a:latin typeface="Times New Roman"/>
                <a:cs typeface="Times New Roman"/>
              </a:rPr>
              <a:t>updates</a:t>
            </a:r>
            <a:r>
              <a:rPr sz="1200" spc="200" dirty="0">
                <a:latin typeface="Times New Roman"/>
                <a:cs typeface="Times New Roman"/>
              </a:rPr>
              <a:t> </a:t>
            </a:r>
            <a:r>
              <a:rPr sz="1200" dirty="0">
                <a:latin typeface="Times New Roman"/>
                <a:cs typeface="Times New Roman"/>
              </a:rPr>
              <a:t>for</a:t>
            </a:r>
            <a:r>
              <a:rPr sz="1200" spc="185" dirty="0">
                <a:latin typeface="Times New Roman"/>
                <a:cs typeface="Times New Roman"/>
              </a:rPr>
              <a:t> </a:t>
            </a:r>
            <a:r>
              <a:rPr sz="1200" dirty="0">
                <a:latin typeface="Times New Roman"/>
                <a:cs typeface="Times New Roman"/>
              </a:rPr>
              <a:t>all</a:t>
            </a:r>
            <a:r>
              <a:rPr sz="1200" spc="210" dirty="0">
                <a:latin typeface="Times New Roman"/>
                <a:cs typeface="Times New Roman"/>
              </a:rPr>
              <a:t> </a:t>
            </a:r>
            <a:r>
              <a:rPr sz="1200" dirty="0">
                <a:latin typeface="Times New Roman"/>
                <a:cs typeface="Times New Roman"/>
              </a:rPr>
              <a:t>participants.</a:t>
            </a:r>
            <a:r>
              <a:rPr sz="1200" spc="210" dirty="0">
                <a:latin typeface="Times New Roman"/>
                <a:cs typeface="Times New Roman"/>
              </a:rPr>
              <a:t> </a:t>
            </a:r>
            <a:r>
              <a:rPr sz="1200" dirty="0">
                <a:latin typeface="Times New Roman"/>
                <a:cs typeface="Times New Roman"/>
              </a:rPr>
              <a:t>The</a:t>
            </a:r>
            <a:r>
              <a:rPr sz="1200" spc="215"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204" dirty="0">
                <a:latin typeface="Times New Roman"/>
                <a:cs typeface="Times New Roman"/>
              </a:rPr>
              <a:t> </a:t>
            </a:r>
            <a:r>
              <a:rPr sz="1200" dirty="0">
                <a:latin typeface="Times New Roman"/>
                <a:cs typeface="Times New Roman"/>
              </a:rPr>
              <a:t>price</a:t>
            </a:r>
            <a:r>
              <a:rPr sz="1200" spc="195" dirty="0">
                <a:latin typeface="Times New Roman"/>
                <a:cs typeface="Times New Roman"/>
              </a:rPr>
              <a:t> </a:t>
            </a:r>
            <a:r>
              <a:rPr sz="1200" dirty="0">
                <a:latin typeface="Times New Roman"/>
                <a:cs typeface="Times New Roman"/>
              </a:rPr>
              <a:t>suggestion</a:t>
            </a:r>
            <a:r>
              <a:rPr sz="1200" spc="204" dirty="0">
                <a:latin typeface="Times New Roman"/>
                <a:cs typeface="Times New Roman"/>
              </a:rPr>
              <a:t> </a:t>
            </a:r>
            <a:r>
              <a:rPr sz="1200" dirty="0">
                <a:latin typeface="Times New Roman"/>
                <a:cs typeface="Times New Roman"/>
              </a:rPr>
              <a:t>engine</a:t>
            </a:r>
            <a:r>
              <a:rPr sz="1200" spc="215" dirty="0">
                <a:latin typeface="Times New Roman"/>
                <a:cs typeface="Times New Roman"/>
              </a:rPr>
              <a:t> </a:t>
            </a:r>
            <a:r>
              <a:rPr sz="1200" spc="-10" dirty="0">
                <a:latin typeface="Times New Roman"/>
                <a:cs typeface="Times New Roman"/>
              </a:rPr>
              <a:t>leverages historical</a:t>
            </a:r>
            <a:r>
              <a:rPr sz="1200" spc="-35" dirty="0">
                <a:latin typeface="Times New Roman"/>
                <a:cs typeface="Times New Roman"/>
              </a:rPr>
              <a:t> </a:t>
            </a:r>
            <a:r>
              <a:rPr sz="1200" spc="-10" dirty="0">
                <a:latin typeface="Times New Roman"/>
                <a:cs typeface="Times New Roman"/>
              </a:rPr>
              <a:t>property</a:t>
            </a:r>
            <a:r>
              <a:rPr sz="1200" spc="-40"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market</a:t>
            </a:r>
            <a:r>
              <a:rPr sz="1200" spc="-35" dirty="0">
                <a:latin typeface="Times New Roman"/>
                <a:cs typeface="Times New Roman"/>
              </a:rPr>
              <a:t> </a:t>
            </a:r>
            <a:r>
              <a:rPr sz="1200" dirty="0">
                <a:latin typeface="Times New Roman"/>
                <a:cs typeface="Times New Roman"/>
              </a:rPr>
              <a:t>trends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recommend</a:t>
            </a:r>
            <a:r>
              <a:rPr sz="1200" spc="-35" dirty="0">
                <a:latin typeface="Times New Roman"/>
                <a:cs typeface="Times New Roman"/>
              </a:rPr>
              <a:t> </a:t>
            </a:r>
            <a:r>
              <a:rPr sz="1200" dirty="0">
                <a:latin typeface="Times New Roman"/>
                <a:cs typeface="Times New Roman"/>
              </a:rPr>
              <a:t>optimal</a:t>
            </a:r>
            <a:r>
              <a:rPr sz="1200" spc="-35" dirty="0">
                <a:latin typeface="Times New Roman"/>
                <a:cs typeface="Times New Roman"/>
              </a:rPr>
              <a:t> </a:t>
            </a:r>
            <a:r>
              <a:rPr sz="1200" dirty="0">
                <a:latin typeface="Times New Roman"/>
                <a:cs typeface="Times New Roman"/>
              </a:rPr>
              <a:t>bid</a:t>
            </a:r>
            <a:r>
              <a:rPr sz="1200" spc="-35" dirty="0">
                <a:latin typeface="Times New Roman"/>
                <a:cs typeface="Times New Roman"/>
              </a:rPr>
              <a:t> </a:t>
            </a:r>
            <a:r>
              <a:rPr sz="1200" dirty="0">
                <a:latin typeface="Times New Roman"/>
                <a:cs typeface="Times New Roman"/>
              </a:rPr>
              <a:t>prices,</a:t>
            </a:r>
            <a:r>
              <a:rPr sz="1200" spc="-35" dirty="0">
                <a:latin typeface="Times New Roman"/>
                <a:cs typeface="Times New Roman"/>
              </a:rPr>
              <a:t> </a:t>
            </a:r>
            <a:r>
              <a:rPr sz="1200" dirty="0">
                <a:latin typeface="Times New Roman"/>
                <a:cs typeface="Times New Roman"/>
              </a:rPr>
              <a:t>assisting</a:t>
            </a:r>
            <a:r>
              <a:rPr sz="1200" spc="-35"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spc="-25" dirty="0">
                <a:latin typeface="Times New Roman"/>
                <a:cs typeface="Times New Roman"/>
              </a:rPr>
              <a:t>in </a:t>
            </a:r>
            <a:r>
              <a:rPr sz="1200" dirty="0">
                <a:latin typeface="Times New Roman"/>
                <a:cs typeface="Times New Roman"/>
              </a:rPr>
              <a:t>making</a:t>
            </a:r>
            <a:r>
              <a:rPr sz="1200" spc="85" dirty="0">
                <a:latin typeface="Times New Roman"/>
                <a:cs typeface="Times New Roman"/>
              </a:rPr>
              <a:t> </a:t>
            </a:r>
            <a:r>
              <a:rPr sz="1200" dirty="0">
                <a:latin typeface="Times New Roman"/>
                <a:cs typeface="Times New Roman"/>
              </a:rPr>
              <a:t>informed</a:t>
            </a:r>
            <a:r>
              <a:rPr sz="1200" spc="90" dirty="0">
                <a:latin typeface="Times New Roman"/>
                <a:cs typeface="Times New Roman"/>
              </a:rPr>
              <a:t> </a:t>
            </a:r>
            <a:r>
              <a:rPr sz="1200" dirty="0">
                <a:latin typeface="Times New Roman"/>
                <a:cs typeface="Times New Roman"/>
              </a:rPr>
              <a:t>decisions.</a:t>
            </a:r>
            <a:r>
              <a:rPr sz="1200" spc="90" dirty="0">
                <a:latin typeface="Times New Roman"/>
                <a:cs typeface="Times New Roman"/>
              </a:rPr>
              <a:t> </a:t>
            </a:r>
            <a:r>
              <a:rPr sz="1200" dirty="0">
                <a:latin typeface="Times New Roman"/>
                <a:cs typeface="Times New Roman"/>
              </a:rPr>
              <a:t>Additionally,</a:t>
            </a:r>
            <a:r>
              <a:rPr sz="1200" spc="105" dirty="0">
                <a:latin typeface="Times New Roman"/>
                <a:cs typeface="Times New Roman"/>
              </a:rPr>
              <a:t> </a:t>
            </a:r>
            <a:r>
              <a:rPr sz="1200" dirty="0">
                <a:latin typeface="Times New Roman"/>
                <a:cs typeface="Times New Roman"/>
              </a:rPr>
              <a:t>automated</a:t>
            </a:r>
            <a:r>
              <a:rPr sz="1200" spc="85" dirty="0">
                <a:latin typeface="Times New Roman"/>
                <a:cs typeface="Times New Roman"/>
              </a:rPr>
              <a:t> </a:t>
            </a:r>
            <a:r>
              <a:rPr sz="1200" dirty="0">
                <a:latin typeface="Times New Roman"/>
                <a:cs typeface="Times New Roman"/>
              </a:rPr>
              <a:t>property</a:t>
            </a:r>
            <a:r>
              <a:rPr sz="1200" spc="90" dirty="0">
                <a:latin typeface="Times New Roman"/>
                <a:cs typeface="Times New Roman"/>
              </a:rPr>
              <a:t> </a:t>
            </a:r>
            <a:r>
              <a:rPr sz="1200" dirty="0">
                <a:latin typeface="Times New Roman"/>
                <a:cs typeface="Times New Roman"/>
              </a:rPr>
              <a:t>verification</a:t>
            </a:r>
            <a:r>
              <a:rPr sz="1200" spc="95" dirty="0">
                <a:latin typeface="Times New Roman"/>
                <a:cs typeface="Times New Roman"/>
              </a:rPr>
              <a:t> </a:t>
            </a:r>
            <a:r>
              <a:rPr sz="1200" dirty="0">
                <a:latin typeface="Times New Roman"/>
                <a:cs typeface="Times New Roman"/>
              </a:rPr>
              <a:t>employs</a:t>
            </a:r>
            <a:r>
              <a:rPr sz="1200" spc="95" dirty="0">
                <a:latin typeface="Times New Roman"/>
                <a:cs typeface="Times New Roman"/>
              </a:rPr>
              <a:t> </a:t>
            </a:r>
            <a:r>
              <a:rPr sz="1200" spc="-10" dirty="0">
                <a:latin typeface="Times New Roman"/>
                <a:cs typeface="Times New Roman"/>
              </a:rPr>
              <a:t>natural </a:t>
            </a:r>
            <a:r>
              <a:rPr sz="1200" dirty="0">
                <a:latin typeface="Times New Roman"/>
                <a:cs typeface="Times New Roman"/>
              </a:rPr>
              <a:t>language</a:t>
            </a:r>
            <a:r>
              <a:rPr sz="1200" spc="120" dirty="0">
                <a:latin typeface="Times New Roman"/>
                <a:cs typeface="Times New Roman"/>
              </a:rPr>
              <a:t> </a:t>
            </a:r>
            <a:r>
              <a:rPr sz="1200" dirty="0">
                <a:latin typeface="Times New Roman"/>
                <a:cs typeface="Times New Roman"/>
              </a:rPr>
              <a:t>processing</a:t>
            </a:r>
            <a:r>
              <a:rPr sz="1200" spc="130" dirty="0">
                <a:latin typeface="Times New Roman"/>
                <a:cs typeface="Times New Roman"/>
              </a:rPr>
              <a:t> </a:t>
            </a:r>
            <a:r>
              <a:rPr sz="1200" dirty="0">
                <a:latin typeface="Times New Roman"/>
                <a:cs typeface="Times New Roman"/>
              </a:rPr>
              <a:t>(NLP)</a:t>
            </a:r>
            <a:r>
              <a:rPr sz="1200" spc="120" dirty="0">
                <a:latin typeface="Times New Roman"/>
                <a:cs typeface="Times New Roman"/>
              </a:rPr>
              <a:t> </a:t>
            </a:r>
            <a:r>
              <a:rPr sz="1200" dirty="0">
                <a:latin typeface="Times New Roman"/>
                <a:cs typeface="Times New Roman"/>
              </a:rPr>
              <a:t>and</a:t>
            </a:r>
            <a:r>
              <a:rPr sz="1200" spc="130" dirty="0">
                <a:latin typeface="Times New Roman"/>
                <a:cs typeface="Times New Roman"/>
              </a:rPr>
              <a:t> </a:t>
            </a:r>
            <a:r>
              <a:rPr sz="1200" dirty="0">
                <a:latin typeface="Times New Roman"/>
                <a:cs typeface="Times New Roman"/>
              </a:rPr>
              <a:t>fraud</a:t>
            </a:r>
            <a:r>
              <a:rPr sz="1200" spc="125" dirty="0">
                <a:latin typeface="Times New Roman"/>
                <a:cs typeface="Times New Roman"/>
              </a:rPr>
              <a:t> </a:t>
            </a:r>
            <a:r>
              <a:rPr sz="1200" dirty="0">
                <a:latin typeface="Times New Roman"/>
                <a:cs typeface="Times New Roman"/>
              </a:rPr>
              <a:t>detection</a:t>
            </a:r>
            <a:r>
              <a:rPr sz="1200" spc="130" dirty="0">
                <a:latin typeface="Times New Roman"/>
                <a:cs typeface="Times New Roman"/>
              </a:rPr>
              <a:t> </a:t>
            </a:r>
            <a:r>
              <a:rPr sz="1200" dirty="0">
                <a:latin typeface="Times New Roman"/>
                <a:cs typeface="Times New Roman"/>
              </a:rPr>
              <a:t>algorithms</a:t>
            </a:r>
            <a:r>
              <a:rPr sz="1200" spc="150" dirty="0">
                <a:latin typeface="Times New Roman"/>
                <a:cs typeface="Times New Roman"/>
              </a:rPr>
              <a:t> </a:t>
            </a:r>
            <a:r>
              <a:rPr sz="1200" dirty="0">
                <a:latin typeface="Times New Roman"/>
                <a:cs typeface="Times New Roman"/>
              </a:rPr>
              <a:t>to</a:t>
            </a:r>
            <a:r>
              <a:rPr sz="1200" spc="125" dirty="0">
                <a:latin typeface="Times New Roman"/>
                <a:cs typeface="Times New Roman"/>
              </a:rPr>
              <a:t> </a:t>
            </a:r>
            <a:r>
              <a:rPr sz="1200" dirty="0">
                <a:latin typeface="Times New Roman"/>
                <a:cs typeface="Times New Roman"/>
              </a:rPr>
              <a:t>authenticate</a:t>
            </a:r>
            <a:r>
              <a:rPr sz="1200" spc="125" dirty="0">
                <a:latin typeface="Times New Roman"/>
                <a:cs typeface="Times New Roman"/>
              </a:rPr>
              <a:t> </a:t>
            </a:r>
            <a:r>
              <a:rPr sz="1200" dirty="0">
                <a:latin typeface="Times New Roman"/>
                <a:cs typeface="Times New Roman"/>
              </a:rPr>
              <a:t>documents</a:t>
            </a:r>
            <a:r>
              <a:rPr sz="1200" spc="125" dirty="0">
                <a:latin typeface="Times New Roman"/>
                <a:cs typeface="Times New Roman"/>
              </a:rPr>
              <a:t> </a:t>
            </a:r>
            <a:r>
              <a:rPr sz="1200" spc="-25" dirty="0">
                <a:latin typeface="Times New Roman"/>
                <a:cs typeface="Times New Roman"/>
              </a:rPr>
              <a:t>and </a:t>
            </a:r>
            <a:r>
              <a:rPr sz="1200" dirty="0">
                <a:latin typeface="Times New Roman"/>
                <a:cs typeface="Times New Roman"/>
              </a:rPr>
              <a:t>prevent</a:t>
            </a:r>
            <a:r>
              <a:rPr sz="1200" spc="-55" dirty="0">
                <a:latin typeface="Times New Roman"/>
                <a:cs typeface="Times New Roman"/>
              </a:rPr>
              <a:t> </a:t>
            </a:r>
            <a:r>
              <a:rPr sz="1200" dirty="0">
                <a:latin typeface="Times New Roman"/>
                <a:cs typeface="Times New Roman"/>
              </a:rPr>
              <a:t>fraudulent</a:t>
            </a:r>
            <a:r>
              <a:rPr sz="1200" spc="-50" dirty="0">
                <a:latin typeface="Times New Roman"/>
                <a:cs typeface="Times New Roman"/>
              </a:rPr>
              <a:t> </a:t>
            </a:r>
            <a:r>
              <a:rPr sz="1200" spc="-10" dirty="0">
                <a:latin typeface="Times New Roman"/>
                <a:cs typeface="Times New Roman"/>
              </a:rPr>
              <a:t>listings.</a:t>
            </a:r>
            <a:r>
              <a:rPr lang="en-US" sz="1200" spc="-10" dirty="0">
                <a:latin typeface="Times New Roman"/>
                <a:cs typeface="Times New Roman"/>
              </a:rPr>
              <a:t> </a:t>
            </a:r>
            <a:r>
              <a:rPr sz="1200" dirty="0">
                <a:latin typeface="Times New Roman"/>
                <a:cs typeface="Times New Roman"/>
              </a:rPr>
              <a:t>The</a:t>
            </a:r>
            <a:r>
              <a:rPr sz="1200" spc="345" dirty="0">
                <a:latin typeface="Times New Roman"/>
                <a:cs typeface="Times New Roman"/>
              </a:rPr>
              <a:t> </a:t>
            </a:r>
            <a:r>
              <a:rPr sz="1200" dirty="0">
                <a:latin typeface="Times New Roman"/>
                <a:cs typeface="Times New Roman"/>
              </a:rPr>
              <a:t>platform’s</a:t>
            </a:r>
            <a:r>
              <a:rPr sz="1200" spc="350" dirty="0">
                <a:latin typeface="Times New Roman"/>
                <a:cs typeface="Times New Roman"/>
              </a:rPr>
              <a:t> </a:t>
            </a:r>
            <a:r>
              <a:rPr sz="1200" dirty="0">
                <a:latin typeface="Times New Roman"/>
                <a:cs typeface="Times New Roman"/>
              </a:rPr>
              <a:t>scalable</a:t>
            </a:r>
            <a:r>
              <a:rPr sz="1200" spc="355" dirty="0">
                <a:latin typeface="Times New Roman"/>
                <a:cs typeface="Times New Roman"/>
              </a:rPr>
              <a:t> </a:t>
            </a:r>
            <a:r>
              <a:rPr sz="1200" dirty="0">
                <a:latin typeface="Times New Roman"/>
                <a:cs typeface="Times New Roman"/>
              </a:rPr>
              <a:t>and</a:t>
            </a:r>
            <a:r>
              <a:rPr sz="1200" spc="350" dirty="0">
                <a:latin typeface="Times New Roman"/>
                <a:cs typeface="Times New Roman"/>
              </a:rPr>
              <a:t> </a:t>
            </a:r>
            <a:r>
              <a:rPr sz="1200" dirty="0">
                <a:latin typeface="Times New Roman"/>
                <a:cs typeface="Times New Roman"/>
              </a:rPr>
              <a:t>responsive</a:t>
            </a:r>
            <a:r>
              <a:rPr sz="1200" spc="360" dirty="0">
                <a:latin typeface="Times New Roman"/>
                <a:cs typeface="Times New Roman"/>
              </a:rPr>
              <a:t> </a:t>
            </a:r>
            <a:r>
              <a:rPr sz="1200" dirty="0">
                <a:latin typeface="Times New Roman"/>
                <a:cs typeface="Times New Roman"/>
              </a:rPr>
              <a:t>architecture,</a:t>
            </a:r>
            <a:r>
              <a:rPr sz="1200" spc="350" dirty="0">
                <a:latin typeface="Times New Roman"/>
                <a:cs typeface="Times New Roman"/>
              </a:rPr>
              <a:t> </a:t>
            </a:r>
            <a:r>
              <a:rPr sz="1200" dirty="0">
                <a:latin typeface="Times New Roman"/>
                <a:cs typeface="Times New Roman"/>
              </a:rPr>
              <a:t>built</a:t>
            </a:r>
            <a:r>
              <a:rPr sz="1200" spc="355" dirty="0">
                <a:latin typeface="Times New Roman"/>
                <a:cs typeface="Times New Roman"/>
              </a:rPr>
              <a:t> </a:t>
            </a:r>
            <a:r>
              <a:rPr sz="1200" dirty="0">
                <a:latin typeface="Times New Roman"/>
                <a:cs typeface="Times New Roman"/>
              </a:rPr>
              <a:t>with</a:t>
            </a:r>
            <a:r>
              <a:rPr sz="1200" spc="360" dirty="0">
                <a:latin typeface="Times New Roman"/>
                <a:cs typeface="Times New Roman"/>
              </a:rPr>
              <a:t> </a:t>
            </a:r>
            <a:r>
              <a:rPr sz="1200" dirty="0">
                <a:latin typeface="Times New Roman"/>
                <a:cs typeface="Times New Roman"/>
              </a:rPr>
              <a:t>React.js,</a:t>
            </a:r>
            <a:r>
              <a:rPr sz="1200" spc="355" dirty="0">
                <a:latin typeface="Times New Roman"/>
                <a:cs typeface="Times New Roman"/>
              </a:rPr>
              <a:t> </a:t>
            </a:r>
            <a:r>
              <a:rPr sz="1200" dirty="0">
                <a:latin typeface="Times New Roman"/>
                <a:cs typeface="Times New Roman"/>
              </a:rPr>
              <a:t>Node.js,</a:t>
            </a:r>
            <a:r>
              <a:rPr sz="1200" spc="355" dirty="0">
                <a:latin typeface="Times New Roman"/>
                <a:cs typeface="Times New Roman"/>
              </a:rPr>
              <a:t> </a:t>
            </a:r>
            <a:r>
              <a:rPr sz="1200" spc="-25" dirty="0">
                <a:latin typeface="Times New Roman"/>
                <a:cs typeface="Times New Roman"/>
              </a:rPr>
              <a:t>and </a:t>
            </a:r>
            <a:r>
              <a:rPr sz="1200" dirty="0">
                <a:latin typeface="Times New Roman"/>
                <a:cs typeface="Times New Roman"/>
              </a:rPr>
              <a:t>MongoDB,</a:t>
            </a:r>
            <a:r>
              <a:rPr sz="1200" spc="-50"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high</a:t>
            </a:r>
            <a:r>
              <a:rPr sz="1200" spc="-35" dirty="0">
                <a:latin typeface="Times New Roman"/>
                <a:cs typeface="Times New Roman"/>
              </a:rPr>
              <a:t> </a:t>
            </a:r>
            <a:r>
              <a:rPr sz="1200" spc="-10" dirty="0">
                <a:latin typeface="Times New Roman"/>
                <a:cs typeface="Times New Roman"/>
              </a:rPr>
              <a:t>performance</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smooth</a:t>
            </a:r>
            <a:r>
              <a:rPr sz="1200" spc="-4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spc="-10" dirty="0">
                <a:latin typeface="Times New Roman"/>
                <a:cs typeface="Times New Roman"/>
              </a:rPr>
              <a:t>experience</a:t>
            </a:r>
            <a:r>
              <a:rPr sz="1200" spc="-35" dirty="0">
                <a:latin typeface="Times New Roman"/>
                <a:cs typeface="Times New Roman"/>
              </a:rPr>
              <a:t> </a:t>
            </a:r>
            <a:r>
              <a:rPr sz="1200" dirty="0">
                <a:latin typeface="Times New Roman"/>
                <a:cs typeface="Times New Roman"/>
              </a:rPr>
              <a:t>even</a:t>
            </a:r>
            <a:r>
              <a:rPr sz="1200" spc="-50" dirty="0">
                <a:latin typeface="Times New Roman"/>
                <a:cs typeface="Times New Roman"/>
              </a:rPr>
              <a:t> </a:t>
            </a:r>
            <a:r>
              <a:rPr sz="1200" dirty="0">
                <a:latin typeface="Times New Roman"/>
                <a:cs typeface="Times New Roman"/>
              </a:rPr>
              <a:t>during</a:t>
            </a:r>
            <a:r>
              <a:rPr sz="1200" spc="-45" dirty="0">
                <a:latin typeface="Times New Roman"/>
                <a:cs typeface="Times New Roman"/>
              </a:rPr>
              <a:t> </a:t>
            </a:r>
            <a:r>
              <a:rPr sz="1200" dirty="0">
                <a:latin typeface="Times New Roman"/>
                <a:cs typeface="Times New Roman"/>
              </a:rPr>
              <a:t>peak</a:t>
            </a:r>
            <a:r>
              <a:rPr sz="1200" spc="-40" dirty="0">
                <a:latin typeface="Times New Roman"/>
                <a:cs typeface="Times New Roman"/>
              </a:rPr>
              <a:t> </a:t>
            </a:r>
            <a:r>
              <a:rPr sz="1200" spc="-10" dirty="0">
                <a:latin typeface="Times New Roman"/>
                <a:cs typeface="Times New Roman"/>
              </a:rPr>
              <a:t>auction </a:t>
            </a:r>
            <a:r>
              <a:rPr sz="1200" dirty="0">
                <a:latin typeface="Times New Roman"/>
                <a:cs typeface="Times New Roman"/>
              </a:rPr>
              <a:t>activity.</a:t>
            </a:r>
            <a:r>
              <a:rPr sz="1200" spc="95" dirty="0">
                <a:latin typeface="Times New Roman"/>
                <a:cs typeface="Times New Roman"/>
              </a:rPr>
              <a:t> </a:t>
            </a:r>
            <a:r>
              <a:rPr sz="1200" spc="-10" dirty="0">
                <a:latin typeface="Times New Roman"/>
                <a:cs typeface="Times New Roman"/>
              </a:rPr>
              <a:t>Geo-</a:t>
            </a:r>
            <a:r>
              <a:rPr sz="1200" dirty="0">
                <a:latin typeface="Times New Roman"/>
                <a:cs typeface="Times New Roman"/>
              </a:rPr>
              <a:t>fenced</a:t>
            </a:r>
            <a:r>
              <a:rPr sz="1200" spc="95" dirty="0">
                <a:latin typeface="Times New Roman"/>
                <a:cs typeface="Times New Roman"/>
              </a:rPr>
              <a:t> </a:t>
            </a:r>
            <a:r>
              <a:rPr sz="1200" dirty="0">
                <a:latin typeface="Times New Roman"/>
                <a:cs typeface="Times New Roman"/>
              </a:rPr>
              <a:t>auction</a:t>
            </a:r>
            <a:r>
              <a:rPr sz="1200" spc="95" dirty="0">
                <a:latin typeface="Times New Roman"/>
                <a:cs typeface="Times New Roman"/>
              </a:rPr>
              <a:t> </a:t>
            </a:r>
            <a:r>
              <a:rPr sz="1200" dirty="0">
                <a:latin typeface="Times New Roman"/>
                <a:cs typeface="Times New Roman"/>
              </a:rPr>
              <a:t>notifications</a:t>
            </a:r>
            <a:r>
              <a:rPr sz="1200" spc="110"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personalized</a:t>
            </a:r>
            <a:r>
              <a:rPr sz="1200" spc="90" dirty="0">
                <a:latin typeface="Times New Roman"/>
                <a:cs typeface="Times New Roman"/>
              </a:rPr>
              <a:t> </a:t>
            </a:r>
            <a:r>
              <a:rPr sz="1200" dirty="0">
                <a:latin typeface="Times New Roman"/>
                <a:cs typeface="Times New Roman"/>
              </a:rPr>
              <a:t>property</a:t>
            </a:r>
            <a:r>
              <a:rPr sz="1200" spc="90" dirty="0">
                <a:latin typeface="Times New Roman"/>
                <a:cs typeface="Times New Roman"/>
              </a:rPr>
              <a:t> </a:t>
            </a:r>
            <a:r>
              <a:rPr sz="1200" dirty="0">
                <a:latin typeface="Times New Roman"/>
                <a:cs typeface="Times New Roman"/>
              </a:rPr>
              <a:t>subscriptions</a:t>
            </a:r>
            <a:r>
              <a:rPr sz="1200" spc="110" dirty="0">
                <a:latin typeface="Times New Roman"/>
                <a:cs typeface="Times New Roman"/>
              </a:rPr>
              <a:t> </a:t>
            </a:r>
            <a:r>
              <a:rPr sz="1200" spc="-10" dirty="0">
                <a:latin typeface="Times New Roman"/>
                <a:cs typeface="Times New Roman"/>
              </a:rPr>
              <a:t>enhance </a:t>
            </a:r>
            <a:r>
              <a:rPr sz="1200" dirty="0">
                <a:latin typeface="Times New Roman"/>
                <a:cs typeface="Times New Roman"/>
              </a:rPr>
              <a:t>user</a:t>
            </a:r>
            <a:r>
              <a:rPr sz="1200" spc="195" dirty="0">
                <a:latin typeface="Times New Roman"/>
                <a:cs typeface="Times New Roman"/>
              </a:rPr>
              <a:t> </a:t>
            </a:r>
            <a:r>
              <a:rPr sz="1200" dirty="0">
                <a:latin typeface="Times New Roman"/>
                <a:cs typeface="Times New Roman"/>
              </a:rPr>
              <a:t>engagement</a:t>
            </a:r>
            <a:r>
              <a:rPr sz="1200" spc="204" dirty="0">
                <a:latin typeface="Times New Roman"/>
                <a:cs typeface="Times New Roman"/>
              </a:rPr>
              <a:t> </a:t>
            </a:r>
            <a:r>
              <a:rPr sz="1200" dirty="0">
                <a:latin typeface="Times New Roman"/>
                <a:cs typeface="Times New Roman"/>
              </a:rPr>
              <a:t>by</a:t>
            </a:r>
            <a:r>
              <a:rPr sz="1200" spc="200" dirty="0">
                <a:latin typeface="Times New Roman"/>
                <a:cs typeface="Times New Roman"/>
              </a:rPr>
              <a:t> </a:t>
            </a:r>
            <a:r>
              <a:rPr sz="1200" dirty="0">
                <a:latin typeface="Times New Roman"/>
                <a:cs typeface="Times New Roman"/>
              </a:rPr>
              <a:t>providing</a:t>
            </a:r>
            <a:r>
              <a:rPr sz="1200" spc="204" dirty="0">
                <a:latin typeface="Times New Roman"/>
                <a:cs typeface="Times New Roman"/>
              </a:rPr>
              <a:t> </a:t>
            </a:r>
            <a:r>
              <a:rPr sz="1200" dirty="0">
                <a:latin typeface="Times New Roman"/>
                <a:cs typeface="Times New Roman"/>
              </a:rPr>
              <a:t>relevant</a:t>
            </a:r>
            <a:r>
              <a:rPr sz="1200" spc="204" dirty="0">
                <a:latin typeface="Times New Roman"/>
                <a:cs typeface="Times New Roman"/>
              </a:rPr>
              <a:t> </a:t>
            </a:r>
            <a:r>
              <a:rPr sz="1200" dirty="0">
                <a:latin typeface="Times New Roman"/>
                <a:cs typeface="Times New Roman"/>
              </a:rPr>
              <a:t>alerts</a:t>
            </a:r>
            <a:r>
              <a:rPr sz="1200" spc="204" dirty="0">
                <a:latin typeface="Times New Roman"/>
                <a:cs typeface="Times New Roman"/>
              </a:rPr>
              <a:t> </a:t>
            </a:r>
            <a:r>
              <a:rPr sz="1200" dirty="0">
                <a:latin typeface="Times New Roman"/>
                <a:cs typeface="Times New Roman"/>
              </a:rPr>
              <a:t>based</a:t>
            </a:r>
            <a:r>
              <a:rPr sz="1200" spc="200" dirty="0">
                <a:latin typeface="Times New Roman"/>
                <a:cs typeface="Times New Roman"/>
              </a:rPr>
              <a:t> </a:t>
            </a:r>
            <a:r>
              <a:rPr sz="1200" dirty="0">
                <a:latin typeface="Times New Roman"/>
                <a:cs typeface="Times New Roman"/>
              </a:rPr>
              <a:t>on</a:t>
            </a:r>
            <a:r>
              <a:rPr sz="1200" spc="195" dirty="0">
                <a:latin typeface="Times New Roman"/>
                <a:cs typeface="Times New Roman"/>
              </a:rPr>
              <a:t> </a:t>
            </a:r>
            <a:r>
              <a:rPr sz="1200" dirty="0">
                <a:latin typeface="Times New Roman"/>
                <a:cs typeface="Times New Roman"/>
              </a:rPr>
              <a:t>location</a:t>
            </a:r>
            <a:r>
              <a:rPr sz="1200" spc="20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dirty="0">
                <a:latin typeface="Times New Roman"/>
                <a:cs typeface="Times New Roman"/>
              </a:rPr>
              <a:t>preferences.</a:t>
            </a:r>
            <a:r>
              <a:rPr sz="1200" spc="204" dirty="0">
                <a:latin typeface="Times New Roman"/>
                <a:cs typeface="Times New Roman"/>
              </a:rPr>
              <a:t> </a:t>
            </a:r>
            <a:r>
              <a:rPr sz="1200" spc="-10" dirty="0">
                <a:latin typeface="Times New Roman"/>
                <a:cs typeface="Times New Roman"/>
              </a:rPr>
              <a:t>Secure authentication</a:t>
            </a:r>
            <a:r>
              <a:rPr sz="1200" spc="-35" dirty="0">
                <a:latin typeface="Times New Roman"/>
                <a:cs typeface="Times New Roman"/>
              </a:rPr>
              <a:t> </a:t>
            </a:r>
            <a:r>
              <a:rPr sz="1200" dirty="0">
                <a:latin typeface="Times New Roman"/>
                <a:cs typeface="Times New Roman"/>
              </a:rPr>
              <a:t>via</a:t>
            </a:r>
            <a:r>
              <a:rPr sz="1200" spc="-25" dirty="0">
                <a:latin typeface="Times New Roman"/>
                <a:cs typeface="Times New Roman"/>
              </a:rPr>
              <a:t> </a:t>
            </a:r>
            <a:r>
              <a:rPr sz="1200" dirty="0">
                <a:latin typeface="Times New Roman"/>
                <a:cs typeface="Times New Roman"/>
              </a:rPr>
              <a:t>JWT</a:t>
            </a:r>
            <a:r>
              <a:rPr sz="1200" spc="-20" dirty="0">
                <a:latin typeface="Times New Roman"/>
                <a:cs typeface="Times New Roman"/>
              </a:rPr>
              <a:t> </a:t>
            </a:r>
            <a:r>
              <a:rPr sz="1200" dirty="0">
                <a:latin typeface="Times New Roman"/>
                <a:cs typeface="Times New Roman"/>
              </a:rPr>
              <a:t>(JSON</a:t>
            </a:r>
            <a:r>
              <a:rPr sz="1200" spc="-35" dirty="0">
                <a:latin typeface="Times New Roman"/>
                <a:cs typeface="Times New Roman"/>
              </a:rPr>
              <a:t> </a:t>
            </a:r>
            <a:r>
              <a:rPr sz="1200" spc="-10" dirty="0">
                <a:latin typeface="Times New Roman"/>
                <a:cs typeface="Times New Roman"/>
              </a:rPr>
              <a:t>Web</a:t>
            </a:r>
            <a:r>
              <a:rPr sz="1200" spc="-30" dirty="0">
                <a:latin typeface="Times New Roman"/>
                <a:cs typeface="Times New Roman"/>
              </a:rPr>
              <a:t> </a:t>
            </a:r>
            <a:r>
              <a:rPr sz="1200" spc="-10" dirty="0">
                <a:latin typeface="Times New Roman"/>
                <a:cs typeface="Times New Roman"/>
              </a:rPr>
              <a:t>Tokens)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SSL</a:t>
            </a:r>
            <a:r>
              <a:rPr sz="1200" spc="-35" dirty="0">
                <a:latin typeface="Times New Roman"/>
                <a:cs typeface="Times New Roman"/>
              </a:rPr>
              <a:t> </a:t>
            </a:r>
            <a:r>
              <a:rPr sz="1200" spc="-10" dirty="0">
                <a:latin typeface="Times New Roman"/>
                <a:cs typeface="Times New Roman"/>
              </a:rPr>
              <a:t>encryption</a:t>
            </a:r>
            <a:r>
              <a:rPr sz="1200" spc="-20" dirty="0">
                <a:latin typeface="Times New Roman"/>
                <a:cs typeface="Times New Roman"/>
              </a:rPr>
              <a:t> </a:t>
            </a:r>
            <a:r>
              <a:rPr sz="1200" spc="-10" dirty="0">
                <a:latin typeface="Times New Roman"/>
                <a:cs typeface="Times New Roman"/>
              </a:rPr>
              <a:t>further</a:t>
            </a:r>
            <a:r>
              <a:rPr sz="1200" spc="-35" dirty="0">
                <a:latin typeface="Times New Roman"/>
                <a:cs typeface="Times New Roman"/>
              </a:rPr>
              <a:t> </a:t>
            </a:r>
            <a:r>
              <a:rPr sz="1200" spc="-10" dirty="0">
                <a:latin typeface="Times New Roman"/>
                <a:cs typeface="Times New Roman"/>
              </a:rPr>
              <a:t>strengthens</a:t>
            </a:r>
            <a:r>
              <a:rPr sz="1200" spc="-30" dirty="0">
                <a:latin typeface="Times New Roman"/>
                <a:cs typeface="Times New Roman"/>
              </a:rPr>
              <a:t> </a:t>
            </a:r>
            <a:r>
              <a:rPr sz="1200" spc="-10" dirty="0">
                <a:latin typeface="Times New Roman"/>
                <a:cs typeface="Times New Roman"/>
              </a:rPr>
              <a:t>platform security.</a:t>
            </a:r>
            <a:r>
              <a:rPr lang="en-US" sz="1200" dirty="0">
                <a:latin typeface="Times New Roman"/>
                <a:cs typeface="Times New Roman"/>
              </a:rPr>
              <a:t> </a:t>
            </a:r>
            <a:r>
              <a:rPr sz="1200" spc="-10" dirty="0">
                <a:latin typeface="Times New Roman"/>
                <a:cs typeface="Times New Roman"/>
              </a:rPr>
              <a:t>With</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focus</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10" dirty="0">
                <a:latin typeface="Times New Roman"/>
                <a:cs typeface="Times New Roman"/>
              </a:rPr>
              <a:t>inclusivity,</a:t>
            </a:r>
            <a:r>
              <a:rPr sz="1200" spc="-30" dirty="0">
                <a:latin typeface="Times New Roman"/>
                <a:cs typeface="Times New Roman"/>
              </a:rPr>
              <a:t> </a:t>
            </a:r>
            <a:r>
              <a:rPr sz="1200" spc="-1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Abode</a:t>
            </a:r>
            <a:r>
              <a:rPr sz="1200" spc="-30" dirty="0">
                <a:latin typeface="Times New Roman"/>
                <a:cs typeface="Times New Roman"/>
              </a:rPr>
              <a:t> </a:t>
            </a:r>
            <a:r>
              <a:rPr sz="1200" spc="-10" dirty="0">
                <a:latin typeface="Times New Roman"/>
                <a:cs typeface="Times New Roman"/>
              </a:rPr>
              <a:t>democratizes</a:t>
            </a:r>
            <a:r>
              <a:rPr sz="1200" spc="-30" dirty="0">
                <a:latin typeface="Times New Roman"/>
                <a:cs typeface="Times New Roman"/>
              </a:rPr>
              <a:t> </a:t>
            </a:r>
            <a:r>
              <a:rPr sz="1200" spc="-10" dirty="0">
                <a:latin typeface="Times New Roman"/>
                <a:cs typeface="Times New Roman"/>
              </a:rPr>
              <a:t>property</a:t>
            </a:r>
            <a:r>
              <a:rPr sz="1200" spc="-35" dirty="0">
                <a:latin typeface="Times New Roman"/>
                <a:cs typeface="Times New Roman"/>
              </a:rPr>
              <a:t> </a:t>
            </a:r>
            <a:r>
              <a:rPr sz="1200" spc="-10" dirty="0">
                <a:latin typeface="Times New Roman"/>
                <a:cs typeface="Times New Roman"/>
              </a:rPr>
              <a:t>investments</a:t>
            </a:r>
            <a:r>
              <a:rPr sz="1200" spc="-3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spc="-10" dirty="0">
                <a:latin typeface="Times New Roman"/>
                <a:cs typeface="Times New Roman"/>
              </a:rPr>
              <a:t>eliminating </a:t>
            </a:r>
            <a:r>
              <a:rPr sz="1200" dirty="0">
                <a:latin typeface="Times New Roman"/>
                <a:cs typeface="Times New Roman"/>
              </a:rPr>
              <a:t>geographical</a:t>
            </a:r>
            <a:r>
              <a:rPr sz="1200" spc="165" dirty="0">
                <a:latin typeface="Times New Roman"/>
                <a:cs typeface="Times New Roman"/>
              </a:rPr>
              <a:t> </a:t>
            </a:r>
            <a:r>
              <a:rPr sz="1200" dirty="0">
                <a:latin typeface="Times New Roman"/>
                <a:cs typeface="Times New Roman"/>
              </a:rPr>
              <a:t>barriers,</a:t>
            </a:r>
            <a:r>
              <a:rPr sz="1200" spc="165" dirty="0">
                <a:latin typeface="Times New Roman"/>
                <a:cs typeface="Times New Roman"/>
              </a:rPr>
              <a:t> </a:t>
            </a:r>
            <a:r>
              <a:rPr sz="1200" dirty="0">
                <a:latin typeface="Times New Roman"/>
                <a:cs typeface="Times New Roman"/>
              </a:rPr>
              <a:t>enabling</a:t>
            </a:r>
            <a:r>
              <a:rPr sz="1200" spc="160" dirty="0">
                <a:latin typeface="Times New Roman"/>
                <a:cs typeface="Times New Roman"/>
              </a:rPr>
              <a:t> </a:t>
            </a:r>
            <a:r>
              <a:rPr sz="1200" dirty="0">
                <a:latin typeface="Times New Roman"/>
                <a:cs typeface="Times New Roman"/>
              </a:rPr>
              <a:t>users</a:t>
            </a:r>
            <a:r>
              <a:rPr sz="1200" spc="165" dirty="0">
                <a:latin typeface="Times New Roman"/>
                <a:cs typeface="Times New Roman"/>
              </a:rPr>
              <a:t> </a:t>
            </a:r>
            <a:r>
              <a:rPr sz="1200" dirty="0">
                <a:latin typeface="Times New Roman"/>
                <a:cs typeface="Times New Roman"/>
              </a:rPr>
              <a:t>from</a:t>
            </a:r>
            <a:r>
              <a:rPr sz="1200" spc="165" dirty="0">
                <a:latin typeface="Times New Roman"/>
                <a:cs typeface="Times New Roman"/>
              </a:rPr>
              <a:t> </a:t>
            </a:r>
            <a:r>
              <a:rPr sz="1200" dirty="0">
                <a:latin typeface="Times New Roman"/>
                <a:cs typeface="Times New Roman"/>
              </a:rPr>
              <a:t>diverse</a:t>
            </a:r>
            <a:r>
              <a:rPr sz="1200" spc="160" dirty="0">
                <a:latin typeface="Times New Roman"/>
                <a:cs typeface="Times New Roman"/>
              </a:rPr>
              <a:t> </a:t>
            </a:r>
            <a:r>
              <a:rPr sz="1200" dirty="0">
                <a:latin typeface="Times New Roman"/>
                <a:cs typeface="Times New Roman"/>
              </a:rPr>
              <a:t>backgrounds</a:t>
            </a:r>
            <a:r>
              <a:rPr sz="1200" spc="165" dirty="0">
                <a:latin typeface="Times New Roman"/>
                <a:cs typeface="Times New Roman"/>
              </a:rPr>
              <a:t> </a:t>
            </a:r>
            <a:r>
              <a:rPr sz="1200" dirty="0">
                <a:latin typeface="Times New Roman"/>
                <a:cs typeface="Times New Roman"/>
              </a:rPr>
              <a:t>to</a:t>
            </a:r>
            <a:r>
              <a:rPr sz="1200" spc="165" dirty="0">
                <a:latin typeface="Times New Roman"/>
                <a:cs typeface="Times New Roman"/>
              </a:rPr>
              <a:t> </a:t>
            </a:r>
            <a:r>
              <a:rPr sz="1200" dirty="0">
                <a:latin typeface="Times New Roman"/>
                <a:cs typeface="Times New Roman"/>
              </a:rPr>
              <a:t>participate</a:t>
            </a:r>
            <a:r>
              <a:rPr sz="1200" spc="160" dirty="0">
                <a:latin typeface="Times New Roman"/>
                <a:cs typeface="Times New Roman"/>
              </a:rPr>
              <a:t> </a:t>
            </a:r>
            <a:r>
              <a:rPr sz="1200" dirty="0">
                <a:latin typeface="Times New Roman"/>
                <a:cs typeface="Times New Roman"/>
              </a:rPr>
              <a:t>in</a:t>
            </a:r>
            <a:r>
              <a:rPr sz="1200" spc="165" dirty="0">
                <a:latin typeface="Times New Roman"/>
                <a:cs typeface="Times New Roman"/>
              </a:rPr>
              <a:t> </a:t>
            </a:r>
            <a:r>
              <a:rPr sz="1200" spc="-10" dirty="0">
                <a:latin typeface="Times New Roman"/>
                <a:cs typeface="Times New Roman"/>
              </a:rPr>
              <a:t>auctions </a:t>
            </a:r>
            <a:r>
              <a:rPr sz="1200" dirty="0">
                <a:latin typeface="Times New Roman"/>
                <a:cs typeface="Times New Roman"/>
              </a:rPr>
              <a:t>effortlessly.</a:t>
            </a:r>
            <a:r>
              <a:rPr sz="1200" spc="-5" dirty="0">
                <a:latin typeface="Times New Roman"/>
                <a:cs typeface="Times New Roman"/>
              </a:rPr>
              <a:t> </a:t>
            </a:r>
            <a:r>
              <a:rPr sz="1200" dirty="0">
                <a:latin typeface="Times New Roman"/>
                <a:cs typeface="Times New Roman"/>
              </a:rPr>
              <a:t>Its compliance</a:t>
            </a:r>
            <a:r>
              <a:rPr sz="1200" spc="-1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property auction</a:t>
            </a:r>
            <a:r>
              <a:rPr sz="1200" spc="-5" dirty="0">
                <a:latin typeface="Times New Roman"/>
                <a:cs typeface="Times New Roman"/>
              </a:rPr>
              <a:t> </a:t>
            </a:r>
            <a:r>
              <a:rPr sz="1200" dirty="0">
                <a:latin typeface="Times New Roman"/>
                <a:cs typeface="Times New Roman"/>
              </a:rPr>
              <a:t>regulations</a:t>
            </a:r>
            <a:r>
              <a:rPr sz="1200" spc="5" dirty="0">
                <a:latin typeface="Times New Roman"/>
                <a:cs typeface="Times New Roman"/>
              </a:rPr>
              <a:t> </a:t>
            </a:r>
            <a:r>
              <a:rPr sz="1200" dirty="0">
                <a:latin typeface="Times New Roman"/>
                <a:cs typeface="Times New Roman"/>
              </a:rPr>
              <a:t>ensures</a:t>
            </a:r>
            <a:r>
              <a:rPr sz="1200" spc="-10" dirty="0">
                <a:latin typeface="Times New Roman"/>
                <a:cs typeface="Times New Roman"/>
              </a:rPr>
              <a:t> </a:t>
            </a:r>
            <a:r>
              <a:rPr sz="1200" dirty="0">
                <a:latin typeface="Times New Roman"/>
                <a:cs typeface="Times New Roman"/>
              </a:rPr>
              <a:t>legal transparency</a:t>
            </a:r>
            <a:r>
              <a:rPr sz="1200" spc="-15" dirty="0">
                <a:latin typeface="Times New Roman"/>
                <a:cs typeface="Times New Roman"/>
              </a:rPr>
              <a:t> </a:t>
            </a:r>
            <a:r>
              <a:rPr sz="1200" spc="-25" dirty="0">
                <a:latin typeface="Times New Roman"/>
                <a:cs typeface="Times New Roman"/>
              </a:rPr>
              <a:t>and </a:t>
            </a:r>
            <a:r>
              <a:rPr sz="1200" dirty="0">
                <a:latin typeface="Times New Roman"/>
                <a:cs typeface="Times New Roman"/>
              </a:rPr>
              <a:t>reliability,</a:t>
            </a:r>
            <a:r>
              <a:rPr sz="1200" spc="130" dirty="0">
                <a:latin typeface="Times New Roman"/>
                <a:cs typeface="Times New Roman"/>
              </a:rPr>
              <a:t> </a:t>
            </a:r>
            <a:r>
              <a:rPr sz="1200" dirty="0">
                <a:latin typeface="Times New Roman"/>
                <a:cs typeface="Times New Roman"/>
              </a:rPr>
              <a:t>while</a:t>
            </a:r>
            <a:r>
              <a:rPr sz="1200" spc="125" dirty="0">
                <a:latin typeface="Times New Roman"/>
                <a:cs typeface="Times New Roman"/>
              </a:rPr>
              <a:t> </a:t>
            </a:r>
            <a:r>
              <a:rPr sz="1200" dirty="0">
                <a:latin typeface="Times New Roman"/>
                <a:cs typeface="Times New Roman"/>
              </a:rPr>
              <a:t>its</a:t>
            </a:r>
            <a:r>
              <a:rPr sz="1200" spc="135" dirty="0">
                <a:latin typeface="Times New Roman"/>
                <a:cs typeface="Times New Roman"/>
              </a:rPr>
              <a:t> </a:t>
            </a:r>
            <a:r>
              <a:rPr sz="1200" spc="-10" dirty="0">
                <a:latin typeface="Times New Roman"/>
                <a:cs typeface="Times New Roman"/>
              </a:rPr>
              <a:t>cloud-</a:t>
            </a:r>
            <a:r>
              <a:rPr sz="1200" dirty="0">
                <a:latin typeface="Times New Roman"/>
                <a:cs typeface="Times New Roman"/>
              </a:rPr>
              <a:t>based</a:t>
            </a:r>
            <a:r>
              <a:rPr sz="1200" spc="130" dirty="0">
                <a:latin typeface="Times New Roman"/>
                <a:cs typeface="Times New Roman"/>
              </a:rPr>
              <a:t> </a:t>
            </a:r>
            <a:r>
              <a:rPr sz="1200" dirty="0">
                <a:latin typeface="Times New Roman"/>
                <a:cs typeface="Times New Roman"/>
              </a:rPr>
              <a:t>infrastructure</a:t>
            </a:r>
            <a:r>
              <a:rPr sz="1200" spc="130" dirty="0">
                <a:latin typeface="Times New Roman"/>
                <a:cs typeface="Times New Roman"/>
              </a:rPr>
              <a:t> </a:t>
            </a:r>
            <a:r>
              <a:rPr sz="1200" dirty="0">
                <a:latin typeface="Times New Roman"/>
                <a:cs typeface="Times New Roman"/>
              </a:rPr>
              <a:t>guarantees</a:t>
            </a:r>
            <a:r>
              <a:rPr sz="1200" spc="130" dirty="0">
                <a:latin typeface="Times New Roman"/>
                <a:cs typeface="Times New Roman"/>
              </a:rPr>
              <a:t> </a:t>
            </a:r>
            <a:r>
              <a:rPr sz="1200" dirty="0">
                <a:latin typeface="Times New Roman"/>
                <a:cs typeface="Times New Roman"/>
              </a:rPr>
              <a:t>accessibility</a:t>
            </a:r>
            <a:r>
              <a:rPr sz="1200" spc="135" dirty="0">
                <a:latin typeface="Times New Roman"/>
                <a:cs typeface="Times New Roman"/>
              </a:rPr>
              <a:t> </a:t>
            </a:r>
            <a:r>
              <a:rPr sz="1200" dirty="0">
                <a:latin typeface="Times New Roman"/>
                <a:cs typeface="Times New Roman"/>
              </a:rPr>
              <a:t>across</a:t>
            </a:r>
            <a:r>
              <a:rPr sz="1200" spc="130" dirty="0">
                <a:latin typeface="Times New Roman"/>
                <a:cs typeface="Times New Roman"/>
              </a:rPr>
              <a:t> </a:t>
            </a:r>
            <a:r>
              <a:rPr sz="1200" dirty="0">
                <a:latin typeface="Times New Roman"/>
                <a:cs typeface="Times New Roman"/>
              </a:rPr>
              <a:t>devices.</a:t>
            </a:r>
            <a:r>
              <a:rPr sz="1200" spc="135" dirty="0">
                <a:latin typeface="Times New Roman"/>
                <a:cs typeface="Times New Roman"/>
              </a:rPr>
              <a:t> </a:t>
            </a:r>
            <a:r>
              <a:rPr sz="1200" spc="-25" dirty="0">
                <a:latin typeface="Times New Roman"/>
                <a:cs typeface="Times New Roman"/>
              </a:rPr>
              <a:t>By </a:t>
            </a:r>
            <a:r>
              <a:rPr sz="1200" dirty="0">
                <a:latin typeface="Times New Roman"/>
                <a:cs typeface="Times New Roman"/>
              </a:rPr>
              <a:t>combining</a:t>
            </a:r>
            <a:r>
              <a:rPr sz="1200" spc="5" dirty="0">
                <a:latin typeface="Times New Roman"/>
                <a:cs typeface="Times New Roman"/>
              </a:rPr>
              <a:t> </a:t>
            </a:r>
            <a:r>
              <a:rPr sz="1200" spc="-10" dirty="0">
                <a:latin typeface="Times New Roman"/>
                <a:cs typeface="Times New Roman"/>
              </a:rPr>
              <a:t>real-</a:t>
            </a:r>
            <a:r>
              <a:rPr sz="1200" dirty="0">
                <a:latin typeface="Times New Roman"/>
                <a:cs typeface="Times New Roman"/>
              </a:rPr>
              <a:t>time responsiveness,</a:t>
            </a:r>
            <a:r>
              <a:rPr sz="1200" spc="5" dirty="0">
                <a:latin typeface="Times New Roman"/>
                <a:cs typeface="Times New Roman"/>
              </a:rPr>
              <a:t> </a:t>
            </a:r>
            <a:r>
              <a:rPr sz="1200" spc="-10" dirty="0">
                <a:latin typeface="Times New Roman"/>
                <a:cs typeface="Times New Roman"/>
              </a:rPr>
              <a:t>AI-</a:t>
            </a:r>
            <a:r>
              <a:rPr sz="1200" dirty="0">
                <a:latin typeface="Times New Roman"/>
                <a:cs typeface="Times New Roman"/>
              </a:rPr>
              <a:t>driven insights,</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robust</a:t>
            </a:r>
            <a:r>
              <a:rPr sz="1200" spc="5" dirty="0">
                <a:latin typeface="Times New Roman"/>
                <a:cs typeface="Times New Roman"/>
              </a:rPr>
              <a:t> </a:t>
            </a:r>
            <a:r>
              <a:rPr sz="1200" dirty="0">
                <a:latin typeface="Times New Roman"/>
                <a:cs typeface="Times New Roman"/>
              </a:rPr>
              <a:t>security,</a:t>
            </a:r>
            <a:r>
              <a:rPr sz="1200" spc="10" dirty="0">
                <a:latin typeface="Times New Roman"/>
                <a:cs typeface="Times New Roman"/>
              </a:rPr>
              <a:t> </a:t>
            </a:r>
            <a:r>
              <a:rPr sz="1200" dirty="0">
                <a:latin typeface="Times New Roman"/>
                <a:cs typeface="Times New Roman"/>
              </a:rPr>
              <a:t>Auction </a:t>
            </a:r>
            <a:r>
              <a:rPr sz="1200" spc="-10" dirty="0">
                <a:latin typeface="Times New Roman"/>
                <a:cs typeface="Times New Roman"/>
              </a:rPr>
              <a:t>Abode </a:t>
            </a:r>
            <a:r>
              <a:rPr sz="1200" dirty="0">
                <a:latin typeface="Times New Roman"/>
                <a:cs typeface="Times New Roman"/>
              </a:rPr>
              <a:t>aims</a:t>
            </a:r>
            <a:r>
              <a:rPr sz="1200" spc="70" dirty="0">
                <a:latin typeface="Times New Roman"/>
                <a:cs typeface="Times New Roman"/>
              </a:rPr>
              <a:t> </a:t>
            </a:r>
            <a:r>
              <a:rPr sz="1200" dirty="0">
                <a:latin typeface="Times New Roman"/>
                <a:cs typeface="Times New Roman"/>
              </a:rPr>
              <a:t>to</a:t>
            </a:r>
            <a:r>
              <a:rPr sz="1200" spc="70" dirty="0">
                <a:latin typeface="Times New Roman"/>
                <a:cs typeface="Times New Roman"/>
              </a:rPr>
              <a:t> </a:t>
            </a:r>
            <a:r>
              <a:rPr sz="1200" dirty="0">
                <a:latin typeface="Times New Roman"/>
                <a:cs typeface="Times New Roman"/>
              </a:rPr>
              <a:t>revolutionize</a:t>
            </a:r>
            <a:r>
              <a:rPr sz="1200" spc="6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real</a:t>
            </a:r>
            <a:r>
              <a:rPr sz="1200" spc="70" dirty="0">
                <a:latin typeface="Times New Roman"/>
                <a:cs typeface="Times New Roman"/>
              </a:rPr>
              <a:t> </a:t>
            </a:r>
            <a:r>
              <a:rPr sz="1200" dirty="0">
                <a:latin typeface="Times New Roman"/>
                <a:cs typeface="Times New Roman"/>
              </a:rPr>
              <a:t>estate</a:t>
            </a:r>
            <a:r>
              <a:rPr sz="1200" spc="80" dirty="0">
                <a:latin typeface="Times New Roman"/>
                <a:cs typeface="Times New Roman"/>
              </a:rPr>
              <a:t> </a:t>
            </a:r>
            <a:r>
              <a:rPr sz="1200" dirty="0">
                <a:latin typeface="Times New Roman"/>
                <a:cs typeface="Times New Roman"/>
              </a:rPr>
              <a:t>auction</a:t>
            </a:r>
            <a:r>
              <a:rPr sz="1200" spc="70" dirty="0">
                <a:latin typeface="Times New Roman"/>
                <a:cs typeface="Times New Roman"/>
              </a:rPr>
              <a:t> </a:t>
            </a:r>
            <a:r>
              <a:rPr sz="1200" dirty="0">
                <a:latin typeface="Times New Roman"/>
                <a:cs typeface="Times New Roman"/>
              </a:rPr>
              <a:t>landscape,</a:t>
            </a:r>
            <a:r>
              <a:rPr sz="1200" spc="70" dirty="0">
                <a:latin typeface="Times New Roman"/>
                <a:cs typeface="Times New Roman"/>
              </a:rPr>
              <a:t> </a:t>
            </a:r>
            <a:r>
              <a:rPr sz="1200" dirty="0">
                <a:latin typeface="Times New Roman"/>
                <a:cs typeface="Times New Roman"/>
              </a:rPr>
              <a:t>fostering</a:t>
            </a:r>
            <a:r>
              <a:rPr sz="1200" spc="7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more</a:t>
            </a:r>
            <a:r>
              <a:rPr sz="1200" spc="75" dirty="0">
                <a:latin typeface="Times New Roman"/>
                <a:cs typeface="Times New Roman"/>
              </a:rPr>
              <a:t> </a:t>
            </a:r>
            <a:r>
              <a:rPr sz="1200" dirty="0">
                <a:latin typeface="Times New Roman"/>
                <a:cs typeface="Times New Roman"/>
              </a:rPr>
              <a:t>efficient,</a:t>
            </a:r>
            <a:r>
              <a:rPr sz="1200" spc="70" dirty="0">
                <a:latin typeface="Times New Roman"/>
                <a:cs typeface="Times New Roman"/>
              </a:rPr>
              <a:t> </a:t>
            </a:r>
            <a:r>
              <a:rPr sz="1200" dirty="0">
                <a:latin typeface="Times New Roman"/>
                <a:cs typeface="Times New Roman"/>
              </a:rPr>
              <a:t>fair,</a:t>
            </a:r>
            <a:r>
              <a:rPr sz="1200" spc="80" dirty="0">
                <a:latin typeface="Times New Roman"/>
                <a:cs typeface="Times New Roman"/>
              </a:rPr>
              <a:t> </a:t>
            </a:r>
            <a:r>
              <a:rPr sz="1200" spc="-25" dirty="0">
                <a:latin typeface="Times New Roman"/>
                <a:cs typeface="Times New Roman"/>
              </a:rPr>
              <a:t>and </a:t>
            </a:r>
            <a:r>
              <a:rPr sz="1200" dirty="0">
                <a:latin typeface="Times New Roman"/>
                <a:cs typeface="Times New Roman"/>
              </a:rPr>
              <a:t>accessible</a:t>
            </a:r>
            <a:r>
              <a:rPr sz="1200" spc="-40" dirty="0">
                <a:latin typeface="Times New Roman"/>
                <a:cs typeface="Times New Roman"/>
              </a:rPr>
              <a:t> </a:t>
            </a:r>
            <a:r>
              <a:rPr sz="1200" dirty="0">
                <a:latin typeface="Times New Roman"/>
                <a:cs typeface="Times New Roman"/>
              </a:rPr>
              <a:t>property</a:t>
            </a:r>
            <a:r>
              <a:rPr sz="1200" spc="-35" dirty="0">
                <a:latin typeface="Times New Roman"/>
                <a:cs typeface="Times New Roman"/>
              </a:rPr>
              <a:t> </a:t>
            </a:r>
            <a:r>
              <a:rPr sz="1200" dirty="0">
                <a:latin typeface="Times New Roman"/>
                <a:cs typeface="Times New Roman"/>
              </a:rPr>
              <a:t>market</a:t>
            </a:r>
            <a:r>
              <a:rPr sz="1200" spc="-4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20" dirty="0">
                <a:latin typeface="Times New Roman"/>
                <a:cs typeface="Times New Roman"/>
              </a:rPr>
              <a:t>all.</a:t>
            </a:r>
            <a:endParaRPr sz="12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16" y="955103"/>
            <a:ext cx="7772400" cy="258404"/>
          </a:xfrm>
          <a:prstGeom prst="rect">
            <a:avLst/>
          </a:prstGeom>
        </p:spPr>
        <p:txBody>
          <a:bodyPr vert="horz" wrap="square" lIns="0" tIns="12065" rIns="0" bIns="0" rtlCol="0">
            <a:spAutoFit/>
          </a:bodyPr>
          <a:lstStyle/>
          <a:p>
            <a:pPr marL="12700" algn="ctr">
              <a:lnSpc>
                <a:spcPct val="100000"/>
              </a:lnSpc>
              <a:spcBef>
                <a:spcPts val="95"/>
              </a:spcBef>
            </a:pPr>
            <a:r>
              <a:rPr sz="1600" b="1" spc="-10" dirty="0">
                <a:latin typeface="Times New Roman"/>
                <a:cs typeface="Times New Roman"/>
              </a:rPr>
              <a:t>Acknowledgement</a:t>
            </a:r>
            <a:endParaRPr sz="1600" dirty="0">
              <a:latin typeface="Times New Roman"/>
              <a:cs typeface="Times New Roman"/>
            </a:endParaRPr>
          </a:p>
        </p:txBody>
      </p:sp>
      <p:sp>
        <p:nvSpPr>
          <p:cNvPr id="3" name="object 3"/>
          <p:cNvSpPr txBox="1"/>
          <p:nvPr/>
        </p:nvSpPr>
        <p:spPr>
          <a:xfrm>
            <a:off x="1176324" y="1926082"/>
            <a:ext cx="5695950" cy="1840504"/>
          </a:xfrm>
          <a:prstGeom prst="rect">
            <a:avLst/>
          </a:prstGeom>
        </p:spPr>
        <p:txBody>
          <a:bodyPr vert="horz" wrap="square" lIns="0" tIns="12700" rIns="0" bIns="0" rtlCol="0">
            <a:spAutoFit/>
          </a:bodyPr>
          <a:lstStyle/>
          <a:p>
            <a:pPr marL="12700" marR="5080" algn="ctr">
              <a:lnSpc>
                <a:spcPct val="144200"/>
              </a:lnSpc>
              <a:spcBef>
                <a:spcPts val="100"/>
              </a:spcBef>
            </a:pPr>
            <a:r>
              <a:rPr sz="1200" dirty="0">
                <a:latin typeface="Times New Roman"/>
                <a:cs typeface="Times New Roman"/>
              </a:rPr>
              <a:t>All</a:t>
            </a:r>
            <a:r>
              <a:rPr sz="1200" spc="100" dirty="0">
                <a:latin typeface="Times New Roman"/>
                <a:cs typeface="Times New Roman"/>
              </a:rPr>
              <a:t> </a:t>
            </a:r>
            <a:r>
              <a:rPr sz="1200" dirty="0">
                <a:latin typeface="Times New Roman"/>
                <a:cs typeface="Times New Roman"/>
              </a:rPr>
              <a:t>praise</a:t>
            </a:r>
            <a:r>
              <a:rPr sz="1200" spc="100" dirty="0">
                <a:latin typeface="Times New Roman"/>
                <a:cs typeface="Times New Roman"/>
              </a:rPr>
              <a:t> </a:t>
            </a:r>
            <a:r>
              <a:rPr sz="1200" dirty="0">
                <a:latin typeface="Times New Roman"/>
                <a:cs typeface="Times New Roman"/>
              </a:rPr>
              <a:t>is</a:t>
            </a:r>
            <a:r>
              <a:rPr sz="1200" spc="110" dirty="0">
                <a:latin typeface="Times New Roman"/>
                <a:cs typeface="Times New Roman"/>
              </a:rPr>
              <a:t> </a:t>
            </a:r>
            <a:r>
              <a:rPr sz="1200" dirty="0">
                <a:latin typeface="Times New Roman"/>
                <a:cs typeface="Times New Roman"/>
              </a:rPr>
              <a:t>to</a:t>
            </a:r>
            <a:r>
              <a:rPr sz="1200" spc="105" dirty="0">
                <a:latin typeface="Times New Roman"/>
                <a:cs typeface="Times New Roman"/>
              </a:rPr>
              <a:t> </a:t>
            </a:r>
            <a:r>
              <a:rPr sz="1200" dirty="0">
                <a:latin typeface="Times New Roman"/>
                <a:cs typeface="Times New Roman"/>
              </a:rPr>
              <a:t>Almighty</a:t>
            </a:r>
            <a:r>
              <a:rPr sz="1200" spc="100" dirty="0">
                <a:latin typeface="Times New Roman"/>
                <a:cs typeface="Times New Roman"/>
              </a:rPr>
              <a:t> </a:t>
            </a:r>
            <a:r>
              <a:rPr sz="1200" dirty="0">
                <a:latin typeface="Times New Roman"/>
                <a:cs typeface="Times New Roman"/>
              </a:rPr>
              <a:t>Allah</a:t>
            </a:r>
            <a:r>
              <a:rPr sz="1200" spc="100" dirty="0">
                <a:latin typeface="Times New Roman"/>
                <a:cs typeface="Times New Roman"/>
              </a:rPr>
              <a:t> </a:t>
            </a:r>
            <a:r>
              <a:rPr sz="1200" dirty="0">
                <a:latin typeface="Times New Roman"/>
                <a:cs typeface="Times New Roman"/>
              </a:rPr>
              <a:t>who</a:t>
            </a:r>
            <a:r>
              <a:rPr sz="1200" spc="105" dirty="0">
                <a:latin typeface="Times New Roman"/>
                <a:cs typeface="Times New Roman"/>
              </a:rPr>
              <a:t> </a:t>
            </a:r>
            <a:r>
              <a:rPr sz="1200" dirty="0">
                <a:latin typeface="Times New Roman"/>
                <a:cs typeface="Times New Roman"/>
              </a:rPr>
              <a:t>bestowed</a:t>
            </a:r>
            <a:r>
              <a:rPr sz="1200" spc="110" dirty="0">
                <a:latin typeface="Times New Roman"/>
                <a:cs typeface="Times New Roman"/>
              </a:rPr>
              <a:t> </a:t>
            </a:r>
            <a:r>
              <a:rPr sz="1200" dirty="0">
                <a:latin typeface="Times New Roman"/>
                <a:cs typeface="Times New Roman"/>
              </a:rPr>
              <a:t>upon</a:t>
            </a:r>
            <a:r>
              <a:rPr sz="1200" spc="100" dirty="0">
                <a:latin typeface="Times New Roman"/>
                <a:cs typeface="Times New Roman"/>
              </a:rPr>
              <a:t> </a:t>
            </a:r>
            <a:r>
              <a:rPr sz="1200" dirty="0">
                <a:latin typeface="Times New Roman"/>
                <a:cs typeface="Times New Roman"/>
              </a:rPr>
              <a:t>us</a:t>
            </a:r>
            <a:r>
              <a:rPr sz="1200" spc="100"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minute</a:t>
            </a:r>
            <a:r>
              <a:rPr sz="1200" spc="95" dirty="0">
                <a:latin typeface="Times New Roman"/>
                <a:cs typeface="Times New Roman"/>
              </a:rPr>
              <a:t> </a:t>
            </a:r>
            <a:r>
              <a:rPr sz="1200" dirty="0">
                <a:latin typeface="Times New Roman"/>
                <a:cs typeface="Times New Roman"/>
              </a:rPr>
              <a:t>portion</a:t>
            </a:r>
            <a:r>
              <a:rPr sz="1200" spc="114" dirty="0">
                <a:latin typeface="Times New Roman"/>
                <a:cs typeface="Times New Roman"/>
              </a:rPr>
              <a:t> </a:t>
            </a:r>
            <a:r>
              <a:rPr sz="1200" dirty="0">
                <a:latin typeface="Times New Roman"/>
                <a:cs typeface="Times New Roman"/>
              </a:rPr>
              <a:t>of</a:t>
            </a:r>
            <a:r>
              <a:rPr sz="1200" spc="130" dirty="0">
                <a:latin typeface="Times New Roman"/>
                <a:cs typeface="Times New Roman"/>
              </a:rPr>
              <a:t> </a:t>
            </a:r>
            <a:r>
              <a:rPr sz="1200" dirty="0">
                <a:latin typeface="Times New Roman"/>
                <a:cs typeface="Times New Roman"/>
              </a:rPr>
              <a:t>His</a:t>
            </a:r>
            <a:r>
              <a:rPr sz="1200" spc="114" dirty="0">
                <a:latin typeface="Times New Roman"/>
                <a:cs typeface="Times New Roman"/>
              </a:rPr>
              <a:t> </a:t>
            </a:r>
            <a:r>
              <a:rPr sz="1200" spc="-10" dirty="0">
                <a:latin typeface="Times New Roman"/>
                <a:cs typeface="Times New Roman"/>
              </a:rPr>
              <a:t>boundless </a:t>
            </a:r>
            <a:r>
              <a:rPr sz="1200" dirty="0">
                <a:latin typeface="Times New Roman"/>
                <a:cs typeface="Times New Roman"/>
              </a:rPr>
              <a:t>knowledge</a:t>
            </a:r>
            <a:r>
              <a:rPr sz="1200" spc="-25"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virtue</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we</a:t>
            </a:r>
            <a:r>
              <a:rPr sz="1200" spc="-25" dirty="0">
                <a:latin typeface="Times New Roman"/>
                <a:cs typeface="Times New Roman"/>
              </a:rPr>
              <a:t> </a:t>
            </a:r>
            <a:r>
              <a:rPr sz="1200" dirty="0">
                <a:latin typeface="Times New Roman"/>
                <a:cs typeface="Times New Roman"/>
              </a:rPr>
              <a:t>were</a:t>
            </a:r>
            <a:r>
              <a:rPr sz="1200" spc="-20" dirty="0">
                <a:latin typeface="Times New Roman"/>
                <a:cs typeface="Times New Roman"/>
              </a:rPr>
              <a:t> </a:t>
            </a:r>
            <a:r>
              <a:rPr sz="1200" dirty="0">
                <a:latin typeface="Times New Roman"/>
                <a:cs typeface="Times New Roman"/>
              </a:rPr>
              <a:t>able</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accomplish</a:t>
            </a:r>
            <a:r>
              <a:rPr sz="1200" spc="-15"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spc="-10" dirty="0">
                <a:latin typeface="Times New Roman"/>
                <a:cs typeface="Times New Roman"/>
              </a:rPr>
              <a:t>challenging</a:t>
            </a:r>
            <a:r>
              <a:rPr sz="1200" spc="-15" dirty="0">
                <a:latin typeface="Times New Roman"/>
                <a:cs typeface="Times New Roman"/>
              </a:rPr>
              <a:t> </a:t>
            </a:r>
            <a:r>
              <a:rPr sz="1200" spc="-10" dirty="0">
                <a:latin typeface="Times New Roman"/>
                <a:cs typeface="Times New Roman"/>
              </a:rPr>
              <a:t>task.</a:t>
            </a:r>
            <a:endParaRPr sz="1200" dirty="0">
              <a:latin typeface="Times New Roman"/>
              <a:cs typeface="Times New Roman"/>
            </a:endParaRPr>
          </a:p>
          <a:p>
            <a:pPr marL="12700" marR="5080" algn="ctr">
              <a:lnSpc>
                <a:spcPct val="143900"/>
              </a:lnSpc>
            </a:pPr>
            <a:r>
              <a:rPr sz="1200" dirty="0">
                <a:latin typeface="Times New Roman"/>
                <a:cs typeface="Times New Roman"/>
              </a:rPr>
              <a:t>We</a:t>
            </a:r>
            <a:r>
              <a:rPr sz="1200" spc="400" dirty="0">
                <a:latin typeface="Times New Roman"/>
                <a:cs typeface="Times New Roman"/>
              </a:rPr>
              <a:t> </a:t>
            </a:r>
            <a:r>
              <a:rPr sz="1200" dirty="0">
                <a:latin typeface="Times New Roman"/>
                <a:cs typeface="Times New Roman"/>
              </a:rPr>
              <a:t>are</a:t>
            </a:r>
            <a:r>
              <a:rPr sz="1200" spc="400" dirty="0">
                <a:latin typeface="Times New Roman"/>
                <a:cs typeface="Times New Roman"/>
              </a:rPr>
              <a:t> </a:t>
            </a:r>
            <a:r>
              <a:rPr sz="1200" dirty="0">
                <a:latin typeface="Times New Roman"/>
                <a:cs typeface="Times New Roman"/>
              </a:rPr>
              <a:t>greatly</a:t>
            </a:r>
            <a:r>
              <a:rPr sz="1200" spc="409" dirty="0">
                <a:latin typeface="Times New Roman"/>
                <a:cs typeface="Times New Roman"/>
              </a:rPr>
              <a:t> </a:t>
            </a:r>
            <a:r>
              <a:rPr sz="1200" dirty="0">
                <a:latin typeface="Times New Roman"/>
                <a:cs typeface="Times New Roman"/>
              </a:rPr>
              <a:t>indebted</a:t>
            </a:r>
            <a:r>
              <a:rPr sz="1200" spc="409" dirty="0">
                <a:latin typeface="Times New Roman"/>
                <a:cs typeface="Times New Roman"/>
              </a:rPr>
              <a:t> </a:t>
            </a:r>
            <a:r>
              <a:rPr sz="1200" dirty="0">
                <a:latin typeface="Times New Roman"/>
                <a:cs typeface="Times New Roman"/>
              </a:rPr>
              <a:t>to</a:t>
            </a:r>
            <a:r>
              <a:rPr sz="1200" spc="415" dirty="0">
                <a:latin typeface="Times New Roman"/>
                <a:cs typeface="Times New Roman"/>
              </a:rPr>
              <a:t> </a:t>
            </a:r>
            <a:r>
              <a:rPr sz="1200" dirty="0">
                <a:latin typeface="Times New Roman"/>
                <a:cs typeface="Times New Roman"/>
              </a:rPr>
              <a:t>our</a:t>
            </a:r>
            <a:r>
              <a:rPr sz="1200" spc="400" dirty="0">
                <a:latin typeface="Times New Roman"/>
                <a:cs typeface="Times New Roman"/>
              </a:rPr>
              <a:t> </a:t>
            </a:r>
            <a:r>
              <a:rPr sz="1200" dirty="0">
                <a:latin typeface="Times New Roman"/>
                <a:cs typeface="Times New Roman"/>
              </a:rPr>
              <a:t>project</a:t>
            </a:r>
            <a:r>
              <a:rPr sz="1200" spc="415" dirty="0">
                <a:latin typeface="Times New Roman"/>
                <a:cs typeface="Times New Roman"/>
              </a:rPr>
              <a:t> </a:t>
            </a:r>
            <a:r>
              <a:rPr sz="1200" dirty="0">
                <a:latin typeface="Times New Roman"/>
                <a:cs typeface="Times New Roman"/>
              </a:rPr>
              <a:t>supervisor</a:t>
            </a:r>
            <a:r>
              <a:rPr sz="1200" spc="425" dirty="0">
                <a:latin typeface="Times New Roman"/>
                <a:cs typeface="Times New Roman"/>
              </a:rPr>
              <a:t> </a:t>
            </a:r>
            <a:r>
              <a:rPr sz="1200" dirty="0">
                <a:latin typeface="Times New Roman"/>
                <a:cs typeface="Times New Roman"/>
              </a:rPr>
              <a:t>“</a:t>
            </a:r>
            <a:r>
              <a:rPr lang="en-US" sz="1200" dirty="0">
                <a:latin typeface="Times New Roman"/>
                <a:cs typeface="Times New Roman"/>
              </a:rPr>
              <a:t>Ms.</a:t>
            </a:r>
            <a:r>
              <a:rPr sz="1200" spc="409" dirty="0">
                <a:latin typeface="Times New Roman"/>
                <a:cs typeface="Times New Roman"/>
              </a:rPr>
              <a:t> </a:t>
            </a:r>
            <a:r>
              <a:rPr lang="en-US" sz="1200" dirty="0">
                <a:latin typeface="Times New Roman"/>
                <a:cs typeface="Times New Roman"/>
              </a:rPr>
              <a:t>Fakhar Un Nisa</a:t>
            </a:r>
            <a:r>
              <a:rPr sz="1200" dirty="0">
                <a:latin typeface="Times New Roman"/>
                <a:cs typeface="Times New Roman"/>
              </a:rPr>
              <a:t>”</a:t>
            </a:r>
            <a:r>
              <a:rPr sz="1200" spc="400" dirty="0">
                <a:latin typeface="Times New Roman"/>
                <a:cs typeface="Times New Roman"/>
              </a:rPr>
              <a:t> </a:t>
            </a:r>
            <a:r>
              <a:rPr sz="1200" dirty="0">
                <a:latin typeface="Times New Roman"/>
                <a:cs typeface="Times New Roman"/>
              </a:rPr>
              <a:t>for</a:t>
            </a:r>
            <a:r>
              <a:rPr sz="1200" spc="405" dirty="0">
                <a:latin typeface="Times New Roman"/>
                <a:cs typeface="Times New Roman"/>
              </a:rPr>
              <a:t> </a:t>
            </a:r>
            <a:r>
              <a:rPr sz="1200" spc="-10" dirty="0">
                <a:latin typeface="Times New Roman"/>
                <a:cs typeface="Times New Roman"/>
              </a:rPr>
              <a:t>personal supervision,</a:t>
            </a:r>
            <a:r>
              <a:rPr sz="1200" spc="-35" dirty="0">
                <a:latin typeface="Times New Roman"/>
                <a:cs typeface="Times New Roman"/>
              </a:rPr>
              <a:t> </a:t>
            </a:r>
            <a:r>
              <a:rPr sz="1200" spc="-10" dirty="0">
                <a:latin typeface="Times New Roman"/>
                <a:cs typeface="Times New Roman"/>
              </a:rPr>
              <a:t>advice,</a:t>
            </a:r>
            <a:r>
              <a:rPr sz="1200" spc="-35" dirty="0">
                <a:latin typeface="Times New Roman"/>
                <a:cs typeface="Times New Roman"/>
              </a:rPr>
              <a:t> </a:t>
            </a:r>
            <a:r>
              <a:rPr sz="1200" spc="-10" dirty="0">
                <a:latin typeface="Times New Roman"/>
                <a:cs typeface="Times New Roman"/>
              </a:rPr>
              <a:t>valuable</a:t>
            </a:r>
            <a:r>
              <a:rPr sz="1200" spc="-35" dirty="0">
                <a:latin typeface="Times New Roman"/>
                <a:cs typeface="Times New Roman"/>
              </a:rPr>
              <a:t> </a:t>
            </a:r>
            <a:r>
              <a:rPr sz="1200" spc="-10" dirty="0">
                <a:latin typeface="Times New Roman"/>
                <a:cs typeface="Times New Roman"/>
              </a:rPr>
              <a:t>guidance</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completion</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project.</a:t>
            </a:r>
            <a:r>
              <a:rPr sz="1200" spc="-30" dirty="0">
                <a:latin typeface="Times New Roman"/>
                <a:cs typeface="Times New Roman"/>
              </a:rPr>
              <a:t> </a:t>
            </a:r>
            <a:r>
              <a:rPr sz="1200" dirty="0">
                <a:latin typeface="Times New Roman"/>
                <a:cs typeface="Times New Roman"/>
              </a:rPr>
              <a:t>We</a:t>
            </a:r>
            <a:r>
              <a:rPr sz="1200" spc="-30"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spc="-10" dirty="0">
                <a:latin typeface="Times New Roman"/>
                <a:cs typeface="Times New Roman"/>
              </a:rPr>
              <a:t>deeply</a:t>
            </a:r>
            <a:r>
              <a:rPr sz="1200" spc="-35" dirty="0">
                <a:latin typeface="Times New Roman"/>
                <a:cs typeface="Times New Roman"/>
              </a:rPr>
              <a:t> </a:t>
            </a:r>
            <a:r>
              <a:rPr sz="1200" spc="-10" dirty="0">
                <a:latin typeface="Times New Roman"/>
                <a:cs typeface="Times New Roman"/>
              </a:rPr>
              <a:t>indebted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him</a:t>
            </a:r>
            <a:r>
              <a:rPr sz="1200" spc="-1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encouragement</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continual</a:t>
            </a:r>
            <a:r>
              <a:rPr sz="1200" spc="-15" dirty="0">
                <a:latin typeface="Times New Roman"/>
                <a:cs typeface="Times New Roman"/>
              </a:rPr>
              <a:t> </a:t>
            </a:r>
            <a:r>
              <a:rPr sz="1200" dirty="0">
                <a:latin typeface="Times New Roman"/>
                <a:cs typeface="Times New Roman"/>
              </a:rPr>
              <a:t>help</a:t>
            </a:r>
            <a:r>
              <a:rPr sz="1200" spc="-15" dirty="0">
                <a:latin typeface="Times New Roman"/>
                <a:cs typeface="Times New Roman"/>
              </a:rPr>
              <a:t> </a:t>
            </a:r>
            <a:r>
              <a:rPr sz="1200" dirty="0">
                <a:latin typeface="Times New Roman"/>
                <a:cs typeface="Times New Roman"/>
              </a:rPr>
              <a:t>during</a:t>
            </a:r>
            <a:r>
              <a:rPr sz="1200" spc="-15" dirty="0">
                <a:latin typeface="Times New Roman"/>
                <a:cs typeface="Times New Roman"/>
              </a:rPr>
              <a:t> </a:t>
            </a:r>
            <a:r>
              <a:rPr sz="1200" dirty="0">
                <a:latin typeface="Times New Roman"/>
                <a:cs typeface="Times New Roman"/>
              </a:rPr>
              <a:t>this</a:t>
            </a:r>
            <a:r>
              <a:rPr sz="1200" spc="-10" dirty="0">
                <a:latin typeface="Times New Roman"/>
                <a:cs typeface="Times New Roman"/>
              </a:rPr>
              <a:t> work.</a:t>
            </a:r>
            <a:endParaRPr sz="1200" dirty="0">
              <a:latin typeface="Times New Roman"/>
              <a:cs typeface="Times New Roman"/>
            </a:endParaRPr>
          </a:p>
          <a:p>
            <a:pPr marL="12700" marR="10160" algn="ctr">
              <a:lnSpc>
                <a:spcPct val="143300"/>
              </a:lnSpc>
              <a:spcBef>
                <a:spcPts val="5"/>
              </a:spcBef>
            </a:pPr>
            <a:r>
              <a:rPr sz="1200" dirty="0">
                <a:latin typeface="Times New Roman"/>
                <a:cs typeface="Times New Roman"/>
              </a:rPr>
              <a:t>And</a:t>
            </a:r>
            <a:r>
              <a:rPr sz="1200" spc="155" dirty="0">
                <a:latin typeface="Times New Roman"/>
                <a:cs typeface="Times New Roman"/>
              </a:rPr>
              <a:t> </a:t>
            </a:r>
            <a:r>
              <a:rPr sz="1200" dirty="0">
                <a:latin typeface="Times New Roman"/>
                <a:cs typeface="Times New Roman"/>
              </a:rPr>
              <a:t>we</a:t>
            </a:r>
            <a:r>
              <a:rPr sz="1200" spc="150" dirty="0">
                <a:latin typeface="Times New Roman"/>
                <a:cs typeface="Times New Roman"/>
              </a:rPr>
              <a:t> </a:t>
            </a:r>
            <a:r>
              <a:rPr sz="1200" dirty="0">
                <a:latin typeface="Times New Roman"/>
                <a:cs typeface="Times New Roman"/>
              </a:rPr>
              <a:t>are</a:t>
            </a:r>
            <a:r>
              <a:rPr sz="1200" spc="150" dirty="0">
                <a:latin typeface="Times New Roman"/>
                <a:cs typeface="Times New Roman"/>
              </a:rPr>
              <a:t> </a:t>
            </a:r>
            <a:r>
              <a:rPr sz="1200" dirty="0">
                <a:latin typeface="Times New Roman"/>
                <a:cs typeface="Times New Roman"/>
              </a:rPr>
              <a:t>also</a:t>
            </a:r>
            <a:r>
              <a:rPr sz="1200" spc="160" dirty="0">
                <a:latin typeface="Times New Roman"/>
                <a:cs typeface="Times New Roman"/>
              </a:rPr>
              <a:t> </a:t>
            </a:r>
            <a:r>
              <a:rPr sz="1200" dirty="0">
                <a:latin typeface="Times New Roman"/>
                <a:cs typeface="Times New Roman"/>
              </a:rPr>
              <a:t>thankful</a:t>
            </a:r>
            <a:r>
              <a:rPr sz="1200" spc="165" dirty="0">
                <a:latin typeface="Times New Roman"/>
                <a:cs typeface="Times New Roman"/>
              </a:rPr>
              <a:t> </a:t>
            </a:r>
            <a:r>
              <a:rPr sz="1200" dirty="0">
                <a:latin typeface="Times New Roman"/>
                <a:cs typeface="Times New Roman"/>
              </a:rPr>
              <a:t>to</a:t>
            </a:r>
            <a:r>
              <a:rPr sz="1200" spc="160" dirty="0">
                <a:latin typeface="Times New Roman"/>
                <a:cs typeface="Times New Roman"/>
              </a:rPr>
              <a:t> </a:t>
            </a:r>
            <a:r>
              <a:rPr sz="1200" dirty="0">
                <a:latin typeface="Times New Roman"/>
                <a:cs typeface="Times New Roman"/>
              </a:rPr>
              <a:t>our</a:t>
            </a:r>
            <a:r>
              <a:rPr sz="1200" spc="155" dirty="0">
                <a:latin typeface="Times New Roman"/>
                <a:cs typeface="Times New Roman"/>
              </a:rPr>
              <a:t> </a:t>
            </a:r>
            <a:r>
              <a:rPr sz="1200" dirty="0">
                <a:latin typeface="Times New Roman"/>
                <a:cs typeface="Times New Roman"/>
              </a:rPr>
              <a:t>parents</a:t>
            </a:r>
            <a:r>
              <a:rPr sz="1200" spc="160" dirty="0">
                <a:latin typeface="Times New Roman"/>
                <a:cs typeface="Times New Roman"/>
              </a:rPr>
              <a:t> </a:t>
            </a:r>
            <a:r>
              <a:rPr sz="1200" dirty="0">
                <a:latin typeface="Times New Roman"/>
                <a:cs typeface="Times New Roman"/>
              </a:rPr>
              <a:t>and</a:t>
            </a:r>
            <a:r>
              <a:rPr sz="1200" spc="155" dirty="0">
                <a:latin typeface="Times New Roman"/>
                <a:cs typeface="Times New Roman"/>
              </a:rPr>
              <a:t> </a:t>
            </a:r>
            <a:r>
              <a:rPr sz="1200" dirty="0">
                <a:latin typeface="Times New Roman"/>
                <a:cs typeface="Times New Roman"/>
              </a:rPr>
              <a:t>family</a:t>
            </a:r>
            <a:r>
              <a:rPr sz="1200" spc="160" dirty="0">
                <a:latin typeface="Times New Roman"/>
                <a:cs typeface="Times New Roman"/>
              </a:rPr>
              <a:t> </a:t>
            </a:r>
            <a:r>
              <a:rPr sz="1200" dirty="0">
                <a:latin typeface="Times New Roman"/>
                <a:cs typeface="Times New Roman"/>
              </a:rPr>
              <a:t>who</a:t>
            </a:r>
            <a:r>
              <a:rPr sz="1200" spc="160" dirty="0">
                <a:latin typeface="Times New Roman"/>
                <a:cs typeface="Times New Roman"/>
              </a:rPr>
              <a:t> </a:t>
            </a:r>
            <a:r>
              <a:rPr sz="1200" dirty="0">
                <a:latin typeface="Times New Roman"/>
                <a:cs typeface="Times New Roman"/>
              </a:rPr>
              <a:t>have</a:t>
            </a:r>
            <a:r>
              <a:rPr sz="1200" spc="150" dirty="0">
                <a:latin typeface="Times New Roman"/>
                <a:cs typeface="Times New Roman"/>
              </a:rPr>
              <a:t> </a:t>
            </a:r>
            <a:r>
              <a:rPr sz="1200" dirty="0">
                <a:latin typeface="Times New Roman"/>
                <a:cs typeface="Times New Roman"/>
              </a:rPr>
              <a:t>been</a:t>
            </a:r>
            <a:r>
              <a:rPr sz="1200" spc="155" dirty="0">
                <a:latin typeface="Times New Roman"/>
                <a:cs typeface="Times New Roman"/>
              </a:rPr>
              <a:t> </a:t>
            </a:r>
            <a:r>
              <a:rPr sz="1200" dirty="0">
                <a:latin typeface="Times New Roman"/>
                <a:cs typeface="Times New Roman"/>
              </a:rPr>
              <a:t>a</a:t>
            </a:r>
            <a:r>
              <a:rPr sz="1200" spc="150" dirty="0">
                <a:latin typeface="Times New Roman"/>
                <a:cs typeface="Times New Roman"/>
              </a:rPr>
              <a:t> </a:t>
            </a:r>
            <a:r>
              <a:rPr sz="1200" dirty="0">
                <a:latin typeface="Times New Roman"/>
                <a:cs typeface="Times New Roman"/>
              </a:rPr>
              <a:t>constant</a:t>
            </a:r>
            <a:r>
              <a:rPr sz="1200" spc="165" dirty="0">
                <a:latin typeface="Times New Roman"/>
                <a:cs typeface="Times New Roman"/>
              </a:rPr>
              <a:t> </a:t>
            </a:r>
            <a:r>
              <a:rPr sz="1200" dirty="0">
                <a:latin typeface="Times New Roman"/>
                <a:cs typeface="Times New Roman"/>
              </a:rPr>
              <a:t>source</a:t>
            </a:r>
            <a:r>
              <a:rPr sz="1200" spc="150" dirty="0">
                <a:latin typeface="Times New Roman"/>
                <a:cs typeface="Times New Roman"/>
              </a:rPr>
              <a:t> </a:t>
            </a:r>
            <a:r>
              <a:rPr sz="1200" spc="-25" dirty="0">
                <a:latin typeface="Times New Roman"/>
                <a:cs typeface="Times New Roman"/>
              </a:rPr>
              <a:t>of </a:t>
            </a:r>
            <a:r>
              <a:rPr sz="1200" spc="-10" dirty="0">
                <a:latin typeface="Times New Roman"/>
                <a:cs typeface="Times New Roman"/>
              </a:rPr>
              <a:t>encouragement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us</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brought</a:t>
            </a:r>
            <a:r>
              <a:rPr sz="1200" spc="-10" dirty="0">
                <a:latin typeface="Times New Roman"/>
                <a:cs typeface="Times New Roman"/>
              </a:rPr>
              <a:t> </a:t>
            </a:r>
            <a:r>
              <a:rPr sz="1200" dirty="0">
                <a:latin typeface="Times New Roman"/>
                <a:cs typeface="Times New Roman"/>
              </a:rPr>
              <a:t>us</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values</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honesty</a:t>
            </a:r>
            <a:r>
              <a:rPr sz="1200" spc="-10" dirty="0">
                <a:latin typeface="Times New Roman"/>
                <a:cs typeface="Times New Roman"/>
              </a:rPr>
              <a:t> </a:t>
            </a:r>
            <a:r>
              <a:rPr sz="1200" dirty="0">
                <a:latin typeface="Times New Roman"/>
                <a:cs typeface="Times New Roman"/>
              </a:rPr>
              <a:t>&amp;</a:t>
            </a:r>
            <a:r>
              <a:rPr sz="1200" spc="-10" dirty="0">
                <a:latin typeface="Times New Roman"/>
                <a:cs typeface="Times New Roman"/>
              </a:rPr>
              <a:t> </a:t>
            </a:r>
            <a:r>
              <a:rPr sz="1200" dirty="0">
                <a:latin typeface="Times New Roman"/>
                <a:cs typeface="Times New Roman"/>
              </a:rPr>
              <a:t>hard</a:t>
            </a:r>
            <a:r>
              <a:rPr sz="1200" spc="-10" dirty="0">
                <a:latin typeface="Times New Roman"/>
                <a:cs typeface="Times New Roman"/>
              </a:rPr>
              <a:t> work.</a:t>
            </a:r>
            <a:endParaRPr sz="1200" dirty="0">
              <a:latin typeface="Times New Roman"/>
              <a:cs typeface="Times New Roman"/>
            </a:endParaRPr>
          </a:p>
        </p:txBody>
      </p:sp>
      <p:sp>
        <p:nvSpPr>
          <p:cNvPr id="4" name="object 4"/>
          <p:cNvSpPr/>
          <p:nvPr/>
        </p:nvSpPr>
        <p:spPr>
          <a:xfrm>
            <a:off x="2159002" y="5334000"/>
            <a:ext cx="1369060" cy="0"/>
          </a:xfrm>
          <a:custGeom>
            <a:avLst/>
            <a:gdLst/>
            <a:ahLst/>
            <a:cxnLst/>
            <a:rect l="l" t="t" r="r" b="b"/>
            <a:pathLst>
              <a:path w="1369060">
                <a:moveTo>
                  <a:pt x="0" y="0"/>
                </a:moveTo>
                <a:lnTo>
                  <a:pt x="1369044" y="0"/>
                </a:lnTo>
              </a:path>
            </a:pathLst>
          </a:custGeom>
          <a:ln w="11246">
            <a:solidFill>
              <a:srgbClr val="000000"/>
            </a:solidFill>
            <a:prstDash val="dash"/>
          </a:ln>
        </p:spPr>
        <p:txBody>
          <a:bodyPr wrap="square" lIns="0" tIns="0" rIns="0" bIns="0" rtlCol="0"/>
          <a:lstStyle/>
          <a:p>
            <a:endParaRPr/>
          </a:p>
        </p:txBody>
      </p:sp>
      <p:sp>
        <p:nvSpPr>
          <p:cNvPr id="5" name="object 5"/>
          <p:cNvSpPr/>
          <p:nvPr/>
        </p:nvSpPr>
        <p:spPr>
          <a:xfrm flipV="1">
            <a:off x="4727575" y="5320549"/>
            <a:ext cx="1368425" cy="45719"/>
          </a:xfrm>
          <a:custGeom>
            <a:avLst/>
            <a:gdLst/>
            <a:ahLst/>
            <a:cxnLst/>
            <a:rect l="l" t="t" r="r" b="b"/>
            <a:pathLst>
              <a:path w="1368425">
                <a:moveTo>
                  <a:pt x="0" y="0"/>
                </a:moveTo>
                <a:lnTo>
                  <a:pt x="1367974" y="0"/>
                </a:lnTo>
              </a:path>
            </a:pathLst>
          </a:custGeom>
          <a:ln w="11246">
            <a:solidFill>
              <a:srgbClr val="000000"/>
            </a:solidFill>
            <a:prstDash val="dash"/>
          </a:ln>
        </p:spPr>
        <p:txBody>
          <a:bodyPr wrap="square" lIns="0" tIns="0" rIns="0" bIns="0" rtlCol="0"/>
          <a:lstStyle/>
          <a:p>
            <a:endParaRPr/>
          </a:p>
        </p:txBody>
      </p:sp>
      <p:sp>
        <p:nvSpPr>
          <p:cNvPr id="6" name="object 6"/>
          <p:cNvSpPr/>
          <p:nvPr/>
        </p:nvSpPr>
        <p:spPr>
          <a:xfrm>
            <a:off x="2160907" y="6449948"/>
            <a:ext cx="1367155" cy="0"/>
          </a:xfrm>
          <a:custGeom>
            <a:avLst/>
            <a:gdLst/>
            <a:ahLst/>
            <a:cxnLst/>
            <a:rect l="l" t="t" r="r" b="b"/>
            <a:pathLst>
              <a:path w="1367154">
                <a:moveTo>
                  <a:pt x="0" y="0"/>
                </a:moveTo>
                <a:lnTo>
                  <a:pt x="1366603" y="0"/>
                </a:lnTo>
              </a:path>
            </a:pathLst>
          </a:custGeom>
          <a:ln w="11246">
            <a:solidFill>
              <a:srgbClr val="000000"/>
            </a:solidFill>
            <a:prstDash val="dash"/>
          </a:ln>
        </p:spPr>
        <p:txBody>
          <a:bodyPr wrap="square" lIns="0" tIns="0" rIns="0" bIns="0" rtlCol="0"/>
          <a:lstStyle/>
          <a:p>
            <a:endParaRPr/>
          </a:p>
        </p:txBody>
      </p:sp>
      <p:sp>
        <p:nvSpPr>
          <p:cNvPr id="7" name="object 7"/>
          <p:cNvSpPr txBox="1"/>
          <p:nvPr/>
        </p:nvSpPr>
        <p:spPr>
          <a:xfrm>
            <a:off x="2269619" y="5486400"/>
            <a:ext cx="1147826"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Hasnain</a:t>
            </a:r>
            <a:r>
              <a:rPr sz="1200" spc="-50" dirty="0">
                <a:latin typeface="Times New Roman"/>
                <a:cs typeface="Times New Roman"/>
              </a:rPr>
              <a:t> </a:t>
            </a:r>
            <a:r>
              <a:rPr lang="en-US" sz="1200" spc="-10" dirty="0" err="1">
                <a:latin typeface="Times New Roman"/>
                <a:cs typeface="Times New Roman"/>
              </a:rPr>
              <a:t>Mahvia</a:t>
            </a:r>
            <a:endParaRPr sz="1200" dirty="0">
              <a:latin typeface="Times New Roman"/>
              <a:cs typeface="Times New Roman"/>
            </a:endParaRPr>
          </a:p>
        </p:txBody>
      </p:sp>
      <p:sp>
        <p:nvSpPr>
          <p:cNvPr id="10" name="object 10"/>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v</a:t>
            </a:r>
            <a:endParaRPr spc="-20" dirty="0"/>
          </a:p>
        </p:txBody>
      </p:sp>
      <p:sp>
        <p:nvSpPr>
          <p:cNvPr id="8" name="object 8"/>
          <p:cNvSpPr txBox="1"/>
          <p:nvPr/>
        </p:nvSpPr>
        <p:spPr>
          <a:xfrm>
            <a:off x="4992170" y="5585145"/>
            <a:ext cx="960119"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Hafsa</a:t>
            </a:r>
            <a:r>
              <a:rPr sz="1200" spc="-60" dirty="0">
                <a:latin typeface="Times New Roman"/>
                <a:cs typeface="Times New Roman"/>
              </a:rPr>
              <a:t> </a:t>
            </a:r>
            <a:r>
              <a:rPr lang="en-US" sz="1200" spc="-20" dirty="0">
                <a:latin typeface="Times New Roman"/>
                <a:cs typeface="Times New Roman"/>
              </a:rPr>
              <a:t>Saeed</a:t>
            </a:r>
            <a:endParaRPr sz="1200" dirty="0">
              <a:latin typeface="Times New Roman"/>
              <a:cs typeface="Times New Roman"/>
            </a:endParaRPr>
          </a:p>
        </p:txBody>
      </p:sp>
      <p:sp>
        <p:nvSpPr>
          <p:cNvPr id="9" name="object 9"/>
          <p:cNvSpPr txBox="1"/>
          <p:nvPr/>
        </p:nvSpPr>
        <p:spPr>
          <a:xfrm>
            <a:off x="2405382" y="6615047"/>
            <a:ext cx="876300"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Times New Roman"/>
                <a:cs typeface="Times New Roman"/>
              </a:rPr>
              <a:t>Ali</a:t>
            </a:r>
            <a:r>
              <a:rPr lang="en-US" sz="1200" spc="-50" dirty="0">
                <a:latin typeface="Times New Roman"/>
                <a:cs typeface="Times New Roman"/>
              </a:rPr>
              <a:t> </a:t>
            </a:r>
            <a:r>
              <a:rPr lang="en-US" sz="1200" spc="-20" dirty="0">
                <a:latin typeface="Times New Roman"/>
                <a:cs typeface="Times New Roman"/>
              </a:rPr>
              <a:t>Mahmood</a:t>
            </a:r>
            <a:endParaRPr lang="en-US" sz="1200" dirty="0">
              <a:latin typeface="Times New Roman"/>
              <a:cs typeface="Times New Roman"/>
            </a:endParaRPr>
          </a:p>
        </p:txBody>
      </p:sp>
      <p:sp>
        <p:nvSpPr>
          <p:cNvPr id="11" name="object 6">
            <a:extLst>
              <a:ext uri="{FF2B5EF4-FFF2-40B4-BE49-F238E27FC236}">
                <a16:creationId xmlns:a16="http://schemas.microsoft.com/office/drawing/2014/main" id="{F6A79E18-BCD2-9781-C04E-AAE36D367711}"/>
              </a:ext>
            </a:extLst>
          </p:cNvPr>
          <p:cNvSpPr/>
          <p:nvPr/>
        </p:nvSpPr>
        <p:spPr>
          <a:xfrm>
            <a:off x="4712399" y="6449948"/>
            <a:ext cx="1367155" cy="0"/>
          </a:xfrm>
          <a:custGeom>
            <a:avLst/>
            <a:gdLst/>
            <a:ahLst/>
            <a:cxnLst/>
            <a:rect l="l" t="t" r="r" b="b"/>
            <a:pathLst>
              <a:path w="1367154">
                <a:moveTo>
                  <a:pt x="0" y="0"/>
                </a:moveTo>
                <a:lnTo>
                  <a:pt x="1366603" y="0"/>
                </a:lnTo>
              </a:path>
            </a:pathLst>
          </a:custGeom>
          <a:ln w="11246">
            <a:solidFill>
              <a:srgbClr val="000000"/>
            </a:solidFill>
            <a:prstDash val="dash"/>
          </a:ln>
        </p:spPr>
        <p:txBody>
          <a:bodyPr wrap="square" lIns="0" tIns="0" rIns="0" bIns="0" rtlCol="0"/>
          <a:lstStyle/>
          <a:p>
            <a:endParaRPr/>
          </a:p>
        </p:txBody>
      </p:sp>
      <p:sp>
        <p:nvSpPr>
          <p:cNvPr id="14" name="TextBox 13">
            <a:extLst>
              <a:ext uri="{FF2B5EF4-FFF2-40B4-BE49-F238E27FC236}">
                <a16:creationId xmlns:a16="http://schemas.microsoft.com/office/drawing/2014/main" id="{396B1771-5F56-4A7F-D83F-DC96694E17E5}"/>
              </a:ext>
            </a:extLst>
          </p:cNvPr>
          <p:cNvSpPr txBox="1"/>
          <p:nvPr/>
        </p:nvSpPr>
        <p:spPr>
          <a:xfrm>
            <a:off x="4893055" y="6615047"/>
            <a:ext cx="1037463" cy="276999"/>
          </a:xfrm>
          <a:prstGeom prst="rect">
            <a:avLst/>
          </a:prstGeom>
          <a:noFill/>
        </p:spPr>
        <p:txBody>
          <a:bodyPr wrap="square">
            <a:spAutoFit/>
          </a:bodyPr>
          <a:lstStyle/>
          <a:p>
            <a:pPr marL="12700">
              <a:lnSpc>
                <a:spcPct val="100000"/>
              </a:lnSpc>
              <a:spcBef>
                <a:spcPts val="100"/>
              </a:spcBef>
            </a:pPr>
            <a:r>
              <a:rPr lang="en-US" sz="1200" dirty="0">
                <a:latin typeface="Times New Roman"/>
                <a:cs typeface="Times New Roman"/>
              </a:rPr>
              <a:t>Zakria</a:t>
            </a:r>
            <a:r>
              <a:rPr lang="en-US" sz="1200" spc="-50" dirty="0">
                <a:latin typeface="Times New Roman"/>
                <a:cs typeface="Times New Roman"/>
              </a:rPr>
              <a:t> </a:t>
            </a:r>
            <a:r>
              <a:rPr lang="en-US" sz="1200" spc="-20" dirty="0">
                <a:latin typeface="Times New Roman"/>
                <a:cs typeface="Times New Roman"/>
              </a:rPr>
              <a:t>Aftab</a:t>
            </a:r>
            <a:endParaRPr lang="en-US" sz="12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vi</a:t>
            </a:r>
            <a:endParaRPr spc="-20" dirty="0"/>
          </a:p>
        </p:txBody>
      </p:sp>
      <p:sp>
        <p:nvSpPr>
          <p:cNvPr id="2" name="object 2"/>
          <p:cNvSpPr txBox="1"/>
          <p:nvPr/>
        </p:nvSpPr>
        <p:spPr>
          <a:xfrm>
            <a:off x="1034731" y="1066800"/>
            <a:ext cx="5691505" cy="7591181"/>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Table</a:t>
            </a:r>
            <a:r>
              <a:rPr sz="1600" b="1" spc="-20"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10" dirty="0">
                <a:latin typeface="Times New Roman"/>
                <a:cs typeface="Times New Roman"/>
              </a:rPr>
              <a:t>Contents</a:t>
            </a:r>
            <a:endParaRPr sz="1600" dirty="0">
              <a:latin typeface="Times New Roman"/>
              <a:cs typeface="Times New Roman"/>
            </a:endParaRPr>
          </a:p>
          <a:p>
            <a:pPr marL="13970">
              <a:lnSpc>
                <a:spcPct val="100000"/>
              </a:lnSpc>
              <a:spcBef>
                <a:spcPts val="1470"/>
              </a:spcBef>
            </a:pPr>
            <a:r>
              <a:rPr sz="1200" b="1" dirty="0">
                <a:latin typeface="Times New Roman"/>
                <a:cs typeface="Times New Roman"/>
              </a:rPr>
              <a:t>Chapter</a:t>
            </a:r>
            <a:r>
              <a:rPr sz="1200" b="1" spc="10" dirty="0">
                <a:latin typeface="Times New Roman"/>
                <a:cs typeface="Times New Roman"/>
              </a:rPr>
              <a:t> </a:t>
            </a:r>
            <a:r>
              <a:rPr sz="1200" b="1" dirty="0">
                <a:latin typeface="Times New Roman"/>
                <a:cs typeface="Times New Roman"/>
              </a:rPr>
              <a:t>1:</a:t>
            </a:r>
            <a:r>
              <a:rPr sz="1200" b="1" spc="10" dirty="0">
                <a:latin typeface="Times New Roman"/>
                <a:cs typeface="Times New Roman"/>
              </a:rPr>
              <a:t> </a:t>
            </a:r>
            <a:r>
              <a:rPr lang="en-US" sz="1200" b="1" spc="-10" dirty="0">
                <a:latin typeface="Times New Roman"/>
                <a:cs typeface="Times New Roman"/>
              </a:rPr>
              <a:t>Introduction</a:t>
            </a:r>
            <a:r>
              <a:rPr lang="en-US" sz="1200" b="1" spc="-175" dirty="0">
                <a:latin typeface="Times New Roman"/>
                <a:cs typeface="Times New Roman"/>
              </a:rPr>
              <a:t> </a:t>
            </a:r>
            <a:r>
              <a:rPr lang="en-US" sz="1200" b="1" dirty="0">
                <a:latin typeface="Times New Roman"/>
                <a:cs typeface="Times New Roman"/>
              </a:rPr>
              <a:t>........................................................................................................</a:t>
            </a:r>
            <a:r>
              <a:rPr lang="en-US" sz="1200" b="1" spc="-10" dirty="0">
                <a:latin typeface="Times New Roman"/>
                <a:cs typeface="Times New Roman"/>
              </a:rPr>
              <a:t> </a:t>
            </a:r>
            <a:r>
              <a:rPr sz="1200" b="1" spc="-25" dirty="0">
                <a:latin typeface="Times New Roman"/>
                <a:cs typeface="Times New Roman"/>
              </a:rPr>
              <a:t>1</a:t>
            </a:r>
            <a:endParaRPr sz="1200" b="1" dirty="0">
              <a:latin typeface="Times New Roman"/>
              <a:cs typeface="Times New Roman"/>
            </a:endParaRPr>
          </a:p>
          <a:p>
            <a:pPr marL="242570" lvl="1" indent="-228600">
              <a:lnSpc>
                <a:spcPct val="100000"/>
              </a:lnSpc>
              <a:spcBef>
                <a:spcPts val="1220"/>
              </a:spcBef>
              <a:buSzPct val="91666"/>
              <a:buFont typeface="+mj-lt"/>
              <a:buAutoNum type="arabicPeriod"/>
              <a:tabLst>
                <a:tab pos="242570" algn="l"/>
                <a:tab pos="727075" algn="l"/>
              </a:tabLst>
            </a:pPr>
            <a:r>
              <a:rPr sz="1200" spc="-10" dirty="0">
                <a:latin typeface="Times New Roman"/>
                <a:cs typeface="Times New Roman"/>
              </a:rPr>
              <a:t>Brief</a:t>
            </a:r>
            <a:r>
              <a:rPr lang="en-US" sz="1200" spc="-1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spc="-25" dirty="0">
                <a:latin typeface="Times New Roman"/>
                <a:cs typeface="Times New Roman"/>
              </a:rPr>
              <a:t> 1</a:t>
            </a:r>
            <a:endParaRPr sz="1200" dirty="0">
              <a:latin typeface="Times New Roman"/>
              <a:cs typeface="Times New Roman"/>
            </a:endParaRPr>
          </a:p>
          <a:p>
            <a:pPr marL="242570" lvl="1" indent="-228600">
              <a:lnSpc>
                <a:spcPct val="100000"/>
              </a:lnSpc>
              <a:spcBef>
                <a:spcPts val="1240"/>
              </a:spcBef>
              <a:buSzPct val="91666"/>
              <a:buAutoNum type="arabicPeriod"/>
              <a:tabLst>
                <a:tab pos="242570" algn="l"/>
              </a:tabLst>
            </a:pPr>
            <a:r>
              <a:rPr sz="1200" dirty="0">
                <a:latin typeface="Times New Roman"/>
                <a:cs typeface="Times New Roman"/>
              </a:rPr>
              <a:t>Relevance</a:t>
            </a:r>
            <a:r>
              <a:rPr sz="1200" spc="-10" dirty="0">
                <a:latin typeface="Times New Roman"/>
                <a:cs typeface="Times New Roman"/>
              </a:rPr>
              <a:t> </a:t>
            </a:r>
            <a:r>
              <a:rPr sz="1200" dirty="0">
                <a:latin typeface="Times New Roman"/>
                <a:cs typeface="Times New Roman"/>
              </a:rPr>
              <a:t>to Course</a:t>
            </a:r>
            <a:r>
              <a:rPr sz="1200" spc="5" dirty="0">
                <a:latin typeface="Times New Roman"/>
                <a:cs typeface="Times New Roman"/>
              </a:rPr>
              <a:t> </a:t>
            </a:r>
            <a:r>
              <a:rPr sz="1200" spc="-10" dirty="0">
                <a:latin typeface="Times New Roman"/>
                <a:cs typeface="Times New Roman"/>
              </a:rPr>
              <a:t>Modules</a:t>
            </a:r>
            <a:r>
              <a:rPr lang="en-US" sz="1200" spc="-1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lang="en-US" sz="1200" spc="-50" dirty="0">
                <a:latin typeface="Times New Roman"/>
                <a:cs typeface="Times New Roman"/>
              </a:rPr>
              <a:t>2</a:t>
            </a:r>
            <a:endParaRPr sz="1200" dirty="0">
              <a:latin typeface="Times New Roman"/>
              <a:cs typeface="Times New Roman"/>
            </a:endParaRPr>
          </a:p>
          <a:p>
            <a:pPr marL="242570" lvl="1" indent="-228600">
              <a:lnSpc>
                <a:spcPct val="100000"/>
              </a:lnSpc>
              <a:spcBef>
                <a:spcPts val="1225"/>
              </a:spcBef>
              <a:buSzPct val="91666"/>
              <a:buFont typeface="+mj-lt"/>
              <a:buAutoNum type="arabicPeriod"/>
              <a:tabLst>
                <a:tab pos="242570" algn="l"/>
              </a:tabLst>
            </a:pPr>
            <a:r>
              <a:rPr sz="1200" dirty="0">
                <a:latin typeface="Times New Roman"/>
                <a:cs typeface="Times New Roman"/>
              </a:rPr>
              <a:t>Literature</a:t>
            </a:r>
            <a:r>
              <a:rPr sz="1200" spc="-25" dirty="0">
                <a:latin typeface="Times New Roman"/>
                <a:cs typeface="Times New Roman"/>
              </a:rPr>
              <a:t> </a:t>
            </a:r>
            <a:r>
              <a:rPr sz="1200" spc="-10" dirty="0">
                <a:latin typeface="Times New Roman"/>
                <a:cs typeface="Times New Roman"/>
              </a:rPr>
              <a:t>Review</a:t>
            </a:r>
            <a:r>
              <a:rPr sz="1200" spc="-70"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lang="en-US" sz="1200" spc="-50" dirty="0">
                <a:latin typeface="Times New Roman"/>
                <a:cs typeface="Times New Roman"/>
              </a:rPr>
              <a:t>4</a:t>
            </a:r>
            <a:endParaRPr sz="1200" dirty="0">
              <a:latin typeface="Times New Roman"/>
              <a:cs typeface="Times New Roman"/>
            </a:endParaRPr>
          </a:p>
          <a:p>
            <a:pPr marL="242570" lvl="1" indent="-228600">
              <a:lnSpc>
                <a:spcPct val="100000"/>
              </a:lnSpc>
              <a:spcBef>
                <a:spcPts val="1235"/>
              </a:spcBef>
              <a:buSzPct val="91666"/>
              <a:buFont typeface="+mj-lt"/>
              <a:buAutoNum type="arabicPeriod"/>
              <a:tabLst>
                <a:tab pos="242570" algn="l"/>
              </a:tabLst>
            </a:pPr>
            <a:r>
              <a:rPr sz="1200" dirty="0">
                <a:latin typeface="Times New Roman"/>
                <a:cs typeface="Times New Roman"/>
              </a:rPr>
              <a:t>Analysis</a:t>
            </a:r>
            <a:r>
              <a:rPr sz="1200" spc="-35" dirty="0">
                <a:latin typeface="Times New Roman"/>
                <a:cs typeface="Times New Roman"/>
              </a:rPr>
              <a:t> </a:t>
            </a:r>
            <a:r>
              <a:rPr sz="1200" dirty="0">
                <a:latin typeface="Times New Roman"/>
                <a:cs typeface="Times New Roman"/>
              </a:rPr>
              <a:t>from</a:t>
            </a:r>
            <a:r>
              <a:rPr sz="1200" spc="-35" dirty="0">
                <a:latin typeface="Times New Roman"/>
                <a:cs typeface="Times New Roman"/>
              </a:rPr>
              <a:t> </a:t>
            </a:r>
            <a:r>
              <a:rPr sz="1200" dirty="0">
                <a:latin typeface="Times New Roman"/>
                <a:cs typeface="Times New Roman"/>
              </a:rPr>
              <a:t>Literature</a:t>
            </a:r>
            <a:r>
              <a:rPr sz="1200" spc="-45" dirty="0">
                <a:latin typeface="Times New Roman"/>
                <a:cs typeface="Times New Roman"/>
              </a:rPr>
              <a:t> </a:t>
            </a:r>
            <a:r>
              <a:rPr sz="1200" dirty="0">
                <a:latin typeface="Times New Roman"/>
                <a:cs typeface="Times New Roman"/>
              </a:rPr>
              <a:t>Review</a:t>
            </a:r>
            <a:r>
              <a:rPr sz="1200" spc="-35"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lang="en-US" sz="1200" spc="-50" dirty="0">
                <a:latin typeface="Times New Roman"/>
                <a:cs typeface="Times New Roman"/>
              </a:rPr>
              <a:t>5</a:t>
            </a:r>
            <a:endParaRPr sz="1200" dirty="0">
              <a:latin typeface="Times New Roman"/>
              <a:cs typeface="Times New Roman"/>
            </a:endParaRPr>
          </a:p>
          <a:p>
            <a:pPr marL="242570" lvl="1" indent="-228600">
              <a:lnSpc>
                <a:spcPct val="100000"/>
              </a:lnSpc>
              <a:spcBef>
                <a:spcPts val="1225"/>
              </a:spcBef>
              <a:buSzPct val="91666"/>
              <a:buFont typeface="+mj-lt"/>
              <a:buAutoNum type="arabicPeriod"/>
              <a:tabLst>
                <a:tab pos="242570" algn="l"/>
              </a:tabLst>
            </a:pPr>
            <a:r>
              <a:rPr sz="1200" dirty="0">
                <a:latin typeface="Times New Roman"/>
                <a:cs typeface="Times New Roman"/>
              </a:rPr>
              <a:t>Methodology</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Software</a:t>
            </a:r>
            <a:r>
              <a:rPr sz="1200" spc="-30" dirty="0">
                <a:latin typeface="Times New Roman"/>
                <a:cs typeface="Times New Roman"/>
              </a:rPr>
              <a:t> </a:t>
            </a:r>
            <a:r>
              <a:rPr sz="1200" dirty="0">
                <a:latin typeface="Times New Roman"/>
                <a:cs typeface="Times New Roman"/>
              </a:rPr>
              <a:t>Lifecycle</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This</a:t>
            </a:r>
            <a:r>
              <a:rPr sz="1200" spc="-10" dirty="0">
                <a:latin typeface="Times New Roman"/>
                <a:cs typeface="Times New Roman"/>
              </a:rPr>
              <a:t> Project</a:t>
            </a:r>
            <a:r>
              <a:rPr sz="1200" spc="-65" dirty="0">
                <a:latin typeface="Times New Roman"/>
                <a:cs typeface="Times New Roman"/>
              </a:rPr>
              <a:t> </a:t>
            </a:r>
            <a:r>
              <a:rPr sz="1200" dirty="0">
                <a:latin typeface="Times New Roman"/>
                <a:cs typeface="Times New Roman"/>
              </a:rPr>
              <a:t>.....................................................</a:t>
            </a:r>
            <a:r>
              <a:rPr sz="1200" spc="-45" dirty="0">
                <a:latin typeface="Times New Roman"/>
                <a:cs typeface="Times New Roman"/>
              </a:rPr>
              <a:t> </a:t>
            </a:r>
            <a:r>
              <a:rPr sz="1200" spc="-50" dirty="0">
                <a:latin typeface="Times New Roman"/>
                <a:cs typeface="Times New Roman"/>
              </a:rPr>
              <a:t>7</a:t>
            </a:r>
            <a:endParaRPr lang="en-US" sz="1200" spc="-50" dirty="0">
              <a:latin typeface="Times New Roman"/>
              <a:cs typeface="Times New Roman"/>
            </a:endParaRPr>
          </a:p>
          <a:p>
            <a:pPr marL="242570" lvl="1" indent="-228600">
              <a:lnSpc>
                <a:spcPct val="100000"/>
              </a:lnSpc>
              <a:spcBef>
                <a:spcPts val="1225"/>
              </a:spcBef>
              <a:buSzPct val="91666"/>
              <a:buFont typeface="+mj-lt"/>
              <a:buAutoNum type="arabicPeriod"/>
              <a:tabLst>
                <a:tab pos="242570" algn="l"/>
              </a:tabLst>
            </a:pPr>
            <a:r>
              <a:rPr lang="en-US" sz="1200" dirty="0">
                <a:latin typeface="Times New Roman"/>
                <a:cs typeface="Times New Roman"/>
              </a:rPr>
              <a:t>Rationale</a:t>
            </a:r>
            <a:r>
              <a:rPr lang="en-US" sz="1200" spc="-35" dirty="0">
                <a:latin typeface="Times New Roman"/>
                <a:cs typeface="Times New Roman"/>
              </a:rPr>
              <a:t> </a:t>
            </a:r>
            <a:r>
              <a:rPr lang="en-US" sz="1200" dirty="0">
                <a:latin typeface="Times New Roman"/>
                <a:cs typeface="Times New Roman"/>
              </a:rPr>
              <a:t>behind</a:t>
            </a:r>
            <a:r>
              <a:rPr lang="en-US" sz="1200" spc="-20" dirty="0">
                <a:latin typeface="Times New Roman"/>
                <a:cs typeface="Times New Roman"/>
              </a:rPr>
              <a:t> </a:t>
            </a:r>
            <a:r>
              <a:rPr lang="en-US" sz="1200" dirty="0">
                <a:latin typeface="Times New Roman"/>
                <a:cs typeface="Times New Roman"/>
              </a:rPr>
              <a:t>Selected</a:t>
            </a:r>
            <a:r>
              <a:rPr lang="en-US" sz="1200" spc="-25" dirty="0">
                <a:latin typeface="Times New Roman"/>
                <a:cs typeface="Times New Roman"/>
              </a:rPr>
              <a:t> </a:t>
            </a:r>
            <a:r>
              <a:rPr lang="en-US" sz="1200" spc="-10" dirty="0">
                <a:latin typeface="Times New Roman"/>
                <a:cs typeface="Times New Roman"/>
              </a:rPr>
              <a:t>Methodology</a:t>
            </a:r>
            <a:r>
              <a:rPr lang="en-US" sz="1200" spc="-160" dirty="0">
                <a:latin typeface="Times New Roman"/>
                <a:cs typeface="Times New Roman"/>
              </a:rPr>
              <a:t> </a:t>
            </a:r>
            <a:r>
              <a:rPr lang="en-US" sz="1200" dirty="0">
                <a:latin typeface="Times New Roman"/>
                <a:cs typeface="Times New Roman"/>
              </a:rPr>
              <a:t>...........................................................................</a:t>
            </a:r>
            <a:r>
              <a:rPr lang="en-US" sz="1200" spc="-45" dirty="0">
                <a:latin typeface="Times New Roman"/>
                <a:cs typeface="Times New Roman"/>
              </a:rPr>
              <a:t> </a:t>
            </a:r>
            <a:r>
              <a:rPr lang="en-US" sz="1200" spc="-50" dirty="0">
                <a:latin typeface="Times New Roman"/>
                <a:cs typeface="Times New Roman"/>
              </a:rPr>
              <a:t>9</a:t>
            </a:r>
            <a:endParaRPr lang="en-US" sz="1200" dirty="0">
              <a:latin typeface="Times New Roman"/>
              <a:cs typeface="Times New Roman"/>
            </a:endParaRPr>
          </a:p>
          <a:p>
            <a:pPr marL="13970">
              <a:lnSpc>
                <a:spcPct val="100000"/>
              </a:lnSpc>
              <a:spcBef>
                <a:spcPts val="1225"/>
              </a:spcBef>
            </a:pPr>
            <a:r>
              <a:rPr sz="1200" b="1" dirty="0">
                <a:latin typeface="Times New Roman"/>
                <a:cs typeface="Times New Roman"/>
              </a:rPr>
              <a:t>Chapter</a:t>
            </a:r>
            <a:r>
              <a:rPr sz="1200" b="1" spc="-10" dirty="0">
                <a:latin typeface="Times New Roman"/>
                <a:cs typeface="Times New Roman"/>
              </a:rPr>
              <a:t> </a:t>
            </a:r>
            <a:r>
              <a:rPr sz="1200" b="1" dirty="0">
                <a:latin typeface="Times New Roman"/>
                <a:cs typeface="Times New Roman"/>
              </a:rPr>
              <a:t>2:</a:t>
            </a:r>
            <a:r>
              <a:rPr lang="en-US" sz="1200" b="1" spc="290" dirty="0">
                <a:latin typeface="Times New Roman"/>
                <a:cs typeface="Times New Roman"/>
              </a:rPr>
              <a:t> </a:t>
            </a:r>
            <a:r>
              <a:rPr sz="1200" b="1" dirty="0">
                <a:latin typeface="Times New Roman"/>
                <a:cs typeface="Times New Roman"/>
              </a:rPr>
              <a:t>Problem </a:t>
            </a:r>
            <a:r>
              <a:rPr sz="1200" b="1" spc="-10" dirty="0">
                <a:latin typeface="Times New Roman"/>
                <a:cs typeface="Times New Roman"/>
              </a:rPr>
              <a:t>Definition</a:t>
            </a:r>
            <a:r>
              <a:rPr sz="1200" b="1" spc="-180" dirty="0">
                <a:latin typeface="Times New Roman"/>
                <a:cs typeface="Times New Roman"/>
              </a:rPr>
              <a:t> </a:t>
            </a:r>
            <a:r>
              <a:rPr sz="1200" b="1" dirty="0">
                <a:latin typeface="Times New Roman"/>
                <a:cs typeface="Times New Roman"/>
              </a:rPr>
              <a:t>..........................................................................................</a:t>
            </a:r>
            <a:r>
              <a:rPr sz="1200" b="1" spc="-25" dirty="0">
                <a:latin typeface="Times New Roman"/>
                <a:cs typeface="Times New Roman"/>
              </a:rPr>
              <a:t> 10</a:t>
            </a:r>
            <a:endParaRPr sz="1200" dirty="0">
              <a:latin typeface="Times New Roman"/>
              <a:cs typeface="Times New Roman"/>
            </a:endParaRPr>
          </a:p>
          <a:p>
            <a:pPr marL="242570" lvl="1" indent="-228600">
              <a:lnSpc>
                <a:spcPct val="100000"/>
              </a:lnSpc>
              <a:spcBef>
                <a:spcPts val="1235"/>
              </a:spcBef>
              <a:buSzPct val="91666"/>
              <a:buAutoNum type="arabicPeriod"/>
              <a:tabLst>
                <a:tab pos="242570" algn="l"/>
              </a:tabLst>
            </a:pPr>
            <a:r>
              <a:rPr sz="1200" dirty="0">
                <a:latin typeface="Times New Roman"/>
                <a:cs typeface="Times New Roman"/>
              </a:rPr>
              <a:t>Problem</a:t>
            </a:r>
            <a:r>
              <a:rPr sz="1200" spc="-30" dirty="0">
                <a:latin typeface="Times New Roman"/>
                <a:cs typeface="Times New Roman"/>
              </a:rPr>
              <a:t> </a:t>
            </a:r>
            <a:r>
              <a:rPr sz="1200" dirty="0">
                <a:latin typeface="Times New Roman"/>
                <a:cs typeface="Times New Roman"/>
              </a:rPr>
              <a:t>Statemen</a:t>
            </a:r>
            <a:r>
              <a:rPr lang="en-US" sz="1200" dirty="0">
                <a:latin typeface="Times New Roman"/>
                <a:cs typeface="Times New Roman"/>
              </a:rPr>
              <a:t>t </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11</a:t>
            </a:r>
            <a:endParaRPr sz="1200" dirty="0">
              <a:latin typeface="Times New Roman"/>
              <a:cs typeface="Times New Roman"/>
            </a:endParaRPr>
          </a:p>
          <a:p>
            <a:pPr marL="242570" lvl="1" indent="-228600">
              <a:lnSpc>
                <a:spcPct val="100000"/>
              </a:lnSpc>
              <a:spcBef>
                <a:spcPts val="1225"/>
              </a:spcBef>
              <a:buSzPct val="91666"/>
              <a:buAutoNum type="arabicPeriod"/>
              <a:tabLst>
                <a:tab pos="242570" algn="l"/>
              </a:tabLst>
            </a:pPr>
            <a:r>
              <a:rPr sz="1200" spc="-10" dirty="0">
                <a:latin typeface="Times New Roman"/>
                <a:cs typeface="Times New Roman"/>
              </a:rPr>
              <a:t>Deliverables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Development</a:t>
            </a:r>
            <a:r>
              <a:rPr sz="1200" spc="-15" dirty="0">
                <a:latin typeface="Times New Roman"/>
                <a:cs typeface="Times New Roman"/>
              </a:rPr>
              <a:t> </a:t>
            </a:r>
            <a:r>
              <a:rPr sz="1200" dirty="0">
                <a:latin typeface="Times New Roman"/>
                <a:cs typeface="Times New Roman"/>
              </a:rPr>
              <a:t>Requirements</a:t>
            </a:r>
            <a:r>
              <a:rPr sz="1200" spc="-20"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11</a:t>
            </a:r>
            <a:endParaRPr sz="1200" dirty="0">
              <a:latin typeface="Times New Roman"/>
              <a:cs typeface="Times New Roman"/>
            </a:endParaRPr>
          </a:p>
          <a:p>
            <a:pPr marL="13970">
              <a:lnSpc>
                <a:spcPct val="100000"/>
              </a:lnSpc>
              <a:spcBef>
                <a:spcPts val="1235"/>
              </a:spcBef>
            </a:pPr>
            <a:r>
              <a:rPr sz="1200" b="1" dirty="0">
                <a:latin typeface="Times New Roman"/>
                <a:cs typeface="Times New Roman"/>
              </a:rPr>
              <a:t>Chapter</a:t>
            </a:r>
            <a:r>
              <a:rPr sz="1200" b="1" spc="-20" dirty="0">
                <a:latin typeface="Times New Roman"/>
                <a:cs typeface="Times New Roman"/>
              </a:rPr>
              <a:t> </a:t>
            </a:r>
            <a:r>
              <a:rPr sz="1200" b="1" dirty="0">
                <a:latin typeface="Times New Roman"/>
                <a:cs typeface="Times New Roman"/>
              </a:rPr>
              <a:t>3:</a:t>
            </a:r>
            <a:r>
              <a:rPr lang="en-US" sz="1200" b="1" dirty="0">
                <a:latin typeface="Times New Roman"/>
                <a:cs typeface="Times New Roman"/>
              </a:rPr>
              <a:t> </a:t>
            </a:r>
            <a:r>
              <a:rPr sz="1200" b="1" dirty="0">
                <a:latin typeface="Times New Roman"/>
                <a:cs typeface="Times New Roman"/>
              </a:rPr>
              <a:t>Requirement</a:t>
            </a:r>
            <a:r>
              <a:rPr sz="1200" b="1" spc="-15" dirty="0">
                <a:latin typeface="Times New Roman"/>
                <a:cs typeface="Times New Roman"/>
              </a:rPr>
              <a:t> </a:t>
            </a:r>
            <a:r>
              <a:rPr sz="1200" b="1" dirty="0">
                <a:latin typeface="Times New Roman"/>
                <a:cs typeface="Times New Roman"/>
              </a:rPr>
              <a:t>Analysis</a:t>
            </a:r>
            <a:r>
              <a:rPr lang="en-US" sz="1200" b="1" dirty="0">
                <a:latin typeface="Times New Roman"/>
                <a:cs typeface="Times New Roman"/>
              </a:rPr>
              <a:t> </a:t>
            </a:r>
            <a:r>
              <a:rPr sz="1200" b="1" dirty="0">
                <a:latin typeface="Times New Roman"/>
                <a:cs typeface="Times New Roman"/>
              </a:rPr>
              <a:t>.....................................................................................</a:t>
            </a:r>
            <a:r>
              <a:rPr sz="1200" b="1" spc="-40" dirty="0">
                <a:latin typeface="Times New Roman"/>
                <a:cs typeface="Times New Roman"/>
              </a:rPr>
              <a:t> </a:t>
            </a:r>
            <a:r>
              <a:rPr sz="1200" b="1" spc="-25" dirty="0">
                <a:latin typeface="Times New Roman"/>
                <a:cs typeface="Times New Roman"/>
              </a:rPr>
              <a:t>13</a:t>
            </a:r>
            <a:endParaRPr sz="1200" dirty="0">
              <a:latin typeface="Times New Roman"/>
              <a:cs typeface="Times New Roman"/>
            </a:endParaRPr>
          </a:p>
          <a:p>
            <a:pPr marL="319405" lvl="1" indent="-304165">
              <a:lnSpc>
                <a:spcPct val="100000"/>
              </a:lnSpc>
              <a:spcBef>
                <a:spcPts val="1225"/>
              </a:spcBef>
              <a:buAutoNum type="arabicPeriod"/>
              <a:tabLst>
                <a:tab pos="319405" algn="l"/>
              </a:tabLst>
            </a:pPr>
            <a:r>
              <a:rPr sz="1200" dirty="0">
                <a:latin typeface="Times New Roman"/>
                <a:cs typeface="Times New Roman"/>
              </a:rPr>
              <a:t>Functional</a:t>
            </a:r>
            <a:r>
              <a:rPr sz="1200" spc="-55" dirty="0">
                <a:latin typeface="Times New Roman"/>
                <a:cs typeface="Times New Roman"/>
              </a:rPr>
              <a:t> </a:t>
            </a:r>
            <a:r>
              <a:rPr sz="1200" dirty="0">
                <a:latin typeface="Times New Roman"/>
                <a:cs typeface="Times New Roman"/>
              </a:rPr>
              <a:t>Requirments.................................................................................................</a:t>
            </a:r>
            <a:r>
              <a:rPr sz="1200" spc="-50" dirty="0">
                <a:latin typeface="Times New Roman"/>
                <a:cs typeface="Times New Roman"/>
              </a:rPr>
              <a:t> </a:t>
            </a:r>
            <a:r>
              <a:rPr sz="1200" spc="-25" dirty="0">
                <a:latin typeface="Times New Roman"/>
                <a:cs typeface="Times New Roman"/>
              </a:rPr>
              <a:t>14</a:t>
            </a:r>
            <a:endParaRPr sz="1200" dirty="0">
              <a:latin typeface="Times New Roman"/>
              <a:cs typeface="Times New Roman"/>
            </a:endParaRPr>
          </a:p>
          <a:p>
            <a:pPr marL="321310" lvl="1" indent="-304165">
              <a:lnSpc>
                <a:spcPct val="100000"/>
              </a:lnSpc>
              <a:spcBef>
                <a:spcPts val="1235"/>
              </a:spcBef>
              <a:buAutoNum type="arabicPeriod"/>
              <a:tabLst>
                <a:tab pos="321310" algn="l"/>
              </a:tabLst>
            </a:pPr>
            <a:r>
              <a:rPr lang="en-US" sz="1200" dirty="0">
                <a:latin typeface="Times New Roman"/>
                <a:cs typeface="Times New Roman"/>
              </a:rPr>
              <a:t>Non</a:t>
            </a:r>
            <a:r>
              <a:rPr lang="en-US" sz="1200" spc="-35" dirty="0">
                <a:latin typeface="Times New Roman"/>
                <a:cs typeface="Times New Roman"/>
              </a:rPr>
              <a:t> </a:t>
            </a:r>
            <a:r>
              <a:rPr lang="en-US" sz="1200" dirty="0">
                <a:latin typeface="Times New Roman"/>
                <a:cs typeface="Times New Roman"/>
              </a:rPr>
              <a:t>–</a:t>
            </a:r>
            <a:r>
              <a:rPr lang="en-US" sz="1200" spc="-25" dirty="0">
                <a:latin typeface="Times New Roman"/>
                <a:cs typeface="Times New Roman"/>
              </a:rPr>
              <a:t> </a:t>
            </a:r>
            <a:r>
              <a:rPr lang="en-US" sz="1200" dirty="0">
                <a:latin typeface="Times New Roman"/>
                <a:cs typeface="Times New Roman"/>
              </a:rPr>
              <a:t>Functional</a:t>
            </a:r>
            <a:r>
              <a:rPr lang="en-US" sz="1200" spc="-30" dirty="0">
                <a:latin typeface="Times New Roman"/>
                <a:cs typeface="Times New Roman"/>
              </a:rPr>
              <a:t> </a:t>
            </a:r>
            <a:r>
              <a:rPr lang="en-US" sz="1200" dirty="0">
                <a:latin typeface="Times New Roman"/>
                <a:cs typeface="Times New Roman"/>
              </a:rPr>
              <a:t>Requirements ...................................................................................</a:t>
            </a:r>
            <a:r>
              <a:rPr lang="en-US" sz="1200" spc="-25" dirty="0">
                <a:latin typeface="Times New Roman"/>
                <a:cs typeface="Times New Roman"/>
              </a:rPr>
              <a:t> 16</a:t>
            </a:r>
            <a:endParaRPr lang="en-US" sz="1200" dirty="0">
              <a:latin typeface="Times New Roman"/>
              <a:cs typeface="Times New Roman"/>
            </a:endParaRPr>
          </a:p>
          <a:p>
            <a:pPr marL="393065" lvl="2" indent="457200">
              <a:lnSpc>
                <a:spcPct val="100000"/>
              </a:lnSpc>
              <a:spcBef>
                <a:spcPts val="1225"/>
              </a:spcBef>
              <a:buFont typeface="+mj-lt"/>
              <a:buAutoNum type="arabicPeriod"/>
              <a:tabLst>
                <a:tab pos="393065" algn="l"/>
              </a:tabLst>
            </a:pPr>
            <a:r>
              <a:rPr sz="1200" dirty="0">
                <a:latin typeface="Times New Roman"/>
                <a:cs typeface="Times New Roman"/>
              </a:rPr>
              <a:t>Usab</a:t>
            </a:r>
            <a:r>
              <a:rPr lang="en-US" sz="1200" dirty="0">
                <a:latin typeface="Times New Roman"/>
                <a:cs typeface="Times New Roman"/>
              </a:rPr>
              <a:t>ility</a:t>
            </a:r>
            <a:r>
              <a:rPr lang="en-US" sz="1200" spc="-20" dirty="0">
                <a:latin typeface="Times New Roman"/>
                <a:cs typeface="Times New Roman"/>
              </a:rPr>
              <a:t> </a:t>
            </a:r>
            <a:r>
              <a:rPr lang="en-US" sz="1200" dirty="0">
                <a:latin typeface="Times New Roman"/>
                <a:cs typeface="Times New Roman"/>
              </a:rPr>
              <a:t>..........</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15" dirty="0">
                <a:latin typeface="Times New Roman"/>
                <a:cs typeface="Times New Roman"/>
              </a:rPr>
              <a:t> </a:t>
            </a:r>
            <a:r>
              <a:rPr sz="1200" spc="-25" dirty="0">
                <a:latin typeface="Times New Roman"/>
                <a:cs typeface="Times New Roman"/>
              </a:rPr>
              <a:t>17</a:t>
            </a:r>
            <a:endParaRPr sz="1200" dirty="0">
              <a:latin typeface="Times New Roman"/>
              <a:cs typeface="Times New Roman"/>
            </a:endParaRPr>
          </a:p>
          <a:p>
            <a:pPr marL="408305" lvl="2" indent="457200">
              <a:lnSpc>
                <a:spcPct val="100000"/>
              </a:lnSpc>
              <a:spcBef>
                <a:spcPts val="1235"/>
              </a:spcBef>
              <a:buAutoNum type="arabicPeriod"/>
              <a:tabLst>
                <a:tab pos="408305" algn="l"/>
              </a:tabLst>
            </a:pPr>
            <a:r>
              <a:rPr sz="1200" dirty="0">
                <a:latin typeface="Times New Roman"/>
                <a:cs typeface="Times New Roman"/>
              </a:rPr>
              <a:t>Reliability</a:t>
            </a:r>
            <a:r>
              <a:rPr sz="1200" spc="-3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5" dirty="0">
                <a:latin typeface="Times New Roman"/>
                <a:cs typeface="Times New Roman"/>
              </a:rPr>
              <a:t> </a:t>
            </a:r>
            <a:r>
              <a:rPr sz="1200" spc="-25" dirty="0">
                <a:latin typeface="Times New Roman"/>
                <a:cs typeface="Times New Roman"/>
              </a:rPr>
              <a:t>17</a:t>
            </a:r>
            <a:endParaRPr lang="en-US" sz="1200" spc="-25" dirty="0">
              <a:latin typeface="Times New Roman"/>
              <a:cs typeface="Times New Roman"/>
            </a:endParaRPr>
          </a:p>
          <a:p>
            <a:pPr marL="408305" lvl="2" indent="457200">
              <a:spcBef>
                <a:spcPts val="1235"/>
              </a:spcBef>
              <a:buFontTx/>
              <a:buAutoNum type="arabicPeriod"/>
              <a:tabLst>
                <a:tab pos="408305" algn="l"/>
              </a:tabLst>
            </a:pPr>
            <a:r>
              <a:rPr lang="en-US" sz="1200" dirty="0">
                <a:latin typeface="Times New Roman"/>
                <a:cs typeface="Times New Roman"/>
              </a:rPr>
              <a:t>Performance .................................................................................................... </a:t>
            </a:r>
            <a:r>
              <a:rPr lang="en-US" sz="1200" spc="-25" dirty="0">
                <a:latin typeface="Times New Roman"/>
                <a:cs typeface="Times New Roman"/>
              </a:rPr>
              <a:t>17</a:t>
            </a:r>
            <a:endParaRPr sz="1200" dirty="0">
              <a:latin typeface="Times New Roman"/>
              <a:cs typeface="Times New Roman"/>
            </a:endParaRPr>
          </a:p>
          <a:p>
            <a:pPr marL="408305" lvl="2" indent="457200">
              <a:lnSpc>
                <a:spcPct val="100000"/>
              </a:lnSpc>
              <a:spcBef>
                <a:spcPts val="1235"/>
              </a:spcBef>
              <a:buAutoNum type="arabicPeriod"/>
              <a:tabLst>
                <a:tab pos="408305" algn="l"/>
              </a:tabLst>
            </a:pPr>
            <a:r>
              <a:rPr sz="1200" dirty="0">
                <a:latin typeface="Times New Roman"/>
                <a:cs typeface="Times New Roman"/>
              </a:rPr>
              <a:t>Supportability</a:t>
            </a:r>
            <a:r>
              <a:rPr sz="1200" spc="-4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5" dirty="0">
                <a:latin typeface="Times New Roman"/>
                <a:cs typeface="Times New Roman"/>
              </a:rPr>
              <a:t> </a:t>
            </a:r>
            <a:r>
              <a:rPr sz="1200" spc="-25" dirty="0">
                <a:latin typeface="Times New Roman"/>
                <a:cs typeface="Times New Roman"/>
              </a:rPr>
              <a:t>17</a:t>
            </a:r>
            <a:endParaRPr sz="1200" dirty="0">
              <a:latin typeface="Times New Roman"/>
              <a:cs typeface="Times New Roman"/>
            </a:endParaRPr>
          </a:p>
          <a:p>
            <a:pPr marL="243840" lvl="1" indent="-228600">
              <a:lnSpc>
                <a:spcPct val="100000"/>
              </a:lnSpc>
              <a:spcBef>
                <a:spcPts val="1225"/>
              </a:spcBef>
              <a:buAutoNum type="arabicPeriod" startAt="3"/>
              <a:tabLst>
                <a:tab pos="243840" algn="l"/>
              </a:tabLst>
            </a:pPr>
            <a:r>
              <a:rPr sz="1200" dirty="0">
                <a:latin typeface="Times New Roman"/>
                <a:cs typeface="Times New Roman"/>
              </a:rPr>
              <a:t>Use</a:t>
            </a:r>
            <a:r>
              <a:rPr sz="1200" spc="-35" dirty="0">
                <a:latin typeface="Times New Roman"/>
                <a:cs typeface="Times New Roman"/>
              </a:rPr>
              <a:t> </a:t>
            </a:r>
            <a:r>
              <a:rPr sz="1200" dirty="0">
                <a:latin typeface="Times New Roman"/>
                <a:cs typeface="Times New Roman"/>
              </a:rPr>
              <a:t>case</a:t>
            </a:r>
            <a:r>
              <a:rPr sz="1200" spc="-25" dirty="0">
                <a:latin typeface="Times New Roman"/>
                <a:cs typeface="Times New Roman"/>
              </a:rPr>
              <a:t> </a:t>
            </a:r>
            <a:r>
              <a:rPr sz="1200" dirty="0">
                <a:latin typeface="Times New Roman"/>
                <a:cs typeface="Times New Roman"/>
              </a:rPr>
              <a:t>Model................................................................................................................</a:t>
            </a:r>
            <a:r>
              <a:rPr sz="1200" spc="-20" dirty="0">
                <a:latin typeface="Times New Roman"/>
                <a:cs typeface="Times New Roman"/>
              </a:rPr>
              <a:t> </a:t>
            </a:r>
            <a:r>
              <a:rPr sz="1200" spc="-25" dirty="0">
                <a:latin typeface="Times New Roman"/>
                <a:cs typeface="Times New Roman"/>
              </a:rPr>
              <a:t>17</a:t>
            </a:r>
            <a:endParaRPr sz="1200" dirty="0">
              <a:latin typeface="Times New Roman"/>
              <a:cs typeface="Times New Roman"/>
            </a:endParaRPr>
          </a:p>
          <a:p>
            <a:pPr marL="406400" lvl="2" indent="457200">
              <a:lnSpc>
                <a:spcPct val="100000"/>
              </a:lnSpc>
              <a:spcBef>
                <a:spcPts val="1235"/>
              </a:spcBef>
              <a:buAutoNum type="arabicPeriod"/>
              <a:tabLst>
                <a:tab pos="406400" algn="l"/>
              </a:tabLst>
            </a:pPr>
            <a:r>
              <a:rPr sz="1200" dirty="0">
                <a:latin typeface="Times New Roman"/>
                <a:cs typeface="Times New Roman"/>
              </a:rPr>
              <a:t>Use</a:t>
            </a:r>
            <a:r>
              <a:rPr sz="1200" spc="-25" dirty="0">
                <a:latin typeface="Times New Roman"/>
                <a:cs typeface="Times New Roman"/>
              </a:rPr>
              <a:t> </a:t>
            </a:r>
            <a:r>
              <a:rPr sz="1200" dirty="0">
                <a:latin typeface="Times New Roman"/>
                <a:cs typeface="Times New Roman"/>
              </a:rPr>
              <a:t>Case</a:t>
            </a:r>
            <a:r>
              <a:rPr sz="1200" spc="-20" dirty="0">
                <a:latin typeface="Times New Roman"/>
                <a:cs typeface="Times New Roman"/>
              </a:rPr>
              <a:t> </a:t>
            </a:r>
            <a:r>
              <a:rPr lang="en-US" sz="1200" dirty="0">
                <a:latin typeface="Times New Roman"/>
                <a:cs typeface="Times New Roman"/>
              </a:rPr>
              <a:t>Diagram</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25" dirty="0">
                <a:latin typeface="Times New Roman"/>
                <a:cs typeface="Times New Roman"/>
              </a:rPr>
              <a:t>18</a:t>
            </a:r>
            <a:endParaRPr lang="en-US" sz="1200" spc="-25" dirty="0">
              <a:latin typeface="Times New Roman"/>
              <a:cs typeface="Times New Roman"/>
            </a:endParaRPr>
          </a:p>
          <a:p>
            <a:pPr marL="406400" lvl="2" indent="457200">
              <a:spcBef>
                <a:spcPts val="1235"/>
              </a:spcBef>
              <a:buFontTx/>
              <a:buAutoNum type="arabicPeriod"/>
              <a:tabLst>
                <a:tab pos="406400" algn="l"/>
              </a:tabLst>
            </a:pPr>
            <a:r>
              <a:rPr lang="en-US" sz="1200" dirty="0">
                <a:latin typeface="Times New Roman"/>
                <a:cs typeface="Times New Roman"/>
              </a:rPr>
              <a:t>Actors</a:t>
            </a:r>
            <a:r>
              <a:rPr lang="en-US" sz="1200" spc="-45" dirty="0">
                <a:latin typeface="Times New Roman"/>
                <a:cs typeface="Times New Roman"/>
              </a:rPr>
              <a:t> </a:t>
            </a:r>
            <a:r>
              <a:rPr lang="en-US" sz="1200" dirty="0">
                <a:latin typeface="Times New Roman"/>
                <a:cs typeface="Times New Roman"/>
              </a:rPr>
              <a:t>Description ..........................................................................................</a:t>
            </a:r>
            <a:r>
              <a:rPr lang="en-US" sz="1200" spc="-40" dirty="0">
                <a:latin typeface="Times New Roman"/>
                <a:cs typeface="Times New Roman"/>
              </a:rPr>
              <a:t> </a:t>
            </a:r>
            <a:r>
              <a:rPr lang="en-US" sz="1200" spc="-25" dirty="0">
                <a:latin typeface="Times New Roman"/>
                <a:cs typeface="Times New Roman"/>
              </a:rPr>
              <a:t>18</a:t>
            </a:r>
          </a:p>
          <a:p>
            <a:pPr marL="406400" lvl="2" indent="457200">
              <a:spcBef>
                <a:spcPts val="1235"/>
              </a:spcBef>
              <a:buFontTx/>
              <a:buAutoNum type="arabicPeriod"/>
              <a:tabLst>
                <a:tab pos="406400" algn="l"/>
              </a:tabLst>
            </a:pPr>
            <a:r>
              <a:rPr lang="en-US" sz="1200" dirty="0">
                <a:latin typeface="Times New Roman"/>
                <a:cs typeface="Times New Roman"/>
              </a:rPr>
              <a:t>Use</a:t>
            </a:r>
            <a:r>
              <a:rPr lang="en-US" sz="1200" spc="-20" dirty="0">
                <a:latin typeface="Times New Roman"/>
                <a:cs typeface="Times New Roman"/>
              </a:rPr>
              <a:t> </a:t>
            </a:r>
            <a:r>
              <a:rPr lang="en-US" sz="1200" dirty="0">
                <a:latin typeface="Times New Roman"/>
                <a:cs typeface="Times New Roman"/>
              </a:rPr>
              <a:t>Case</a:t>
            </a:r>
            <a:r>
              <a:rPr lang="en-US" sz="1200" spc="-15" dirty="0">
                <a:latin typeface="Times New Roman"/>
                <a:cs typeface="Times New Roman"/>
              </a:rPr>
              <a:t> </a:t>
            </a:r>
            <a:r>
              <a:rPr lang="en-US" sz="1200" dirty="0">
                <a:latin typeface="Times New Roman"/>
                <a:cs typeface="Times New Roman"/>
              </a:rPr>
              <a:t>Description</a:t>
            </a:r>
            <a:r>
              <a:rPr lang="en-US" sz="1200" spc="-10" dirty="0">
                <a:latin typeface="Times New Roman"/>
                <a:cs typeface="Times New Roman"/>
              </a:rPr>
              <a:t> </a:t>
            </a:r>
            <a:r>
              <a:rPr lang="en-US" sz="1200" dirty="0">
                <a:latin typeface="Times New Roman"/>
                <a:cs typeface="Times New Roman"/>
              </a:rPr>
              <a:t>......................................................................................</a:t>
            </a:r>
            <a:r>
              <a:rPr lang="en-US" sz="1200" spc="-5" dirty="0">
                <a:latin typeface="Times New Roman"/>
                <a:cs typeface="Times New Roman"/>
              </a:rPr>
              <a:t> </a:t>
            </a:r>
            <a:r>
              <a:rPr lang="en-US" sz="1200" spc="-25" dirty="0">
                <a:latin typeface="Times New Roman"/>
                <a:cs typeface="Times New Roman"/>
              </a:rPr>
              <a:t>18</a:t>
            </a:r>
            <a:endParaRPr lang="en-US"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vii</a:t>
            </a:r>
            <a:endParaRPr spc="-20" dirty="0"/>
          </a:p>
        </p:txBody>
      </p:sp>
      <p:sp>
        <p:nvSpPr>
          <p:cNvPr id="2" name="object 2"/>
          <p:cNvSpPr txBox="1"/>
          <p:nvPr/>
        </p:nvSpPr>
        <p:spPr>
          <a:xfrm>
            <a:off x="1177848" y="891285"/>
            <a:ext cx="5691505" cy="7645683"/>
          </a:xfrm>
          <a:prstGeom prst="rect">
            <a:avLst/>
          </a:prstGeom>
        </p:spPr>
        <p:txBody>
          <a:bodyPr vert="horz" wrap="square" lIns="0" tIns="12700" rIns="0" bIns="0" rtlCol="0">
            <a:spAutoFit/>
          </a:bodyPr>
          <a:lstStyle/>
          <a:p>
            <a:pPr marL="13970">
              <a:lnSpc>
                <a:spcPct val="100000"/>
              </a:lnSpc>
              <a:spcBef>
                <a:spcPts val="1225"/>
              </a:spcBef>
            </a:pPr>
            <a:r>
              <a:rPr sz="1200" b="1" dirty="0">
                <a:latin typeface="Times New Roman"/>
                <a:cs typeface="Times New Roman"/>
              </a:rPr>
              <a:t>Chapter</a:t>
            </a:r>
            <a:r>
              <a:rPr sz="1200" b="1" spc="-10" dirty="0">
                <a:latin typeface="Times New Roman"/>
                <a:cs typeface="Times New Roman"/>
              </a:rPr>
              <a:t> </a:t>
            </a:r>
            <a:r>
              <a:rPr sz="1200" b="1" dirty="0">
                <a:latin typeface="Times New Roman"/>
                <a:cs typeface="Times New Roman"/>
              </a:rPr>
              <a:t>4:</a:t>
            </a:r>
            <a:r>
              <a:rPr sz="1200" b="1" spc="-10" dirty="0">
                <a:latin typeface="Times New Roman"/>
                <a:cs typeface="Times New Roman"/>
              </a:rPr>
              <a:t> </a:t>
            </a:r>
            <a:r>
              <a:rPr sz="1200" b="1" dirty="0">
                <a:latin typeface="Times New Roman"/>
                <a:cs typeface="Times New Roman"/>
              </a:rPr>
              <a:t>Design and </a:t>
            </a:r>
            <a:r>
              <a:rPr sz="1200" b="1" spc="-10" dirty="0">
                <a:latin typeface="Times New Roman"/>
                <a:cs typeface="Times New Roman"/>
              </a:rPr>
              <a:t>Architecture</a:t>
            </a:r>
            <a:r>
              <a:rPr sz="1200" b="1" spc="-165" dirty="0">
                <a:latin typeface="Times New Roman"/>
                <a:cs typeface="Times New Roman"/>
              </a:rPr>
              <a:t> </a:t>
            </a:r>
            <a:r>
              <a:rPr sz="1200" b="1" dirty="0">
                <a:latin typeface="Times New Roman"/>
                <a:cs typeface="Times New Roman"/>
              </a:rPr>
              <a:t>..................................................................................</a:t>
            </a:r>
            <a:r>
              <a:rPr sz="1200" b="1" spc="-30" dirty="0">
                <a:latin typeface="Times New Roman"/>
                <a:cs typeface="Times New Roman"/>
              </a:rPr>
              <a:t> </a:t>
            </a:r>
            <a:r>
              <a:rPr sz="1200" b="1" spc="-25" dirty="0">
                <a:latin typeface="Times New Roman"/>
                <a:cs typeface="Times New Roman"/>
              </a:rPr>
              <a:t>19</a:t>
            </a:r>
            <a:endParaRPr sz="1200" dirty="0">
              <a:latin typeface="Times New Roman"/>
              <a:cs typeface="Times New Roman"/>
            </a:endParaRPr>
          </a:p>
          <a:p>
            <a:pPr marL="280035" lvl="1" indent="-266065">
              <a:lnSpc>
                <a:spcPct val="100000"/>
              </a:lnSpc>
              <a:spcBef>
                <a:spcPts val="1235"/>
              </a:spcBef>
              <a:buAutoNum type="arabicPeriod"/>
              <a:tabLst>
                <a:tab pos="280035" algn="l"/>
              </a:tabLst>
            </a:pP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Architecture</a:t>
            </a:r>
            <a:r>
              <a:rPr sz="1200" spc="-35"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19</a:t>
            </a:r>
            <a:endParaRPr sz="1200" dirty="0">
              <a:latin typeface="Times New Roman"/>
              <a:cs typeface="Times New Roman"/>
            </a:endParaRPr>
          </a:p>
          <a:p>
            <a:pPr marL="274320" lvl="1" indent="-260350">
              <a:lnSpc>
                <a:spcPct val="100000"/>
              </a:lnSpc>
              <a:spcBef>
                <a:spcPts val="1220"/>
              </a:spcBef>
              <a:buAutoNum type="arabicPeriod"/>
              <a:tabLst>
                <a:tab pos="274320" algn="l"/>
              </a:tabLst>
            </a:pPr>
            <a:r>
              <a:rPr sz="1200" dirty="0">
                <a:latin typeface="Times New Roman"/>
                <a:cs typeface="Times New Roman"/>
              </a:rPr>
              <a:t>System </a:t>
            </a:r>
            <a:r>
              <a:rPr sz="1200" spc="-10" dirty="0">
                <a:latin typeface="Times New Roman"/>
                <a:cs typeface="Times New Roman"/>
              </a:rPr>
              <a:t>Design</a:t>
            </a:r>
            <a:r>
              <a:rPr sz="1200" spc="-65"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20</a:t>
            </a:r>
            <a:endParaRPr sz="1200" dirty="0">
              <a:latin typeface="Times New Roman"/>
              <a:cs typeface="Times New Roman"/>
            </a:endParaRPr>
          </a:p>
          <a:p>
            <a:pPr marL="242570" indent="-228600">
              <a:spcBef>
                <a:spcPts val="1240"/>
              </a:spcBef>
              <a:buFont typeface="+mj-lt"/>
              <a:buAutoNum type="arabicPeriod" startAt="3"/>
              <a:tabLst>
                <a:tab pos="394970" algn="l"/>
              </a:tabLst>
            </a:pPr>
            <a:r>
              <a:rPr sz="1200" dirty="0">
                <a:latin typeface="Times New Roman"/>
                <a:cs typeface="Times New Roman"/>
              </a:rPr>
              <a:t>UML</a:t>
            </a:r>
            <a:r>
              <a:rPr sz="1200" spc="-25" dirty="0">
                <a:latin typeface="Times New Roman"/>
                <a:cs typeface="Times New Roman"/>
              </a:rPr>
              <a:t> </a:t>
            </a:r>
            <a:r>
              <a:rPr sz="1200" dirty="0">
                <a:latin typeface="Times New Roman"/>
                <a:cs typeface="Times New Roman"/>
              </a:rPr>
              <a:t>Behavioral </a:t>
            </a:r>
            <a:r>
              <a:rPr sz="1200" spc="-10" dirty="0">
                <a:latin typeface="Times New Roman"/>
                <a:cs typeface="Times New Roman"/>
              </a:rPr>
              <a:t>Diagrams</a:t>
            </a:r>
            <a:r>
              <a:rPr sz="1200" spc="-6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5" dirty="0">
                <a:latin typeface="Times New Roman"/>
                <a:cs typeface="Times New Roman"/>
              </a:rPr>
              <a:t> </a:t>
            </a:r>
            <a:r>
              <a:rPr sz="1200" spc="-25" dirty="0">
                <a:latin typeface="Times New Roman"/>
                <a:cs typeface="Times New Roman"/>
              </a:rPr>
              <a:t>20</a:t>
            </a:r>
            <a:endParaRPr lang="en-US" sz="1200" spc="-25" dirty="0">
              <a:latin typeface="Times New Roman"/>
              <a:cs typeface="Times New Roman"/>
            </a:endParaRPr>
          </a:p>
          <a:p>
            <a:pPr marL="242570" indent="-228600">
              <a:spcBef>
                <a:spcPts val="1240"/>
              </a:spcBef>
              <a:buFont typeface="+mj-lt"/>
              <a:buAutoNum type="arabicPeriod" startAt="4"/>
              <a:tabLst>
                <a:tab pos="394970" algn="l"/>
              </a:tabLst>
            </a:pPr>
            <a:r>
              <a:rPr sz="1200" dirty="0">
                <a:latin typeface="Times New Roman"/>
                <a:cs typeface="Times New Roman"/>
              </a:rPr>
              <a:t>Component</a:t>
            </a:r>
            <a:r>
              <a:rPr sz="1200" spc="-40" dirty="0">
                <a:latin typeface="Times New Roman"/>
                <a:cs typeface="Times New Roman"/>
              </a:rPr>
              <a:t> </a:t>
            </a:r>
            <a:r>
              <a:rPr sz="1200" dirty="0">
                <a:latin typeface="Times New Roman"/>
                <a:cs typeface="Times New Roman"/>
              </a:rPr>
              <a:t>Diagram</a:t>
            </a:r>
            <a:r>
              <a:rPr sz="1200" spc="-40" dirty="0">
                <a:latin typeface="Times New Roman"/>
                <a:cs typeface="Times New Roman"/>
              </a:rPr>
              <a:t> </a:t>
            </a:r>
            <a:r>
              <a:rPr lang="en-US" sz="1200" spc="-40" dirty="0">
                <a:latin typeface="Times New Roman"/>
                <a:cs typeface="Times New Roman"/>
              </a:rPr>
              <a:t>...</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60" dirty="0">
                <a:latin typeface="Times New Roman"/>
                <a:cs typeface="Times New Roman"/>
              </a:rPr>
              <a:t> </a:t>
            </a:r>
            <a:r>
              <a:rPr sz="1200" spc="-25" dirty="0">
                <a:latin typeface="Times New Roman"/>
                <a:cs typeface="Times New Roman"/>
              </a:rPr>
              <a:t>20</a:t>
            </a:r>
            <a:endParaRPr sz="1200" dirty="0">
              <a:latin typeface="Times New Roman"/>
              <a:cs typeface="Times New Roman"/>
            </a:endParaRPr>
          </a:p>
          <a:p>
            <a:pPr marL="242570" lvl="1" indent="-228600">
              <a:spcBef>
                <a:spcPts val="1235"/>
              </a:spcBef>
              <a:buFont typeface="+mj-lt"/>
              <a:buAutoNum type="arabicPeriod" startAt="5"/>
              <a:tabLst>
                <a:tab pos="509270" algn="l"/>
              </a:tabLst>
            </a:pP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Component</a:t>
            </a:r>
            <a:r>
              <a:rPr sz="1200" spc="-30" dirty="0">
                <a:latin typeface="Times New Roman"/>
                <a:cs typeface="Times New Roman"/>
              </a:rPr>
              <a:t> </a:t>
            </a:r>
            <a:r>
              <a:rPr sz="1200" dirty="0">
                <a:latin typeface="Times New Roman"/>
                <a:cs typeface="Times New Roman"/>
              </a:rPr>
              <a:t>Diagram</a:t>
            </a:r>
            <a:r>
              <a:rPr lang="en-US" sz="1200"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21</a:t>
            </a:r>
            <a:endParaRPr sz="1200" dirty="0">
              <a:latin typeface="Times New Roman"/>
              <a:cs typeface="Times New Roman"/>
            </a:endParaRPr>
          </a:p>
          <a:p>
            <a:pPr marL="242570" lvl="1" indent="-228600">
              <a:spcBef>
                <a:spcPts val="1225"/>
              </a:spcBef>
              <a:buFont typeface="+mj-lt"/>
              <a:buAutoNum type="arabicPeriod" startAt="6"/>
              <a:tabLst>
                <a:tab pos="509270" algn="l"/>
              </a:tabLst>
            </a:pPr>
            <a:r>
              <a:rPr sz="1200" dirty="0">
                <a:latin typeface="Times New Roman"/>
                <a:cs typeface="Times New Roman"/>
              </a:rPr>
              <a:t>Package Diagram</a:t>
            </a:r>
            <a:r>
              <a:rPr lang="en-US" sz="120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15" dirty="0">
                <a:latin typeface="Times New Roman"/>
                <a:cs typeface="Times New Roman"/>
              </a:rPr>
              <a:t> </a:t>
            </a:r>
            <a:r>
              <a:rPr sz="1200" spc="-25" dirty="0">
                <a:latin typeface="Times New Roman"/>
                <a:cs typeface="Times New Roman"/>
              </a:rPr>
              <a:t>21</a:t>
            </a:r>
            <a:endParaRPr sz="1200" dirty="0">
              <a:latin typeface="Times New Roman"/>
              <a:cs typeface="Times New Roman"/>
            </a:endParaRPr>
          </a:p>
          <a:p>
            <a:pPr marL="242570" lvl="1" indent="-228600">
              <a:spcBef>
                <a:spcPts val="1235"/>
              </a:spcBef>
              <a:buFont typeface="+mj-lt"/>
              <a:buAutoNum type="arabicPeriod" startAt="7"/>
              <a:tabLst>
                <a:tab pos="509270" algn="l"/>
              </a:tabLst>
            </a:pPr>
            <a:r>
              <a:rPr sz="1200" dirty="0">
                <a:latin typeface="Times New Roman"/>
                <a:cs typeface="Times New Roman"/>
              </a:rPr>
              <a:t>Deployment</a:t>
            </a:r>
            <a:r>
              <a:rPr sz="1200" spc="-20" dirty="0">
                <a:latin typeface="Times New Roman"/>
                <a:cs typeface="Times New Roman"/>
              </a:rPr>
              <a:t> </a:t>
            </a:r>
            <a:r>
              <a:rPr sz="1200" spc="-10" dirty="0">
                <a:latin typeface="Times New Roman"/>
                <a:cs typeface="Times New Roman"/>
              </a:rPr>
              <a:t>Diagram</a:t>
            </a:r>
            <a:r>
              <a:rPr sz="1200" spc="-55" dirty="0">
                <a:latin typeface="Times New Roman"/>
                <a:cs typeface="Times New Roman"/>
              </a:rPr>
              <a:t> </a:t>
            </a:r>
            <a:r>
              <a:rPr lang="en-US" sz="1200" spc="-55" dirty="0">
                <a:latin typeface="Times New Roman"/>
                <a:cs typeface="Times New Roman"/>
              </a:rPr>
              <a:t>..........</a:t>
            </a:r>
            <a:r>
              <a:rPr sz="1200" dirty="0">
                <a:latin typeface="Times New Roman"/>
                <a:cs typeface="Times New Roman"/>
              </a:rPr>
              <a:t>..............................................................................................</a:t>
            </a:r>
            <a:r>
              <a:rPr sz="1200" spc="-35" dirty="0">
                <a:latin typeface="Times New Roman"/>
                <a:cs typeface="Times New Roman"/>
              </a:rPr>
              <a:t> </a:t>
            </a:r>
            <a:r>
              <a:rPr sz="1200" spc="-25" dirty="0">
                <a:latin typeface="Times New Roman"/>
                <a:cs typeface="Times New Roman"/>
              </a:rPr>
              <a:t>21</a:t>
            </a:r>
            <a:endParaRPr sz="1200" dirty="0">
              <a:latin typeface="Times New Roman"/>
              <a:cs typeface="Times New Roman"/>
            </a:endParaRPr>
          </a:p>
          <a:p>
            <a:pPr marL="242570" lvl="1" indent="-228600">
              <a:spcBef>
                <a:spcPts val="1225"/>
              </a:spcBef>
              <a:buFont typeface="+mj-lt"/>
              <a:buAutoNum type="arabicPeriod" startAt="8"/>
              <a:tabLst>
                <a:tab pos="509270" algn="l"/>
              </a:tabLst>
            </a:pPr>
            <a:r>
              <a:rPr sz="1200" dirty="0">
                <a:latin typeface="Times New Roman"/>
                <a:cs typeface="Times New Roman"/>
              </a:rPr>
              <a:t>Activity</a:t>
            </a:r>
            <a:r>
              <a:rPr sz="1200" spc="-40" dirty="0">
                <a:latin typeface="Times New Roman"/>
                <a:cs typeface="Times New Roman"/>
              </a:rPr>
              <a:t> </a:t>
            </a:r>
            <a:r>
              <a:rPr sz="1200" dirty="0">
                <a:latin typeface="Times New Roman"/>
                <a:cs typeface="Times New Roman"/>
              </a:rPr>
              <a:t>Diagrams:</a:t>
            </a:r>
            <a:r>
              <a:rPr sz="1200" spc="-5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60" dirty="0">
                <a:latin typeface="Times New Roman"/>
                <a:cs typeface="Times New Roman"/>
              </a:rPr>
              <a:t> </a:t>
            </a:r>
            <a:r>
              <a:rPr sz="1200" spc="-25" dirty="0">
                <a:latin typeface="Times New Roman"/>
                <a:cs typeface="Times New Roman"/>
              </a:rPr>
              <a:t>22</a:t>
            </a:r>
            <a:endParaRPr sz="1200" dirty="0">
              <a:latin typeface="Times New Roman"/>
              <a:cs typeface="Times New Roman"/>
            </a:endParaRPr>
          </a:p>
          <a:p>
            <a:pPr marL="242570" lvl="1" indent="-228600">
              <a:spcBef>
                <a:spcPts val="1235"/>
              </a:spcBef>
              <a:buFont typeface="+mj-lt"/>
              <a:buAutoNum type="arabicPeriod" startAt="9"/>
              <a:tabLst>
                <a:tab pos="509270" algn="l"/>
              </a:tabLst>
            </a:pPr>
            <a:r>
              <a:rPr sz="1200" dirty="0">
                <a:latin typeface="Times New Roman"/>
                <a:cs typeface="Times New Roman"/>
              </a:rPr>
              <a:t>State</a:t>
            </a:r>
            <a:r>
              <a:rPr sz="1200" spc="-45" dirty="0">
                <a:latin typeface="Times New Roman"/>
                <a:cs typeface="Times New Roman"/>
              </a:rPr>
              <a:t> </a:t>
            </a:r>
            <a:r>
              <a:rPr sz="1200" dirty="0">
                <a:latin typeface="Times New Roman"/>
                <a:cs typeface="Times New Roman"/>
              </a:rPr>
              <a:t>Machine</a:t>
            </a:r>
            <a:r>
              <a:rPr sz="1200" spc="-35" dirty="0">
                <a:latin typeface="Times New Roman"/>
                <a:cs typeface="Times New Roman"/>
              </a:rPr>
              <a:t> </a:t>
            </a:r>
            <a:r>
              <a:rPr sz="1200" dirty="0">
                <a:latin typeface="Times New Roman"/>
                <a:cs typeface="Times New Roman"/>
              </a:rPr>
              <a:t>Diagrams</a:t>
            </a:r>
            <a:r>
              <a:rPr lang="en-US" sz="120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23</a:t>
            </a:r>
            <a:endParaRPr sz="1200" dirty="0">
              <a:latin typeface="Times New Roman"/>
              <a:cs typeface="Times New Roman"/>
            </a:endParaRPr>
          </a:p>
          <a:p>
            <a:pPr marL="242570" lvl="2" indent="-228600">
              <a:lnSpc>
                <a:spcPct val="100000"/>
              </a:lnSpc>
              <a:spcBef>
                <a:spcPts val="1225"/>
              </a:spcBef>
              <a:buFont typeface="+mj-lt"/>
              <a:buAutoNum type="arabicPeriod" startAt="10"/>
              <a:tabLst>
                <a:tab pos="394970" algn="l"/>
              </a:tabLst>
            </a:pPr>
            <a:r>
              <a:rPr sz="1200" dirty="0">
                <a:latin typeface="Times New Roman"/>
                <a:cs typeface="Times New Roman"/>
              </a:rPr>
              <a:t>UML</a:t>
            </a:r>
            <a:r>
              <a:rPr sz="1200" spc="40" dirty="0">
                <a:latin typeface="Times New Roman"/>
                <a:cs typeface="Times New Roman"/>
              </a:rPr>
              <a:t> </a:t>
            </a:r>
            <a:r>
              <a:rPr sz="1200" spc="-10" dirty="0">
                <a:latin typeface="Times New Roman"/>
                <a:cs typeface="Times New Roman"/>
              </a:rPr>
              <a:t>Interaction-diagrams</a:t>
            </a:r>
            <a:r>
              <a:rPr sz="1200" spc="-12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5" dirty="0">
                <a:latin typeface="Times New Roman"/>
                <a:cs typeface="Times New Roman"/>
              </a:rPr>
              <a:t> </a:t>
            </a:r>
            <a:r>
              <a:rPr sz="1200" spc="-25" dirty="0">
                <a:latin typeface="Times New Roman"/>
                <a:cs typeface="Times New Roman"/>
              </a:rPr>
              <a:t>24</a:t>
            </a:r>
            <a:endParaRPr sz="1200" dirty="0">
              <a:latin typeface="Times New Roman"/>
              <a:cs typeface="Times New Roman"/>
            </a:endParaRPr>
          </a:p>
          <a:p>
            <a:pPr marL="242570" lvl="3" indent="-228600">
              <a:lnSpc>
                <a:spcPct val="100000"/>
              </a:lnSpc>
              <a:spcBef>
                <a:spcPts val="1235"/>
              </a:spcBef>
              <a:buFont typeface="+mj-lt"/>
              <a:buAutoNum type="arabicPeriod" startAt="11"/>
              <a:tabLst>
                <a:tab pos="509270" algn="l"/>
              </a:tabLst>
            </a:pPr>
            <a:r>
              <a:rPr sz="1200" dirty="0">
                <a:latin typeface="Times New Roman"/>
                <a:cs typeface="Times New Roman"/>
              </a:rPr>
              <a:t>Sequence</a:t>
            </a:r>
            <a:r>
              <a:rPr sz="1200" spc="-30" dirty="0">
                <a:latin typeface="Times New Roman"/>
                <a:cs typeface="Times New Roman"/>
              </a:rPr>
              <a:t> </a:t>
            </a:r>
            <a:r>
              <a:rPr sz="1200" dirty="0">
                <a:latin typeface="Times New Roman"/>
                <a:cs typeface="Times New Roman"/>
              </a:rPr>
              <a:t>Diagrams</a:t>
            </a:r>
            <a:r>
              <a:rPr sz="1200" spc="-6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25</a:t>
            </a:r>
            <a:endParaRPr sz="1200"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Registration</a:t>
            </a:r>
            <a:r>
              <a:rPr sz="1200" spc="-35" dirty="0">
                <a:latin typeface="Times New Roman"/>
                <a:cs typeface="Times New Roman"/>
              </a:rPr>
              <a:t> </a:t>
            </a:r>
            <a:r>
              <a:rPr sz="1200" dirty="0">
                <a:latin typeface="Times New Roman"/>
                <a:cs typeface="Times New Roman"/>
              </a:rPr>
              <a:t>sequence</a:t>
            </a:r>
            <a:r>
              <a:rPr sz="1200" spc="-30" dirty="0">
                <a:latin typeface="Times New Roman"/>
                <a:cs typeface="Times New Roman"/>
              </a:rPr>
              <a:t> </a:t>
            </a:r>
            <a:r>
              <a:rPr sz="1200" spc="-10" dirty="0">
                <a:latin typeface="Times New Roman"/>
                <a:cs typeface="Times New Roman"/>
              </a:rPr>
              <a:t>Diagram</a:t>
            </a:r>
            <a:r>
              <a:rPr sz="1200" spc="-13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45" dirty="0">
                <a:latin typeface="Times New Roman"/>
                <a:cs typeface="Times New Roman"/>
              </a:rPr>
              <a:t> </a:t>
            </a:r>
            <a:r>
              <a:rPr sz="1200" spc="-25" dirty="0">
                <a:latin typeface="Times New Roman"/>
                <a:cs typeface="Times New Roman"/>
              </a:rPr>
              <a:t>26</a:t>
            </a:r>
            <a:endParaRPr lang="en-US" sz="1200" spc="-25"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Login</a:t>
            </a:r>
            <a:r>
              <a:rPr sz="1200" spc="-20" dirty="0">
                <a:latin typeface="Times New Roman"/>
                <a:cs typeface="Times New Roman"/>
              </a:rPr>
              <a:t> </a:t>
            </a:r>
            <a:r>
              <a:rPr sz="1200" dirty="0">
                <a:latin typeface="Times New Roman"/>
                <a:cs typeface="Times New Roman"/>
              </a:rPr>
              <a:t>Sequence</a:t>
            </a:r>
            <a:r>
              <a:rPr sz="1200" spc="-20" dirty="0">
                <a:latin typeface="Times New Roman"/>
                <a:cs typeface="Times New Roman"/>
              </a:rPr>
              <a:t> </a:t>
            </a:r>
            <a:r>
              <a:rPr sz="1200" spc="-10" dirty="0">
                <a:latin typeface="Times New Roman"/>
                <a:cs typeface="Times New Roman"/>
              </a:rPr>
              <a:t>Diagram</a:t>
            </a:r>
            <a:r>
              <a:rPr sz="1200" spc="-4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40" dirty="0">
                <a:latin typeface="Times New Roman"/>
                <a:cs typeface="Times New Roman"/>
              </a:rPr>
              <a:t> </a:t>
            </a:r>
            <a:r>
              <a:rPr sz="1200" spc="-25" dirty="0">
                <a:latin typeface="Times New Roman"/>
                <a:cs typeface="Times New Roman"/>
              </a:rPr>
              <a:t>27</a:t>
            </a:r>
            <a:endParaRPr lang="en-US" sz="1200" spc="-25"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Activity</a:t>
            </a:r>
            <a:r>
              <a:rPr sz="1200" spc="-15" dirty="0">
                <a:latin typeface="Times New Roman"/>
                <a:cs typeface="Times New Roman"/>
              </a:rPr>
              <a:t> </a:t>
            </a:r>
            <a:r>
              <a:rPr sz="1200" dirty="0">
                <a:latin typeface="Times New Roman"/>
                <a:cs typeface="Times New Roman"/>
              </a:rPr>
              <a:t>Sequence</a:t>
            </a:r>
            <a:r>
              <a:rPr sz="1200" spc="-25" dirty="0">
                <a:latin typeface="Times New Roman"/>
                <a:cs typeface="Times New Roman"/>
              </a:rPr>
              <a:t> </a:t>
            </a:r>
            <a:r>
              <a:rPr sz="1200" spc="-10" dirty="0">
                <a:latin typeface="Times New Roman"/>
                <a:cs typeface="Times New Roman"/>
              </a:rPr>
              <a:t>Diagram</a:t>
            </a:r>
            <a:r>
              <a:rPr sz="1200" spc="-6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40" dirty="0">
                <a:latin typeface="Times New Roman"/>
                <a:cs typeface="Times New Roman"/>
              </a:rPr>
              <a:t> </a:t>
            </a:r>
            <a:r>
              <a:rPr sz="1200" spc="-25" dirty="0">
                <a:latin typeface="Times New Roman"/>
                <a:cs typeface="Times New Roman"/>
              </a:rPr>
              <a:t>29</a:t>
            </a:r>
            <a:endParaRPr lang="en-US" sz="1200" spc="-25"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Node</a:t>
            </a:r>
            <a:r>
              <a:rPr sz="1200" spc="-5" dirty="0">
                <a:latin typeface="Times New Roman"/>
                <a:cs typeface="Times New Roman"/>
              </a:rPr>
              <a:t> </a:t>
            </a:r>
            <a:r>
              <a:rPr sz="1200" spc="-10" dirty="0">
                <a:latin typeface="Times New Roman"/>
                <a:cs typeface="Times New Roman"/>
              </a:rPr>
              <a:t>Structure</a:t>
            </a:r>
            <a:r>
              <a:rPr sz="1200" spc="-16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30</a:t>
            </a:r>
            <a:endParaRPr lang="en-US" sz="1200" spc="-25"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Communication</a:t>
            </a:r>
            <a:r>
              <a:rPr sz="1200" spc="-45" dirty="0">
                <a:latin typeface="Times New Roman"/>
                <a:cs typeface="Times New Roman"/>
              </a:rPr>
              <a:t> </a:t>
            </a:r>
            <a:r>
              <a:rPr sz="1200" dirty="0">
                <a:latin typeface="Times New Roman"/>
                <a:cs typeface="Times New Roman"/>
              </a:rPr>
              <a:t>Design</a:t>
            </a:r>
            <a:r>
              <a:rPr sz="1200" spc="-40" dirty="0">
                <a:latin typeface="Times New Roman"/>
                <a:cs typeface="Times New Roman"/>
              </a:rPr>
              <a:t> </a:t>
            </a:r>
            <a:r>
              <a:rPr sz="1200" dirty="0">
                <a:latin typeface="Times New Roman"/>
                <a:cs typeface="Times New Roman"/>
              </a:rPr>
              <a:t>Protocol.....................................</a:t>
            </a:r>
            <a:r>
              <a:rPr lang="en-US" sz="1200" dirty="0">
                <a:latin typeface="Times New Roman"/>
                <a:cs typeface="Times New Roman"/>
              </a:rPr>
              <a:t>....</a:t>
            </a:r>
            <a:r>
              <a:rPr sz="1200" dirty="0">
                <a:latin typeface="Times New Roman"/>
                <a:cs typeface="Times New Roman"/>
              </a:rPr>
              <a:t>............................................</a:t>
            </a:r>
            <a:r>
              <a:rPr sz="1200" spc="-60" dirty="0">
                <a:latin typeface="Times New Roman"/>
                <a:cs typeface="Times New Roman"/>
              </a:rPr>
              <a:t> </a:t>
            </a:r>
            <a:r>
              <a:rPr sz="1200" spc="-25" dirty="0">
                <a:latin typeface="Times New Roman"/>
                <a:cs typeface="Times New Roman"/>
              </a:rPr>
              <a:t>31</a:t>
            </a:r>
            <a:endParaRPr lang="en-US" sz="1200" spc="-25" dirty="0">
              <a:latin typeface="Times New Roman"/>
              <a:cs typeface="Times New Roman"/>
            </a:endParaRPr>
          </a:p>
          <a:p>
            <a:pPr marL="242570" lvl="4" indent="-228600">
              <a:lnSpc>
                <a:spcPct val="100000"/>
              </a:lnSpc>
              <a:spcBef>
                <a:spcPts val="1225"/>
              </a:spcBef>
              <a:buFont typeface="+mj-lt"/>
              <a:buAutoNum type="arabicPeriod" startAt="12"/>
              <a:tabLst>
                <a:tab pos="622935" algn="l"/>
              </a:tabLst>
            </a:pPr>
            <a:r>
              <a:rPr sz="1200" dirty="0">
                <a:latin typeface="Times New Roman"/>
                <a:cs typeface="Times New Roman"/>
              </a:rPr>
              <a:t>Class</a:t>
            </a:r>
            <a:r>
              <a:rPr sz="1200" spc="-20" dirty="0">
                <a:latin typeface="Times New Roman"/>
                <a:cs typeface="Times New Roman"/>
              </a:rPr>
              <a:t> </a:t>
            </a:r>
            <a:r>
              <a:rPr sz="1200" spc="-10" dirty="0">
                <a:latin typeface="Times New Roman"/>
                <a:cs typeface="Times New Roman"/>
              </a:rPr>
              <a:t>Diagram</a:t>
            </a:r>
            <a:r>
              <a:rPr lang="en-US" sz="1200" spc="-10" dirty="0">
                <a:latin typeface="Times New Roman"/>
                <a:cs typeface="Times New Roman"/>
              </a:rPr>
              <a:t> ..................................................................................................................... </a:t>
            </a:r>
            <a:r>
              <a:rPr sz="1200" spc="-10" dirty="0">
                <a:latin typeface="Times New Roman"/>
                <a:cs typeface="Times New Roman"/>
              </a:rPr>
              <a:t>32</a:t>
            </a:r>
            <a:endParaRPr sz="1200" dirty="0">
              <a:latin typeface="Times New Roman"/>
              <a:cs typeface="Times New Roman"/>
            </a:endParaRPr>
          </a:p>
          <a:p>
            <a:pPr marL="13970">
              <a:lnSpc>
                <a:spcPct val="100000"/>
              </a:lnSpc>
              <a:spcBef>
                <a:spcPts val="1225"/>
              </a:spcBef>
            </a:pPr>
            <a:r>
              <a:rPr sz="1200" b="1" dirty="0">
                <a:latin typeface="Times New Roman"/>
                <a:cs typeface="Times New Roman"/>
              </a:rPr>
              <a:t>Chapter</a:t>
            </a:r>
            <a:r>
              <a:rPr sz="1200" b="1" spc="5" dirty="0">
                <a:latin typeface="Times New Roman"/>
                <a:cs typeface="Times New Roman"/>
              </a:rPr>
              <a:t> </a:t>
            </a:r>
            <a:r>
              <a:rPr sz="1200" b="1" dirty="0">
                <a:latin typeface="Times New Roman"/>
                <a:cs typeface="Times New Roman"/>
              </a:rPr>
              <a:t>5:</a:t>
            </a:r>
            <a:r>
              <a:rPr sz="1200" b="1" spc="10" dirty="0">
                <a:latin typeface="Times New Roman"/>
                <a:cs typeface="Times New Roman"/>
              </a:rPr>
              <a:t> </a:t>
            </a:r>
            <a:r>
              <a:rPr sz="1200" b="1" spc="-10" dirty="0">
                <a:latin typeface="Times New Roman"/>
                <a:cs typeface="Times New Roman"/>
              </a:rPr>
              <a:t>Implementation</a:t>
            </a:r>
            <a:r>
              <a:rPr sz="1200" b="1" spc="-25"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spc="-25" dirty="0">
                <a:latin typeface="Times New Roman"/>
                <a:cs typeface="Times New Roman"/>
              </a:rPr>
              <a:t>33</a:t>
            </a:r>
            <a:endParaRPr sz="1200" dirty="0">
              <a:latin typeface="Times New Roman"/>
              <a:cs typeface="Times New Roman"/>
            </a:endParaRPr>
          </a:p>
          <a:p>
            <a:pPr marL="280035" lvl="1" indent="-266065">
              <a:lnSpc>
                <a:spcPct val="100000"/>
              </a:lnSpc>
              <a:spcBef>
                <a:spcPts val="1235"/>
              </a:spcBef>
              <a:buAutoNum type="arabicPeriod"/>
              <a:tabLst>
                <a:tab pos="280035" algn="l"/>
              </a:tabLst>
            </a:pPr>
            <a:r>
              <a:rPr sz="1200" dirty="0">
                <a:latin typeface="Times New Roman"/>
                <a:cs typeface="Times New Roman"/>
              </a:rPr>
              <a:t>Introduction</a:t>
            </a:r>
            <a:r>
              <a:rPr sz="1200" spc="-1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Implementation</a:t>
            </a:r>
            <a:r>
              <a:rPr sz="1200" spc="-135"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spc="-25" dirty="0">
                <a:latin typeface="Times New Roman"/>
                <a:cs typeface="Times New Roman"/>
              </a:rPr>
              <a:t>33</a:t>
            </a:r>
            <a:endParaRPr sz="1200" dirty="0">
              <a:latin typeface="Times New Roman"/>
              <a:cs typeface="Times New Roman"/>
            </a:endParaRPr>
          </a:p>
          <a:p>
            <a:pPr marL="274320" lvl="1" indent="-260350">
              <a:lnSpc>
                <a:spcPct val="100000"/>
              </a:lnSpc>
              <a:spcBef>
                <a:spcPts val="1225"/>
              </a:spcBef>
              <a:buAutoNum type="arabicPeriod"/>
              <a:tabLst>
                <a:tab pos="274320" algn="l"/>
              </a:tabLst>
            </a:pP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Development</a:t>
            </a:r>
            <a:r>
              <a:rPr sz="1200" spc="10" dirty="0">
                <a:latin typeface="Times New Roman"/>
                <a:cs typeface="Times New Roman"/>
              </a:rPr>
              <a:t> </a:t>
            </a:r>
            <a:r>
              <a:rPr sz="1200" spc="-10" dirty="0">
                <a:latin typeface="Times New Roman"/>
                <a:cs typeface="Times New Roman"/>
              </a:rPr>
              <a:t>Environment</a:t>
            </a:r>
            <a:r>
              <a:rPr sz="1200" spc="-75"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33</a:t>
            </a:r>
            <a:endParaRPr sz="1200" dirty="0">
              <a:latin typeface="Times New Roman"/>
              <a:cs typeface="Times New Roman"/>
            </a:endParaRPr>
          </a:p>
          <a:p>
            <a:pPr marL="280035" lvl="1" indent="-266065">
              <a:lnSpc>
                <a:spcPct val="100000"/>
              </a:lnSpc>
              <a:spcBef>
                <a:spcPts val="1235"/>
              </a:spcBef>
              <a:buAutoNum type="arabicPeriod"/>
              <a:tabLst>
                <a:tab pos="280035" algn="l"/>
              </a:tabLst>
            </a:pPr>
            <a:r>
              <a:rPr sz="1200" dirty="0">
                <a:latin typeface="Times New Roman"/>
                <a:cs typeface="Times New Roman"/>
              </a:rPr>
              <a:t>Backend</a:t>
            </a:r>
            <a:r>
              <a:rPr sz="1200" spc="15" dirty="0">
                <a:latin typeface="Times New Roman"/>
                <a:cs typeface="Times New Roman"/>
              </a:rPr>
              <a:t> </a:t>
            </a:r>
            <a:r>
              <a:rPr sz="1200" spc="-10" dirty="0">
                <a:latin typeface="Times New Roman"/>
                <a:cs typeface="Times New Roman"/>
              </a:rPr>
              <a:t>Implementation</a:t>
            </a:r>
            <a:r>
              <a:rPr sz="1200" spc="-17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33</a:t>
            </a:r>
            <a:endParaRPr lang="en-US" sz="1200" spc="-25" dirty="0">
              <a:latin typeface="Times New Roman"/>
              <a:cs typeface="Times New Roman"/>
            </a:endParaRPr>
          </a:p>
          <a:p>
            <a:pPr marL="280035" lvl="1" indent="-266065">
              <a:lnSpc>
                <a:spcPct val="100000"/>
              </a:lnSpc>
              <a:spcBef>
                <a:spcPts val="1235"/>
              </a:spcBef>
              <a:buAutoNum type="arabicPeriod"/>
              <a:tabLst>
                <a:tab pos="280035" algn="l"/>
              </a:tabLst>
            </a:pPr>
            <a:r>
              <a:rPr sz="1200" dirty="0">
                <a:latin typeface="Times New Roman"/>
                <a:cs typeface="Times New Roman"/>
              </a:rPr>
              <a:t>Frontend</a:t>
            </a:r>
            <a:r>
              <a:rPr sz="1200" spc="15" dirty="0">
                <a:latin typeface="Times New Roman"/>
                <a:cs typeface="Times New Roman"/>
              </a:rPr>
              <a:t> </a:t>
            </a:r>
            <a:r>
              <a:rPr sz="1200" spc="-10" dirty="0">
                <a:latin typeface="Times New Roman"/>
                <a:cs typeface="Times New Roman"/>
              </a:rPr>
              <a:t>Implementation:</a:t>
            </a:r>
            <a:r>
              <a:rPr sz="1200" spc="-55"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34</a:t>
            </a:r>
            <a:endParaRPr sz="12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viii</a:t>
            </a:r>
            <a:endParaRPr spc="-20" dirty="0"/>
          </a:p>
        </p:txBody>
      </p:sp>
      <p:sp>
        <p:nvSpPr>
          <p:cNvPr id="2" name="object 2"/>
          <p:cNvSpPr txBox="1"/>
          <p:nvPr/>
        </p:nvSpPr>
        <p:spPr>
          <a:xfrm>
            <a:off x="1176324" y="891285"/>
            <a:ext cx="5694680" cy="7153240"/>
          </a:xfrm>
          <a:prstGeom prst="rect">
            <a:avLst/>
          </a:prstGeom>
        </p:spPr>
        <p:txBody>
          <a:bodyPr vert="horz" wrap="square" lIns="0" tIns="12700" rIns="0" bIns="0" rtlCol="0">
            <a:spAutoFit/>
          </a:bodyPr>
          <a:lstStyle/>
          <a:p>
            <a:pPr marL="243840" indent="-228600">
              <a:lnSpc>
                <a:spcPct val="100000"/>
              </a:lnSpc>
              <a:spcBef>
                <a:spcPts val="100"/>
              </a:spcBef>
              <a:buFont typeface="+mj-lt"/>
              <a:buAutoNum type="arabicPeriod" startAt="5"/>
            </a:pPr>
            <a:r>
              <a:rPr sz="1200" spc="-10" dirty="0">
                <a:latin typeface="Times New Roman"/>
                <a:cs typeface="Times New Roman"/>
              </a:rPr>
              <a:t>Real-</a:t>
            </a:r>
            <a:r>
              <a:rPr sz="1200" dirty="0">
                <a:latin typeface="Times New Roman"/>
                <a:cs typeface="Times New Roman"/>
              </a:rPr>
              <a:t>Time Bidding</a:t>
            </a:r>
            <a:r>
              <a:rPr sz="1200" spc="-5" dirty="0">
                <a:latin typeface="Times New Roman"/>
                <a:cs typeface="Times New Roman"/>
              </a:rPr>
              <a:t> </a:t>
            </a:r>
            <a:r>
              <a:rPr sz="1200" spc="-10" dirty="0">
                <a:latin typeface="Times New Roman"/>
                <a:cs typeface="Times New Roman"/>
              </a:rPr>
              <a:t>System:</a:t>
            </a:r>
            <a:r>
              <a:rPr sz="1200" spc="-6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0" dirty="0">
                <a:latin typeface="Times New Roman"/>
                <a:cs typeface="Times New Roman"/>
              </a:rPr>
              <a:t> </a:t>
            </a:r>
            <a:r>
              <a:rPr sz="1200" spc="-25" dirty="0">
                <a:latin typeface="Times New Roman"/>
                <a:cs typeface="Times New Roman"/>
              </a:rPr>
              <a:t>34</a:t>
            </a:r>
            <a:endParaRPr sz="1200" dirty="0">
              <a:latin typeface="Times New Roman"/>
              <a:cs typeface="Times New Roman"/>
            </a:endParaRPr>
          </a:p>
          <a:p>
            <a:pPr marL="243204" lvl="1" indent="-227965">
              <a:lnSpc>
                <a:spcPct val="100000"/>
              </a:lnSpc>
              <a:spcBef>
                <a:spcPts val="1225"/>
              </a:spcBef>
              <a:buAutoNum type="arabicPeriod" startAt="6"/>
              <a:tabLst>
                <a:tab pos="243204" algn="l"/>
              </a:tabLst>
            </a:pPr>
            <a:r>
              <a:rPr sz="1200" dirty="0">
                <a:latin typeface="Times New Roman"/>
                <a:cs typeface="Times New Roman"/>
              </a:rPr>
              <a:t>AI </a:t>
            </a:r>
            <a:r>
              <a:rPr sz="1200" spc="-10" dirty="0">
                <a:latin typeface="Times New Roman"/>
                <a:cs typeface="Times New Roman"/>
              </a:rPr>
              <a:t>Modules</a:t>
            </a:r>
            <a:r>
              <a:rPr sz="1200" spc="-125" dirty="0">
                <a:latin typeface="Times New Roman"/>
                <a:cs typeface="Times New Roman"/>
              </a:rPr>
              <a:t> </a:t>
            </a:r>
            <a:r>
              <a:rPr sz="1200" dirty="0">
                <a:latin typeface="Times New Roman"/>
                <a:cs typeface="Times New Roman"/>
              </a:rPr>
              <a:t>...................................................................................................................... </a:t>
            </a:r>
            <a:r>
              <a:rPr sz="1200" spc="-25" dirty="0">
                <a:latin typeface="Times New Roman"/>
                <a:cs typeface="Times New Roman"/>
              </a:rPr>
              <a:t>34</a:t>
            </a:r>
            <a:endParaRPr lang="en-US" sz="1200" spc="-25" dirty="0">
              <a:latin typeface="Times New Roman"/>
              <a:cs typeface="Times New Roman"/>
            </a:endParaRPr>
          </a:p>
          <a:p>
            <a:pPr marL="243204" lvl="1" indent="-227965">
              <a:lnSpc>
                <a:spcPct val="100000"/>
              </a:lnSpc>
              <a:spcBef>
                <a:spcPts val="1225"/>
              </a:spcBef>
              <a:buAutoNum type="arabicPeriod" startAt="6"/>
              <a:tabLst>
                <a:tab pos="243204" algn="l"/>
              </a:tabLst>
            </a:pPr>
            <a:r>
              <a:rPr sz="1200" dirty="0">
                <a:latin typeface="Times New Roman"/>
                <a:cs typeface="Times New Roman"/>
              </a:rPr>
              <a:t>Price</a:t>
            </a:r>
            <a:r>
              <a:rPr sz="1200" spc="-15" dirty="0">
                <a:latin typeface="Times New Roman"/>
                <a:cs typeface="Times New Roman"/>
              </a:rPr>
              <a:t> </a:t>
            </a:r>
            <a:r>
              <a:rPr sz="1200" dirty="0">
                <a:latin typeface="Times New Roman"/>
                <a:cs typeface="Times New Roman"/>
              </a:rPr>
              <a:t>Suggestion</a:t>
            </a:r>
            <a:r>
              <a:rPr sz="1200" spc="-5" dirty="0">
                <a:latin typeface="Times New Roman"/>
                <a:cs typeface="Times New Roman"/>
              </a:rPr>
              <a:t> </a:t>
            </a:r>
            <a:r>
              <a:rPr sz="1200" dirty="0">
                <a:latin typeface="Times New Roman"/>
                <a:cs typeface="Times New Roman"/>
              </a:rPr>
              <a:t>Model</a:t>
            </a:r>
            <a:r>
              <a:rPr lang="en-US" sz="120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0" dirty="0">
                <a:latin typeface="Times New Roman"/>
                <a:cs typeface="Times New Roman"/>
              </a:rPr>
              <a:t> </a:t>
            </a:r>
            <a:r>
              <a:rPr sz="1200" spc="-25" dirty="0">
                <a:latin typeface="Times New Roman"/>
                <a:cs typeface="Times New Roman"/>
              </a:rPr>
              <a:t>3</a:t>
            </a:r>
            <a:r>
              <a:rPr lang="en-US" sz="1200" spc="-25" dirty="0">
                <a:latin typeface="Times New Roman"/>
                <a:cs typeface="Times New Roman"/>
              </a:rPr>
              <a:t>4</a:t>
            </a:r>
          </a:p>
          <a:p>
            <a:pPr marL="243204" lvl="1" indent="-227965">
              <a:lnSpc>
                <a:spcPct val="100000"/>
              </a:lnSpc>
              <a:spcBef>
                <a:spcPts val="1225"/>
              </a:spcBef>
              <a:buAutoNum type="arabicPeriod" startAt="6"/>
              <a:tabLst>
                <a:tab pos="243204" algn="l"/>
              </a:tabLst>
            </a:pPr>
            <a:r>
              <a:rPr lang="en-US" sz="1200" dirty="0">
                <a:latin typeface="Times New Roman"/>
                <a:cs typeface="Times New Roman"/>
              </a:rPr>
              <a:t>Data</a:t>
            </a:r>
            <a:r>
              <a:rPr lang="en-US" sz="1200" spc="-5" dirty="0">
                <a:latin typeface="Times New Roman"/>
                <a:cs typeface="Times New Roman"/>
              </a:rPr>
              <a:t> </a:t>
            </a:r>
            <a:r>
              <a:rPr lang="en-US" sz="1200" dirty="0">
                <a:latin typeface="Times New Roman"/>
                <a:cs typeface="Times New Roman"/>
              </a:rPr>
              <a:t>Base </a:t>
            </a:r>
            <a:r>
              <a:rPr lang="en-US" sz="1200" spc="-10" dirty="0">
                <a:latin typeface="Times New Roman"/>
                <a:cs typeface="Times New Roman"/>
              </a:rPr>
              <a:t>Integration</a:t>
            </a:r>
            <a:r>
              <a:rPr lang="en-US" sz="1200" spc="-45" dirty="0">
                <a:latin typeface="Times New Roman"/>
                <a:cs typeface="Times New Roman"/>
              </a:rPr>
              <a:t> </a:t>
            </a:r>
            <a:r>
              <a:rPr lang="en-US" sz="1200" dirty="0">
                <a:latin typeface="Times New Roman"/>
                <a:cs typeface="Times New Roman"/>
              </a:rPr>
              <a:t>......................................................................................................</a:t>
            </a:r>
            <a:r>
              <a:rPr lang="en-US" sz="1200" spc="-30" dirty="0">
                <a:latin typeface="Times New Roman"/>
                <a:cs typeface="Times New Roman"/>
              </a:rPr>
              <a:t> </a:t>
            </a:r>
            <a:r>
              <a:rPr lang="en-US" sz="1200" spc="-25" dirty="0">
                <a:latin typeface="Times New Roman"/>
                <a:cs typeface="Times New Roman"/>
              </a:rPr>
              <a:t>35</a:t>
            </a:r>
          </a:p>
          <a:p>
            <a:pPr marL="243204" lvl="1" indent="-227965">
              <a:lnSpc>
                <a:spcPct val="100000"/>
              </a:lnSpc>
              <a:spcBef>
                <a:spcPts val="1225"/>
              </a:spcBef>
              <a:buAutoNum type="arabicPeriod" startAt="6"/>
              <a:tabLst>
                <a:tab pos="243204" algn="l"/>
              </a:tabLst>
            </a:pPr>
            <a:r>
              <a:rPr lang="en-US" sz="1200" dirty="0">
                <a:latin typeface="Times New Roman"/>
                <a:cs typeface="Times New Roman"/>
              </a:rPr>
              <a:t>Security</a:t>
            </a:r>
            <a:r>
              <a:rPr lang="en-US" sz="1200" spc="5" dirty="0">
                <a:latin typeface="Times New Roman"/>
                <a:cs typeface="Times New Roman"/>
              </a:rPr>
              <a:t> </a:t>
            </a:r>
            <a:r>
              <a:rPr lang="en-US" sz="1200" dirty="0">
                <a:latin typeface="Times New Roman"/>
                <a:cs typeface="Times New Roman"/>
              </a:rPr>
              <a:t>and </a:t>
            </a:r>
            <a:r>
              <a:rPr lang="en-US" sz="1200" spc="-10" dirty="0">
                <a:latin typeface="Times New Roman"/>
                <a:cs typeface="Times New Roman"/>
              </a:rPr>
              <a:t>Authentication</a:t>
            </a:r>
            <a:r>
              <a:rPr lang="en-US" sz="1200" spc="-35" dirty="0">
                <a:latin typeface="Times New Roman"/>
                <a:cs typeface="Times New Roman"/>
              </a:rPr>
              <a:t> </a:t>
            </a:r>
            <a:r>
              <a:rPr lang="en-US" sz="1200" dirty="0">
                <a:latin typeface="Times New Roman"/>
                <a:cs typeface="Times New Roman"/>
              </a:rPr>
              <a:t>............................................................................................</a:t>
            </a:r>
            <a:r>
              <a:rPr lang="en-US" sz="1200" spc="-25" dirty="0">
                <a:latin typeface="Times New Roman"/>
                <a:cs typeface="Times New Roman"/>
              </a:rPr>
              <a:t> 36</a:t>
            </a:r>
            <a:endParaRPr lang="en-US" sz="1200" dirty="0">
              <a:latin typeface="Times New Roman"/>
              <a:cs typeface="Times New Roman"/>
            </a:endParaRPr>
          </a:p>
          <a:p>
            <a:pPr marL="243204" lvl="1" indent="-227965">
              <a:lnSpc>
                <a:spcPct val="100000"/>
              </a:lnSpc>
              <a:spcBef>
                <a:spcPts val="1225"/>
              </a:spcBef>
              <a:buAutoNum type="arabicPeriod" startAt="6"/>
              <a:tabLst>
                <a:tab pos="243204" algn="l"/>
              </a:tabLst>
            </a:pPr>
            <a:r>
              <a:rPr lang="en-US" sz="1200" spc="-10" dirty="0">
                <a:latin typeface="Times New Roman"/>
                <a:cs typeface="Times New Roman"/>
              </a:rPr>
              <a:t>Deployment</a:t>
            </a:r>
            <a:r>
              <a:rPr lang="en-US" sz="1200" spc="20" dirty="0">
                <a:latin typeface="Times New Roman"/>
                <a:cs typeface="Times New Roman"/>
              </a:rPr>
              <a:t> </a:t>
            </a:r>
            <a:r>
              <a:rPr lang="en-US" sz="1200" spc="-10" dirty="0">
                <a:latin typeface="Times New Roman"/>
                <a:cs typeface="Times New Roman"/>
              </a:rPr>
              <a:t>Overview</a:t>
            </a:r>
            <a:r>
              <a:rPr lang="en-US" sz="1200" spc="-165" dirty="0">
                <a:latin typeface="Times New Roman"/>
                <a:cs typeface="Times New Roman"/>
              </a:rPr>
              <a:t> </a:t>
            </a:r>
            <a:r>
              <a:rPr lang="en-US" sz="1200" dirty="0">
                <a:latin typeface="Times New Roman"/>
                <a:cs typeface="Times New Roman"/>
              </a:rPr>
              <a:t>.....................................................................................................</a:t>
            </a:r>
            <a:r>
              <a:rPr lang="en-US" sz="1200" spc="-5" dirty="0">
                <a:latin typeface="Times New Roman"/>
                <a:cs typeface="Times New Roman"/>
              </a:rPr>
              <a:t> </a:t>
            </a:r>
            <a:r>
              <a:rPr lang="en-US" sz="1200" spc="-25" dirty="0">
                <a:latin typeface="Times New Roman"/>
                <a:cs typeface="Times New Roman"/>
              </a:rPr>
              <a:t>36</a:t>
            </a:r>
          </a:p>
          <a:p>
            <a:pPr marL="243204" lvl="1" indent="-227965">
              <a:lnSpc>
                <a:spcPct val="100000"/>
              </a:lnSpc>
              <a:spcBef>
                <a:spcPts val="1225"/>
              </a:spcBef>
              <a:buAutoNum type="arabicPeriod" startAt="6"/>
              <a:tabLst>
                <a:tab pos="243204" algn="l"/>
              </a:tabLst>
            </a:pP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Screenshots</a:t>
            </a:r>
            <a:r>
              <a:rPr sz="1200" spc="-6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45" dirty="0">
                <a:latin typeface="Times New Roman"/>
                <a:cs typeface="Times New Roman"/>
              </a:rPr>
              <a:t> </a:t>
            </a:r>
            <a:r>
              <a:rPr sz="1200" spc="-25" dirty="0">
                <a:latin typeface="Times New Roman"/>
                <a:cs typeface="Times New Roman"/>
              </a:rPr>
              <a:t>36</a:t>
            </a:r>
            <a:endParaRPr sz="1200" dirty="0">
              <a:latin typeface="Times New Roman"/>
              <a:cs typeface="Times New Roman"/>
            </a:endParaRPr>
          </a:p>
          <a:p>
            <a:pPr marL="15240">
              <a:lnSpc>
                <a:spcPct val="100000"/>
              </a:lnSpc>
              <a:spcBef>
                <a:spcPts val="1235"/>
              </a:spcBef>
            </a:pPr>
            <a:r>
              <a:rPr sz="1200" b="1" dirty="0">
                <a:latin typeface="Times New Roman"/>
                <a:cs typeface="Times New Roman"/>
              </a:rPr>
              <a:t>Chapter</a:t>
            </a:r>
            <a:r>
              <a:rPr sz="1200" b="1" spc="-20" dirty="0">
                <a:latin typeface="Times New Roman"/>
                <a:cs typeface="Times New Roman"/>
              </a:rPr>
              <a:t> </a:t>
            </a:r>
            <a:r>
              <a:rPr sz="1200" b="1" dirty="0">
                <a:latin typeface="Times New Roman"/>
                <a:cs typeface="Times New Roman"/>
              </a:rPr>
              <a:t>6:</a:t>
            </a:r>
            <a:r>
              <a:rPr lang="en-US" sz="1200" b="1" dirty="0">
                <a:latin typeface="Times New Roman"/>
                <a:cs typeface="Times New Roman"/>
              </a:rPr>
              <a:t> </a:t>
            </a:r>
            <a:r>
              <a:rPr sz="1200" b="1" dirty="0">
                <a:latin typeface="Times New Roman"/>
                <a:cs typeface="Times New Roman"/>
              </a:rPr>
              <a:t>Testing</a:t>
            </a:r>
            <a:r>
              <a:rPr sz="1200" b="1" spc="-5" dirty="0">
                <a:latin typeface="Times New Roman"/>
                <a:cs typeface="Times New Roman"/>
              </a:rPr>
              <a:t> </a:t>
            </a:r>
            <a:r>
              <a:rPr sz="1200" b="1" dirty="0">
                <a:latin typeface="Times New Roman"/>
                <a:cs typeface="Times New Roman"/>
              </a:rPr>
              <a:t>And</a:t>
            </a:r>
            <a:r>
              <a:rPr sz="1200" b="1" spc="-5" dirty="0">
                <a:latin typeface="Times New Roman"/>
                <a:cs typeface="Times New Roman"/>
              </a:rPr>
              <a:t> </a:t>
            </a:r>
            <a:r>
              <a:rPr sz="1200" b="1" dirty="0">
                <a:latin typeface="Times New Roman"/>
                <a:cs typeface="Times New Roman"/>
              </a:rPr>
              <a:t>Evaluation</a:t>
            </a:r>
            <a:r>
              <a:rPr sz="1200" b="1" spc="-160" dirty="0">
                <a:latin typeface="Times New Roman"/>
                <a:cs typeface="Times New Roman"/>
              </a:rPr>
              <a:t> </a:t>
            </a:r>
            <a:r>
              <a:rPr sz="1200" b="1" dirty="0">
                <a:latin typeface="Times New Roman"/>
                <a:cs typeface="Times New Roman"/>
              </a:rPr>
              <a:t>...................................................................................</a:t>
            </a:r>
            <a:r>
              <a:rPr sz="1200" b="1" spc="-30" dirty="0">
                <a:latin typeface="Times New Roman"/>
                <a:cs typeface="Times New Roman"/>
              </a:rPr>
              <a:t> </a:t>
            </a:r>
            <a:r>
              <a:rPr sz="1200" b="1" spc="-25" dirty="0">
                <a:latin typeface="Times New Roman"/>
                <a:cs typeface="Times New Roman"/>
              </a:rPr>
              <a:t>43</a:t>
            </a:r>
            <a:endParaRPr sz="1200" dirty="0">
              <a:latin typeface="Times New Roman"/>
              <a:cs typeface="Times New Roman"/>
            </a:endParaRPr>
          </a:p>
          <a:p>
            <a:pPr marL="245745" lvl="1" indent="-228600">
              <a:lnSpc>
                <a:spcPct val="100000"/>
              </a:lnSpc>
              <a:spcBef>
                <a:spcPts val="1225"/>
              </a:spcBef>
              <a:buSzPct val="95833"/>
              <a:buFont typeface="+mj-lt"/>
              <a:buAutoNum type="arabicPeriod"/>
              <a:tabLst>
                <a:tab pos="321310" algn="l"/>
              </a:tabLst>
            </a:pPr>
            <a:r>
              <a:rPr sz="1200" dirty="0">
                <a:latin typeface="Times New Roman"/>
                <a:cs typeface="Times New Roman"/>
              </a:rPr>
              <a:t>Introduction</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testing</a:t>
            </a:r>
            <a:r>
              <a:rPr lang="en-US" sz="120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30" dirty="0">
                <a:latin typeface="Times New Roman"/>
                <a:cs typeface="Times New Roman"/>
              </a:rPr>
              <a:t> </a:t>
            </a:r>
            <a:r>
              <a:rPr sz="1200" spc="-25" dirty="0">
                <a:latin typeface="Times New Roman"/>
                <a:cs typeface="Times New Roman"/>
              </a:rPr>
              <a:t>43</a:t>
            </a:r>
            <a:endParaRPr sz="1200" dirty="0">
              <a:latin typeface="Times New Roman"/>
              <a:cs typeface="Times New Roman"/>
            </a:endParaRPr>
          </a:p>
          <a:p>
            <a:pPr marL="237490" lvl="1" indent="-228600">
              <a:lnSpc>
                <a:spcPct val="100000"/>
              </a:lnSpc>
              <a:spcBef>
                <a:spcPts val="1235"/>
              </a:spcBef>
              <a:buSzPct val="95833"/>
              <a:buFont typeface="+mj-lt"/>
              <a:buAutoNum type="arabicPeriod"/>
              <a:tabLst>
                <a:tab pos="240665" algn="l"/>
              </a:tabLst>
            </a:pPr>
            <a:r>
              <a:rPr lang="en-US" sz="1200" dirty="0">
                <a:latin typeface="Times New Roman"/>
                <a:cs typeface="Times New Roman"/>
              </a:rPr>
              <a:t> </a:t>
            </a:r>
            <a:r>
              <a:rPr sz="1200" dirty="0">
                <a:latin typeface="Times New Roman"/>
                <a:cs typeface="Times New Roman"/>
              </a:rPr>
              <a:t>Functional</a:t>
            </a:r>
            <a:r>
              <a:rPr lang="en-US" sz="1200" dirty="0">
                <a:latin typeface="Times New Roman"/>
                <a:cs typeface="Times New Roman"/>
              </a:rPr>
              <a:t> T</a:t>
            </a:r>
            <a:r>
              <a:rPr sz="1200" dirty="0">
                <a:latin typeface="Times New Roman"/>
                <a:cs typeface="Times New Roman"/>
              </a:rPr>
              <a:t>esting</a:t>
            </a:r>
            <a:r>
              <a:rPr lang="en-US" sz="1200" spc="-10" dirty="0">
                <a:latin typeface="Times New Roman"/>
                <a:cs typeface="Times New Roman"/>
              </a:rPr>
              <a:t> </a:t>
            </a:r>
            <a:r>
              <a:rPr sz="1200" spc="-10" dirty="0">
                <a:latin typeface="Times New Roman"/>
                <a:cs typeface="Times New Roman"/>
              </a:rPr>
              <a:t>...............</a:t>
            </a:r>
            <a:r>
              <a:rPr lang="en-US" sz="1200" spc="-10" dirty="0">
                <a:latin typeface="Times New Roman"/>
                <a:cs typeface="Times New Roman"/>
              </a:rPr>
              <a:t>.</a:t>
            </a:r>
            <a:r>
              <a:rPr sz="1200" spc="-10" dirty="0">
                <a:latin typeface="Times New Roman"/>
                <a:cs typeface="Times New Roman"/>
              </a:rPr>
              <a:t>....................................................................</a:t>
            </a:r>
            <a:r>
              <a:rPr lang="en-US" sz="1200" spc="-10" dirty="0">
                <a:latin typeface="Times New Roman"/>
                <a:cs typeface="Times New Roman"/>
              </a:rPr>
              <a:t>..</a:t>
            </a:r>
            <a:r>
              <a:rPr sz="1200" spc="-10" dirty="0">
                <a:latin typeface="Times New Roman"/>
                <a:cs typeface="Times New Roman"/>
              </a:rPr>
              <a:t>.....................</a:t>
            </a:r>
            <a:r>
              <a:rPr lang="en-US" sz="1200" spc="130" dirty="0">
                <a:latin typeface="Times New Roman"/>
                <a:cs typeface="Times New Roman"/>
              </a:rPr>
              <a:t>.</a:t>
            </a:r>
            <a:r>
              <a:rPr sz="1200" spc="130" dirty="0">
                <a:latin typeface="Times New Roman"/>
                <a:cs typeface="Times New Roman"/>
              </a:rPr>
              <a:t> </a:t>
            </a:r>
            <a:r>
              <a:rPr sz="1200" spc="-25" dirty="0">
                <a:latin typeface="Times New Roman"/>
                <a:cs typeface="Times New Roman"/>
              </a:rPr>
              <a:t>43</a:t>
            </a:r>
            <a:endParaRPr sz="1200" dirty="0">
              <a:latin typeface="Times New Roman"/>
              <a:cs typeface="Times New Roman"/>
            </a:endParaRPr>
          </a:p>
          <a:p>
            <a:pPr marL="241300" lvl="1" indent="-228600">
              <a:lnSpc>
                <a:spcPct val="100000"/>
              </a:lnSpc>
              <a:spcBef>
                <a:spcPts val="1225"/>
              </a:spcBef>
              <a:buSzPct val="95833"/>
              <a:buFont typeface="+mj-lt"/>
              <a:buAutoNum type="arabicPeriod"/>
              <a:tabLst>
                <a:tab pos="278765" algn="l"/>
              </a:tabLst>
            </a:pPr>
            <a:r>
              <a:rPr sz="1200" dirty="0">
                <a:latin typeface="Times New Roman"/>
                <a:cs typeface="Times New Roman"/>
              </a:rPr>
              <a:t>Unit</a:t>
            </a:r>
            <a:r>
              <a:rPr sz="1200" spc="-45" dirty="0">
                <a:latin typeface="Times New Roman"/>
                <a:cs typeface="Times New Roman"/>
              </a:rPr>
              <a:t> </a:t>
            </a:r>
            <a:r>
              <a:rPr sz="1200" spc="-10" dirty="0">
                <a:latin typeface="Times New Roman"/>
                <a:cs typeface="Times New Roman"/>
              </a:rPr>
              <a:t>Testing</a:t>
            </a:r>
            <a:r>
              <a:rPr sz="1200" spc="-2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20" dirty="0">
                <a:latin typeface="Times New Roman"/>
                <a:cs typeface="Times New Roman"/>
              </a:rPr>
              <a:t> </a:t>
            </a:r>
            <a:r>
              <a:rPr sz="1200" spc="-25" dirty="0">
                <a:latin typeface="Times New Roman"/>
                <a:cs typeface="Times New Roman"/>
              </a:rPr>
              <a:t>44</a:t>
            </a:r>
            <a:endParaRPr sz="1200" dirty="0">
              <a:latin typeface="Times New Roman"/>
              <a:cs typeface="Times New Roman"/>
            </a:endParaRPr>
          </a:p>
          <a:p>
            <a:pPr marL="251460" lvl="1" indent="-228600">
              <a:lnSpc>
                <a:spcPct val="100000"/>
              </a:lnSpc>
              <a:spcBef>
                <a:spcPts val="1235"/>
              </a:spcBef>
              <a:buSzPct val="95833"/>
              <a:buFont typeface="+mj-lt"/>
              <a:buAutoNum type="arabicPeriod"/>
              <a:tabLst>
                <a:tab pos="288925" algn="l"/>
              </a:tabLst>
            </a:pPr>
            <a:r>
              <a:rPr sz="1200" dirty="0">
                <a:latin typeface="Times New Roman"/>
                <a:cs typeface="Times New Roman"/>
              </a:rPr>
              <a:t>Integration</a:t>
            </a:r>
            <a:r>
              <a:rPr lang="en-US" sz="1200" dirty="0">
                <a:latin typeface="Times New Roman"/>
                <a:cs typeface="Times New Roman"/>
              </a:rPr>
              <a:t> </a:t>
            </a:r>
            <a:r>
              <a:rPr sz="1200" dirty="0">
                <a:latin typeface="Times New Roman"/>
                <a:cs typeface="Times New Roman"/>
              </a:rPr>
              <a:t>Testin</a:t>
            </a:r>
            <a:r>
              <a:rPr lang="en-US" sz="1200" dirty="0">
                <a:latin typeface="Times New Roman"/>
                <a:cs typeface="Times New Roman"/>
              </a:rPr>
              <a:t>g </a:t>
            </a:r>
            <a:r>
              <a:rPr sz="1200" spc="-10" dirty="0">
                <a:latin typeface="Times New Roman"/>
                <a:cs typeface="Times New Roman"/>
              </a:rPr>
              <a:t>.....................................................</a:t>
            </a:r>
            <a:r>
              <a:rPr lang="en-US" sz="1200" spc="-10" dirty="0">
                <a:latin typeface="Times New Roman"/>
                <a:cs typeface="Times New Roman"/>
              </a:rPr>
              <a:t>..</a:t>
            </a:r>
            <a:r>
              <a:rPr sz="1200" spc="-10" dirty="0">
                <a:latin typeface="Times New Roman"/>
                <a:cs typeface="Times New Roman"/>
              </a:rPr>
              <a:t>...................................................</a:t>
            </a:r>
            <a:r>
              <a:rPr lang="en-US" sz="1200" spc="-10" dirty="0">
                <a:latin typeface="Times New Roman"/>
                <a:cs typeface="Times New Roman"/>
              </a:rPr>
              <a:t>..</a:t>
            </a:r>
            <a:r>
              <a:rPr sz="1200" spc="130" dirty="0">
                <a:latin typeface="Times New Roman"/>
                <a:cs typeface="Times New Roman"/>
              </a:rPr>
              <a:t> </a:t>
            </a:r>
            <a:r>
              <a:rPr sz="1200" spc="-25" dirty="0">
                <a:latin typeface="Times New Roman"/>
                <a:cs typeface="Times New Roman"/>
              </a:rPr>
              <a:t>45</a:t>
            </a:r>
            <a:endParaRPr sz="1200" dirty="0">
              <a:latin typeface="Times New Roman"/>
              <a:cs typeface="Times New Roman"/>
            </a:endParaRPr>
          </a:p>
          <a:p>
            <a:pPr marL="247015" lvl="1" indent="-228600">
              <a:lnSpc>
                <a:spcPct val="100000"/>
              </a:lnSpc>
              <a:spcBef>
                <a:spcPts val="1225"/>
              </a:spcBef>
              <a:buSzPct val="95833"/>
              <a:buFont typeface="+mj-lt"/>
              <a:buAutoNum type="arabicPeriod"/>
              <a:tabLst>
                <a:tab pos="284480" algn="l"/>
              </a:tabLst>
            </a:pPr>
            <a:r>
              <a:rPr sz="1200" dirty="0">
                <a:latin typeface="Times New Roman"/>
                <a:cs typeface="Times New Roman"/>
              </a:rPr>
              <a:t>System</a:t>
            </a:r>
            <a:r>
              <a:rPr sz="1200" spc="-50" dirty="0">
                <a:latin typeface="Times New Roman"/>
                <a:cs typeface="Times New Roman"/>
              </a:rPr>
              <a:t> </a:t>
            </a:r>
            <a:r>
              <a:rPr sz="1200" spc="-10" dirty="0">
                <a:latin typeface="Times New Roman"/>
                <a:cs typeface="Times New Roman"/>
              </a:rPr>
              <a:t>Testing</a:t>
            </a:r>
            <a:r>
              <a:rPr sz="1200" spc="-2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a:t>
            </a:r>
            <a:r>
              <a:rPr sz="1200" spc="-25" dirty="0">
                <a:latin typeface="Times New Roman"/>
                <a:cs typeface="Times New Roman"/>
              </a:rPr>
              <a:t> 45</a:t>
            </a:r>
            <a:endParaRPr lang="en-US" sz="1200" dirty="0">
              <a:latin typeface="Times New Roman"/>
              <a:cs typeface="Times New Roman"/>
            </a:endParaRPr>
          </a:p>
          <a:p>
            <a:pPr marL="247015" lvl="1" indent="-228600">
              <a:lnSpc>
                <a:spcPct val="100000"/>
              </a:lnSpc>
              <a:spcBef>
                <a:spcPts val="1225"/>
              </a:spcBef>
              <a:buSzPct val="95833"/>
              <a:buFont typeface="+mj-lt"/>
              <a:buAutoNum type="arabicPeriod"/>
              <a:tabLst>
                <a:tab pos="284480" algn="l"/>
              </a:tabLst>
            </a:pPr>
            <a:r>
              <a:rPr sz="1200" spc="-10" dirty="0">
                <a:latin typeface="Times New Roman"/>
                <a:cs typeface="Times New Roman"/>
              </a:rPr>
              <a:t>Performance</a:t>
            </a:r>
            <a:r>
              <a:rPr sz="1200" spc="25" dirty="0">
                <a:latin typeface="Times New Roman"/>
                <a:cs typeface="Times New Roman"/>
              </a:rPr>
              <a:t> </a:t>
            </a:r>
            <a:r>
              <a:rPr sz="1200" spc="-10" dirty="0">
                <a:latin typeface="Times New Roman"/>
                <a:cs typeface="Times New Roman"/>
              </a:rPr>
              <a:t>Testing</a:t>
            </a:r>
            <a:r>
              <a:rPr lang="en-US" sz="1200" spc="-10" dirty="0">
                <a:latin typeface="Times New Roman"/>
                <a:cs typeface="Times New Roman"/>
              </a:rPr>
              <a:t> </a:t>
            </a:r>
            <a:r>
              <a:rPr sz="1200" spc="-10" dirty="0">
                <a:latin typeface="Times New Roman"/>
                <a:cs typeface="Times New Roman"/>
              </a:rPr>
              <a:t>......................................................................................................</a:t>
            </a:r>
            <a:r>
              <a:rPr lang="en-US" sz="1200" spc="-10" dirty="0">
                <a:latin typeface="Times New Roman"/>
                <a:cs typeface="Times New Roman"/>
              </a:rPr>
              <a:t>.... </a:t>
            </a:r>
            <a:r>
              <a:rPr sz="1200" spc="-10" dirty="0">
                <a:latin typeface="Times New Roman"/>
                <a:cs typeface="Times New Roman"/>
              </a:rPr>
              <a:t>46</a:t>
            </a:r>
            <a:endParaRPr sz="1200" dirty="0">
              <a:latin typeface="Times New Roman"/>
              <a:cs typeface="Times New Roman"/>
            </a:endParaRPr>
          </a:p>
          <a:p>
            <a:pPr marL="255904" lvl="1" indent="-227965">
              <a:lnSpc>
                <a:spcPct val="100000"/>
              </a:lnSpc>
              <a:spcBef>
                <a:spcPts val="1225"/>
              </a:spcBef>
              <a:buSzPct val="91666"/>
              <a:buAutoNum type="arabicPeriod" startAt="7"/>
              <a:tabLst>
                <a:tab pos="255904" algn="l"/>
              </a:tabLst>
            </a:pPr>
            <a:r>
              <a:rPr sz="1200" dirty="0">
                <a:latin typeface="Times New Roman"/>
                <a:cs typeface="Times New Roman"/>
              </a:rPr>
              <a:t>Security Testing</a:t>
            </a:r>
            <a:r>
              <a:rPr lang="en-US" sz="1200" dirty="0">
                <a:latin typeface="Times New Roman"/>
                <a:cs typeface="Times New Roman"/>
              </a:rPr>
              <a:t> .</a:t>
            </a:r>
            <a:r>
              <a:rPr sz="1200" dirty="0">
                <a:latin typeface="Times New Roman"/>
                <a:cs typeface="Times New Roman"/>
              </a:rPr>
              <a:t>.....................................................................................................</a:t>
            </a:r>
            <a:r>
              <a:rPr lang="en-US" sz="1200" dirty="0">
                <a:latin typeface="Times New Roman"/>
                <a:cs typeface="Times New Roman"/>
              </a:rPr>
              <a:t>..</a:t>
            </a:r>
            <a:r>
              <a:rPr sz="1200" dirty="0">
                <a:latin typeface="Times New Roman"/>
                <a:cs typeface="Times New Roman"/>
              </a:rPr>
              <a:t>..... </a:t>
            </a:r>
            <a:r>
              <a:rPr sz="1200" spc="-25" dirty="0">
                <a:latin typeface="Times New Roman"/>
                <a:cs typeface="Times New Roman"/>
              </a:rPr>
              <a:t>47</a:t>
            </a:r>
            <a:endParaRPr lang="en-US" sz="1200" spc="-25" dirty="0">
              <a:latin typeface="Times New Roman"/>
              <a:cs typeface="Times New Roman"/>
            </a:endParaRPr>
          </a:p>
          <a:p>
            <a:pPr marL="255904" lvl="1" indent="-227965">
              <a:lnSpc>
                <a:spcPct val="100000"/>
              </a:lnSpc>
              <a:spcBef>
                <a:spcPts val="1225"/>
              </a:spcBef>
              <a:buSzPct val="91666"/>
              <a:buAutoNum type="arabicPeriod" startAt="7"/>
              <a:tabLst>
                <a:tab pos="255904" algn="l"/>
              </a:tabLst>
            </a:pPr>
            <a:r>
              <a:rPr sz="1200" dirty="0">
                <a:latin typeface="Times New Roman"/>
                <a:cs typeface="Times New Roman"/>
              </a:rPr>
              <a:t>Useability</a:t>
            </a:r>
            <a:r>
              <a:rPr lang="en-US" sz="1200" dirty="0">
                <a:latin typeface="Times New Roman"/>
                <a:cs typeface="Times New Roman"/>
              </a:rPr>
              <a:t> </a:t>
            </a:r>
            <a:r>
              <a:rPr sz="1200" dirty="0">
                <a:latin typeface="Times New Roman"/>
                <a:cs typeface="Times New Roman"/>
              </a:rPr>
              <a:t>Testing</a:t>
            </a:r>
            <a:r>
              <a:rPr lang="en-US" sz="1200" dirty="0">
                <a:latin typeface="Times New Roman"/>
                <a:cs typeface="Times New Roman"/>
              </a:rPr>
              <a:t> </a:t>
            </a:r>
            <a:r>
              <a:rPr sz="1200" dirty="0">
                <a:latin typeface="Times New Roman"/>
                <a:cs typeface="Times New Roman"/>
              </a:rPr>
              <a:t>.........................................................................................................  </a:t>
            </a:r>
            <a:r>
              <a:rPr sz="1200" spc="-25" dirty="0">
                <a:latin typeface="Times New Roman"/>
                <a:cs typeface="Times New Roman"/>
              </a:rPr>
              <a:t>47</a:t>
            </a:r>
            <a:endParaRPr lang="en-US" sz="1200" spc="-25" dirty="0">
              <a:latin typeface="Times New Roman"/>
              <a:cs typeface="Times New Roman"/>
            </a:endParaRPr>
          </a:p>
          <a:p>
            <a:pPr marL="255904" lvl="1" indent="-227965">
              <a:lnSpc>
                <a:spcPct val="100000"/>
              </a:lnSpc>
              <a:spcBef>
                <a:spcPts val="1225"/>
              </a:spcBef>
              <a:buSzPct val="91666"/>
              <a:buAutoNum type="arabicPeriod" startAt="7"/>
              <a:tabLst>
                <a:tab pos="255904" algn="l"/>
              </a:tabLst>
            </a:pPr>
            <a:r>
              <a:rPr sz="1200" dirty="0">
                <a:latin typeface="Times New Roman"/>
                <a:cs typeface="Times New Roman"/>
              </a:rPr>
              <a:t>Evaluation</a:t>
            </a:r>
            <a:r>
              <a:rPr sz="1200" spc="-25" dirty="0">
                <a:latin typeface="Times New Roman"/>
                <a:cs typeface="Times New Roman"/>
              </a:rPr>
              <a:t> </a:t>
            </a:r>
            <a:r>
              <a:rPr sz="1200" dirty="0">
                <a:latin typeface="Times New Roman"/>
                <a:cs typeface="Times New Roman"/>
              </a:rPr>
              <a:t>metrics.......................................................................................................</a:t>
            </a:r>
            <a:r>
              <a:rPr lang="en-US" sz="1200" spc="-15" dirty="0">
                <a:latin typeface="Times New Roman"/>
                <a:cs typeface="Times New Roman"/>
              </a:rPr>
              <a:t>.</a:t>
            </a:r>
            <a:r>
              <a:rPr sz="1200" dirty="0">
                <a:latin typeface="Times New Roman"/>
                <a:cs typeface="Times New Roman"/>
              </a:rPr>
              <a:t>..</a:t>
            </a:r>
            <a:r>
              <a:rPr sz="1200" spc="-25" dirty="0">
                <a:latin typeface="Times New Roman"/>
                <a:cs typeface="Times New Roman"/>
              </a:rPr>
              <a:t> 48</a:t>
            </a:r>
            <a:endParaRPr lang="en-US" sz="1200" dirty="0">
              <a:latin typeface="Times New Roman"/>
              <a:cs typeface="Times New Roman"/>
            </a:endParaRPr>
          </a:p>
          <a:p>
            <a:pPr marL="255904" lvl="1" indent="-227965">
              <a:lnSpc>
                <a:spcPct val="100000"/>
              </a:lnSpc>
              <a:spcBef>
                <a:spcPts val="1225"/>
              </a:spcBef>
              <a:buSzPct val="91666"/>
              <a:buAutoNum type="arabicPeriod" startAt="7"/>
              <a:tabLst>
                <a:tab pos="255904" algn="l"/>
              </a:tabLst>
            </a:pPr>
            <a:r>
              <a:rPr sz="1200" spc="-10" dirty="0">
                <a:latin typeface="Times New Roman"/>
                <a:cs typeface="Times New Roman"/>
              </a:rPr>
              <a:t>Limitations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Future</a:t>
            </a:r>
            <a:r>
              <a:rPr sz="1200" spc="-25" dirty="0">
                <a:latin typeface="Times New Roman"/>
                <a:cs typeface="Times New Roman"/>
              </a:rPr>
              <a:t> </a:t>
            </a:r>
            <a:r>
              <a:rPr sz="1200" dirty="0">
                <a:latin typeface="Times New Roman"/>
                <a:cs typeface="Times New Roman"/>
              </a:rPr>
              <a:t>Improvements</a:t>
            </a:r>
            <a:r>
              <a:rPr lang="en-US" sz="120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spc="-25" dirty="0">
                <a:latin typeface="Times New Roman"/>
                <a:cs typeface="Times New Roman"/>
              </a:rPr>
              <a:t>48</a:t>
            </a:r>
            <a:endParaRPr sz="1200" dirty="0">
              <a:latin typeface="Times New Roman"/>
              <a:cs typeface="Times New Roman"/>
            </a:endParaRPr>
          </a:p>
          <a:p>
            <a:pPr marL="15240">
              <a:lnSpc>
                <a:spcPct val="100000"/>
              </a:lnSpc>
              <a:spcBef>
                <a:spcPts val="1225"/>
              </a:spcBef>
            </a:pPr>
            <a:r>
              <a:rPr sz="1200" b="1" dirty="0">
                <a:latin typeface="Times New Roman"/>
                <a:cs typeface="Times New Roman"/>
              </a:rPr>
              <a:t>Chapter</a:t>
            </a:r>
            <a:r>
              <a:rPr sz="1200" b="1" spc="-20" dirty="0">
                <a:latin typeface="Times New Roman"/>
                <a:cs typeface="Times New Roman"/>
              </a:rPr>
              <a:t> </a:t>
            </a:r>
            <a:r>
              <a:rPr sz="1200" b="1" dirty="0">
                <a:latin typeface="Times New Roman"/>
                <a:cs typeface="Times New Roman"/>
              </a:rPr>
              <a:t>7:</a:t>
            </a:r>
            <a:r>
              <a:rPr sz="1200" b="1" spc="275" dirty="0">
                <a:latin typeface="Times New Roman"/>
                <a:cs typeface="Times New Roman"/>
              </a:rPr>
              <a:t> </a:t>
            </a:r>
            <a:r>
              <a:rPr sz="1200" b="1" dirty="0">
                <a:latin typeface="Times New Roman"/>
                <a:cs typeface="Times New Roman"/>
              </a:rPr>
              <a:t>Conclusion</a:t>
            </a:r>
            <a:r>
              <a:rPr sz="1200" b="1" spc="-5" dirty="0">
                <a:latin typeface="Times New Roman"/>
                <a:cs typeface="Times New Roman"/>
              </a:rPr>
              <a:t> </a:t>
            </a:r>
            <a:r>
              <a:rPr sz="1200" b="1" dirty="0">
                <a:latin typeface="Times New Roman"/>
                <a:cs typeface="Times New Roman"/>
              </a:rPr>
              <a:t>And</a:t>
            </a:r>
            <a:r>
              <a:rPr sz="1200" b="1" spc="-5" dirty="0">
                <a:latin typeface="Times New Roman"/>
                <a:cs typeface="Times New Roman"/>
              </a:rPr>
              <a:t> </a:t>
            </a:r>
            <a:r>
              <a:rPr sz="1200" b="1" dirty="0">
                <a:latin typeface="Times New Roman"/>
                <a:cs typeface="Times New Roman"/>
              </a:rPr>
              <a:t>Future</a:t>
            </a:r>
            <a:r>
              <a:rPr sz="1200" b="1" spc="-15" dirty="0">
                <a:latin typeface="Times New Roman"/>
                <a:cs typeface="Times New Roman"/>
              </a:rPr>
              <a:t> </a:t>
            </a:r>
            <a:r>
              <a:rPr sz="1200" b="1" dirty="0">
                <a:latin typeface="Times New Roman"/>
                <a:cs typeface="Times New Roman"/>
              </a:rPr>
              <a:t>Work</a:t>
            </a:r>
            <a:r>
              <a:rPr sz="1200" b="1" spc="-25" dirty="0">
                <a:latin typeface="Times New Roman"/>
                <a:cs typeface="Times New Roman"/>
              </a:rPr>
              <a:t> </a:t>
            </a:r>
            <a:r>
              <a:rPr sz="1200" b="1" dirty="0">
                <a:latin typeface="Times New Roman"/>
                <a:cs typeface="Times New Roman"/>
              </a:rPr>
              <a:t>.......................................................................</a:t>
            </a:r>
            <a:r>
              <a:rPr sz="1200" b="1" spc="-35" dirty="0">
                <a:latin typeface="Times New Roman"/>
                <a:cs typeface="Times New Roman"/>
              </a:rPr>
              <a:t> </a:t>
            </a:r>
            <a:r>
              <a:rPr sz="1200" b="1" spc="-25" dirty="0">
                <a:latin typeface="Times New Roman"/>
                <a:cs typeface="Times New Roman"/>
              </a:rPr>
              <a:t>49</a:t>
            </a:r>
            <a:endParaRPr sz="1200" dirty="0">
              <a:latin typeface="Times New Roman"/>
              <a:cs typeface="Times New Roman"/>
            </a:endParaRPr>
          </a:p>
          <a:p>
            <a:pPr marL="251460" lvl="1" indent="-228600">
              <a:lnSpc>
                <a:spcPct val="100000"/>
              </a:lnSpc>
              <a:spcBef>
                <a:spcPts val="1235"/>
              </a:spcBef>
              <a:buSzPct val="91666"/>
              <a:buAutoNum type="arabicPeriod"/>
              <a:tabLst>
                <a:tab pos="251460" algn="l"/>
              </a:tabLst>
            </a:pPr>
            <a:r>
              <a:rPr sz="1200" dirty="0">
                <a:latin typeface="Times New Roman"/>
                <a:cs typeface="Times New Roman"/>
              </a:rPr>
              <a:t>Conclusion</a:t>
            </a:r>
            <a:r>
              <a:rPr lang="en-US" sz="1200" dirty="0">
                <a:latin typeface="Times New Roman"/>
                <a:cs typeface="Times New Roman"/>
              </a:rPr>
              <a:t> .........................................</a:t>
            </a:r>
            <a:r>
              <a:rPr sz="1200" dirty="0">
                <a:latin typeface="Times New Roman"/>
                <a:cs typeface="Times New Roman"/>
              </a:rPr>
              <a:t>............................................................................. </a:t>
            </a:r>
            <a:r>
              <a:rPr sz="1200" spc="-25" dirty="0">
                <a:latin typeface="Times New Roman"/>
                <a:cs typeface="Times New Roman"/>
              </a:rPr>
              <a:t>49</a:t>
            </a:r>
            <a:endParaRPr sz="1200" dirty="0">
              <a:latin typeface="Times New Roman"/>
              <a:cs typeface="Times New Roman"/>
            </a:endParaRPr>
          </a:p>
          <a:p>
            <a:pPr marL="250825" lvl="1" indent="-226060">
              <a:lnSpc>
                <a:spcPct val="100000"/>
              </a:lnSpc>
              <a:spcBef>
                <a:spcPts val="1225"/>
              </a:spcBef>
              <a:buSzPct val="91666"/>
              <a:buAutoNum type="arabicPeriod"/>
              <a:tabLst>
                <a:tab pos="250825" algn="l"/>
              </a:tabLst>
            </a:pPr>
            <a:r>
              <a:rPr sz="1200" dirty="0">
                <a:latin typeface="Times New Roman"/>
                <a:cs typeface="Times New Roman"/>
              </a:rPr>
              <a:t>Future</a:t>
            </a:r>
            <a:r>
              <a:rPr sz="1200" spc="325" dirty="0">
                <a:latin typeface="Times New Roman"/>
                <a:cs typeface="Times New Roman"/>
              </a:rPr>
              <a:t> </a:t>
            </a:r>
            <a:r>
              <a:rPr sz="1200" spc="-10" dirty="0">
                <a:latin typeface="Times New Roman"/>
                <a:cs typeface="Times New Roman"/>
              </a:rPr>
              <a:t>Wor</a:t>
            </a:r>
            <a:r>
              <a:rPr lang="en-US" sz="1200" spc="-10" dirty="0">
                <a:latin typeface="Times New Roman"/>
                <a:cs typeface="Times New Roman"/>
              </a:rPr>
              <a:t>k ...........................................</a:t>
            </a:r>
            <a:r>
              <a:rPr sz="1200" spc="-10" dirty="0">
                <a:latin typeface="Times New Roman"/>
                <a:cs typeface="Times New Roman"/>
              </a:rPr>
              <a:t>..........................................................................</a:t>
            </a:r>
            <a:r>
              <a:rPr sz="1200" spc="405" dirty="0">
                <a:latin typeface="Times New Roman"/>
                <a:cs typeface="Times New Roman"/>
              </a:rPr>
              <a:t> </a:t>
            </a:r>
            <a:r>
              <a:rPr sz="1200" spc="-25" dirty="0">
                <a:latin typeface="Times New Roman"/>
                <a:cs typeface="Times New Roman"/>
              </a:rPr>
              <a:t>49</a:t>
            </a:r>
            <a:endParaRPr sz="12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ix</a:t>
            </a:r>
            <a:endParaRPr spc="-20" dirty="0"/>
          </a:p>
        </p:txBody>
      </p:sp>
      <p:sp>
        <p:nvSpPr>
          <p:cNvPr id="2" name="object 2"/>
          <p:cNvSpPr txBox="1"/>
          <p:nvPr/>
        </p:nvSpPr>
        <p:spPr>
          <a:xfrm>
            <a:off x="1176324" y="888238"/>
            <a:ext cx="5690235" cy="8166100"/>
          </a:xfrm>
          <a:prstGeom prst="rect">
            <a:avLst/>
          </a:prstGeom>
        </p:spPr>
        <p:txBody>
          <a:bodyPr vert="horz" wrap="square" lIns="0" tIns="12065" rIns="0" bIns="0" rtlCol="0">
            <a:spAutoFit/>
          </a:bodyPr>
          <a:lstStyle/>
          <a:p>
            <a:pPr marL="3175" algn="ctr">
              <a:lnSpc>
                <a:spcPct val="100000"/>
              </a:lnSpc>
              <a:spcBef>
                <a:spcPts val="95"/>
              </a:spcBef>
            </a:pPr>
            <a:r>
              <a:rPr sz="1600" b="1" dirty="0">
                <a:latin typeface="Times New Roman"/>
                <a:cs typeface="Times New Roman"/>
              </a:rPr>
              <a:t>List</a:t>
            </a:r>
            <a:r>
              <a:rPr sz="1600" b="1" spc="-40"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spc="-10" dirty="0">
                <a:latin typeface="Times New Roman"/>
                <a:cs typeface="Times New Roman"/>
              </a:rPr>
              <a:t>Figures</a:t>
            </a:r>
            <a:endParaRPr sz="1600">
              <a:latin typeface="Times New Roman"/>
              <a:cs typeface="Times New Roman"/>
            </a:endParaRPr>
          </a:p>
          <a:p>
            <a:pPr marL="12700">
              <a:lnSpc>
                <a:spcPct val="100000"/>
              </a:lnSpc>
              <a:spcBef>
                <a:spcPts val="1470"/>
              </a:spcBef>
            </a:pPr>
            <a:r>
              <a:rPr sz="1200" dirty="0">
                <a:latin typeface="Times New Roman"/>
                <a:cs typeface="Times New Roman"/>
              </a:rPr>
              <a:t>Fig</a:t>
            </a:r>
            <a:r>
              <a:rPr sz="1200" spc="-5" dirty="0">
                <a:latin typeface="Times New Roman"/>
                <a:cs typeface="Times New Roman"/>
              </a:rPr>
              <a:t> </a:t>
            </a:r>
            <a:r>
              <a:rPr sz="1200" dirty="0">
                <a:latin typeface="Times New Roman"/>
                <a:cs typeface="Times New Roman"/>
              </a:rPr>
              <a:t>3.1:</a:t>
            </a:r>
            <a:r>
              <a:rPr sz="1200" spc="-5" dirty="0">
                <a:latin typeface="Times New Roman"/>
                <a:cs typeface="Times New Roman"/>
              </a:rPr>
              <a:t> </a:t>
            </a:r>
            <a:r>
              <a:rPr sz="1200" dirty="0">
                <a:latin typeface="Times New Roman"/>
                <a:cs typeface="Times New Roman"/>
              </a:rPr>
              <a:t>Use</a:t>
            </a:r>
            <a:r>
              <a:rPr sz="1200" spc="-10" dirty="0">
                <a:latin typeface="Times New Roman"/>
                <a:cs typeface="Times New Roman"/>
              </a:rPr>
              <a:t> </a:t>
            </a:r>
            <a:r>
              <a:rPr sz="1200" dirty="0">
                <a:latin typeface="Times New Roman"/>
                <a:cs typeface="Times New Roman"/>
              </a:rPr>
              <a:t>Case</a:t>
            </a:r>
            <a:r>
              <a:rPr sz="1200" spc="-10" dirty="0">
                <a:latin typeface="Times New Roman"/>
                <a:cs typeface="Times New Roman"/>
              </a:rPr>
              <a:t> </a:t>
            </a:r>
            <a:r>
              <a:rPr sz="1200" dirty="0">
                <a:latin typeface="Times New Roman"/>
                <a:cs typeface="Times New Roman"/>
              </a:rPr>
              <a:t>diagram.....................................................................................................</a:t>
            </a:r>
            <a:r>
              <a:rPr sz="1200" spc="-50" dirty="0">
                <a:latin typeface="Times New Roman"/>
                <a:cs typeface="Times New Roman"/>
              </a:rPr>
              <a:t> </a:t>
            </a:r>
            <a:r>
              <a:rPr sz="1200" spc="-25" dirty="0">
                <a:latin typeface="Times New Roman"/>
                <a:cs typeface="Times New Roman"/>
              </a:rPr>
              <a:t>15</a:t>
            </a:r>
            <a:endParaRPr sz="1200">
              <a:latin typeface="Times New Roman"/>
              <a:cs typeface="Times New Roman"/>
            </a:endParaRPr>
          </a:p>
          <a:p>
            <a:pPr marL="12700">
              <a:lnSpc>
                <a:spcPct val="100000"/>
              </a:lnSpc>
              <a:spcBef>
                <a:spcPts val="1220"/>
              </a:spcBef>
            </a:pPr>
            <a:r>
              <a:rPr sz="1200" dirty="0">
                <a:latin typeface="Times New Roman"/>
                <a:cs typeface="Times New Roman"/>
              </a:rPr>
              <a:t>Fig</a:t>
            </a:r>
            <a:r>
              <a:rPr sz="1200" spc="-5" dirty="0">
                <a:latin typeface="Times New Roman"/>
                <a:cs typeface="Times New Roman"/>
              </a:rPr>
              <a:t> </a:t>
            </a:r>
            <a:r>
              <a:rPr sz="1200" dirty="0">
                <a:latin typeface="Times New Roman"/>
                <a:cs typeface="Times New Roman"/>
              </a:rPr>
              <a:t>4.1:</a:t>
            </a:r>
            <a:r>
              <a:rPr sz="1200" spc="-5"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Architecture</a:t>
            </a:r>
            <a:r>
              <a:rPr sz="1200" spc="-125"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17</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4.2:</a:t>
            </a:r>
            <a:r>
              <a:rPr sz="1200" spc="-15" dirty="0">
                <a:latin typeface="Times New Roman"/>
                <a:cs typeface="Times New Roman"/>
              </a:rPr>
              <a:t> </a:t>
            </a:r>
            <a:r>
              <a:rPr sz="1200" dirty="0">
                <a:latin typeface="Times New Roman"/>
                <a:cs typeface="Times New Roman"/>
              </a:rPr>
              <a:t>Component</a:t>
            </a:r>
            <a:r>
              <a:rPr sz="1200" spc="-15" dirty="0">
                <a:latin typeface="Times New Roman"/>
                <a:cs typeface="Times New Roman"/>
              </a:rPr>
              <a:t> </a:t>
            </a:r>
            <a:r>
              <a:rPr sz="1200" spc="-10" dirty="0">
                <a:latin typeface="Times New Roman"/>
                <a:cs typeface="Times New Roman"/>
              </a:rPr>
              <a:t>Diagram</a:t>
            </a:r>
            <a:r>
              <a:rPr sz="1200" spc="-8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19</a:t>
            </a:r>
            <a:endParaRPr sz="1200">
              <a:latin typeface="Times New Roman"/>
              <a:cs typeface="Times New Roman"/>
            </a:endParaRPr>
          </a:p>
          <a:p>
            <a:pPr marL="12700">
              <a:lnSpc>
                <a:spcPct val="100000"/>
              </a:lnSpc>
              <a:spcBef>
                <a:spcPts val="1225"/>
              </a:spcBef>
            </a:pPr>
            <a:r>
              <a:rPr sz="1200" dirty="0">
                <a:latin typeface="Times New Roman"/>
                <a:cs typeface="Times New Roman"/>
              </a:rPr>
              <a:t>Fig</a:t>
            </a:r>
            <a:r>
              <a:rPr sz="1200" spc="-35" dirty="0">
                <a:latin typeface="Times New Roman"/>
                <a:cs typeface="Times New Roman"/>
              </a:rPr>
              <a:t> </a:t>
            </a:r>
            <a:r>
              <a:rPr sz="1200" dirty="0">
                <a:latin typeface="Times New Roman"/>
                <a:cs typeface="Times New Roman"/>
              </a:rPr>
              <a:t>4.3:</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Component</a:t>
            </a:r>
            <a:r>
              <a:rPr sz="1200" spc="-35" dirty="0">
                <a:latin typeface="Times New Roman"/>
                <a:cs typeface="Times New Roman"/>
              </a:rPr>
              <a:t> </a:t>
            </a:r>
            <a:r>
              <a:rPr sz="1200" dirty="0">
                <a:latin typeface="Times New Roman"/>
                <a:cs typeface="Times New Roman"/>
              </a:rPr>
              <a:t>Diagram</a:t>
            </a:r>
            <a:r>
              <a:rPr sz="1200" spc="-35" dirty="0">
                <a:latin typeface="Times New Roman"/>
                <a:cs typeface="Times New Roman"/>
              </a:rPr>
              <a:t> </a:t>
            </a:r>
            <a:r>
              <a:rPr sz="1200" dirty="0">
                <a:latin typeface="Times New Roman"/>
                <a:cs typeface="Times New Roman"/>
              </a:rPr>
              <a:t>...................................................................................</a:t>
            </a:r>
            <a:r>
              <a:rPr sz="1200" spc="-75" dirty="0">
                <a:latin typeface="Times New Roman"/>
                <a:cs typeface="Times New Roman"/>
              </a:rPr>
              <a:t> </a:t>
            </a:r>
            <a:r>
              <a:rPr sz="1200" spc="-25" dirty="0">
                <a:latin typeface="Times New Roman"/>
                <a:cs typeface="Times New Roman"/>
              </a:rPr>
              <a:t>19</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250" dirty="0">
                <a:latin typeface="Times New Roman"/>
                <a:cs typeface="Times New Roman"/>
              </a:rPr>
              <a:t> </a:t>
            </a:r>
            <a:r>
              <a:rPr sz="1200" dirty="0">
                <a:latin typeface="Times New Roman"/>
                <a:cs typeface="Times New Roman"/>
              </a:rPr>
              <a:t>4.4:</a:t>
            </a:r>
            <a:r>
              <a:rPr sz="1200" spc="254" dirty="0">
                <a:latin typeface="Times New Roman"/>
                <a:cs typeface="Times New Roman"/>
              </a:rPr>
              <a:t> </a:t>
            </a:r>
            <a:r>
              <a:rPr sz="1200" dirty="0">
                <a:latin typeface="Times New Roman"/>
                <a:cs typeface="Times New Roman"/>
              </a:rPr>
              <a:t>Package</a:t>
            </a:r>
            <a:r>
              <a:rPr sz="1200" spc="265" dirty="0">
                <a:latin typeface="Times New Roman"/>
                <a:cs typeface="Times New Roman"/>
              </a:rPr>
              <a:t> </a:t>
            </a:r>
            <a:r>
              <a:rPr sz="1200" spc="-10" dirty="0">
                <a:latin typeface="Times New Roman"/>
                <a:cs typeface="Times New Roman"/>
              </a:rPr>
              <a:t>Diagram......................................................................................................</a:t>
            </a:r>
            <a:r>
              <a:rPr sz="1200" spc="160" dirty="0">
                <a:latin typeface="Times New Roman"/>
                <a:cs typeface="Times New Roman"/>
              </a:rPr>
              <a:t> </a:t>
            </a:r>
            <a:r>
              <a:rPr sz="1200" spc="-25" dirty="0">
                <a:latin typeface="Times New Roman"/>
                <a:cs typeface="Times New Roman"/>
              </a:rPr>
              <a:t>20</a:t>
            </a:r>
            <a:endParaRPr sz="1200">
              <a:latin typeface="Times New Roman"/>
              <a:cs typeface="Times New Roman"/>
            </a:endParaRPr>
          </a:p>
          <a:p>
            <a:pPr marL="12700">
              <a:lnSpc>
                <a:spcPct val="100000"/>
              </a:lnSpc>
              <a:spcBef>
                <a:spcPts val="1230"/>
              </a:spcBef>
            </a:pPr>
            <a:r>
              <a:rPr sz="1200" dirty="0">
                <a:latin typeface="Times New Roman"/>
                <a:cs typeface="Times New Roman"/>
              </a:rPr>
              <a:t>Fig</a:t>
            </a:r>
            <a:r>
              <a:rPr sz="1200" spc="-35" dirty="0">
                <a:latin typeface="Times New Roman"/>
                <a:cs typeface="Times New Roman"/>
              </a:rPr>
              <a:t> </a:t>
            </a:r>
            <a:r>
              <a:rPr sz="1200" dirty="0">
                <a:latin typeface="Times New Roman"/>
                <a:cs typeface="Times New Roman"/>
              </a:rPr>
              <a:t>4.5:</a:t>
            </a:r>
            <a:r>
              <a:rPr sz="1200" spc="-20" dirty="0">
                <a:latin typeface="Times New Roman"/>
                <a:cs typeface="Times New Roman"/>
              </a:rPr>
              <a:t> </a:t>
            </a:r>
            <a:r>
              <a:rPr sz="1200" dirty="0">
                <a:latin typeface="Times New Roman"/>
                <a:cs typeface="Times New Roman"/>
              </a:rPr>
              <a:t>Deployment</a:t>
            </a:r>
            <a:r>
              <a:rPr sz="1200" spc="-20" dirty="0">
                <a:latin typeface="Times New Roman"/>
                <a:cs typeface="Times New Roman"/>
              </a:rPr>
              <a:t> </a:t>
            </a:r>
            <a:r>
              <a:rPr sz="1200" spc="-10" dirty="0">
                <a:latin typeface="Times New Roman"/>
                <a:cs typeface="Times New Roman"/>
              </a:rPr>
              <a:t>Diagram</a:t>
            </a:r>
            <a:r>
              <a:rPr sz="1200" spc="-11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21</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4.6:</a:t>
            </a:r>
            <a:r>
              <a:rPr sz="1200" spc="-15" dirty="0">
                <a:latin typeface="Times New Roman"/>
                <a:cs typeface="Times New Roman"/>
              </a:rPr>
              <a:t> </a:t>
            </a:r>
            <a:r>
              <a:rPr sz="1200" dirty="0">
                <a:latin typeface="Times New Roman"/>
                <a:cs typeface="Times New Roman"/>
              </a:rPr>
              <a:t>Activity</a:t>
            </a:r>
            <a:r>
              <a:rPr sz="1200" spc="-15" dirty="0">
                <a:latin typeface="Times New Roman"/>
                <a:cs typeface="Times New Roman"/>
              </a:rPr>
              <a:t> </a:t>
            </a:r>
            <a:r>
              <a:rPr sz="1200" dirty="0">
                <a:latin typeface="Times New Roman"/>
                <a:cs typeface="Times New Roman"/>
              </a:rPr>
              <a:t>Diagram......................................................................................................</a:t>
            </a:r>
            <a:r>
              <a:rPr sz="1200" spc="-65" dirty="0">
                <a:latin typeface="Times New Roman"/>
                <a:cs typeface="Times New Roman"/>
              </a:rPr>
              <a:t> </a:t>
            </a:r>
            <a:r>
              <a:rPr sz="1200" spc="-25" dirty="0">
                <a:latin typeface="Times New Roman"/>
                <a:cs typeface="Times New Roman"/>
              </a:rPr>
              <a:t>22</a:t>
            </a:r>
            <a:endParaRPr sz="1200">
              <a:latin typeface="Times New Roman"/>
              <a:cs typeface="Times New Roman"/>
            </a:endParaRPr>
          </a:p>
          <a:p>
            <a:pPr marL="12700">
              <a:lnSpc>
                <a:spcPct val="100000"/>
              </a:lnSpc>
              <a:spcBef>
                <a:spcPts val="1225"/>
              </a:spcBef>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4.7:</a:t>
            </a:r>
            <a:r>
              <a:rPr sz="1200" spc="-20" dirty="0">
                <a:latin typeface="Times New Roman"/>
                <a:cs typeface="Times New Roman"/>
              </a:rPr>
              <a:t> </a:t>
            </a:r>
            <a:r>
              <a:rPr sz="1200" dirty="0">
                <a:latin typeface="Times New Roman"/>
                <a:cs typeface="Times New Roman"/>
              </a:rPr>
              <a:t>State</a:t>
            </a:r>
            <a:r>
              <a:rPr sz="1200" spc="-20" dirty="0">
                <a:latin typeface="Times New Roman"/>
                <a:cs typeface="Times New Roman"/>
              </a:rPr>
              <a:t> </a:t>
            </a:r>
            <a:r>
              <a:rPr sz="1200" dirty="0">
                <a:latin typeface="Times New Roman"/>
                <a:cs typeface="Times New Roman"/>
              </a:rPr>
              <a:t>Machine</a:t>
            </a:r>
            <a:r>
              <a:rPr sz="1200" spc="-20" dirty="0">
                <a:latin typeface="Times New Roman"/>
                <a:cs typeface="Times New Roman"/>
              </a:rPr>
              <a:t> </a:t>
            </a:r>
            <a:r>
              <a:rPr sz="1200" spc="-10" dirty="0">
                <a:latin typeface="Times New Roman"/>
                <a:cs typeface="Times New Roman"/>
              </a:rPr>
              <a:t>Diagram</a:t>
            </a:r>
            <a:r>
              <a:rPr sz="1200" spc="-17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24</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4.8:</a:t>
            </a:r>
            <a:r>
              <a:rPr sz="1200" spc="-15" dirty="0">
                <a:latin typeface="Times New Roman"/>
                <a:cs typeface="Times New Roman"/>
              </a:rPr>
              <a:t> </a:t>
            </a:r>
            <a:r>
              <a:rPr sz="1200" dirty="0">
                <a:latin typeface="Times New Roman"/>
                <a:cs typeface="Times New Roman"/>
              </a:rPr>
              <a:t>Register</a:t>
            </a:r>
            <a:r>
              <a:rPr sz="1200" spc="-15" dirty="0">
                <a:latin typeface="Times New Roman"/>
                <a:cs typeface="Times New Roman"/>
              </a:rPr>
              <a:t> </a:t>
            </a:r>
            <a:r>
              <a:rPr sz="1200" dirty="0">
                <a:latin typeface="Times New Roman"/>
                <a:cs typeface="Times New Roman"/>
              </a:rPr>
              <a:t>Sequence</a:t>
            </a:r>
            <a:r>
              <a:rPr sz="1200" spc="-20" dirty="0">
                <a:latin typeface="Times New Roman"/>
                <a:cs typeface="Times New Roman"/>
              </a:rPr>
              <a:t> </a:t>
            </a:r>
            <a:r>
              <a:rPr sz="1200" spc="-10" dirty="0">
                <a:latin typeface="Times New Roman"/>
                <a:cs typeface="Times New Roman"/>
              </a:rPr>
              <a:t>Diagram</a:t>
            </a:r>
            <a:r>
              <a:rPr sz="1200" spc="-75"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sz="1200" spc="-25" dirty="0">
                <a:latin typeface="Times New Roman"/>
                <a:cs typeface="Times New Roman"/>
              </a:rPr>
              <a:t>25</a:t>
            </a:r>
            <a:endParaRPr sz="1200">
              <a:latin typeface="Times New Roman"/>
              <a:cs typeface="Times New Roman"/>
            </a:endParaRPr>
          </a:p>
          <a:p>
            <a:pPr marL="12700">
              <a:lnSpc>
                <a:spcPct val="100000"/>
              </a:lnSpc>
              <a:spcBef>
                <a:spcPts val="1225"/>
              </a:spcBef>
            </a:pPr>
            <a:r>
              <a:rPr sz="1200" dirty="0">
                <a:latin typeface="Times New Roman"/>
                <a:cs typeface="Times New Roman"/>
              </a:rPr>
              <a:t>Fig</a:t>
            </a:r>
            <a:r>
              <a:rPr sz="1200" spc="170" dirty="0">
                <a:latin typeface="Times New Roman"/>
                <a:cs typeface="Times New Roman"/>
              </a:rPr>
              <a:t> </a:t>
            </a:r>
            <a:r>
              <a:rPr sz="1200" dirty="0">
                <a:latin typeface="Times New Roman"/>
                <a:cs typeface="Times New Roman"/>
              </a:rPr>
              <a:t>4.9:</a:t>
            </a:r>
            <a:r>
              <a:rPr sz="1200" spc="170" dirty="0">
                <a:latin typeface="Times New Roman"/>
                <a:cs typeface="Times New Roman"/>
              </a:rPr>
              <a:t> </a:t>
            </a:r>
            <a:r>
              <a:rPr sz="1200" dirty="0">
                <a:latin typeface="Times New Roman"/>
                <a:cs typeface="Times New Roman"/>
              </a:rPr>
              <a:t>Login</a:t>
            </a:r>
            <a:r>
              <a:rPr sz="1200" spc="175" dirty="0">
                <a:latin typeface="Times New Roman"/>
                <a:cs typeface="Times New Roman"/>
              </a:rPr>
              <a:t> </a:t>
            </a:r>
            <a:r>
              <a:rPr sz="1200" dirty="0">
                <a:latin typeface="Times New Roman"/>
                <a:cs typeface="Times New Roman"/>
              </a:rPr>
              <a:t>sequence</a:t>
            </a:r>
            <a:r>
              <a:rPr sz="1200" spc="180" dirty="0">
                <a:latin typeface="Times New Roman"/>
                <a:cs typeface="Times New Roman"/>
              </a:rPr>
              <a:t> </a:t>
            </a:r>
            <a:r>
              <a:rPr sz="1200" spc="-10" dirty="0">
                <a:latin typeface="Times New Roman"/>
                <a:cs typeface="Times New Roman"/>
              </a:rPr>
              <a:t>diagram...........................................................................................</a:t>
            </a:r>
            <a:r>
              <a:rPr sz="1200" spc="95" dirty="0">
                <a:latin typeface="Times New Roman"/>
                <a:cs typeface="Times New Roman"/>
              </a:rPr>
              <a:t> </a:t>
            </a:r>
            <a:r>
              <a:rPr sz="1200" spc="-25" dirty="0">
                <a:latin typeface="Times New Roman"/>
                <a:cs typeface="Times New Roman"/>
              </a:rPr>
              <a:t>26</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25" dirty="0">
                <a:latin typeface="Times New Roman"/>
                <a:cs typeface="Times New Roman"/>
              </a:rPr>
              <a:t> </a:t>
            </a:r>
            <a:r>
              <a:rPr sz="1200" dirty="0">
                <a:latin typeface="Times New Roman"/>
                <a:cs typeface="Times New Roman"/>
              </a:rPr>
              <a:t>4.10:</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Sequence</a:t>
            </a:r>
            <a:r>
              <a:rPr sz="1200" spc="-10" dirty="0">
                <a:latin typeface="Times New Roman"/>
                <a:cs typeface="Times New Roman"/>
              </a:rPr>
              <a:t> Diagram</a:t>
            </a:r>
            <a:r>
              <a:rPr sz="1200" spc="-135"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sz="1200" spc="-25" dirty="0">
                <a:latin typeface="Times New Roman"/>
                <a:cs typeface="Times New Roman"/>
              </a:rPr>
              <a:t>27</a:t>
            </a:r>
            <a:endParaRPr sz="1200">
              <a:latin typeface="Times New Roman"/>
              <a:cs typeface="Times New Roman"/>
            </a:endParaRPr>
          </a:p>
          <a:p>
            <a:pPr marL="12700">
              <a:lnSpc>
                <a:spcPct val="100000"/>
              </a:lnSpc>
              <a:spcBef>
                <a:spcPts val="1225"/>
              </a:spcBef>
            </a:pPr>
            <a:r>
              <a:rPr sz="1200" dirty="0">
                <a:latin typeface="Times New Roman"/>
                <a:cs typeface="Times New Roman"/>
              </a:rPr>
              <a:t>Fig</a:t>
            </a:r>
            <a:r>
              <a:rPr sz="1200" spc="165" dirty="0">
                <a:latin typeface="Times New Roman"/>
                <a:cs typeface="Times New Roman"/>
              </a:rPr>
              <a:t> </a:t>
            </a:r>
            <a:r>
              <a:rPr sz="1200" dirty="0">
                <a:latin typeface="Times New Roman"/>
                <a:cs typeface="Times New Roman"/>
              </a:rPr>
              <a:t>4.11:</a:t>
            </a:r>
            <a:r>
              <a:rPr sz="1200" spc="170" dirty="0">
                <a:latin typeface="Times New Roman"/>
                <a:cs typeface="Times New Roman"/>
              </a:rPr>
              <a:t> </a:t>
            </a:r>
            <a:r>
              <a:rPr sz="1200" dirty="0">
                <a:latin typeface="Times New Roman"/>
                <a:cs typeface="Times New Roman"/>
              </a:rPr>
              <a:t>Node</a:t>
            </a:r>
            <a:r>
              <a:rPr sz="1200" spc="155" dirty="0">
                <a:latin typeface="Times New Roman"/>
                <a:cs typeface="Times New Roman"/>
              </a:rPr>
              <a:t> </a:t>
            </a:r>
            <a:r>
              <a:rPr sz="1200" dirty="0">
                <a:latin typeface="Times New Roman"/>
                <a:cs typeface="Times New Roman"/>
              </a:rPr>
              <a:t>Structure</a:t>
            </a:r>
            <a:r>
              <a:rPr sz="1200" spc="170" dirty="0">
                <a:latin typeface="Times New Roman"/>
                <a:cs typeface="Times New Roman"/>
              </a:rPr>
              <a:t> </a:t>
            </a:r>
            <a:r>
              <a:rPr sz="1200" spc="-10" dirty="0">
                <a:latin typeface="Times New Roman"/>
                <a:cs typeface="Times New Roman"/>
              </a:rPr>
              <a:t>Diagram.........................................................................................</a:t>
            </a:r>
            <a:r>
              <a:rPr sz="1200" spc="95" dirty="0">
                <a:latin typeface="Times New Roman"/>
                <a:cs typeface="Times New Roman"/>
              </a:rPr>
              <a:t> </a:t>
            </a:r>
            <a:r>
              <a:rPr sz="1200" spc="-25" dirty="0">
                <a:latin typeface="Times New Roman"/>
                <a:cs typeface="Times New Roman"/>
              </a:rPr>
              <a:t>29</a:t>
            </a:r>
            <a:endParaRPr sz="1200">
              <a:latin typeface="Times New Roman"/>
              <a:cs typeface="Times New Roman"/>
            </a:endParaRPr>
          </a:p>
          <a:p>
            <a:pPr marL="12700">
              <a:lnSpc>
                <a:spcPct val="100000"/>
              </a:lnSpc>
              <a:spcBef>
                <a:spcPts val="1235"/>
              </a:spcBef>
            </a:pPr>
            <a:r>
              <a:rPr sz="1200" dirty="0">
                <a:latin typeface="Times New Roman"/>
                <a:cs typeface="Times New Roman"/>
              </a:rPr>
              <a:t>Fig</a:t>
            </a:r>
            <a:r>
              <a:rPr sz="1200" spc="-35" dirty="0">
                <a:latin typeface="Times New Roman"/>
                <a:cs typeface="Times New Roman"/>
              </a:rPr>
              <a:t> </a:t>
            </a:r>
            <a:r>
              <a:rPr sz="1200" dirty="0">
                <a:latin typeface="Times New Roman"/>
                <a:cs typeface="Times New Roman"/>
              </a:rPr>
              <a:t>4.12:</a:t>
            </a:r>
            <a:r>
              <a:rPr sz="1200" spc="-15" dirty="0">
                <a:latin typeface="Times New Roman"/>
                <a:cs typeface="Times New Roman"/>
              </a:rPr>
              <a:t> </a:t>
            </a:r>
            <a:r>
              <a:rPr sz="1200" dirty="0">
                <a:latin typeface="Times New Roman"/>
                <a:cs typeface="Times New Roman"/>
              </a:rPr>
              <a:t>Communication</a:t>
            </a:r>
            <a:r>
              <a:rPr sz="1200" spc="-20" dirty="0">
                <a:latin typeface="Times New Roman"/>
                <a:cs typeface="Times New Roman"/>
              </a:rPr>
              <a:t> </a:t>
            </a:r>
            <a:r>
              <a:rPr sz="1200" dirty="0">
                <a:latin typeface="Times New Roman"/>
                <a:cs typeface="Times New Roman"/>
              </a:rPr>
              <a:t>Design</a:t>
            </a:r>
            <a:r>
              <a:rPr sz="1200" spc="-20" dirty="0">
                <a:latin typeface="Times New Roman"/>
                <a:cs typeface="Times New Roman"/>
              </a:rPr>
              <a:t> </a:t>
            </a:r>
            <a:r>
              <a:rPr sz="1200" spc="-10" dirty="0">
                <a:latin typeface="Times New Roman"/>
                <a:cs typeface="Times New Roman"/>
              </a:rPr>
              <a:t>Protocol</a:t>
            </a:r>
            <a:r>
              <a:rPr sz="1200" spc="-85"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29</a:t>
            </a:r>
            <a:endParaRPr sz="1200">
              <a:latin typeface="Times New Roman"/>
              <a:cs typeface="Times New Roman"/>
            </a:endParaRPr>
          </a:p>
          <a:p>
            <a:pPr marL="12700">
              <a:lnSpc>
                <a:spcPct val="100000"/>
              </a:lnSpc>
              <a:spcBef>
                <a:spcPts val="1225"/>
              </a:spcBef>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5.1:</a:t>
            </a:r>
            <a:r>
              <a:rPr sz="1200" spc="-15" dirty="0">
                <a:latin typeface="Times New Roman"/>
                <a:cs typeface="Times New Roman"/>
              </a:rPr>
              <a:t> </a:t>
            </a:r>
            <a:r>
              <a:rPr sz="1200" dirty="0">
                <a:latin typeface="Times New Roman"/>
                <a:cs typeface="Times New Roman"/>
              </a:rPr>
              <a:t>Component</a:t>
            </a:r>
            <a:r>
              <a:rPr sz="1200" spc="-15" dirty="0">
                <a:latin typeface="Times New Roman"/>
                <a:cs typeface="Times New Roman"/>
              </a:rPr>
              <a:t> </a:t>
            </a:r>
            <a:r>
              <a:rPr sz="1200" spc="-10" dirty="0">
                <a:latin typeface="Times New Roman"/>
                <a:cs typeface="Times New Roman"/>
              </a:rPr>
              <a:t>Diagram</a:t>
            </a:r>
            <a:r>
              <a:rPr sz="1200" spc="-8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37</a:t>
            </a:r>
            <a:endParaRPr sz="1200">
              <a:latin typeface="Times New Roman"/>
              <a:cs typeface="Times New Roman"/>
            </a:endParaRPr>
          </a:p>
          <a:p>
            <a:pPr>
              <a:lnSpc>
                <a:spcPct val="100000"/>
              </a:lnSpc>
              <a:spcBef>
                <a:spcPts val="254"/>
              </a:spcBef>
            </a:pPr>
            <a:endParaRPr sz="1200">
              <a:latin typeface="Times New Roman"/>
              <a:cs typeface="Times New Roman"/>
            </a:endParaRPr>
          </a:p>
          <a:p>
            <a:pPr marL="12700">
              <a:lnSpc>
                <a:spcPct val="100000"/>
              </a:lnSpc>
            </a:pPr>
            <a:r>
              <a:rPr sz="1200" dirty="0">
                <a:latin typeface="Times New Roman"/>
                <a:cs typeface="Times New Roman"/>
              </a:rPr>
              <a:t>Fig</a:t>
            </a:r>
            <a:r>
              <a:rPr sz="1200" spc="-5" dirty="0">
                <a:latin typeface="Times New Roman"/>
                <a:cs typeface="Times New Roman"/>
              </a:rPr>
              <a:t> </a:t>
            </a:r>
            <a:r>
              <a:rPr sz="1200" dirty="0">
                <a:latin typeface="Times New Roman"/>
                <a:cs typeface="Times New Roman"/>
              </a:rPr>
              <a:t>5.2:</a:t>
            </a:r>
            <a:r>
              <a:rPr sz="1200" spc="-5" dirty="0">
                <a:latin typeface="Times New Roman"/>
                <a:cs typeface="Times New Roman"/>
              </a:rPr>
              <a:t> </a:t>
            </a:r>
            <a:r>
              <a:rPr sz="1200" dirty="0">
                <a:latin typeface="Times New Roman"/>
                <a:cs typeface="Times New Roman"/>
              </a:rPr>
              <a:t>Abouts</a:t>
            </a:r>
            <a:r>
              <a:rPr sz="1200" spc="-5" dirty="0">
                <a:latin typeface="Times New Roman"/>
                <a:cs typeface="Times New Roman"/>
              </a:rPr>
              <a:t> </a:t>
            </a:r>
            <a:r>
              <a:rPr sz="1200" spc="-10" dirty="0">
                <a:latin typeface="Times New Roman"/>
                <a:cs typeface="Times New Roman"/>
              </a:rPr>
              <a:t>Diagram</a:t>
            </a:r>
            <a:r>
              <a:rPr sz="1200" spc="-50" dirty="0">
                <a:latin typeface="Times New Roman"/>
                <a:cs typeface="Times New Roman"/>
              </a:rPr>
              <a:t> </a:t>
            </a:r>
            <a:r>
              <a:rPr sz="1200" dirty="0">
                <a:latin typeface="Times New Roman"/>
                <a:cs typeface="Times New Roman"/>
              </a:rPr>
              <a:t>.......................................................................................................</a:t>
            </a:r>
            <a:r>
              <a:rPr sz="1200" spc="-50" dirty="0">
                <a:latin typeface="Times New Roman"/>
                <a:cs typeface="Times New Roman"/>
              </a:rPr>
              <a:t> </a:t>
            </a:r>
            <a:r>
              <a:rPr sz="1200" spc="-25" dirty="0">
                <a:latin typeface="Times New Roman"/>
                <a:cs typeface="Times New Roman"/>
              </a:rPr>
              <a:t>37</a:t>
            </a:r>
            <a:endParaRPr sz="1200">
              <a:latin typeface="Times New Roman"/>
              <a:cs typeface="Times New Roman"/>
            </a:endParaRPr>
          </a:p>
          <a:p>
            <a:pPr>
              <a:lnSpc>
                <a:spcPct val="100000"/>
              </a:lnSpc>
              <a:spcBef>
                <a:spcPts val="250"/>
              </a:spcBef>
            </a:pPr>
            <a:endParaRPr sz="1200">
              <a:latin typeface="Times New Roman"/>
              <a:cs typeface="Times New Roman"/>
            </a:endParaRPr>
          </a:p>
          <a:p>
            <a:pPr marL="12700">
              <a:lnSpc>
                <a:spcPct val="100000"/>
              </a:lnSpc>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5.3:</a:t>
            </a:r>
            <a:r>
              <a:rPr sz="1200" spc="-15" dirty="0">
                <a:latin typeface="Times New Roman"/>
                <a:cs typeface="Times New Roman"/>
              </a:rPr>
              <a:t> </a:t>
            </a:r>
            <a:r>
              <a:rPr sz="1200" dirty="0">
                <a:latin typeface="Times New Roman"/>
                <a:cs typeface="Times New Roman"/>
              </a:rPr>
              <a:t>login</a:t>
            </a:r>
            <a:r>
              <a:rPr sz="1200" spc="-15" dirty="0">
                <a:latin typeface="Times New Roman"/>
                <a:cs typeface="Times New Roman"/>
              </a:rPr>
              <a:t> </a:t>
            </a:r>
            <a:r>
              <a:rPr sz="1200" dirty="0">
                <a:latin typeface="Times New Roman"/>
                <a:cs typeface="Times New Roman"/>
              </a:rPr>
              <a:t>Diagram...........................................................................................................</a:t>
            </a:r>
            <a:r>
              <a:rPr sz="1200" spc="-60" dirty="0">
                <a:latin typeface="Times New Roman"/>
                <a:cs typeface="Times New Roman"/>
              </a:rPr>
              <a:t> </a:t>
            </a:r>
            <a:r>
              <a:rPr sz="1200" spc="-25" dirty="0">
                <a:latin typeface="Times New Roman"/>
                <a:cs typeface="Times New Roman"/>
              </a:rPr>
              <a:t>38</a:t>
            </a:r>
            <a:endParaRPr sz="1200">
              <a:latin typeface="Times New Roman"/>
              <a:cs typeface="Times New Roman"/>
            </a:endParaRPr>
          </a:p>
          <a:p>
            <a:pPr>
              <a:lnSpc>
                <a:spcPct val="100000"/>
              </a:lnSpc>
              <a:spcBef>
                <a:spcPts val="250"/>
              </a:spcBef>
            </a:pPr>
            <a:endParaRPr sz="1200">
              <a:latin typeface="Times New Roman"/>
              <a:cs typeface="Times New Roman"/>
            </a:endParaRPr>
          </a:p>
          <a:p>
            <a:pPr marL="12700">
              <a:lnSpc>
                <a:spcPct val="100000"/>
              </a:lnSpc>
              <a:spcBef>
                <a:spcPts val="5"/>
              </a:spcBef>
            </a:pPr>
            <a:r>
              <a:rPr sz="1200" dirty="0">
                <a:latin typeface="Times New Roman"/>
                <a:cs typeface="Times New Roman"/>
              </a:rPr>
              <a:t>Fig</a:t>
            </a:r>
            <a:r>
              <a:rPr sz="1200" spc="254" dirty="0">
                <a:latin typeface="Times New Roman"/>
                <a:cs typeface="Times New Roman"/>
              </a:rPr>
              <a:t> </a:t>
            </a:r>
            <a:r>
              <a:rPr sz="1200" dirty="0">
                <a:latin typeface="Times New Roman"/>
                <a:cs typeface="Times New Roman"/>
              </a:rPr>
              <a:t>5.4:</a:t>
            </a:r>
            <a:r>
              <a:rPr sz="1200" spc="260" dirty="0">
                <a:latin typeface="Times New Roman"/>
                <a:cs typeface="Times New Roman"/>
              </a:rPr>
              <a:t> </a:t>
            </a:r>
            <a:r>
              <a:rPr sz="1200" dirty="0">
                <a:latin typeface="Times New Roman"/>
                <a:cs typeface="Times New Roman"/>
              </a:rPr>
              <a:t>Register</a:t>
            </a:r>
            <a:r>
              <a:rPr sz="1200" spc="254" dirty="0">
                <a:latin typeface="Times New Roman"/>
                <a:cs typeface="Times New Roman"/>
              </a:rPr>
              <a:t> </a:t>
            </a:r>
            <a:r>
              <a:rPr sz="1200" spc="-10" dirty="0">
                <a:latin typeface="Times New Roman"/>
                <a:cs typeface="Times New Roman"/>
              </a:rPr>
              <a:t>Diagram......................................................................................................</a:t>
            </a:r>
            <a:r>
              <a:rPr sz="1200" spc="165" dirty="0">
                <a:latin typeface="Times New Roman"/>
                <a:cs typeface="Times New Roman"/>
              </a:rPr>
              <a:t> </a:t>
            </a:r>
            <a:r>
              <a:rPr sz="1200" spc="-25" dirty="0">
                <a:latin typeface="Times New Roman"/>
                <a:cs typeface="Times New Roman"/>
              </a:rPr>
              <a:t>39</a:t>
            </a:r>
            <a:endParaRPr sz="1200">
              <a:latin typeface="Times New Roman"/>
              <a:cs typeface="Times New Roman"/>
            </a:endParaRPr>
          </a:p>
          <a:p>
            <a:pPr>
              <a:lnSpc>
                <a:spcPct val="100000"/>
              </a:lnSpc>
              <a:spcBef>
                <a:spcPts val="250"/>
              </a:spcBef>
            </a:pPr>
            <a:endParaRPr sz="1200">
              <a:latin typeface="Times New Roman"/>
              <a:cs typeface="Times New Roman"/>
            </a:endParaRPr>
          </a:p>
          <a:p>
            <a:pPr marL="12700">
              <a:lnSpc>
                <a:spcPct val="100000"/>
              </a:lnSpc>
              <a:spcBef>
                <a:spcPts val="5"/>
              </a:spcBef>
            </a:pPr>
            <a:r>
              <a:rPr sz="1200" dirty="0">
                <a:latin typeface="Times New Roman"/>
                <a:cs typeface="Times New Roman"/>
              </a:rPr>
              <a:t>Fig</a:t>
            </a:r>
            <a:r>
              <a:rPr sz="1200" spc="-40" dirty="0">
                <a:latin typeface="Times New Roman"/>
                <a:cs typeface="Times New Roman"/>
              </a:rPr>
              <a:t> </a:t>
            </a:r>
            <a:r>
              <a:rPr sz="1200" dirty="0">
                <a:latin typeface="Times New Roman"/>
                <a:cs typeface="Times New Roman"/>
              </a:rPr>
              <a:t>5.6:</a:t>
            </a:r>
            <a:r>
              <a:rPr sz="1200" spc="-20" dirty="0">
                <a:latin typeface="Times New Roman"/>
                <a:cs typeface="Times New Roman"/>
              </a:rPr>
              <a:t> </a:t>
            </a:r>
            <a:r>
              <a:rPr sz="1200" dirty="0">
                <a:latin typeface="Times New Roman"/>
                <a:cs typeface="Times New Roman"/>
              </a:rPr>
              <a:t>Property</a:t>
            </a:r>
            <a:r>
              <a:rPr sz="1200" spc="-25" dirty="0">
                <a:latin typeface="Times New Roman"/>
                <a:cs typeface="Times New Roman"/>
              </a:rPr>
              <a:t> </a:t>
            </a:r>
            <a:r>
              <a:rPr sz="1200" dirty="0">
                <a:latin typeface="Times New Roman"/>
                <a:cs typeface="Times New Roman"/>
              </a:rPr>
              <a:t>Management</a:t>
            </a:r>
            <a:r>
              <a:rPr sz="1200" spc="-15" dirty="0">
                <a:latin typeface="Times New Roman"/>
                <a:cs typeface="Times New Roman"/>
              </a:rPr>
              <a:t> </a:t>
            </a:r>
            <a:r>
              <a:rPr sz="1200" spc="-10" dirty="0">
                <a:latin typeface="Times New Roman"/>
                <a:cs typeface="Times New Roman"/>
              </a:rPr>
              <a:t>Diagram</a:t>
            </a:r>
            <a:r>
              <a:rPr sz="1200" spc="-7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spc="-25" dirty="0">
                <a:latin typeface="Times New Roman"/>
                <a:cs typeface="Times New Roman"/>
              </a:rPr>
              <a:t>40</a:t>
            </a:r>
            <a:endParaRPr sz="1200">
              <a:latin typeface="Times New Roman"/>
              <a:cs typeface="Times New Roman"/>
            </a:endParaRPr>
          </a:p>
          <a:p>
            <a:pPr>
              <a:lnSpc>
                <a:spcPct val="100000"/>
              </a:lnSpc>
              <a:spcBef>
                <a:spcPts val="235"/>
              </a:spcBef>
            </a:pPr>
            <a:endParaRPr sz="1200">
              <a:latin typeface="Times New Roman"/>
              <a:cs typeface="Times New Roman"/>
            </a:endParaRPr>
          </a:p>
          <a:p>
            <a:pPr marL="12700">
              <a:lnSpc>
                <a:spcPct val="100000"/>
              </a:lnSpc>
              <a:spcBef>
                <a:spcPts val="5"/>
              </a:spcBef>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5.7:</a:t>
            </a:r>
            <a:r>
              <a:rPr sz="1200" spc="-25"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Diagram</a:t>
            </a:r>
            <a:r>
              <a:rPr sz="1200" spc="-40" dirty="0">
                <a:latin typeface="Times New Roman"/>
                <a:cs typeface="Times New Roman"/>
              </a:rPr>
              <a:t> </a:t>
            </a:r>
            <a:r>
              <a:rPr sz="1200" dirty="0">
                <a:latin typeface="Times New Roman"/>
                <a:cs typeface="Times New Roman"/>
              </a:rPr>
              <a:t>.....................................................................................</a:t>
            </a:r>
            <a:r>
              <a:rPr sz="1200" spc="-70" dirty="0">
                <a:latin typeface="Times New Roman"/>
                <a:cs typeface="Times New Roman"/>
              </a:rPr>
              <a:t> </a:t>
            </a:r>
            <a:r>
              <a:rPr sz="1200" spc="-25" dirty="0">
                <a:latin typeface="Times New Roman"/>
                <a:cs typeface="Times New Roman"/>
              </a:rPr>
              <a:t>40</a:t>
            </a:r>
            <a:endParaRPr sz="1200">
              <a:latin typeface="Times New Roman"/>
              <a:cs typeface="Times New Roman"/>
            </a:endParaRPr>
          </a:p>
          <a:p>
            <a:pPr>
              <a:lnSpc>
                <a:spcPct val="100000"/>
              </a:lnSpc>
              <a:spcBef>
                <a:spcPts val="250"/>
              </a:spcBef>
            </a:pPr>
            <a:endParaRPr sz="1200">
              <a:latin typeface="Times New Roman"/>
              <a:cs typeface="Times New Roman"/>
            </a:endParaRPr>
          </a:p>
          <a:p>
            <a:pPr marL="12700">
              <a:lnSpc>
                <a:spcPct val="100000"/>
              </a:lnSpc>
            </a:pPr>
            <a:r>
              <a:rPr sz="1200" dirty="0">
                <a:latin typeface="Times New Roman"/>
                <a:cs typeface="Times New Roman"/>
              </a:rPr>
              <a:t>Fig</a:t>
            </a:r>
            <a:r>
              <a:rPr sz="1200" spc="-30" dirty="0">
                <a:latin typeface="Times New Roman"/>
                <a:cs typeface="Times New Roman"/>
              </a:rPr>
              <a:t> </a:t>
            </a:r>
            <a:r>
              <a:rPr sz="1200" dirty="0">
                <a:latin typeface="Times New Roman"/>
                <a:cs typeface="Times New Roman"/>
              </a:rPr>
              <a:t>5.8:</a:t>
            </a:r>
            <a:r>
              <a:rPr sz="1200" spc="-30" dirty="0">
                <a:latin typeface="Times New Roman"/>
                <a:cs typeface="Times New Roman"/>
              </a:rPr>
              <a:t> </a:t>
            </a:r>
            <a:r>
              <a:rPr sz="1200" dirty="0">
                <a:latin typeface="Times New Roman"/>
                <a:cs typeface="Times New Roman"/>
              </a:rPr>
              <a:t>Admin</a:t>
            </a:r>
            <a:r>
              <a:rPr sz="1200" spc="-30" dirty="0">
                <a:latin typeface="Times New Roman"/>
                <a:cs typeface="Times New Roman"/>
              </a:rPr>
              <a:t> </a:t>
            </a:r>
            <a:r>
              <a:rPr sz="1200" dirty="0">
                <a:latin typeface="Times New Roman"/>
                <a:cs typeface="Times New Roman"/>
              </a:rPr>
              <a:t>Dashboard</a:t>
            </a:r>
            <a:r>
              <a:rPr sz="1200" spc="-30" dirty="0">
                <a:latin typeface="Times New Roman"/>
                <a:cs typeface="Times New Roman"/>
              </a:rPr>
              <a:t> </a:t>
            </a:r>
            <a:r>
              <a:rPr sz="1200" dirty="0">
                <a:latin typeface="Times New Roman"/>
                <a:cs typeface="Times New Roman"/>
              </a:rPr>
              <a:t>Diagram</a:t>
            </a:r>
            <a:r>
              <a:rPr sz="1200" spc="-35" dirty="0">
                <a:latin typeface="Times New Roman"/>
                <a:cs typeface="Times New Roman"/>
              </a:rPr>
              <a:t> </a:t>
            </a:r>
            <a:r>
              <a:rPr sz="1200" dirty="0">
                <a:latin typeface="Times New Roman"/>
                <a:cs typeface="Times New Roman"/>
              </a:rPr>
              <a:t>.....................................................................................</a:t>
            </a:r>
            <a:r>
              <a:rPr sz="1200" spc="-75" dirty="0">
                <a:latin typeface="Times New Roman"/>
                <a:cs typeface="Times New Roman"/>
              </a:rPr>
              <a:t> </a:t>
            </a:r>
            <a:r>
              <a:rPr sz="1200" spc="-25" dirty="0">
                <a:latin typeface="Times New Roman"/>
                <a:cs typeface="Times New Roman"/>
              </a:rPr>
              <a:t>41</a:t>
            </a:r>
            <a:endParaRPr sz="1200">
              <a:latin typeface="Times New Roman"/>
              <a:cs typeface="Times New Roman"/>
            </a:endParaRPr>
          </a:p>
          <a:p>
            <a:pPr>
              <a:lnSpc>
                <a:spcPct val="100000"/>
              </a:lnSpc>
              <a:spcBef>
                <a:spcPts val="250"/>
              </a:spcBef>
            </a:pPr>
            <a:endParaRPr sz="1200">
              <a:latin typeface="Times New Roman"/>
              <a:cs typeface="Times New Roman"/>
            </a:endParaRPr>
          </a:p>
          <a:p>
            <a:pPr marL="12700">
              <a:lnSpc>
                <a:spcPct val="100000"/>
              </a:lnSpc>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5.9:</a:t>
            </a:r>
            <a:r>
              <a:rPr sz="1200" spc="-10" dirty="0">
                <a:latin typeface="Times New Roman"/>
                <a:cs typeface="Times New Roman"/>
              </a:rPr>
              <a:t> </a:t>
            </a:r>
            <a:r>
              <a:rPr sz="1200" dirty="0">
                <a:latin typeface="Times New Roman"/>
                <a:cs typeface="Times New Roman"/>
              </a:rPr>
              <a:t>Add</a:t>
            </a:r>
            <a:r>
              <a:rPr sz="1200" spc="-5" dirty="0">
                <a:latin typeface="Times New Roman"/>
                <a:cs typeface="Times New Roman"/>
              </a:rPr>
              <a:t> </a:t>
            </a:r>
            <a:r>
              <a:rPr sz="1200" dirty="0">
                <a:latin typeface="Times New Roman"/>
                <a:cs typeface="Times New Roman"/>
              </a:rPr>
              <a:t>Property</a:t>
            </a:r>
            <a:r>
              <a:rPr sz="1200" spc="-10" dirty="0">
                <a:latin typeface="Times New Roman"/>
                <a:cs typeface="Times New Roman"/>
              </a:rPr>
              <a:t> Diagram</a:t>
            </a:r>
            <a:r>
              <a:rPr sz="1200" spc="-8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42</a:t>
            </a:r>
            <a:endParaRPr sz="1200">
              <a:latin typeface="Times New Roman"/>
              <a:cs typeface="Times New Roman"/>
            </a:endParaRPr>
          </a:p>
          <a:p>
            <a:pPr>
              <a:lnSpc>
                <a:spcPct val="100000"/>
              </a:lnSpc>
              <a:spcBef>
                <a:spcPts val="254"/>
              </a:spcBef>
            </a:pPr>
            <a:endParaRPr sz="1200">
              <a:latin typeface="Times New Roman"/>
              <a:cs typeface="Times New Roman"/>
            </a:endParaRPr>
          </a:p>
          <a:p>
            <a:pPr marL="12700">
              <a:lnSpc>
                <a:spcPct val="100000"/>
              </a:lnSpc>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5.10:</a:t>
            </a:r>
            <a:r>
              <a:rPr sz="1200" spc="-5" dirty="0">
                <a:latin typeface="Times New Roman"/>
                <a:cs typeface="Times New Roman"/>
              </a:rPr>
              <a:t> </a:t>
            </a:r>
            <a:r>
              <a:rPr sz="1200" dirty="0">
                <a:latin typeface="Times New Roman"/>
                <a:cs typeface="Times New Roman"/>
              </a:rPr>
              <a:t>Home</a:t>
            </a:r>
            <a:r>
              <a:rPr sz="1200" spc="-15" dirty="0">
                <a:latin typeface="Times New Roman"/>
                <a:cs typeface="Times New Roman"/>
              </a:rPr>
              <a:t> </a:t>
            </a:r>
            <a:r>
              <a:rPr sz="1200" spc="-10" dirty="0">
                <a:latin typeface="Times New Roman"/>
                <a:cs typeface="Times New Roman"/>
              </a:rPr>
              <a:t>Diagram</a:t>
            </a:r>
            <a:r>
              <a:rPr sz="1200" spc="-120" dirty="0">
                <a:latin typeface="Times New Roman"/>
                <a:cs typeface="Times New Roman"/>
              </a:rPr>
              <a:t> </a:t>
            </a:r>
            <a:r>
              <a:rPr sz="1200" dirty="0">
                <a:latin typeface="Times New Roman"/>
                <a:cs typeface="Times New Roman"/>
              </a:rPr>
              <a:t>.......................................................................................................</a:t>
            </a:r>
            <a:r>
              <a:rPr sz="1200" spc="-55" dirty="0">
                <a:latin typeface="Times New Roman"/>
                <a:cs typeface="Times New Roman"/>
              </a:rPr>
              <a:t> </a:t>
            </a:r>
            <a:r>
              <a:rPr sz="1200" spc="-25" dirty="0">
                <a:latin typeface="Times New Roman"/>
                <a:cs typeface="Times New Roman"/>
              </a:rPr>
              <a:t>42</a:t>
            </a:r>
            <a:endParaRPr sz="12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880484" y="9420690"/>
            <a:ext cx="288289" cy="179536"/>
          </a:xfrm>
          <a:prstGeom prst="rect">
            <a:avLst/>
          </a:prstGeom>
        </p:spPr>
        <p:txBody>
          <a:bodyPr vert="horz" wrap="square" lIns="0" tIns="0" rIns="0" bIns="0" rtlCol="0">
            <a:spAutoFit/>
          </a:bodyPr>
          <a:lstStyle/>
          <a:p>
            <a:pPr marL="12700">
              <a:lnSpc>
                <a:spcPts val="1410"/>
              </a:lnSpc>
            </a:pPr>
            <a:r>
              <a:rPr lang="en-US" spc="-20" dirty="0"/>
              <a:t>1</a:t>
            </a:r>
            <a:endParaRPr spc="-20" dirty="0"/>
          </a:p>
        </p:txBody>
      </p:sp>
      <p:sp>
        <p:nvSpPr>
          <p:cNvPr id="2" name="object 2"/>
          <p:cNvSpPr txBox="1"/>
          <p:nvPr/>
        </p:nvSpPr>
        <p:spPr>
          <a:xfrm>
            <a:off x="1176324" y="2258314"/>
            <a:ext cx="5696585" cy="6797675"/>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Chapter</a:t>
            </a:r>
            <a:r>
              <a:rPr sz="1600" b="1" spc="-65" dirty="0">
                <a:latin typeface="Times New Roman"/>
                <a:cs typeface="Times New Roman"/>
              </a:rPr>
              <a:t> </a:t>
            </a:r>
            <a:r>
              <a:rPr sz="1600" b="1" dirty="0">
                <a:latin typeface="Times New Roman"/>
                <a:cs typeface="Times New Roman"/>
              </a:rPr>
              <a:t>1:</a:t>
            </a:r>
            <a:r>
              <a:rPr sz="1600" b="1" spc="-35" dirty="0">
                <a:latin typeface="Times New Roman"/>
                <a:cs typeface="Times New Roman"/>
              </a:rPr>
              <a:t> </a:t>
            </a:r>
            <a:r>
              <a:rPr sz="1600" b="1" spc="-10" dirty="0">
                <a:latin typeface="Times New Roman"/>
                <a:cs typeface="Times New Roman"/>
              </a:rPr>
              <a:t>Introduction</a:t>
            </a:r>
            <a:endParaRPr sz="1600" dirty="0">
              <a:latin typeface="Times New Roman"/>
              <a:cs typeface="Times New Roman"/>
            </a:endParaRPr>
          </a:p>
          <a:p>
            <a:pPr marL="12700" marR="6350" algn="just">
              <a:lnSpc>
                <a:spcPct val="143800"/>
              </a:lnSpc>
              <a:spcBef>
                <a:spcPts val="1639"/>
              </a:spcBef>
            </a:pPr>
            <a:r>
              <a:rPr sz="1200" dirty="0">
                <a:latin typeface="Times New Roman"/>
                <a:cs typeface="Times New Roman"/>
              </a:rPr>
              <a:t>This</a:t>
            </a:r>
            <a:r>
              <a:rPr sz="1200" spc="300" dirty="0">
                <a:latin typeface="Times New Roman"/>
                <a:cs typeface="Times New Roman"/>
              </a:rPr>
              <a:t> </a:t>
            </a:r>
            <a:r>
              <a:rPr sz="1200" dirty="0">
                <a:latin typeface="Times New Roman"/>
                <a:cs typeface="Times New Roman"/>
              </a:rPr>
              <a:t>chapter</a:t>
            </a:r>
            <a:r>
              <a:rPr sz="1200" spc="295" dirty="0">
                <a:latin typeface="Times New Roman"/>
                <a:cs typeface="Times New Roman"/>
              </a:rPr>
              <a:t> </a:t>
            </a:r>
            <a:r>
              <a:rPr sz="1200" dirty="0">
                <a:latin typeface="Times New Roman"/>
                <a:cs typeface="Times New Roman"/>
              </a:rPr>
              <a:t>introduces</a:t>
            </a:r>
            <a:r>
              <a:rPr sz="1200" spc="315" dirty="0">
                <a:latin typeface="Times New Roman"/>
                <a:cs typeface="Times New Roman"/>
              </a:rPr>
              <a:t> </a:t>
            </a:r>
            <a:r>
              <a:rPr sz="1200" dirty="0">
                <a:latin typeface="Times New Roman"/>
                <a:cs typeface="Times New Roman"/>
              </a:rPr>
              <a:t>"Auction</a:t>
            </a:r>
            <a:r>
              <a:rPr sz="1200" spc="300" dirty="0">
                <a:latin typeface="Times New Roman"/>
                <a:cs typeface="Times New Roman"/>
              </a:rPr>
              <a:t> </a:t>
            </a:r>
            <a:r>
              <a:rPr sz="1200" dirty="0">
                <a:latin typeface="Times New Roman"/>
                <a:cs typeface="Times New Roman"/>
              </a:rPr>
              <a:t>Abode,"</a:t>
            </a:r>
            <a:r>
              <a:rPr sz="1200" spc="305" dirty="0">
                <a:latin typeface="Times New Roman"/>
                <a:cs typeface="Times New Roman"/>
              </a:rPr>
              <a:t> </a:t>
            </a:r>
            <a:r>
              <a:rPr sz="1200" dirty="0">
                <a:latin typeface="Times New Roman"/>
                <a:cs typeface="Times New Roman"/>
              </a:rPr>
              <a:t>an</a:t>
            </a:r>
            <a:r>
              <a:rPr sz="1200" spc="31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315" dirty="0">
                <a:latin typeface="Times New Roman"/>
                <a:cs typeface="Times New Roman"/>
              </a:rPr>
              <a:t> </a:t>
            </a:r>
            <a:r>
              <a:rPr sz="1200" dirty="0">
                <a:latin typeface="Times New Roman"/>
                <a:cs typeface="Times New Roman"/>
              </a:rPr>
              <a:t>real</a:t>
            </a:r>
            <a:r>
              <a:rPr sz="1200" spc="315" dirty="0">
                <a:latin typeface="Times New Roman"/>
                <a:cs typeface="Times New Roman"/>
              </a:rPr>
              <a:t> </a:t>
            </a:r>
            <a:r>
              <a:rPr sz="1200" dirty="0">
                <a:latin typeface="Times New Roman"/>
                <a:cs typeface="Times New Roman"/>
              </a:rPr>
              <a:t>estate</a:t>
            </a:r>
            <a:r>
              <a:rPr sz="1200" spc="305" dirty="0">
                <a:latin typeface="Times New Roman"/>
                <a:cs typeface="Times New Roman"/>
              </a:rPr>
              <a:t> </a:t>
            </a:r>
            <a:r>
              <a:rPr sz="1200" dirty="0">
                <a:latin typeface="Times New Roman"/>
                <a:cs typeface="Times New Roman"/>
              </a:rPr>
              <a:t>bidding</a:t>
            </a:r>
            <a:r>
              <a:rPr sz="1200" spc="300" dirty="0">
                <a:latin typeface="Times New Roman"/>
                <a:cs typeface="Times New Roman"/>
              </a:rPr>
              <a:t> </a:t>
            </a:r>
            <a:r>
              <a:rPr sz="1200" spc="-10" dirty="0">
                <a:latin typeface="Times New Roman"/>
                <a:cs typeface="Times New Roman"/>
              </a:rPr>
              <a:t>platform </a:t>
            </a:r>
            <a:r>
              <a:rPr sz="1200" dirty="0">
                <a:latin typeface="Times New Roman"/>
                <a:cs typeface="Times New Roman"/>
              </a:rPr>
              <a:t>designed</a:t>
            </a:r>
            <a:r>
              <a:rPr sz="1200" spc="295" dirty="0">
                <a:latin typeface="Times New Roman"/>
                <a:cs typeface="Times New Roman"/>
              </a:rPr>
              <a:t> </a:t>
            </a:r>
            <a:r>
              <a:rPr sz="1200" dirty="0">
                <a:latin typeface="Times New Roman"/>
                <a:cs typeface="Times New Roman"/>
              </a:rPr>
              <a:t>to</a:t>
            </a:r>
            <a:r>
              <a:rPr sz="1200" spc="300" dirty="0">
                <a:latin typeface="Times New Roman"/>
                <a:cs typeface="Times New Roman"/>
              </a:rPr>
              <a:t> </a:t>
            </a:r>
            <a:r>
              <a:rPr sz="1200" dirty="0">
                <a:latin typeface="Times New Roman"/>
                <a:cs typeface="Times New Roman"/>
              </a:rPr>
              <a:t>transform</a:t>
            </a:r>
            <a:r>
              <a:rPr sz="1200" spc="300" dirty="0">
                <a:latin typeface="Times New Roman"/>
                <a:cs typeface="Times New Roman"/>
              </a:rPr>
              <a:t> </a:t>
            </a:r>
            <a:r>
              <a:rPr sz="1200" dirty="0">
                <a:latin typeface="Times New Roman"/>
                <a:cs typeface="Times New Roman"/>
              </a:rPr>
              <a:t>the</a:t>
            </a:r>
            <a:r>
              <a:rPr sz="1200" spc="290" dirty="0">
                <a:latin typeface="Times New Roman"/>
                <a:cs typeface="Times New Roman"/>
              </a:rPr>
              <a:t> </a:t>
            </a:r>
            <a:r>
              <a:rPr sz="1200" dirty="0">
                <a:latin typeface="Times New Roman"/>
                <a:cs typeface="Times New Roman"/>
              </a:rPr>
              <a:t>property</a:t>
            </a:r>
            <a:r>
              <a:rPr sz="1200" spc="295" dirty="0">
                <a:latin typeface="Times New Roman"/>
                <a:cs typeface="Times New Roman"/>
              </a:rPr>
              <a:t> </a:t>
            </a:r>
            <a:r>
              <a:rPr sz="1200" dirty="0">
                <a:latin typeface="Times New Roman"/>
                <a:cs typeface="Times New Roman"/>
              </a:rPr>
              <a:t>auction</a:t>
            </a:r>
            <a:r>
              <a:rPr sz="1200" spc="295" dirty="0">
                <a:latin typeface="Times New Roman"/>
                <a:cs typeface="Times New Roman"/>
              </a:rPr>
              <a:t> </a:t>
            </a:r>
            <a:r>
              <a:rPr sz="1200" dirty="0">
                <a:latin typeface="Times New Roman"/>
                <a:cs typeface="Times New Roman"/>
              </a:rPr>
              <a:t>landscape</a:t>
            </a:r>
            <a:r>
              <a:rPr sz="1200" spc="290" dirty="0">
                <a:latin typeface="Times New Roman"/>
                <a:cs typeface="Times New Roman"/>
              </a:rPr>
              <a:t> </a:t>
            </a:r>
            <a:r>
              <a:rPr sz="1200" dirty="0">
                <a:latin typeface="Times New Roman"/>
                <a:cs typeface="Times New Roman"/>
              </a:rPr>
              <a:t>by</a:t>
            </a:r>
            <a:r>
              <a:rPr sz="1200" spc="305" dirty="0">
                <a:latin typeface="Times New Roman"/>
                <a:cs typeface="Times New Roman"/>
              </a:rPr>
              <a:t> </a:t>
            </a:r>
            <a:r>
              <a:rPr sz="1200" dirty="0">
                <a:latin typeface="Times New Roman"/>
                <a:cs typeface="Times New Roman"/>
              </a:rPr>
              <a:t>integrating</a:t>
            </a:r>
            <a:r>
              <a:rPr sz="1200" spc="29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95" dirty="0">
                <a:latin typeface="Times New Roman"/>
                <a:cs typeface="Times New Roman"/>
              </a:rPr>
              <a:t> </a:t>
            </a:r>
            <a:r>
              <a:rPr sz="1200" spc="-10" dirty="0">
                <a:latin typeface="Times New Roman"/>
                <a:cs typeface="Times New Roman"/>
              </a:rPr>
              <a:t>bidding, artificial</a:t>
            </a:r>
            <a:r>
              <a:rPr sz="1200" spc="-35" dirty="0">
                <a:latin typeface="Times New Roman"/>
                <a:cs typeface="Times New Roman"/>
              </a:rPr>
              <a:t> </a:t>
            </a:r>
            <a:r>
              <a:rPr sz="1200" spc="-10" dirty="0">
                <a:latin typeface="Times New Roman"/>
                <a:cs typeface="Times New Roman"/>
              </a:rPr>
              <a:t>intelligence,</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enhanced</a:t>
            </a:r>
            <a:r>
              <a:rPr sz="1200" spc="-35"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spc="-10" dirty="0">
                <a:latin typeface="Times New Roman"/>
                <a:cs typeface="Times New Roman"/>
              </a:rPr>
              <a:t>mechanisms.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project</a:t>
            </a:r>
            <a:r>
              <a:rPr sz="1200" spc="-20" dirty="0">
                <a:latin typeface="Times New Roman"/>
                <a:cs typeface="Times New Roman"/>
              </a:rPr>
              <a:t> </a:t>
            </a:r>
            <a:r>
              <a:rPr sz="1200" dirty="0">
                <a:latin typeface="Times New Roman"/>
                <a:cs typeface="Times New Roman"/>
              </a:rPr>
              <a:t>aims</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spc="-10" dirty="0">
                <a:latin typeface="Times New Roman"/>
                <a:cs typeface="Times New Roman"/>
              </a:rPr>
              <a:t>critical </a:t>
            </a:r>
            <a:r>
              <a:rPr sz="1200" dirty="0">
                <a:latin typeface="Times New Roman"/>
                <a:cs typeface="Times New Roman"/>
              </a:rPr>
              <a:t>challenges</a:t>
            </a:r>
            <a:r>
              <a:rPr sz="1200" spc="130" dirty="0">
                <a:latin typeface="Times New Roman"/>
                <a:cs typeface="Times New Roman"/>
              </a:rPr>
              <a:t>  </a:t>
            </a:r>
            <a:r>
              <a:rPr sz="1200" dirty="0">
                <a:latin typeface="Times New Roman"/>
                <a:cs typeface="Times New Roman"/>
              </a:rPr>
              <a:t>in</a:t>
            </a:r>
            <a:r>
              <a:rPr sz="1200" spc="130" dirty="0">
                <a:latin typeface="Times New Roman"/>
                <a:cs typeface="Times New Roman"/>
              </a:rPr>
              <a:t>  </a:t>
            </a:r>
            <a:r>
              <a:rPr sz="1200" dirty="0">
                <a:latin typeface="Times New Roman"/>
                <a:cs typeface="Times New Roman"/>
              </a:rPr>
              <a:t>traditional</a:t>
            </a:r>
            <a:r>
              <a:rPr sz="1200" spc="135" dirty="0">
                <a:latin typeface="Times New Roman"/>
                <a:cs typeface="Times New Roman"/>
              </a:rPr>
              <a:t>  </a:t>
            </a:r>
            <a:r>
              <a:rPr sz="1200" dirty="0">
                <a:latin typeface="Times New Roman"/>
                <a:cs typeface="Times New Roman"/>
              </a:rPr>
              <a:t>property</a:t>
            </a:r>
            <a:r>
              <a:rPr sz="1200" spc="130" dirty="0">
                <a:latin typeface="Times New Roman"/>
                <a:cs typeface="Times New Roman"/>
              </a:rPr>
              <a:t>  </a:t>
            </a:r>
            <a:r>
              <a:rPr sz="1200" dirty="0">
                <a:latin typeface="Times New Roman"/>
                <a:cs typeface="Times New Roman"/>
              </a:rPr>
              <a:t>auctions,</a:t>
            </a:r>
            <a:r>
              <a:rPr sz="1200" spc="135" dirty="0">
                <a:latin typeface="Times New Roman"/>
                <a:cs typeface="Times New Roman"/>
              </a:rPr>
              <a:t>  </a:t>
            </a:r>
            <a:r>
              <a:rPr sz="1200" dirty="0">
                <a:latin typeface="Times New Roman"/>
                <a:cs typeface="Times New Roman"/>
              </a:rPr>
              <a:t>including</a:t>
            </a:r>
            <a:r>
              <a:rPr sz="1200" spc="135" dirty="0">
                <a:latin typeface="Times New Roman"/>
                <a:cs typeface="Times New Roman"/>
              </a:rPr>
              <a:t>  </a:t>
            </a:r>
            <a:r>
              <a:rPr sz="1200" dirty="0">
                <a:latin typeface="Times New Roman"/>
                <a:cs typeface="Times New Roman"/>
              </a:rPr>
              <a:t>limited</a:t>
            </a:r>
            <a:r>
              <a:rPr sz="1200" spc="125" dirty="0">
                <a:latin typeface="Times New Roman"/>
                <a:cs typeface="Times New Roman"/>
              </a:rPr>
              <a:t>  </a:t>
            </a:r>
            <a:r>
              <a:rPr sz="1200" dirty="0">
                <a:latin typeface="Times New Roman"/>
                <a:cs typeface="Times New Roman"/>
              </a:rPr>
              <a:t>accessibility,</a:t>
            </a:r>
            <a:r>
              <a:rPr sz="1200" spc="125" dirty="0">
                <a:latin typeface="Times New Roman"/>
                <a:cs typeface="Times New Roman"/>
              </a:rPr>
              <a:t>  </a:t>
            </a:r>
            <a:r>
              <a:rPr sz="1200" dirty="0">
                <a:latin typeface="Times New Roman"/>
                <a:cs typeface="Times New Roman"/>
              </a:rPr>
              <a:t>lack</a:t>
            </a:r>
            <a:r>
              <a:rPr sz="1200" spc="135" dirty="0">
                <a:latin typeface="Times New Roman"/>
                <a:cs typeface="Times New Roman"/>
              </a:rPr>
              <a:t>  </a:t>
            </a:r>
            <a:r>
              <a:rPr sz="1200" spc="-25" dirty="0">
                <a:latin typeface="Times New Roman"/>
                <a:cs typeface="Times New Roman"/>
              </a:rPr>
              <a:t>of </a:t>
            </a:r>
            <a:r>
              <a:rPr sz="1200" dirty="0">
                <a:latin typeface="Times New Roman"/>
                <a:cs typeface="Times New Roman"/>
              </a:rPr>
              <a:t>transparency,</a:t>
            </a:r>
            <a:r>
              <a:rPr sz="1200" spc="-35" dirty="0">
                <a:latin typeface="Times New Roman"/>
                <a:cs typeface="Times New Roman"/>
              </a:rPr>
              <a:t> </a:t>
            </a:r>
            <a:r>
              <a:rPr sz="1200" dirty="0">
                <a:latin typeface="Times New Roman"/>
                <a:cs typeface="Times New Roman"/>
              </a:rPr>
              <a:t>fraud</a:t>
            </a:r>
            <a:r>
              <a:rPr sz="1200" spc="-35" dirty="0">
                <a:latin typeface="Times New Roman"/>
                <a:cs typeface="Times New Roman"/>
              </a:rPr>
              <a:t> </a:t>
            </a:r>
            <a:r>
              <a:rPr sz="1200" dirty="0">
                <a:latin typeface="Times New Roman"/>
                <a:cs typeface="Times New Roman"/>
              </a:rPr>
              <a:t>risks,</a:t>
            </a:r>
            <a:r>
              <a:rPr sz="1200" spc="-2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inefficient</a:t>
            </a:r>
            <a:r>
              <a:rPr sz="1200" spc="-30" dirty="0">
                <a:latin typeface="Times New Roman"/>
                <a:cs typeface="Times New Roman"/>
              </a:rPr>
              <a:t> </a:t>
            </a:r>
            <a:r>
              <a:rPr sz="1200" dirty="0">
                <a:latin typeface="Times New Roman"/>
                <a:cs typeface="Times New Roman"/>
              </a:rPr>
              <a:t>bidding</a:t>
            </a:r>
            <a:r>
              <a:rPr sz="1200" spc="-35" dirty="0">
                <a:latin typeface="Times New Roman"/>
                <a:cs typeface="Times New Roman"/>
              </a:rPr>
              <a:t> </a:t>
            </a:r>
            <a:r>
              <a:rPr sz="1200" spc="-10" dirty="0">
                <a:latin typeface="Times New Roman"/>
                <a:cs typeface="Times New Roman"/>
              </a:rPr>
              <a:t>processes.</a:t>
            </a: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12700" marR="6985" algn="just">
              <a:lnSpc>
                <a:spcPct val="143800"/>
              </a:lnSpc>
              <a:spcBef>
                <a:spcPts val="5"/>
              </a:spcBef>
            </a:pPr>
            <a:r>
              <a:rPr sz="1200" dirty="0">
                <a:latin typeface="Times New Roman"/>
                <a:cs typeface="Times New Roman"/>
              </a:rPr>
              <a:t>By</a:t>
            </a:r>
            <a:r>
              <a:rPr sz="1200" spc="100" dirty="0">
                <a:latin typeface="Times New Roman"/>
                <a:cs typeface="Times New Roman"/>
              </a:rPr>
              <a:t> </a:t>
            </a:r>
            <a:r>
              <a:rPr sz="1200" dirty="0">
                <a:latin typeface="Times New Roman"/>
                <a:cs typeface="Times New Roman"/>
              </a:rPr>
              <a:t>leveraging</a:t>
            </a:r>
            <a:r>
              <a:rPr sz="1200" spc="120" dirty="0">
                <a:latin typeface="Times New Roman"/>
                <a:cs typeface="Times New Roman"/>
              </a:rPr>
              <a:t> </a:t>
            </a:r>
            <a:r>
              <a:rPr sz="1200" spc="-10" dirty="0">
                <a:latin typeface="Times New Roman"/>
                <a:cs typeface="Times New Roman"/>
              </a:rPr>
              <a:t>cutting-</a:t>
            </a:r>
            <a:r>
              <a:rPr sz="1200" dirty="0">
                <a:latin typeface="Times New Roman"/>
                <a:cs typeface="Times New Roman"/>
              </a:rPr>
              <a:t>edge</a:t>
            </a:r>
            <a:r>
              <a:rPr sz="1200" spc="95" dirty="0">
                <a:latin typeface="Times New Roman"/>
                <a:cs typeface="Times New Roman"/>
              </a:rPr>
              <a:t> </a:t>
            </a:r>
            <a:r>
              <a:rPr sz="1200" dirty="0">
                <a:latin typeface="Times New Roman"/>
                <a:cs typeface="Times New Roman"/>
              </a:rPr>
              <a:t>technologies</a:t>
            </a:r>
            <a:r>
              <a:rPr sz="1200" spc="105" dirty="0">
                <a:latin typeface="Times New Roman"/>
                <a:cs typeface="Times New Roman"/>
              </a:rPr>
              <a:t> </a:t>
            </a:r>
            <a:r>
              <a:rPr sz="1200" dirty="0">
                <a:latin typeface="Times New Roman"/>
                <a:cs typeface="Times New Roman"/>
              </a:rPr>
              <a:t>such</a:t>
            </a:r>
            <a:r>
              <a:rPr sz="1200" spc="105" dirty="0">
                <a:latin typeface="Times New Roman"/>
                <a:cs typeface="Times New Roman"/>
              </a:rPr>
              <a:t> </a:t>
            </a:r>
            <a:r>
              <a:rPr sz="1200" dirty="0">
                <a:latin typeface="Times New Roman"/>
                <a:cs typeface="Times New Roman"/>
              </a:rPr>
              <a:t>as</a:t>
            </a:r>
            <a:r>
              <a:rPr sz="1200" spc="135" dirty="0">
                <a:latin typeface="Times New Roman"/>
                <a:cs typeface="Times New Roman"/>
              </a:rPr>
              <a:t> </a:t>
            </a:r>
            <a:r>
              <a:rPr sz="1200" dirty="0">
                <a:latin typeface="Times New Roman"/>
                <a:cs typeface="Times New Roman"/>
              </a:rPr>
              <a:t>WebSocket’s,</a:t>
            </a:r>
            <a:r>
              <a:rPr sz="1200" spc="114"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110" dirty="0">
                <a:latin typeface="Times New Roman"/>
                <a:cs typeface="Times New Roman"/>
              </a:rPr>
              <a:t> </a:t>
            </a:r>
            <a:r>
              <a:rPr sz="1200" dirty="0">
                <a:latin typeface="Times New Roman"/>
                <a:cs typeface="Times New Roman"/>
              </a:rPr>
              <a:t>price</a:t>
            </a:r>
            <a:r>
              <a:rPr sz="1200" spc="100" dirty="0">
                <a:latin typeface="Times New Roman"/>
                <a:cs typeface="Times New Roman"/>
              </a:rPr>
              <a:t> </a:t>
            </a:r>
            <a:r>
              <a:rPr sz="1200" spc="-10" dirty="0">
                <a:latin typeface="Times New Roman"/>
                <a:cs typeface="Times New Roman"/>
              </a:rPr>
              <a:t>prediction, </a:t>
            </a:r>
            <a:r>
              <a:rPr sz="1200" dirty="0">
                <a:latin typeface="Times New Roman"/>
                <a:cs typeface="Times New Roman"/>
              </a:rPr>
              <a:t>and</a:t>
            </a:r>
            <a:r>
              <a:rPr sz="1200" spc="160" dirty="0">
                <a:latin typeface="Times New Roman"/>
                <a:cs typeface="Times New Roman"/>
              </a:rPr>
              <a:t> </a:t>
            </a:r>
            <a:r>
              <a:rPr sz="1200" dirty="0">
                <a:latin typeface="Times New Roman"/>
                <a:cs typeface="Times New Roman"/>
              </a:rPr>
              <a:t>automated</a:t>
            </a:r>
            <a:r>
              <a:rPr sz="1200" spc="165" dirty="0">
                <a:latin typeface="Times New Roman"/>
                <a:cs typeface="Times New Roman"/>
              </a:rPr>
              <a:t> </a:t>
            </a:r>
            <a:r>
              <a:rPr sz="1200" dirty="0">
                <a:latin typeface="Times New Roman"/>
                <a:cs typeface="Times New Roman"/>
              </a:rPr>
              <a:t>property</a:t>
            </a:r>
            <a:r>
              <a:rPr sz="1200" spc="175" dirty="0">
                <a:latin typeface="Times New Roman"/>
                <a:cs typeface="Times New Roman"/>
              </a:rPr>
              <a:t> </a:t>
            </a:r>
            <a:r>
              <a:rPr sz="1200" dirty="0">
                <a:latin typeface="Times New Roman"/>
                <a:cs typeface="Times New Roman"/>
              </a:rPr>
              <a:t>verification,</a:t>
            </a:r>
            <a:r>
              <a:rPr sz="1200" spc="160" dirty="0">
                <a:latin typeface="Times New Roman"/>
                <a:cs typeface="Times New Roman"/>
              </a:rPr>
              <a:t> </a:t>
            </a:r>
            <a:r>
              <a:rPr sz="1200" dirty="0">
                <a:latin typeface="Times New Roman"/>
                <a:cs typeface="Times New Roman"/>
              </a:rPr>
              <a:t>Auction</a:t>
            </a:r>
            <a:r>
              <a:rPr sz="1200" spc="165" dirty="0">
                <a:latin typeface="Times New Roman"/>
                <a:cs typeface="Times New Roman"/>
              </a:rPr>
              <a:t> </a:t>
            </a:r>
            <a:r>
              <a:rPr sz="1200" dirty="0">
                <a:latin typeface="Times New Roman"/>
                <a:cs typeface="Times New Roman"/>
              </a:rPr>
              <a:t>Abode</a:t>
            </a:r>
            <a:r>
              <a:rPr sz="1200" spc="160" dirty="0">
                <a:latin typeface="Times New Roman"/>
                <a:cs typeface="Times New Roman"/>
              </a:rPr>
              <a:t> </a:t>
            </a:r>
            <a:r>
              <a:rPr sz="1200" dirty="0">
                <a:latin typeface="Times New Roman"/>
                <a:cs typeface="Times New Roman"/>
              </a:rPr>
              <a:t>ensures</a:t>
            </a:r>
            <a:r>
              <a:rPr sz="1200" spc="165" dirty="0">
                <a:latin typeface="Times New Roman"/>
                <a:cs typeface="Times New Roman"/>
              </a:rPr>
              <a:t> </a:t>
            </a:r>
            <a:r>
              <a:rPr sz="1200" dirty="0">
                <a:latin typeface="Times New Roman"/>
                <a:cs typeface="Times New Roman"/>
              </a:rPr>
              <a:t>a</a:t>
            </a:r>
            <a:r>
              <a:rPr sz="1200" spc="160" dirty="0">
                <a:latin typeface="Times New Roman"/>
                <a:cs typeface="Times New Roman"/>
              </a:rPr>
              <a:t> </a:t>
            </a:r>
            <a:r>
              <a:rPr sz="1200" dirty="0">
                <a:latin typeface="Times New Roman"/>
                <a:cs typeface="Times New Roman"/>
              </a:rPr>
              <a:t>seamless,</a:t>
            </a:r>
            <a:r>
              <a:rPr sz="1200" spc="160" dirty="0">
                <a:latin typeface="Times New Roman"/>
                <a:cs typeface="Times New Roman"/>
              </a:rPr>
              <a:t> </a:t>
            </a:r>
            <a:r>
              <a:rPr sz="1200" dirty="0">
                <a:latin typeface="Times New Roman"/>
                <a:cs typeface="Times New Roman"/>
              </a:rPr>
              <a:t>fair,</a:t>
            </a:r>
            <a:r>
              <a:rPr sz="1200" spc="165"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spc="-10" dirty="0">
                <a:latin typeface="Times New Roman"/>
                <a:cs typeface="Times New Roman"/>
              </a:rPr>
              <a:t>secure </a:t>
            </a:r>
            <a:r>
              <a:rPr sz="1200" dirty="0">
                <a:latin typeface="Times New Roman"/>
                <a:cs typeface="Times New Roman"/>
              </a:rPr>
              <a:t>bidding</a:t>
            </a:r>
            <a:r>
              <a:rPr sz="1200" spc="75" dirty="0">
                <a:latin typeface="Times New Roman"/>
                <a:cs typeface="Times New Roman"/>
              </a:rPr>
              <a:t> </a:t>
            </a:r>
            <a:r>
              <a:rPr sz="1200" dirty="0">
                <a:latin typeface="Times New Roman"/>
                <a:cs typeface="Times New Roman"/>
              </a:rPr>
              <a:t>experience</a:t>
            </a:r>
            <a:r>
              <a:rPr sz="1200" spc="75" dirty="0">
                <a:latin typeface="Times New Roman"/>
                <a:cs typeface="Times New Roman"/>
              </a:rPr>
              <a:t> </a:t>
            </a:r>
            <a:r>
              <a:rPr sz="1200" dirty="0">
                <a:latin typeface="Times New Roman"/>
                <a:cs typeface="Times New Roman"/>
              </a:rPr>
              <a:t>for</a:t>
            </a:r>
            <a:r>
              <a:rPr sz="1200" spc="70" dirty="0">
                <a:latin typeface="Times New Roman"/>
                <a:cs typeface="Times New Roman"/>
              </a:rPr>
              <a:t> </a:t>
            </a:r>
            <a:r>
              <a:rPr sz="1200" dirty="0">
                <a:latin typeface="Times New Roman"/>
                <a:cs typeface="Times New Roman"/>
              </a:rPr>
              <a:t>buyers</a:t>
            </a:r>
            <a:r>
              <a:rPr sz="1200" spc="75"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sellers</a:t>
            </a:r>
            <a:r>
              <a:rPr sz="1200" spc="75" dirty="0">
                <a:latin typeface="Times New Roman"/>
                <a:cs typeface="Times New Roman"/>
              </a:rPr>
              <a:t> </a:t>
            </a:r>
            <a:r>
              <a:rPr sz="1200" dirty="0">
                <a:latin typeface="Times New Roman"/>
                <a:cs typeface="Times New Roman"/>
              </a:rPr>
              <a:t>alike.</a:t>
            </a:r>
            <a:r>
              <a:rPr sz="1200" spc="9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platform</a:t>
            </a:r>
            <a:r>
              <a:rPr sz="1200" spc="80" dirty="0">
                <a:latin typeface="Times New Roman"/>
                <a:cs typeface="Times New Roman"/>
              </a:rPr>
              <a:t> </a:t>
            </a:r>
            <a:r>
              <a:rPr sz="1200" dirty="0">
                <a:latin typeface="Times New Roman"/>
                <a:cs typeface="Times New Roman"/>
              </a:rPr>
              <a:t>provides</a:t>
            </a:r>
            <a:r>
              <a:rPr sz="1200" spc="75" dirty="0">
                <a:latin typeface="Times New Roman"/>
                <a:cs typeface="Times New Roman"/>
              </a:rPr>
              <a:t> </a:t>
            </a:r>
            <a:r>
              <a:rPr sz="1200" dirty="0">
                <a:latin typeface="Times New Roman"/>
                <a:cs typeface="Times New Roman"/>
              </a:rPr>
              <a:t>instant</a:t>
            </a:r>
            <a:r>
              <a:rPr sz="1200" spc="80" dirty="0">
                <a:latin typeface="Times New Roman"/>
                <a:cs typeface="Times New Roman"/>
              </a:rPr>
              <a:t> </a:t>
            </a:r>
            <a:r>
              <a:rPr sz="1200" dirty="0">
                <a:latin typeface="Times New Roman"/>
                <a:cs typeface="Times New Roman"/>
              </a:rPr>
              <a:t>bid</a:t>
            </a:r>
            <a:r>
              <a:rPr sz="1200" spc="75" dirty="0">
                <a:latin typeface="Times New Roman"/>
                <a:cs typeface="Times New Roman"/>
              </a:rPr>
              <a:t> </a:t>
            </a:r>
            <a:r>
              <a:rPr sz="1200" spc="-10" dirty="0">
                <a:latin typeface="Times New Roman"/>
                <a:cs typeface="Times New Roman"/>
              </a:rPr>
              <a:t>updates, </a:t>
            </a:r>
            <a:r>
              <a:rPr sz="1200" dirty="0">
                <a:latin typeface="Times New Roman"/>
                <a:cs typeface="Times New Roman"/>
              </a:rPr>
              <a:t>intelligent</a:t>
            </a:r>
            <a:r>
              <a:rPr sz="1200" spc="10" dirty="0">
                <a:latin typeface="Times New Roman"/>
                <a:cs typeface="Times New Roman"/>
              </a:rPr>
              <a:t> </a:t>
            </a:r>
            <a:r>
              <a:rPr sz="1200" dirty="0">
                <a:latin typeface="Times New Roman"/>
                <a:cs typeface="Times New Roman"/>
              </a:rPr>
              <a:t>price</a:t>
            </a:r>
            <a:r>
              <a:rPr sz="1200" spc="10" dirty="0">
                <a:latin typeface="Times New Roman"/>
                <a:cs typeface="Times New Roman"/>
              </a:rPr>
              <a:t> </a:t>
            </a:r>
            <a:r>
              <a:rPr sz="1200" dirty="0">
                <a:latin typeface="Times New Roman"/>
                <a:cs typeface="Times New Roman"/>
              </a:rPr>
              <a:t>recommendations,</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fraud</a:t>
            </a:r>
            <a:r>
              <a:rPr sz="1200" spc="15" dirty="0">
                <a:latin typeface="Times New Roman"/>
                <a:cs typeface="Times New Roman"/>
              </a:rPr>
              <a:t> </a:t>
            </a:r>
            <a:r>
              <a:rPr sz="1200" dirty="0">
                <a:latin typeface="Times New Roman"/>
                <a:cs typeface="Times New Roman"/>
              </a:rPr>
              <a:t>detection</a:t>
            </a:r>
            <a:r>
              <a:rPr sz="1200" spc="10" dirty="0">
                <a:latin typeface="Times New Roman"/>
                <a:cs typeface="Times New Roman"/>
              </a:rPr>
              <a:t> </a:t>
            </a:r>
            <a:r>
              <a:rPr sz="1200" dirty="0">
                <a:latin typeface="Times New Roman"/>
                <a:cs typeface="Times New Roman"/>
              </a:rPr>
              <a:t>mechanisms</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safeguard</a:t>
            </a:r>
            <a:r>
              <a:rPr sz="1200" spc="10" dirty="0">
                <a:latin typeface="Times New Roman"/>
                <a:cs typeface="Times New Roman"/>
              </a:rPr>
              <a:t> </a:t>
            </a:r>
            <a:r>
              <a:rPr sz="1200" dirty="0">
                <a:latin typeface="Times New Roman"/>
                <a:cs typeface="Times New Roman"/>
              </a:rPr>
              <a:t>users</a:t>
            </a:r>
            <a:r>
              <a:rPr sz="1200" spc="15" dirty="0">
                <a:latin typeface="Times New Roman"/>
                <a:cs typeface="Times New Roman"/>
              </a:rPr>
              <a:t> </a:t>
            </a:r>
            <a:r>
              <a:rPr sz="1200" spc="-20" dirty="0">
                <a:latin typeface="Times New Roman"/>
                <a:cs typeface="Times New Roman"/>
              </a:rPr>
              <a:t>from </a:t>
            </a:r>
            <a:r>
              <a:rPr sz="1200" dirty="0">
                <a:latin typeface="Times New Roman"/>
                <a:cs typeface="Times New Roman"/>
              </a:rPr>
              <a:t>deceptive</a:t>
            </a:r>
            <a:r>
              <a:rPr sz="1200" spc="-70" dirty="0">
                <a:latin typeface="Times New Roman"/>
                <a:cs typeface="Times New Roman"/>
              </a:rPr>
              <a:t> </a:t>
            </a:r>
            <a:r>
              <a:rPr sz="1200" spc="-10" dirty="0">
                <a:latin typeface="Times New Roman"/>
                <a:cs typeface="Times New Roman"/>
              </a:rPr>
              <a:t>practices.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35"/>
              </a:spcBef>
            </a:pPr>
            <a:endParaRPr sz="1200" dirty="0">
              <a:latin typeface="Times New Roman"/>
              <a:cs typeface="Times New Roman"/>
            </a:endParaRPr>
          </a:p>
          <a:p>
            <a:pPr marL="70485">
              <a:lnSpc>
                <a:spcPct val="100000"/>
              </a:lnSpc>
            </a:pPr>
            <a:r>
              <a:rPr sz="1600" b="1" dirty="0">
                <a:latin typeface="Times New Roman"/>
                <a:cs typeface="Times New Roman"/>
              </a:rPr>
              <a:t>1.1.</a:t>
            </a:r>
            <a:r>
              <a:rPr sz="1600" b="1" spc="315" dirty="0">
                <a:latin typeface="Times New Roman"/>
                <a:cs typeface="Times New Roman"/>
              </a:rPr>
              <a:t> </a:t>
            </a:r>
            <a:r>
              <a:rPr sz="1600" b="1" spc="-10" dirty="0">
                <a:latin typeface="Times New Roman"/>
                <a:cs typeface="Times New Roman"/>
              </a:rPr>
              <a:t>Brief</a:t>
            </a:r>
            <a:endParaRPr sz="1600" dirty="0">
              <a:latin typeface="Times New Roman"/>
              <a:cs typeface="Times New Roman"/>
            </a:endParaRPr>
          </a:p>
          <a:p>
            <a:pPr marL="12700" marR="5080" algn="just">
              <a:lnSpc>
                <a:spcPct val="143900"/>
              </a:lnSpc>
              <a:spcBef>
                <a:spcPts val="835"/>
              </a:spcBef>
            </a:pPr>
            <a:r>
              <a:rPr sz="1200" spc="-10" dirty="0">
                <a:latin typeface="Times New Roman"/>
                <a:cs typeface="Times New Roman"/>
              </a:rPr>
              <a:t>Studies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market analyses</a:t>
            </a:r>
            <a:r>
              <a:rPr sz="1200" spc="-25" dirty="0">
                <a:latin typeface="Times New Roman"/>
                <a:cs typeface="Times New Roman"/>
              </a:rPr>
              <a:t> </a:t>
            </a:r>
            <a:r>
              <a:rPr sz="1200" spc="-10" dirty="0">
                <a:latin typeface="Times New Roman"/>
                <a:cs typeface="Times New Roman"/>
              </a:rPr>
              <a:t>consistently</a:t>
            </a:r>
            <a:r>
              <a:rPr sz="1200" spc="-25" dirty="0">
                <a:latin typeface="Times New Roman"/>
                <a:cs typeface="Times New Roman"/>
              </a:rPr>
              <a:t> </a:t>
            </a:r>
            <a:r>
              <a:rPr sz="1200" spc="-10" dirty="0">
                <a:latin typeface="Times New Roman"/>
                <a:cs typeface="Times New Roman"/>
              </a:rPr>
              <a:t>highlight</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transformative</a:t>
            </a:r>
            <a:r>
              <a:rPr sz="1200" spc="-35" dirty="0">
                <a:latin typeface="Times New Roman"/>
                <a:cs typeface="Times New Roman"/>
              </a:rPr>
              <a:t> </a:t>
            </a:r>
            <a:r>
              <a:rPr sz="1200" spc="-10" dirty="0">
                <a:latin typeface="Times New Roman"/>
                <a:cs typeface="Times New Roman"/>
              </a:rPr>
              <a:t>potential</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AI</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real-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technologies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revolutionizing</a:t>
            </a:r>
            <a:r>
              <a:rPr sz="1200" spc="-25" dirty="0">
                <a:latin typeface="Times New Roman"/>
                <a:cs typeface="Times New Roman"/>
              </a:rPr>
              <a:t> </a:t>
            </a:r>
            <a:r>
              <a:rPr sz="1200" dirty="0">
                <a:latin typeface="Times New Roman"/>
                <a:cs typeface="Times New Roman"/>
              </a:rPr>
              <a:t>digital</a:t>
            </a:r>
            <a:r>
              <a:rPr sz="1200" spc="-25" dirty="0">
                <a:latin typeface="Times New Roman"/>
                <a:cs typeface="Times New Roman"/>
              </a:rPr>
              <a:t> </a:t>
            </a:r>
            <a:r>
              <a:rPr sz="1200" dirty="0">
                <a:latin typeface="Times New Roman"/>
                <a:cs typeface="Times New Roman"/>
              </a:rPr>
              <a:t>property</a:t>
            </a:r>
            <a:r>
              <a:rPr sz="1200" spc="-25" dirty="0">
                <a:latin typeface="Times New Roman"/>
                <a:cs typeface="Times New Roman"/>
              </a:rPr>
              <a:t> </a:t>
            </a:r>
            <a:r>
              <a:rPr sz="1200" dirty="0">
                <a:latin typeface="Times New Roman"/>
                <a:cs typeface="Times New Roman"/>
              </a:rPr>
              <a:t>auctions.</a:t>
            </a:r>
            <a:r>
              <a:rPr sz="1200" spc="-30" dirty="0">
                <a:latin typeface="Times New Roman"/>
                <a:cs typeface="Times New Roman"/>
              </a:rPr>
              <a:t> </a:t>
            </a:r>
            <a:r>
              <a:rPr sz="1200" dirty="0">
                <a:latin typeface="Times New Roman"/>
                <a:cs typeface="Times New Roman"/>
              </a:rPr>
              <a:t>Traditional</a:t>
            </a:r>
            <a:r>
              <a:rPr sz="1200" spc="-25" dirty="0">
                <a:latin typeface="Times New Roman"/>
                <a:cs typeface="Times New Roman"/>
              </a:rPr>
              <a:t> </a:t>
            </a:r>
            <a:r>
              <a:rPr sz="1200" dirty="0">
                <a:latin typeface="Times New Roman"/>
                <a:cs typeface="Times New Roman"/>
              </a:rPr>
              <a:t>real</a:t>
            </a:r>
            <a:r>
              <a:rPr sz="1200" spc="-20" dirty="0">
                <a:latin typeface="Times New Roman"/>
                <a:cs typeface="Times New Roman"/>
              </a:rPr>
              <a:t> </a:t>
            </a:r>
            <a:r>
              <a:rPr sz="1200" dirty="0">
                <a:latin typeface="Times New Roman"/>
                <a:cs typeface="Times New Roman"/>
              </a:rPr>
              <a:t>estate</a:t>
            </a:r>
            <a:r>
              <a:rPr sz="1200" spc="-30" dirty="0">
                <a:latin typeface="Times New Roman"/>
                <a:cs typeface="Times New Roman"/>
              </a:rPr>
              <a:t> </a:t>
            </a:r>
            <a:r>
              <a:rPr sz="1200" spc="-10" dirty="0">
                <a:latin typeface="Times New Roman"/>
                <a:cs typeface="Times New Roman"/>
              </a:rPr>
              <a:t>bidding </a:t>
            </a:r>
            <a:r>
              <a:rPr sz="1200" dirty="0">
                <a:latin typeface="Times New Roman"/>
                <a:cs typeface="Times New Roman"/>
              </a:rPr>
              <a:t>systems</a:t>
            </a:r>
            <a:r>
              <a:rPr sz="1200" spc="275" dirty="0">
                <a:latin typeface="Times New Roman"/>
                <a:cs typeface="Times New Roman"/>
              </a:rPr>
              <a:t> </a:t>
            </a:r>
            <a:r>
              <a:rPr sz="1200" dirty="0">
                <a:latin typeface="Times New Roman"/>
                <a:cs typeface="Times New Roman"/>
              </a:rPr>
              <a:t>face</a:t>
            </a:r>
            <a:r>
              <a:rPr sz="1200" spc="285" dirty="0">
                <a:latin typeface="Times New Roman"/>
                <a:cs typeface="Times New Roman"/>
              </a:rPr>
              <a:t> </a:t>
            </a:r>
            <a:r>
              <a:rPr sz="1200" dirty="0">
                <a:latin typeface="Times New Roman"/>
                <a:cs typeface="Times New Roman"/>
              </a:rPr>
              <a:t>challenges</a:t>
            </a:r>
            <a:r>
              <a:rPr sz="1200" spc="285" dirty="0">
                <a:latin typeface="Times New Roman"/>
                <a:cs typeface="Times New Roman"/>
              </a:rPr>
              <a:t> </a:t>
            </a:r>
            <a:r>
              <a:rPr sz="1200" dirty="0">
                <a:latin typeface="Times New Roman"/>
                <a:cs typeface="Times New Roman"/>
              </a:rPr>
              <a:t>such</a:t>
            </a:r>
            <a:r>
              <a:rPr sz="1200" spc="280" dirty="0">
                <a:latin typeface="Times New Roman"/>
                <a:cs typeface="Times New Roman"/>
              </a:rPr>
              <a:t> </a:t>
            </a:r>
            <a:r>
              <a:rPr sz="1200" dirty="0">
                <a:latin typeface="Times New Roman"/>
                <a:cs typeface="Times New Roman"/>
              </a:rPr>
              <a:t>as</a:t>
            </a:r>
            <a:r>
              <a:rPr sz="1200" spc="275" dirty="0">
                <a:latin typeface="Times New Roman"/>
                <a:cs typeface="Times New Roman"/>
              </a:rPr>
              <a:t> </a:t>
            </a:r>
            <a:r>
              <a:rPr sz="1200" dirty="0">
                <a:latin typeface="Times New Roman"/>
                <a:cs typeface="Times New Roman"/>
              </a:rPr>
              <a:t>bid</a:t>
            </a:r>
            <a:r>
              <a:rPr sz="1200" spc="280" dirty="0">
                <a:latin typeface="Times New Roman"/>
                <a:cs typeface="Times New Roman"/>
              </a:rPr>
              <a:t> </a:t>
            </a:r>
            <a:r>
              <a:rPr sz="1200" dirty="0">
                <a:latin typeface="Times New Roman"/>
                <a:cs typeface="Times New Roman"/>
              </a:rPr>
              <a:t>transparency</a:t>
            </a:r>
            <a:r>
              <a:rPr sz="1200" spc="275" dirty="0">
                <a:latin typeface="Times New Roman"/>
                <a:cs typeface="Times New Roman"/>
              </a:rPr>
              <a:t> </a:t>
            </a:r>
            <a:r>
              <a:rPr sz="1200" dirty="0">
                <a:latin typeface="Times New Roman"/>
                <a:cs typeface="Times New Roman"/>
              </a:rPr>
              <a:t>issues,</a:t>
            </a:r>
            <a:r>
              <a:rPr sz="1200" spc="280" dirty="0">
                <a:latin typeface="Times New Roman"/>
                <a:cs typeface="Times New Roman"/>
              </a:rPr>
              <a:t> </a:t>
            </a:r>
            <a:r>
              <a:rPr sz="1200" dirty="0">
                <a:latin typeface="Times New Roman"/>
                <a:cs typeface="Times New Roman"/>
              </a:rPr>
              <a:t>fraudulent</a:t>
            </a:r>
            <a:r>
              <a:rPr sz="1200" spc="275" dirty="0">
                <a:latin typeface="Times New Roman"/>
                <a:cs typeface="Times New Roman"/>
              </a:rPr>
              <a:t> </a:t>
            </a:r>
            <a:r>
              <a:rPr sz="1200" dirty="0">
                <a:latin typeface="Times New Roman"/>
                <a:cs typeface="Times New Roman"/>
              </a:rPr>
              <a:t>listings,</a:t>
            </a:r>
            <a:r>
              <a:rPr sz="1200" spc="280" dirty="0">
                <a:latin typeface="Times New Roman"/>
                <a:cs typeface="Times New Roman"/>
              </a:rPr>
              <a:t> </a:t>
            </a:r>
            <a:r>
              <a:rPr sz="1200" spc="-10" dirty="0">
                <a:latin typeface="Times New Roman"/>
                <a:cs typeface="Times New Roman"/>
              </a:rPr>
              <a:t>scalability </a:t>
            </a:r>
            <a:r>
              <a:rPr sz="1200" dirty="0">
                <a:latin typeface="Times New Roman"/>
                <a:cs typeface="Times New Roman"/>
              </a:rPr>
              <a:t>limitations,</a:t>
            </a:r>
            <a:r>
              <a:rPr sz="1200" spc="185" dirty="0">
                <a:latin typeface="Times New Roman"/>
                <a:cs typeface="Times New Roman"/>
              </a:rPr>
              <a:t> </a:t>
            </a:r>
            <a:r>
              <a:rPr sz="1200" dirty="0">
                <a:latin typeface="Times New Roman"/>
                <a:cs typeface="Times New Roman"/>
              </a:rPr>
              <a:t>and</a:t>
            </a:r>
            <a:r>
              <a:rPr sz="1200" spc="185" dirty="0">
                <a:latin typeface="Times New Roman"/>
                <a:cs typeface="Times New Roman"/>
              </a:rPr>
              <a:t> </a:t>
            </a:r>
            <a:r>
              <a:rPr sz="1200" dirty="0">
                <a:latin typeface="Times New Roman"/>
                <a:cs typeface="Times New Roman"/>
              </a:rPr>
              <a:t>inefficient</a:t>
            </a:r>
            <a:r>
              <a:rPr sz="1200" spc="185" dirty="0">
                <a:latin typeface="Times New Roman"/>
                <a:cs typeface="Times New Roman"/>
              </a:rPr>
              <a:t> </a:t>
            </a:r>
            <a:r>
              <a:rPr sz="1200" dirty="0">
                <a:latin typeface="Times New Roman"/>
                <a:cs typeface="Times New Roman"/>
              </a:rPr>
              <a:t>user</a:t>
            </a:r>
            <a:r>
              <a:rPr sz="1200" spc="180" dirty="0">
                <a:latin typeface="Times New Roman"/>
                <a:cs typeface="Times New Roman"/>
              </a:rPr>
              <a:t> </a:t>
            </a:r>
            <a:r>
              <a:rPr sz="1200" dirty="0">
                <a:latin typeface="Times New Roman"/>
                <a:cs typeface="Times New Roman"/>
              </a:rPr>
              <a:t>experiences.</a:t>
            </a:r>
            <a:r>
              <a:rPr sz="1200" spc="200" dirty="0">
                <a:latin typeface="Times New Roman"/>
                <a:cs typeface="Times New Roman"/>
              </a:rPr>
              <a:t> </a:t>
            </a:r>
            <a:r>
              <a:rPr sz="1200" dirty="0">
                <a:latin typeface="Times New Roman"/>
                <a:cs typeface="Times New Roman"/>
              </a:rPr>
              <a:t>Auction</a:t>
            </a:r>
            <a:r>
              <a:rPr sz="1200" spc="185" dirty="0">
                <a:latin typeface="Times New Roman"/>
                <a:cs typeface="Times New Roman"/>
              </a:rPr>
              <a:t> </a:t>
            </a:r>
            <a:r>
              <a:rPr sz="1200" dirty="0">
                <a:latin typeface="Times New Roman"/>
                <a:cs typeface="Times New Roman"/>
              </a:rPr>
              <a:t>Abode</a:t>
            </a:r>
            <a:r>
              <a:rPr sz="1200" spc="175" dirty="0">
                <a:latin typeface="Times New Roman"/>
                <a:cs typeface="Times New Roman"/>
              </a:rPr>
              <a:t> </a:t>
            </a:r>
            <a:r>
              <a:rPr sz="1200" dirty="0">
                <a:latin typeface="Times New Roman"/>
                <a:cs typeface="Times New Roman"/>
              </a:rPr>
              <a:t>leverages</a:t>
            </a:r>
            <a:r>
              <a:rPr sz="1200" spc="200" dirty="0">
                <a:latin typeface="Times New Roman"/>
                <a:cs typeface="Times New Roman"/>
              </a:rPr>
              <a:t> </a:t>
            </a:r>
            <a:r>
              <a:rPr sz="1200" dirty="0">
                <a:latin typeface="Times New Roman"/>
                <a:cs typeface="Times New Roman"/>
              </a:rPr>
              <a:t>AI-powered</a:t>
            </a:r>
            <a:r>
              <a:rPr sz="1200" spc="195" dirty="0">
                <a:latin typeface="Times New Roman"/>
                <a:cs typeface="Times New Roman"/>
              </a:rPr>
              <a:t> </a:t>
            </a:r>
            <a:r>
              <a:rPr sz="1200" spc="-10" dirty="0">
                <a:latin typeface="Times New Roman"/>
                <a:cs typeface="Times New Roman"/>
              </a:rPr>
              <a:t>price </a:t>
            </a:r>
            <a:r>
              <a:rPr sz="1200" dirty="0">
                <a:latin typeface="Times New Roman"/>
                <a:cs typeface="Times New Roman"/>
              </a:rPr>
              <a:t>prediction,</a:t>
            </a:r>
            <a:r>
              <a:rPr sz="1200" spc="11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14" dirty="0">
                <a:latin typeface="Times New Roman"/>
                <a:cs typeface="Times New Roman"/>
              </a:rPr>
              <a:t> </a:t>
            </a:r>
            <a:r>
              <a:rPr sz="1200" dirty="0">
                <a:latin typeface="Times New Roman"/>
                <a:cs typeface="Times New Roman"/>
              </a:rPr>
              <a:t>bidding</a:t>
            </a:r>
            <a:r>
              <a:rPr sz="1200" spc="110" dirty="0">
                <a:latin typeface="Times New Roman"/>
                <a:cs typeface="Times New Roman"/>
              </a:rPr>
              <a:t> </a:t>
            </a:r>
            <a:r>
              <a:rPr sz="1200" dirty="0">
                <a:latin typeface="Times New Roman"/>
                <a:cs typeface="Times New Roman"/>
              </a:rPr>
              <a:t>mechanisms,</a:t>
            </a:r>
            <a:r>
              <a:rPr sz="1200" spc="114"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automated</a:t>
            </a:r>
            <a:r>
              <a:rPr sz="1200" spc="110" dirty="0">
                <a:latin typeface="Times New Roman"/>
                <a:cs typeface="Times New Roman"/>
              </a:rPr>
              <a:t> </a:t>
            </a:r>
            <a:r>
              <a:rPr sz="1200" dirty="0">
                <a:latin typeface="Times New Roman"/>
                <a:cs typeface="Times New Roman"/>
              </a:rPr>
              <a:t>property</a:t>
            </a:r>
            <a:r>
              <a:rPr sz="1200" spc="110" dirty="0">
                <a:latin typeface="Times New Roman"/>
                <a:cs typeface="Times New Roman"/>
              </a:rPr>
              <a:t> </a:t>
            </a:r>
            <a:r>
              <a:rPr sz="1200" dirty="0">
                <a:latin typeface="Times New Roman"/>
                <a:cs typeface="Times New Roman"/>
              </a:rPr>
              <a:t>verification</a:t>
            </a:r>
            <a:r>
              <a:rPr sz="1200" spc="114" dirty="0">
                <a:latin typeface="Times New Roman"/>
                <a:cs typeface="Times New Roman"/>
              </a:rPr>
              <a:t> </a:t>
            </a:r>
            <a:r>
              <a:rPr sz="1200" dirty="0">
                <a:latin typeface="Times New Roman"/>
                <a:cs typeface="Times New Roman"/>
              </a:rPr>
              <a:t>to</a:t>
            </a:r>
            <a:r>
              <a:rPr sz="1200" spc="114" dirty="0">
                <a:latin typeface="Times New Roman"/>
                <a:cs typeface="Times New Roman"/>
              </a:rPr>
              <a:t> </a:t>
            </a:r>
            <a:r>
              <a:rPr sz="1200" spc="-10" dirty="0">
                <a:latin typeface="Times New Roman"/>
                <a:cs typeface="Times New Roman"/>
              </a:rPr>
              <a:t>enhance </a:t>
            </a:r>
            <a:r>
              <a:rPr sz="1200" dirty="0">
                <a:latin typeface="Times New Roman"/>
                <a:cs typeface="Times New Roman"/>
              </a:rPr>
              <a:t>fairness,</a:t>
            </a:r>
            <a:r>
              <a:rPr sz="1200" spc="-35" dirty="0">
                <a:latin typeface="Times New Roman"/>
                <a:cs typeface="Times New Roman"/>
              </a:rPr>
              <a:t> </a:t>
            </a:r>
            <a:r>
              <a:rPr sz="1200" dirty="0">
                <a:latin typeface="Times New Roman"/>
                <a:cs typeface="Times New Roman"/>
              </a:rPr>
              <a:t>accessibility,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real</a:t>
            </a:r>
            <a:r>
              <a:rPr sz="1200" spc="-25" dirty="0">
                <a:latin typeface="Times New Roman"/>
                <a:cs typeface="Times New Roman"/>
              </a:rPr>
              <a:t> </a:t>
            </a:r>
            <a:r>
              <a:rPr sz="1200" dirty="0">
                <a:latin typeface="Times New Roman"/>
                <a:cs typeface="Times New Roman"/>
              </a:rPr>
              <a:t>estate</a:t>
            </a:r>
            <a:r>
              <a:rPr sz="1200" spc="-40" dirty="0">
                <a:latin typeface="Times New Roman"/>
                <a:cs typeface="Times New Roman"/>
              </a:rPr>
              <a:t> </a:t>
            </a:r>
            <a:r>
              <a:rPr sz="1200" spc="-10" dirty="0">
                <a:latin typeface="Times New Roman"/>
                <a:cs typeface="Times New Roman"/>
              </a:rPr>
              <a:t>transactions.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509"/>
              </a:spcBef>
            </a:pPr>
            <a:endParaRPr sz="1200" dirty="0">
              <a:latin typeface="Times New Roman"/>
              <a:cs typeface="Times New Roman"/>
            </a:endParaRPr>
          </a:p>
          <a:p>
            <a:pPr marL="12700" marR="8890" algn="just">
              <a:lnSpc>
                <a:spcPct val="143700"/>
              </a:lnSpc>
            </a:pPr>
            <a:r>
              <a:rPr sz="1200" dirty="0">
                <a:latin typeface="Times New Roman"/>
                <a:cs typeface="Times New Roman"/>
              </a:rPr>
              <a:t>By</a:t>
            </a:r>
            <a:r>
              <a:rPr sz="1200" spc="165" dirty="0">
                <a:latin typeface="Times New Roman"/>
                <a:cs typeface="Times New Roman"/>
              </a:rPr>
              <a:t> </a:t>
            </a:r>
            <a:r>
              <a:rPr sz="1200" dirty="0">
                <a:latin typeface="Times New Roman"/>
                <a:cs typeface="Times New Roman"/>
              </a:rPr>
              <a:t>integrating</a:t>
            </a:r>
            <a:r>
              <a:rPr sz="1200" spc="170" dirty="0">
                <a:latin typeface="Times New Roman"/>
                <a:cs typeface="Times New Roman"/>
              </a:rPr>
              <a:t> </a:t>
            </a:r>
            <a:r>
              <a:rPr sz="1200" dirty="0">
                <a:latin typeface="Times New Roman"/>
                <a:cs typeface="Times New Roman"/>
              </a:rPr>
              <a:t>machine</a:t>
            </a:r>
            <a:r>
              <a:rPr sz="1200" spc="160" dirty="0">
                <a:latin typeface="Times New Roman"/>
                <a:cs typeface="Times New Roman"/>
              </a:rPr>
              <a:t> </a:t>
            </a:r>
            <a:r>
              <a:rPr sz="1200" dirty="0">
                <a:latin typeface="Times New Roman"/>
                <a:cs typeface="Times New Roman"/>
              </a:rPr>
              <a:t>learning</a:t>
            </a:r>
            <a:r>
              <a:rPr sz="1200" spc="170" dirty="0">
                <a:latin typeface="Times New Roman"/>
                <a:cs typeface="Times New Roman"/>
              </a:rPr>
              <a:t> </a:t>
            </a:r>
            <a:r>
              <a:rPr sz="1200" dirty="0">
                <a:latin typeface="Times New Roman"/>
                <a:cs typeface="Times New Roman"/>
              </a:rPr>
              <a:t>models,</a:t>
            </a:r>
            <a:r>
              <a:rPr sz="1200" spc="175" dirty="0">
                <a:latin typeface="Times New Roman"/>
                <a:cs typeface="Times New Roman"/>
              </a:rPr>
              <a:t> </a:t>
            </a:r>
            <a:r>
              <a:rPr sz="1200" dirty="0">
                <a:latin typeface="Times New Roman"/>
                <a:cs typeface="Times New Roman"/>
              </a:rPr>
              <a:t>the</a:t>
            </a:r>
            <a:r>
              <a:rPr sz="1200" spc="170" dirty="0">
                <a:latin typeface="Times New Roman"/>
                <a:cs typeface="Times New Roman"/>
              </a:rPr>
              <a:t> </a:t>
            </a:r>
            <a:r>
              <a:rPr sz="1200" dirty="0">
                <a:latin typeface="Times New Roman"/>
                <a:cs typeface="Times New Roman"/>
              </a:rPr>
              <a:t>platform</a:t>
            </a:r>
            <a:r>
              <a:rPr sz="1200" spc="170" dirty="0">
                <a:latin typeface="Times New Roman"/>
                <a:cs typeface="Times New Roman"/>
              </a:rPr>
              <a:t> </a:t>
            </a:r>
            <a:r>
              <a:rPr sz="1200" dirty="0">
                <a:latin typeface="Times New Roman"/>
                <a:cs typeface="Times New Roman"/>
              </a:rPr>
              <a:t>analyzes</a:t>
            </a:r>
            <a:r>
              <a:rPr sz="1200" spc="175" dirty="0">
                <a:latin typeface="Times New Roman"/>
                <a:cs typeface="Times New Roman"/>
              </a:rPr>
              <a:t> </a:t>
            </a:r>
            <a:r>
              <a:rPr sz="1200" dirty="0">
                <a:latin typeface="Times New Roman"/>
                <a:cs typeface="Times New Roman"/>
              </a:rPr>
              <a:t>historical</a:t>
            </a:r>
            <a:r>
              <a:rPr sz="1200" spc="175" dirty="0">
                <a:latin typeface="Times New Roman"/>
                <a:cs typeface="Times New Roman"/>
              </a:rPr>
              <a:t> </a:t>
            </a:r>
            <a:r>
              <a:rPr sz="1200" dirty="0">
                <a:latin typeface="Times New Roman"/>
                <a:cs typeface="Times New Roman"/>
              </a:rPr>
              <a:t>auction</a:t>
            </a:r>
            <a:r>
              <a:rPr sz="1200" spc="165" dirty="0">
                <a:latin typeface="Times New Roman"/>
                <a:cs typeface="Times New Roman"/>
              </a:rPr>
              <a:t> </a:t>
            </a:r>
            <a:r>
              <a:rPr sz="1200" dirty="0">
                <a:latin typeface="Times New Roman"/>
                <a:cs typeface="Times New Roman"/>
              </a:rPr>
              <a:t>data</a:t>
            </a:r>
            <a:r>
              <a:rPr sz="1200" spc="170" dirty="0">
                <a:latin typeface="Times New Roman"/>
                <a:cs typeface="Times New Roman"/>
              </a:rPr>
              <a:t> </a:t>
            </a:r>
            <a:r>
              <a:rPr sz="1200" spc="-25" dirty="0">
                <a:latin typeface="Times New Roman"/>
                <a:cs typeface="Times New Roman"/>
              </a:rPr>
              <a:t>to </a:t>
            </a:r>
            <a:r>
              <a:rPr sz="1200" dirty="0">
                <a:latin typeface="Times New Roman"/>
                <a:cs typeface="Times New Roman"/>
              </a:rPr>
              <a:t>provide</a:t>
            </a:r>
            <a:r>
              <a:rPr sz="1200" spc="360" dirty="0">
                <a:latin typeface="Times New Roman"/>
                <a:cs typeface="Times New Roman"/>
              </a:rPr>
              <a:t> </a:t>
            </a:r>
            <a:r>
              <a:rPr sz="1200" dirty="0">
                <a:latin typeface="Times New Roman"/>
                <a:cs typeface="Times New Roman"/>
              </a:rPr>
              <a:t>accurate</a:t>
            </a:r>
            <a:r>
              <a:rPr sz="1200" spc="365" dirty="0">
                <a:latin typeface="Times New Roman"/>
                <a:cs typeface="Times New Roman"/>
              </a:rPr>
              <a:t> </a:t>
            </a:r>
            <a:r>
              <a:rPr sz="1200" dirty="0">
                <a:latin typeface="Times New Roman"/>
                <a:cs typeface="Times New Roman"/>
              </a:rPr>
              <a:t>property</a:t>
            </a:r>
            <a:r>
              <a:rPr sz="1200" spc="365" dirty="0">
                <a:latin typeface="Times New Roman"/>
                <a:cs typeface="Times New Roman"/>
              </a:rPr>
              <a:t> </a:t>
            </a:r>
            <a:r>
              <a:rPr sz="1200" dirty="0">
                <a:latin typeface="Times New Roman"/>
                <a:cs typeface="Times New Roman"/>
              </a:rPr>
              <a:t>price</a:t>
            </a:r>
            <a:r>
              <a:rPr sz="1200" spc="365" dirty="0">
                <a:latin typeface="Times New Roman"/>
                <a:cs typeface="Times New Roman"/>
              </a:rPr>
              <a:t> </a:t>
            </a:r>
            <a:r>
              <a:rPr sz="1200" dirty="0">
                <a:latin typeface="Times New Roman"/>
                <a:cs typeface="Times New Roman"/>
              </a:rPr>
              <a:t>recommendations,</a:t>
            </a:r>
            <a:r>
              <a:rPr sz="1200" spc="370" dirty="0">
                <a:latin typeface="Times New Roman"/>
                <a:cs typeface="Times New Roman"/>
              </a:rPr>
              <a:t> </a:t>
            </a:r>
            <a:r>
              <a:rPr sz="1200" dirty="0">
                <a:latin typeface="Times New Roman"/>
                <a:cs typeface="Times New Roman"/>
              </a:rPr>
              <a:t>allowing</a:t>
            </a:r>
            <a:r>
              <a:rPr sz="1200" spc="365" dirty="0">
                <a:latin typeface="Times New Roman"/>
                <a:cs typeface="Times New Roman"/>
              </a:rPr>
              <a:t> </a:t>
            </a:r>
            <a:r>
              <a:rPr sz="1200" dirty="0">
                <a:latin typeface="Times New Roman"/>
                <a:cs typeface="Times New Roman"/>
              </a:rPr>
              <a:t>buyers</a:t>
            </a:r>
            <a:r>
              <a:rPr sz="1200" spc="365" dirty="0">
                <a:latin typeface="Times New Roman"/>
                <a:cs typeface="Times New Roman"/>
              </a:rPr>
              <a:t> </a:t>
            </a:r>
            <a:r>
              <a:rPr sz="1200" dirty="0">
                <a:latin typeface="Times New Roman"/>
                <a:cs typeface="Times New Roman"/>
              </a:rPr>
              <a:t>to</a:t>
            </a:r>
            <a:r>
              <a:rPr sz="1200" spc="370" dirty="0">
                <a:latin typeface="Times New Roman"/>
                <a:cs typeface="Times New Roman"/>
              </a:rPr>
              <a:t> </a:t>
            </a:r>
            <a:r>
              <a:rPr sz="1200" dirty="0">
                <a:latin typeface="Times New Roman"/>
                <a:cs typeface="Times New Roman"/>
              </a:rPr>
              <a:t>make</a:t>
            </a:r>
            <a:r>
              <a:rPr sz="1200" spc="355" dirty="0">
                <a:latin typeface="Times New Roman"/>
                <a:cs typeface="Times New Roman"/>
              </a:rPr>
              <a:t> </a:t>
            </a:r>
            <a:r>
              <a:rPr sz="1200" spc="-10" dirty="0">
                <a:latin typeface="Times New Roman"/>
                <a:cs typeface="Times New Roman"/>
              </a:rPr>
              <a:t>informed </a:t>
            </a:r>
            <a:r>
              <a:rPr sz="1200" dirty="0">
                <a:latin typeface="Times New Roman"/>
                <a:cs typeface="Times New Roman"/>
              </a:rPr>
              <a:t>decisions.</a:t>
            </a:r>
            <a:r>
              <a:rPr sz="1200" spc="400" dirty="0">
                <a:latin typeface="Times New Roman"/>
                <a:cs typeface="Times New Roman"/>
              </a:rPr>
              <a:t> </a:t>
            </a:r>
            <a:r>
              <a:rPr sz="1200" dirty="0">
                <a:latin typeface="Times New Roman"/>
                <a:cs typeface="Times New Roman"/>
              </a:rPr>
              <a:t>Additionally,</a:t>
            </a:r>
            <a:r>
              <a:rPr sz="1200" spc="405" dirty="0">
                <a:latin typeface="Times New Roman"/>
                <a:cs typeface="Times New Roman"/>
              </a:rPr>
              <a:t> </a:t>
            </a:r>
            <a:r>
              <a:rPr sz="1200" dirty="0">
                <a:latin typeface="Times New Roman"/>
                <a:cs typeface="Times New Roman"/>
              </a:rPr>
              <a:t>automated</a:t>
            </a:r>
            <a:r>
              <a:rPr sz="1200" spc="400" dirty="0">
                <a:latin typeface="Times New Roman"/>
                <a:cs typeface="Times New Roman"/>
              </a:rPr>
              <a:t> </a:t>
            </a:r>
            <a:r>
              <a:rPr sz="1200" dirty="0">
                <a:latin typeface="Times New Roman"/>
                <a:cs typeface="Times New Roman"/>
              </a:rPr>
              <a:t>fraud</a:t>
            </a:r>
            <a:r>
              <a:rPr sz="1200" spc="405" dirty="0">
                <a:latin typeface="Times New Roman"/>
                <a:cs typeface="Times New Roman"/>
              </a:rPr>
              <a:t> </a:t>
            </a:r>
            <a:r>
              <a:rPr sz="1200" dirty="0">
                <a:latin typeface="Times New Roman"/>
                <a:cs typeface="Times New Roman"/>
              </a:rPr>
              <a:t>detection</a:t>
            </a:r>
            <a:r>
              <a:rPr sz="1200" spc="400" dirty="0">
                <a:latin typeface="Times New Roman"/>
                <a:cs typeface="Times New Roman"/>
              </a:rPr>
              <a:t> </a:t>
            </a:r>
            <a:r>
              <a:rPr sz="1200" dirty="0">
                <a:latin typeface="Times New Roman"/>
                <a:cs typeface="Times New Roman"/>
              </a:rPr>
              <a:t>mechanisms</a:t>
            </a:r>
            <a:r>
              <a:rPr sz="1200" spc="405" dirty="0">
                <a:latin typeface="Times New Roman"/>
                <a:cs typeface="Times New Roman"/>
              </a:rPr>
              <a:t> </a:t>
            </a:r>
            <a:r>
              <a:rPr sz="1200" dirty="0">
                <a:latin typeface="Times New Roman"/>
                <a:cs typeface="Times New Roman"/>
              </a:rPr>
              <a:t>use</a:t>
            </a:r>
            <a:r>
              <a:rPr sz="1200" spc="409" dirty="0">
                <a:latin typeface="Times New Roman"/>
                <a:cs typeface="Times New Roman"/>
              </a:rPr>
              <a:t> </a:t>
            </a:r>
            <a:r>
              <a:rPr sz="1200" dirty="0">
                <a:latin typeface="Times New Roman"/>
                <a:cs typeface="Times New Roman"/>
              </a:rPr>
              <a:t>NLP</a:t>
            </a:r>
            <a:r>
              <a:rPr sz="1200" spc="409"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spc="-10" dirty="0">
                <a:latin typeface="Times New Roman"/>
                <a:cs typeface="Times New Roman"/>
              </a:rPr>
              <a:t>pattern</a:t>
            </a:r>
            <a:endParaRPr sz="12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a:t>
            </a:r>
          </a:p>
        </p:txBody>
      </p:sp>
      <p:sp>
        <p:nvSpPr>
          <p:cNvPr id="2" name="object 2"/>
          <p:cNvSpPr txBox="1"/>
          <p:nvPr/>
        </p:nvSpPr>
        <p:spPr>
          <a:xfrm>
            <a:off x="1176324" y="812037"/>
            <a:ext cx="5695315" cy="7694029"/>
          </a:xfrm>
          <a:prstGeom prst="rect">
            <a:avLst/>
          </a:prstGeom>
        </p:spPr>
        <p:txBody>
          <a:bodyPr vert="horz" wrap="square" lIns="0" tIns="11430" rIns="0" bIns="0" rtlCol="0">
            <a:spAutoFit/>
          </a:bodyPr>
          <a:lstStyle/>
          <a:p>
            <a:pPr marL="12700" marR="5080" algn="just">
              <a:lnSpc>
                <a:spcPct val="143800"/>
              </a:lnSpc>
              <a:spcBef>
                <a:spcPts val="90"/>
              </a:spcBef>
            </a:pPr>
            <a:r>
              <a:rPr sz="1200" spc="-10" dirty="0">
                <a:latin typeface="Times New Roman"/>
                <a:cs typeface="Times New Roman"/>
              </a:rPr>
              <a:t>recognition</a:t>
            </a:r>
            <a:r>
              <a:rPr sz="1200" spc="-35" dirty="0">
                <a:latin typeface="Times New Roman"/>
                <a:cs typeface="Times New Roman"/>
              </a:rPr>
              <a:t> </a:t>
            </a:r>
            <a:r>
              <a:rPr sz="1200" spc="-10" dirty="0">
                <a:latin typeface="Times New Roman"/>
                <a:cs typeface="Times New Roman"/>
              </a:rPr>
              <a:t>algorithms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validate</a:t>
            </a:r>
            <a:r>
              <a:rPr sz="1200" spc="-35" dirty="0">
                <a:latin typeface="Times New Roman"/>
                <a:cs typeface="Times New Roman"/>
              </a:rPr>
              <a:t> </a:t>
            </a:r>
            <a:r>
              <a:rPr sz="1200" spc="-10" dirty="0">
                <a:latin typeface="Times New Roman"/>
                <a:cs typeface="Times New Roman"/>
              </a:rPr>
              <a:t>property</a:t>
            </a:r>
            <a:r>
              <a:rPr sz="1200" spc="-35" dirty="0">
                <a:latin typeface="Times New Roman"/>
                <a:cs typeface="Times New Roman"/>
              </a:rPr>
              <a:t> </a:t>
            </a:r>
            <a:r>
              <a:rPr sz="1200" spc="-10" dirty="0">
                <a:latin typeface="Times New Roman"/>
                <a:cs typeface="Times New Roman"/>
              </a:rPr>
              <a:t>documents,</a:t>
            </a:r>
            <a:r>
              <a:rPr sz="1200" spc="-30" dirty="0">
                <a:latin typeface="Times New Roman"/>
                <a:cs typeface="Times New Roman"/>
              </a:rPr>
              <a:t> </a:t>
            </a:r>
            <a:r>
              <a:rPr sz="1200" spc="-10" dirty="0">
                <a:latin typeface="Times New Roman"/>
                <a:cs typeface="Times New Roman"/>
              </a:rPr>
              <a:t>mitigating</a:t>
            </a:r>
            <a:r>
              <a:rPr sz="1200" spc="-30" dirty="0">
                <a:latin typeface="Times New Roman"/>
                <a:cs typeface="Times New Roman"/>
              </a:rPr>
              <a:t> </a:t>
            </a:r>
            <a:r>
              <a:rPr sz="1200" dirty="0">
                <a:latin typeface="Times New Roman"/>
                <a:cs typeface="Times New Roman"/>
              </a:rPr>
              <a:t>risks</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misinformation</a:t>
            </a:r>
            <a:r>
              <a:rPr sz="1200" spc="-3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fraudulent</a:t>
            </a:r>
            <a:r>
              <a:rPr sz="1200" spc="-30" dirty="0">
                <a:latin typeface="Times New Roman"/>
                <a:cs typeface="Times New Roman"/>
              </a:rPr>
              <a:t> </a:t>
            </a:r>
            <a:r>
              <a:rPr sz="1200" spc="-10" dirty="0">
                <a:latin typeface="Times New Roman"/>
                <a:cs typeface="Times New Roman"/>
              </a:rPr>
              <a:t>listings.</a:t>
            </a:r>
            <a:r>
              <a:rPr sz="1200" spc="-30" dirty="0">
                <a:latin typeface="Times New Roman"/>
                <a:cs typeface="Times New Roman"/>
              </a:rPr>
              <a:t> </a:t>
            </a:r>
            <a:r>
              <a:rPr sz="1200" spc="-10" dirty="0">
                <a:latin typeface="Times New Roman"/>
                <a:cs typeface="Times New Roman"/>
              </a:rPr>
              <a:t>These</a:t>
            </a:r>
            <a:r>
              <a:rPr sz="1200" spc="-20" dirty="0">
                <a:latin typeface="Times New Roman"/>
                <a:cs typeface="Times New Roman"/>
              </a:rPr>
              <a:t> </a:t>
            </a:r>
            <a:r>
              <a:rPr sz="1200" spc="-10" dirty="0">
                <a:latin typeface="Times New Roman"/>
                <a:cs typeface="Times New Roman"/>
              </a:rPr>
              <a:t>advancements</a:t>
            </a:r>
            <a:r>
              <a:rPr sz="1200" spc="-15" dirty="0">
                <a:latin typeface="Times New Roman"/>
                <a:cs typeface="Times New Roman"/>
              </a:rPr>
              <a:t> </a:t>
            </a:r>
            <a:r>
              <a:rPr sz="1200" spc="-10" dirty="0">
                <a:latin typeface="Times New Roman"/>
                <a:cs typeface="Times New Roman"/>
              </a:rPr>
              <a:t>ensure</a:t>
            </a:r>
            <a:r>
              <a:rPr sz="1200" spc="-30" dirty="0">
                <a:latin typeface="Times New Roman"/>
                <a:cs typeface="Times New Roman"/>
              </a:rPr>
              <a:t> </a:t>
            </a:r>
            <a:r>
              <a:rPr sz="1200" spc="-10" dirty="0">
                <a:latin typeface="Times New Roman"/>
                <a:cs typeface="Times New Roman"/>
              </a:rPr>
              <a:t>that</a:t>
            </a:r>
            <a:r>
              <a:rPr sz="1200" spc="-25" dirty="0">
                <a:latin typeface="Times New Roman"/>
                <a:cs typeface="Times New Roman"/>
              </a:rPr>
              <a:t> </a:t>
            </a:r>
            <a:r>
              <a:rPr sz="1200" spc="-10" dirty="0">
                <a:latin typeface="Times New Roman"/>
                <a:cs typeface="Times New Roman"/>
              </a:rPr>
              <a:t>the</a:t>
            </a:r>
            <a:r>
              <a:rPr sz="1200" spc="-35" dirty="0">
                <a:latin typeface="Times New Roman"/>
                <a:cs typeface="Times New Roman"/>
              </a:rPr>
              <a:t> </a:t>
            </a:r>
            <a:r>
              <a:rPr sz="1200" spc="-1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process</a:t>
            </a:r>
            <a:r>
              <a:rPr sz="1200" spc="-25" dirty="0">
                <a:latin typeface="Times New Roman"/>
                <a:cs typeface="Times New Roman"/>
              </a:rPr>
              <a:t> </a:t>
            </a:r>
            <a:r>
              <a:rPr sz="1200" spc="-10" dirty="0">
                <a:latin typeface="Times New Roman"/>
                <a:cs typeface="Times New Roman"/>
              </a:rPr>
              <a:t>remains</a:t>
            </a:r>
            <a:r>
              <a:rPr sz="1200" spc="-30" dirty="0">
                <a:latin typeface="Times New Roman"/>
                <a:cs typeface="Times New Roman"/>
              </a:rPr>
              <a:t> </a:t>
            </a:r>
            <a:r>
              <a:rPr sz="1200" dirty="0">
                <a:latin typeface="Times New Roman"/>
                <a:cs typeface="Times New Roman"/>
              </a:rPr>
              <a:t>fair,</a:t>
            </a:r>
            <a:r>
              <a:rPr sz="1200" spc="-20" dirty="0">
                <a:latin typeface="Times New Roman"/>
                <a:cs typeface="Times New Roman"/>
              </a:rPr>
              <a:t> </a:t>
            </a:r>
            <a:r>
              <a:rPr sz="1200" spc="-10" dirty="0">
                <a:latin typeface="Times New Roman"/>
                <a:cs typeface="Times New Roman"/>
              </a:rPr>
              <a:t>efficient, </a:t>
            </a:r>
            <a:r>
              <a:rPr sz="1200" dirty="0">
                <a:latin typeface="Times New Roman"/>
                <a:cs typeface="Times New Roman"/>
              </a:rPr>
              <a:t>and</a:t>
            </a:r>
            <a:r>
              <a:rPr sz="1200" spc="-10" dirty="0">
                <a:latin typeface="Times New Roman"/>
                <a:cs typeface="Times New Roman"/>
              </a:rPr>
              <a:t> data-driven.</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509"/>
              </a:spcBef>
            </a:pPr>
            <a:endParaRPr sz="1200" dirty="0">
              <a:latin typeface="Times New Roman"/>
              <a:cs typeface="Times New Roman"/>
            </a:endParaRPr>
          </a:p>
          <a:p>
            <a:pPr marL="12700" marR="5715" algn="just">
              <a:lnSpc>
                <a:spcPct val="143800"/>
              </a:lnSpc>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response</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growing</a:t>
            </a:r>
            <a:r>
              <a:rPr sz="1200" spc="-15" dirty="0">
                <a:latin typeface="Times New Roman"/>
                <a:cs typeface="Times New Roman"/>
              </a:rPr>
              <a:t> </a:t>
            </a:r>
            <a:r>
              <a:rPr sz="1200" dirty="0">
                <a:latin typeface="Times New Roman"/>
                <a:cs typeface="Times New Roman"/>
              </a:rPr>
              <a:t>demand</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intelligent</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scalable</a:t>
            </a:r>
            <a:r>
              <a:rPr sz="1200" spc="-20" dirty="0">
                <a:latin typeface="Times New Roman"/>
                <a:cs typeface="Times New Roman"/>
              </a:rPr>
              <a:t> </a:t>
            </a:r>
            <a:r>
              <a:rPr sz="1200" dirty="0">
                <a:latin typeface="Times New Roman"/>
                <a:cs typeface="Times New Roman"/>
              </a:rPr>
              <a:t>real</a:t>
            </a:r>
            <a:r>
              <a:rPr sz="1200" spc="-15" dirty="0">
                <a:latin typeface="Times New Roman"/>
                <a:cs typeface="Times New Roman"/>
              </a:rPr>
              <a:t> </a:t>
            </a:r>
            <a:r>
              <a:rPr sz="1200" dirty="0">
                <a:latin typeface="Times New Roman"/>
                <a:cs typeface="Times New Roman"/>
              </a:rPr>
              <a:t>estate</a:t>
            </a:r>
            <a:r>
              <a:rPr sz="1200" spc="-20" dirty="0">
                <a:latin typeface="Times New Roman"/>
                <a:cs typeface="Times New Roman"/>
              </a:rPr>
              <a:t> </a:t>
            </a:r>
            <a:r>
              <a:rPr sz="1200" dirty="0">
                <a:latin typeface="Times New Roman"/>
                <a:cs typeface="Times New Roman"/>
              </a:rPr>
              <a:t>platforms,</a:t>
            </a:r>
            <a:r>
              <a:rPr sz="1200" spc="-15" dirty="0">
                <a:latin typeface="Times New Roman"/>
                <a:cs typeface="Times New Roman"/>
              </a:rPr>
              <a:t> </a:t>
            </a:r>
            <a:r>
              <a:rPr sz="1200" spc="-10" dirty="0">
                <a:latin typeface="Times New Roman"/>
                <a:cs typeface="Times New Roman"/>
              </a:rPr>
              <a:t>Auction </a:t>
            </a:r>
            <a:r>
              <a:rPr sz="1200" dirty="0">
                <a:latin typeface="Times New Roman"/>
                <a:cs typeface="Times New Roman"/>
              </a:rPr>
              <a:t>Abode</a:t>
            </a:r>
            <a:r>
              <a:rPr sz="1200" spc="395" dirty="0">
                <a:latin typeface="Times New Roman"/>
                <a:cs typeface="Times New Roman"/>
              </a:rPr>
              <a:t> </a:t>
            </a:r>
            <a:r>
              <a:rPr sz="1200" dirty="0">
                <a:latin typeface="Times New Roman"/>
                <a:cs typeface="Times New Roman"/>
              </a:rPr>
              <a:t>incorporates</a:t>
            </a:r>
            <a:r>
              <a:rPr sz="1200" spc="40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405" dirty="0">
                <a:latin typeface="Times New Roman"/>
                <a:cs typeface="Times New Roman"/>
              </a:rPr>
              <a:t> </a:t>
            </a:r>
            <a:r>
              <a:rPr sz="1200" dirty="0">
                <a:latin typeface="Times New Roman"/>
                <a:cs typeface="Times New Roman"/>
              </a:rPr>
              <a:t>bid</a:t>
            </a:r>
            <a:r>
              <a:rPr sz="1200" spc="409" dirty="0">
                <a:latin typeface="Times New Roman"/>
                <a:cs typeface="Times New Roman"/>
              </a:rPr>
              <a:t> </a:t>
            </a:r>
            <a:r>
              <a:rPr sz="1200" dirty="0">
                <a:latin typeface="Times New Roman"/>
                <a:cs typeface="Times New Roman"/>
              </a:rPr>
              <a:t>synchronization</a:t>
            </a:r>
            <a:r>
              <a:rPr sz="1200" spc="405" dirty="0">
                <a:latin typeface="Times New Roman"/>
                <a:cs typeface="Times New Roman"/>
              </a:rPr>
              <a:t> </a:t>
            </a:r>
            <a:r>
              <a:rPr sz="1200" dirty="0">
                <a:latin typeface="Times New Roman"/>
                <a:cs typeface="Times New Roman"/>
              </a:rPr>
              <a:t>via</a:t>
            </a:r>
            <a:r>
              <a:rPr sz="1200" spc="415" dirty="0">
                <a:latin typeface="Times New Roman"/>
                <a:cs typeface="Times New Roman"/>
              </a:rPr>
              <a:t> </a:t>
            </a:r>
            <a:r>
              <a:rPr sz="1200" dirty="0">
                <a:latin typeface="Times New Roman"/>
                <a:cs typeface="Times New Roman"/>
              </a:rPr>
              <a:t>WebSocket’s,</a:t>
            </a:r>
            <a:r>
              <a:rPr sz="1200" spc="415" dirty="0">
                <a:latin typeface="Times New Roman"/>
                <a:cs typeface="Times New Roman"/>
              </a:rPr>
              <a:t> </a:t>
            </a:r>
            <a:r>
              <a:rPr sz="1200" dirty="0">
                <a:latin typeface="Times New Roman"/>
                <a:cs typeface="Times New Roman"/>
              </a:rPr>
              <a:t>ensuring</a:t>
            </a:r>
            <a:r>
              <a:rPr sz="1200" spc="405" dirty="0">
                <a:latin typeface="Times New Roman"/>
                <a:cs typeface="Times New Roman"/>
              </a:rPr>
              <a:t> </a:t>
            </a:r>
            <a:r>
              <a:rPr sz="1200" dirty="0">
                <a:latin typeface="Times New Roman"/>
                <a:cs typeface="Times New Roman"/>
              </a:rPr>
              <a:t>that</a:t>
            </a:r>
            <a:r>
              <a:rPr sz="1200" spc="405" dirty="0">
                <a:latin typeface="Times New Roman"/>
                <a:cs typeface="Times New Roman"/>
              </a:rPr>
              <a:t> </a:t>
            </a:r>
            <a:r>
              <a:rPr sz="1200" spc="-25" dirty="0">
                <a:latin typeface="Times New Roman"/>
                <a:cs typeface="Times New Roman"/>
              </a:rPr>
              <a:t>all </a:t>
            </a:r>
            <a:r>
              <a:rPr sz="1200" spc="-10" dirty="0">
                <a:latin typeface="Times New Roman"/>
                <a:cs typeface="Times New Roman"/>
              </a:rPr>
              <a:t>participants</a:t>
            </a:r>
            <a:r>
              <a:rPr sz="1200" spc="-3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instant</a:t>
            </a:r>
            <a:r>
              <a:rPr sz="1200" spc="-3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without</a:t>
            </a:r>
            <a:r>
              <a:rPr sz="1200" spc="-20" dirty="0">
                <a:latin typeface="Times New Roman"/>
                <a:cs typeface="Times New Roman"/>
              </a:rPr>
              <a:t> </a:t>
            </a:r>
            <a:r>
              <a:rPr sz="1200" spc="-10" dirty="0">
                <a:latin typeface="Times New Roman"/>
                <a:cs typeface="Times New Roman"/>
              </a:rPr>
              <a:t>delays.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platform’s</a:t>
            </a:r>
            <a:r>
              <a:rPr sz="1200" spc="-30" dirty="0">
                <a:latin typeface="Times New Roman"/>
                <a:cs typeface="Times New Roman"/>
              </a:rPr>
              <a:t> </a:t>
            </a:r>
            <a:r>
              <a:rPr sz="1200" spc="-10" dirty="0">
                <a:latin typeface="Times New Roman"/>
                <a:cs typeface="Times New Roman"/>
              </a:rPr>
              <a:t>cloud-</a:t>
            </a:r>
            <a:r>
              <a:rPr sz="1200" dirty="0">
                <a:latin typeface="Times New Roman"/>
                <a:cs typeface="Times New Roman"/>
              </a:rPr>
              <a:t>based</a:t>
            </a:r>
            <a:r>
              <a:rPr sz="1200" spc="-35" dirty="0">
                <a:latin typeface="Times New Roman"/>
                <a:cs typeface="Times New Roman"/>
              </a:rPr>
              <a:t> </a:t>
            </a:r>
            <a:r>
              <a:rPr sz="1200" spc="-10" dirty="0">
                <a:latin typeface="Times New Roman"/>
                <a:cs typeface="Times New Roman"/>
              </a:rPr>
              <a:t>infrastructure </a:t>
            </a:r>
            <a:r>
              <a:rPr sz="1200" dirty="0">
                <a:latin typeface="Times New Roman"/>
                <a:cs typeface="Times New Roman"/>
              </a:rPr>
              <a:t>supports</a:t>
            </a:r>
            <a:r>
              <a:rPr sz="1200" spc="470" dirty="0">
                <a:latin typeface="Times New Roman"/>
                <a:cs typeface="Times New Roman"/>
              </a:rPr>
              <a:t> </a:t>
            </a:r>
            <a:r>
              <a:rPr sz="1200" dirty="0">
                <a:latin typeface="Times New Roman"/>
                <a:cs typeface="Times New Roman"/>
              </a:rPr>
              <a:t>seamless</a:t>
            </a:r>
            <a:r>
              <a:rPr sz="1200" spc="484" dirty="0">
                <a:latin typeface="Times New Roman"/>
                <a:cs typeface="Times New Roman"/>
              </a:rPr>
              <a:t> </a:t>
            </a:r>
            <a:r>
              <a:rPr sz="1200" dirty="0">
                <a:latin typeface="Times New Roman"/>
                <a:cs typeface="Times New Roman"/>
              </a:rPr>
              <a:t>scalability,</a:t>
            </a:r>
            <a:r>
              <a:rPr sz="1200" spc="484" dirty="0">
                <a:latin typeface="Times New Roman"/>
                <a:cs typeface="Times New Roman"/>
              </a:rPr>
              <a:t> </a:t>
            </a:r>
            <a:r>
              <a:rPr sz="1200" dirty="0">
                <a:latin typeface="Times New Roman"/>
                <a:cs typeface="Times New Roman"/>
              </a:rPr>
              <a:t>accommodating</a:t>
            </a:r>
            <a:r>
              <a:rPr sz="1200" spc="484" dirty="0">
                <a:latin typeface="Times New Roman"/>
                <a:cs typeface="Times New Roman"/>
              </a:rPr>
              <a:t> </a:t>
            </a:r>
            <a:r>
              <a:rPr sz="1200" dirty="0">
                <a:latin typeface="Times New Roman"/>
                <a:cs typeface="Times New Roman"/>
              </a:rPr>
              <a:t>high</a:t>
            </a:r>
            <a:r>
              <a:rPr sz="1200" spc="484" dirty="0">
                <a:latin typeface="Times New Roman"/>
                <a:cs typeface="Times New Roman"/>
              </a:rPr>
              <a:t> </a:t>
            </a:r>
            <a:r>
              <a:rPr sz="1200" dirty="0">
                <a:latin typeface="Times New Roman"/>
                <a:cs typeface="Times New Roman"/>
              </a:rPr>
              <a:t>user</a:t>
            </a:r>
            <a:r>
              <a:rPr sz="1200" spc="480" dirty="0">
                <a:latin typeface="Times New Roman"/>
                <a:cs typeface="Times New Roman"/>
              </a:rPr>
              <a:t> </a:t>
            </a:r>
            <a:r>
              <a:rPr sz="1200" dirty="0">
                <a:latin typeface="Times New Roman"/>
                <a:cs typeface="Times New Roman"/>
              </a:rPr>
              <a:t>traffic</a:t>
            </a:r>
            <a:r>
              <a:rPr sz="1200" spc="480" dirty="0">
                <a:latin typeface="Times New Roman"/>
                <a:cs typeface="Times New Roman"/>
              </a:rPr>
              <a:t> </a:t>
            </a:r>
            <a:r>
              <a:rPr sz="1200" dirty="0">
                <a:latin typeface="Times New Roman"/>
                <a:cs typeface="Times New Roman"/>
              </a:rPr>
              <a:t>without</a:t>
            </a:r>
            <a:r>
              <a:rPr sz="1200" spc="490" dirty="0">
                <a:latin typeface="Times New Roman"/>
                <a:cs typeface="Times New Roman"/>
              </a:rPr>
              <a:t> </a:t>
            </a:r>
            <a:r>
              <a:rPr sz="1200" spc="-10" dirty="0">
                <a:latin typeface="Times New Roman"/>
                <a:cs typeface="Times New Roman"/>
              </a:rPr>
              <a:t>performance </a:t>
            </a:r>
            <a:r>
              <a:rPr sz="1200" dirty="0">
                <a:latin typeface="Times New Roman"/>
                <a:cs typeface="Times New Roman"/>
              </a:rPr>
              <a:t>degradation.</a:t>
            </a:r>
            <a:r>
              <a:rPr sz="1200" spc="114" dirty="0">
                <a:latin typeface="Times New Roman"/>
                <a:cs typeface="Times New Roman"/>
              </a:rPr>
              <a:t> </a:t>
            </a:r>
            <a:r>
              <a:rPr sz="1200" dirty="0">
                <a:latin typeface="Times New Roman"/>
                <a:cs typeface="Times New Roman"/>
              </a:rPr>
              <a:t>Geofencing</a:t>
            </a:r>
            <a:r>
              <a:rPr sz="1200" spc="130"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spc="-10" dirty="0">
                <a:latin typeface="Times New Roman"/>
                <a:cs typeface="Times New Roman"/>
              </a:rPr>
              <a:t>subscription-</a:t>
            </a:r>
            <a:r>
              <a:rPr sz="1200" dirty="0">
                <a:latin typeface="Times New Roman"/>
                <a:cs typeface="Times New Roman"/>
              </a:rPr>
              <a:t>based</a:t>
            </a:r>
            <a:r>
              <a:rPr sz="1200" spc="135" dirty="0">
                <a:latin typeface="Times New Roman"/>
                <a:cs typeface="Times New Roman"/>
              </a:rPr>
              <a:t> </a:t>
            </a:r>
            <a:r>
              <a:rPr sz="1200" dirty="0">
                <a:latin typeface="Times New Roman"/>
                <a:cs typeface="Times New Roman"/>
              </a:rPr>
              <a:t>auction</a:t>
            </a:r>
            <a:r>
              <a:rPr sz="1200" spc="114" dirty="0">
                <a:latin typeface="Times New Roman"/>
                <a:cs typeface="Times New Roman"/>
              </a:rPr>
              <a:t> </a:t>
            </a:r>
            <a:r>
              <a:rPr sz="1200" dirty="0">
                <a:latin typeface="Times New Roman"/>
                <a:cs typeface="Times New Roman"/>
              </a:rPr>
              <a:t>notifications</a:t>
            </a:r>
            <a:r>
              <a:rPr sz="1200" spc="120" dirty="0">
                <a:latin typeface="Times New Roman"/>
                <a:cs typeface="Times New Roman"/>
              </a:rPr>
              <a:t> </a:t>
            </a:r>
            <a:r>
              <a:rPr sz="1200" dirty="0">
                <a:latin typeface="Times New Roman"/>
                <a:cs typeface="Times New Roman"/>
              </a:rPr>
              <a:t>further</a:t>
            </a:r>
            <a:r>
              <a:rPr sz="1200" spc="114" dirty="0">
                <a:latin typeface="Times New Roman"/>
                <a:cs typeface="Times New Roman"/>
              </a:rPr>
              <a:t> </a:t>
            </a:r>
            <a:r>
              <a:rPr sz="1200" dirty="0">
                <a:latin typeface="Times New Roman"/>
                <a:cs typeface="Times New Roman"/>
              </a:rPr>
              <a:t>enhance</a:t>
            </a:r>
            <a:r>
              <a:rPr sz="1200" spc="114" dirty="0">
                <a:latin typeface="Times New Roman"/>
                <a:cs typeface="Times New Roman"/>
              </a:rPr>
              <a:t> </a:t>
            </a:r>
            <a:r>
              <a:rPr sz="1200" spc="-20" dirty="0">
                <a:latin typeface="Times New Roman"/>
                <a:cs typeface="Times New Roman"/>
              </a:rPr>
              <a:t>user </a:t>
            </a:r>
            <a:r>
              <a:rPr sz="1200" dirty="0">
                <a:latin typeface="Times New Roman"/>
                <a:cs typeface="Times New Roman"/>
              </a:rPr>
              <a:t>engagement,</a:t>
            </a:r>
            <a:r>
              <a:rPr sz="1200" spc="20" dirty="0">
                <a:latin typeface="Times New Roman"/>
                <a:cs typeface="Times New Roman"/>
              </a:rPr>
              <a:t> </a:t>
            </a:r>
            <a:r>
              <a:rPr sz="1200" dirty="0">
                <a:latin typeface="Times New Roman"/>
                <a:cs typeface="Times New Roman"/>
              </a:rPr>
              <a:t>ensuring</a:t>
            </a:r>
            <a:r>
              <a:rPr sz="1200" spc="15" dirty="0">
                <a:latin typeface="Times New Roman"/>
                <a:cs typeface="Times New Roman"/>
              </a:rPr>
              <a:t> </a:t>
            </a:r>
            <a:r>
              <a:rPr sz="1200" dirty="0">
                <a:latin typeface="Times New Roman"/>
                <a:cs typeface="Times New Roman"/>
              </a:rPr>
              <a:t>buyers</a:t>
            </a:r>
            <a:r>
              <a:rPr sz="1200" spc="10" dirty="0">
                <a:latin typeface="Times New Roman"/>
                <a:cs typeface="Times New Roman"/>
              </a:rPr>
              <a:t> </a:t>
            </a:r>
            <a:r>
              <a:rPr sz="1200" dirty="0">
                <a:latin typeface="Times New Roman"/>
                <a:cs typeface="Times New Roman"/>
              </a:rPr>
              <a:t>receive</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dirty="0">
                <a:latin typeface="Times New Roman"/>
                <a:cs typeface="Times New Roman"/>
              </a:rPr>
              <a:t>property</a:t>
            </a:r>
            <a:r>
              <a:rPr sz="1200" spc="10"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based</a:t>
            </a:r>
            <a:r>
              <a:rPr sz="1200" spc="15"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their</a:t>
            </a:r>
            <a:r>
              <a:rPr sz="1200" spc="10" dirty="0">
                <a:latin typeface="Times New Roman"/>
                <a:cs typeface="Times New Roman"/>
              </a:rPr>
              <a:t> </a:t>
            </a:r>
            <a:r>
              <a:rPr sz="1200" dirty="0">
                <a:latin typeface="Times New Roman"/>
                <a:cs typeface="Times New Roman"/>
              </a:rPr>
              <a:t>preferences</a:t>
            </a:r>
            <a:r>
              <a:rPr sz="1200" spc="15" dirty="0">
                <a:latin typeface="Times New Roman"/>
                <a:cs typeface="Times New Roman"/>
              </a:rPr>
              <a:t> </a:t>
            </a:r>
            <a:r>
              <a:rPr sz="1200" spc="-25" dirty="0">
                <a:latin typeface="Times New Roman"/>
                <a:cs typeface="Times New Roman"/>
              </a:rPr>
              <a:t>and </a:t>
            </a:r>
            <a:r>
              <a:rPr sz="1200" spc="-10">
                <a:latin typeface="Times New Roman"/>
                <a:cs typeface="Times New Roman"/>
              </a:rPr>
              <a:t>location.</a:t>
            </a:r>
            <a:endParaRPr sz="1200">
              <a:latin typeface="Times New Roman"/>
              <a:cs typeface="Times New Roman"/>
            </a:endParaRPr>
          </a:p>
          <a:p>
            <a:pPr marL="12700" marR="5080" algn="just">
              <a:lnSpc>
                <a:spcPct val="143800"/>
              </a:lnSpc>
            </a:pPr>
            <a:r>
              <a:rPr sz="1200" dirty="0">
                <a:latin typeface="Times New Roman"/>
                <a:cs typeface="Times New Roman"/>
              </a:rPr>
              <a:t>To</a:t>
            </a:r>
            <a:r>
              <a:rPr sz="1200" spc="135" dirty="0">
                <a:latin typeface="Times New Roman"/>
                <a:cs typeface="Times New Roman"/>
              </a:rPr>
              <a:t> </a:t>
            </a:r>
            <a:r>
              <a:rPr sz="1200" dirty="0">
                <a:latin typeface="Times New Roman"/>
                <a:cs typeface="Times New Roman"/>
              </a:rPr>
              <a:t>ensure</a:t>
            </a:r>
            <a:r>
              <a:rPr sz="1200" spc="140" dirty="0">
                <a:latin typeface="Times New Roman"/>
                <a:cs typeface="Times New Roman"/>
              </a:rPr>
              <a:t> </a:t>
            </a:r>
            <a:r>
              <a:rPr sz="1200" dirty="0">
                <a:latin typeface="Times New Roman"/>
                <a:cs typeface="Times New Roman"/>
              </a:rPr>
              <a:t>efficient</a:t>
            </a:r>
            <a:r>
              <a:rPr sz="1200" spc="145" dirty="0">
                <a:latin typeface="Times New Roman"/>
                <a:cs typeface="Times New Roman"/>
              </a:rPr>
              <a:t> </a:t>
            </a:r>
            <a:r>
              <a:rPr sz="1200" dirty="0">
                <a:latin typeface="Times New Roman"/>
                <a:cs typeface="Times New Roman"/>
              </a:rPr>
              <a:t>and</a:t>
            </a:r>
            <a:r>
              <a:rPr sz="1200" spc="145" dirty="0">
                <a:latin typeface="Times New Roman"/>
                <a:cs typeface="Times New Roman"/>
              </a:rPr>
              <a:t> </a:t>
            </a:r>
            <a:r>
              <a:rPr sz="1200" dirty="0">
                <a:latin typeface="Times New Roman"/>
                <a:cs typeface="Times New Roman"/>
              </a:rPr>
              <a:t>adaptive</a:t>
            </a:r>
            <a:r>
              <a:rPr sz="1200" spc="135" dirty="0">
                <a:latin typeface="Times New Roman"/>
                <a:cs typeface="Times New Roman"/>
              </a:rPr>
              <a:t> </a:t>
            </a:r>
            <a:r>
              <a:rPr sz="1200" dirty="0">
                <a:latin typeface="Times New Roman"/>
                <a:cs typeface="Times New Roman"/>
              </a:rPr>
              <a:t>development,</a:t>
            </a:r>
            <a:r>
              <a:rPr sz="1200" spc="135" dirty="0">
                <a:latin typeface="Times New Roman"/>
                <a:cs typeface="Times New Roman"/>
              </a:rPr>
              <a:t> </a:t>
            </a:r>
            <a:r>
              <a:rPr sz="1200" dirty="0">
                <a:latin typeface="Times New Roman"/>
                <a:cs typeface="Times New Roman"/>
              </a:rPr>
              <a:t>the</a:t>
            </a:r>
            <a:r>
              <a:rPr sz="1200" spc="135" dirty="0">
                <a:latin typeface="Times New Roman"/>
                <a:cs typeface="Times New Roman"/>
              </a:rPr>
              <a:t> </a:t>
            </a:r>
            <a:r>
              <a:rPr sz="1200" dirty="0">
                <a:latin typeface="Times New Roman"/>
                <a:cs typeface="Times New Roman"/>
              </a:rPr>
              <a:t>project</a:t>
            </a:r>
            <a:r>
              <a:rPr sz="1200" spc="135" dirty="0">
                <a:latin typeface="Times New Roman"/>
                <a:cs typeface="Times New Roman"/>
              </a:rPr>
              <a:t> </a:t>
            </a:r>
            <a:r>
              <a:rPr sz="1200" dirty="0">
                <a:latin typeface="Times New Roman"/>
                <a:cs typeface="Times New Roman"/>
              </a:rPr>
              <a:t>adopts</a:t>
            </a:r>
            <a:r>
              <a:rPr sz="1200" spc="135" dirty="0">
                <a:latin typeface="Times New Roman"/>
                <a:cs typeface="Times New Roman"/>
              </a:rPr>
              <a:t> </a:t>
            </a:r>
            <a:r>
              <a:rPr sz="1200" dirty="0">
                <a:latin typeface="Times New Roman"/>
                <a:cs typeface="Times New Roman"/>
              </a:rPr>
              <a:t>the</a:t>
            </a:r>
            <a:r>
              <a:rPr sz="1200" spc="145" dirty="0">
                <a:latin typeface="Times New Roman"/>
                <a:cs typeface="Times New Roman"/>
              </a:rPr>
              <a:t> </a:t>
            </a:r>
            <a:r>
              <a:rPr sz="1200" dirty="0">
                <a:latin typeface="Times New Roman"/>
                <a:cs typeface="Times New Roman"/>
              </a:rPr>
              <a:t>Agile</a:t>
            </a:r>
            <a:r>
              <a:rPr sz="1200" spc="135" dirty="0">
                <a:latin typeface="Times New Roman"/>
                <a:cs typeface="Times New Roman"/>
              </a:rPr>
              <a:t> </a:t>
            </a:r>
            <a:r>
              <a:rPr sz="1200" spc="-10" dirty="0">
                <a:latin typeface="Times New Roman"/>
                <a:cs typeface="Times New Roman"/>
              </a:rPr>
              <a:t>methodology, </a:t>
            </a:r>
            <a:r>
              <a:rPr sz="1200" dirty="0">
                <a:latin typeface="Times New Roman"/>
                <a:cs typeface="Times New Roman"/>
              </a:rPr>
              <a:t>allowing</a:t>
            </a:r>
            <a:r>
              <a:rPr sz="1200" spc="10"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continuous</a:t>
            </a:r>
            <a:r>
              <a:rPr sz="1200" spc="25" dirty="0">
                <a:latin typeface="Times New Roman"/>
                <a:cs typeface="Times New Roman"/>
              </a:rPr>
              <a:t> </a:t>
            </a:r>
            <a:r>
              <a:rPr sz="1200" dirty="0">
                <a:latin typeface="Times New Roman"/>
                <a:cs typeface="Times New Roman"/>
              </a:rPr>
              <a:t>refinements,</a:t>
            </a:r>
            <a:r>
              <a:rPr sz="1200" spc="10"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feedback</a:t>
            </a:r>
            <a:r>
              <a:rPr sz="1200" spc="10" dirty="0">
                <a:latin typeface="Times New Roman"/>
                <a:cs typeface="Times New Roman"/>
              </a:rPr>
              <a:t> </a:t>
            </a:r>
            <a:r>
              <a:rPr sz="1200" dirty="0">
                <a:latin typeface="Times New Roman"/>
                <a:cs typeface="Times New Roman"/>
              </a:rPr>
              <a:t>integration,</a:t>
            </a:r>
            <a:r>
              <a:rPr sz="1200"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iterative</a:t>
            </a:r>
            <a:r>
              <a:rPr sz="1200" spc="5" dirty="0">
                <a:latin typeface="Times New Roman"/>
                <a:cs typeface="Times New Roman"/>
              </a:rPr>
              <a:t> </a:t>
            </a:r>
            <a:r>
              <a:rPr sz="1200" spc="-10" dirty="0">
                <a:latin typeface="Times New Roman"/>
                <a:cs typeface="Times New Roman"/>
              </a:rPr>
              <a:t>improvements.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approach</a:t>
            </a:r>
            <a:r>
              <a:rPr sz="1200" spc="-20" dirty="0">
                <a:latin typeface="Times New Roman"/>
                <a:cs typeface="Times New Roman"/>
              </a:rPr>
              <a:t> </a:t>
            </a:r>
            <a:r>
              <a:rPr sz="1200" dirty="0">
                <a:latin typeface="Times New Roman"/>
                <a:cs typeface="Times New Roman"/>
              </a:rPr>
              <a:t>ensures</a:t>
            </a:r>
            <a:r>
              <a:rPr sz="1200" spc="-2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dirty="0">
                <a:latin typeface="Times New Roman"/>
                <a:cs typeface="Times New Roman"/>
              </a:rPr>
              <a:t>Abode</a:t>
            </a:r>
            <a:r>
              <a:rPr sz="1200" spc="-20" dirty="0">
                <a:latin typeface="Times New Roman"/>
                <a:cs typeface="Times New Roman"/>
              </a:rPr>
              <a:t> </a:t>
            </a:r>
            <a:r>
              <a:rPr sz="1200" dirty="0">
                <a:latin typeface="Times New Roman"/>
                <a:cs typeface="Times New Roman"/>
              </a:rPr>
              <a:t>evolves</a:t>
            </a:r>
            <a:r>
              <a:rPr sz="1200" spc="-20" dirty="0">
                <a:latin typeface="Times New Roman"/>
                <a:cs typeface="Times New Roman"/>
              </a:rPr>
              <a:t> </a:t>
            </a:r>
            <a:r>
              <a:rPr sz="1200" dirty="0">
                <a:latin typeface="Times New Roman"/>
                <a:cs typeface="Times New Roman"/>
              </a:rPr>
              <a:t>dynamically,</a:t>
            </a:r>
            <a:r>
              <a:rPr sz="1200" spc="-20" dirty="0">
                <a:latin typeface="Times New Roman"/>
                <a:cs typeface="Times New Roman"/>
              </a:rPr>
              <a:t> </a:t>
            </a:r>
            <a:r>
              <a:rPr sz="1200" dirty="0">
                <a:latin typeface="Times New Roman"/>
                <a:cs typeface="Times New Roman"/>
              </a:rPr>
              <a:t>meeting</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evolving</a:t>
            </a:r>
            <a:r>
              <a:rPr sz="1200" spc="-25" dirty="0">
                <a:latin typeface="Times New Roman"/>
                <a:cs typeface="Times New Roman"/>
              </a:rPr>
              <a:t> </a:t>
            </a:r>
            <a:r>
              <a:rPr sz="1200" spc="-10" dirty="0">
                <a:latin typeface="Times New Roman"/>
                <a:cs typeface="Times New Roman"/>
              </a:rPr>
              <a:t>needs </a:t>
            </a:r>
            <a:r>
              <a:rPr sz="1200" dirty="0">
                <a:latin typeface="Times New Roman"/>
                <a:cs typeface="Times New Roman"/>
              </a:rPr>
              <a:t>of</a:t>
            </a:r>
            <a:r>
              <a:rPr sz="1200" spc="100" dirty="0">
                <a:latin typeface="Times New Roman"/>
                <a:cs typeface="Times New Roman"/>
              </a:rPr>
              <a:t> </a:t>
            </a:r>
            <a:r>
              <a:rPr sz="1200" dirty="0">
                <a:latin typeface="Times New Roman"/>
                <a:cs typeface="Times New Roman"/>
              </a:rPr>
              <a:t>buyers,</a:t>
            </a:r>
            <a:r>
              <a:rPr sz="1200" spc="110" dirty="0">
                <a:latin typeface="Times New Roman"/>
                <a:cs typeface="Times New Roman"/>
              </a:rPr>
              <a:t> </a:t>
            </a:r>
            <a:r>
              <a:rPr sz="1200" dirty="0">
                <a:latin typeface="Times New Roman"/>
                <a:cs typeface="Times New Roman"/>
              </a:rPr>
              <a:t>sellers,</a:t>
            </a:r>
            <a:r>
              <a:rPr sz="1200" spc="110"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regulatory</a:t>
            </a:r>
            <a:r>
              <a:rPr sz="1200" spc="110" dirty="0">
                <a:latin typeface="Times New Roman"/>
                <a:cs typeface="Times New Roman"/>
              </a:rPr>
              <a:t> </a:t>
            </a:r>
            <a:r>
              <a:rPr sz="1200" dirty="0">
                <a:latin typeface="Times New Roman"/>
                <a:cs typeface="Times New Roman"/>
              </a:rPr>
              <a:t>frameworks,</a:t>
            </a:r>
            <a:r>
              <a:rPr sz="1200" spc="125" dirty="0">
                <a:latin typeface="Times New Roman"/>
                <a:cs typeface="Times New Roman"/>
              </a:rPr>
              <a:t> </a:t>
            </a:r>
            <a:r>
              <a:rPr sz="1200" dirty="0">
                <a:latin typeface="Times New Roman"/>
                <a:cs typeface="Times New Roman"/>
              </a:rPr>
              <a:t>while</a:t>
            </a:r>
            <a:r>
              <a:rPr sz="1200" spc="110" dirty="0">
                <a:latin typeface="Times New Roman"/>
                <a:cs typeface="Times New Roman"/>
              </a:rPr>
              <a:t> </a:t>
            </a:r>
            <a:r>
              <a:rPr sz="1200" dirty="0">
                <a:latin typeface="Times New Roman"/>
                <a:cs typeface="Times New Roman"/>
              </a:rPr>
              <a:t>positioning</a:t>
            </a:r>
            <a:r>
              <a:rPr sz="1200" spc="100" dirty="0">
                <a:latin typeface="Times New Roman"/>
                <a:cs typeface="Times New Roman"/>
              </a:rPr>
              <a:t> </a:t>
            </a:r>
            <a:r>
              <a:rPr sz="1200" dirty="0">
                <a:latin typeface="Times New Roman"/>
                <a:cs typeface="Times New Roman"/>
              </a:rPr>
              <a:t>itself</a:t>
            </a:r>
            <a:r>
              <a:rPr sz="1200" spc="95" dirty="0">
                <a:latin typeface="Times New Roman"/>
                <a:cs typeface="Times New Roman"/>
              </a:rPr>
              <a:t> </a:t>
            </a:r>
            <a:r>
              <a:rPr sz="1200" dirty="0">
                <a:latin typeface="Times New Roman"/>
                <a:cs typeface="Times New Roman"/>
              </a:rPr>
              <a:t>as</a:t>
            </a:r>
            <a:r>
              <a:rPr sz="1200" spc="110"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pioneering</a:t>
            </a:r>
            <a:r>
              <a:rPr sz="1200" spc="110" dirty="0">
                <a:latin typeface="Times New Roman"/>
                <a:cs typeface="Times New Roman"/>
              </a:rPr>
              <a:t> </a:t>
            </a:r>
            <a:r>
              <a:rPr sz="1200" spc="-25" dirty="0">
                <a:latin typeface="Times New Roman"/>
                <a:cs typeface="Times New Roman"/>
              </a:rPr>
              <a:t>AI- </a:t>
            </a:r>
            <a:r>
              <a:rPr sz="1200" dirty="0">
                <a:latin typeface="Times New Roman"/>
                <a:cs typeface="Times New Roman"/>
              </a:rPr>
              <a:t>driven</a:t>
            </a:r>
            <a:r>
              <a:rPr sz="1200" spc="-30" dirty="0">
                <a:latin typeface="Times New Roman"/>
                <a:cs typeface="Times New Roman"/>
              </a:rPr>
              <a:t> </a:t>
            </a:r>
            <a:r>
              <a:rPr sz="1200" dirty="0">
                <a:latin typeface="Times New Roman"/>
                <a:cs typeface="Times New Roman"/>
              </a:rPr>
              <a:t>solution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real</a:t>
            </a:r>
            <a:r>
              <a:rPr sz="1200" spc="-25" dirty="0">
                <a:latin typeface="Times New Roman"/>
                <a:cs typeface="Times New Roman"/>
              </a:rPr>
              <a:t> </a:t>
            </a:r>
            <a:r>
              <a:rPr sz="1200" dirty="0">
                <a:latin typeface="Times New Roman"/>
                <a:cs typeface="Times New Roman"/>
              </a:rPr>
              <a:t>estate</a:t>
            </a:r>
            <a:r>
              <a:rPr sz="1200" spc="-3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10" dirty="0">
                <a:latin typeface="Times New Roman"/>
                <a:cs typeface="Times New Roman"/>
              </a:rPr>
              <a:t>industry.</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35"/>
              </a:spcBef>
            </a:pPr>
            <a:endParaRPr sz="1200" dirty="0">
              <a:latin typeface="Times New Roman"/>
              <a:cs typeface="Times New Roman"/>
            </a:endParaRPr>
          </a:p>
          <a:p>
            <a:pPr marL="70485" algn="just">
              <a:lnSpc>
                <a:spcPct val="100000"/>
              </a:lnSpc>
            </a:pPr>
            <a:r>
              <a:rPr sz="1600" b="1" dirty="0">
                <a:latin typeface="Times New Roman"/>
                <a:cs typeface="Times New Roman"/>
              </a:rPr>
              <a:t>1.2.</a:t>
            </a:r>
            <a:r>
              <a:rPr sz="1600" b="1" spc="280" dirty="0">
                <a:latin typeface="Times New Roman"/>
                <a:cs typeface="Times New Roman"/>
              </a:rPr>
              <a:t> </a:t>
            </a:r>
            <a:r>
              <a:rPr sz="1600" b="1" dirty="0">
                <a:latin typeface="Times New Roman"/>
                <a:cs typeface="Times New Roman"/>
              </a:rPr>
              <a:t>Relevance</a:t>
            </a:r>
            <a:r>
              <a:rPr sz="1600" b="1" spc="-35" dirty="0">
                <a:latin typeface="Times New Roman"/>
                <a:cs typeface="Times New Roman"/>
              </a:rPr>
              <a:t> </a:t>
            </a:r>
            <a:r>
              <a:rPr sz="1600" b="1" dirty="0">
                <a:latin typeface="Times New Roman"/>
                <a:cs typeface="Times New Roman"/>
              </a:rPr>
              <a:t>to</a:t>
            </a:r>
            <a:r>
              <a:rPr sz="1600" b="1" spc="-20" dirty="0">
                <a:latin typeface="Times New Roman"/>
                <a:cs typeface="Times New Roman"/>
              </a:rPr>
              <a:t> </a:t>
            </a:r>
            <a:r>
              <a:rPr sz="1600" b="1" dirty="0">
                <a:latin typeface="Times New Roman"/>
                <a:cs typeface="Times New Roman"/>
              </a:rPr>
              <a:t>Course</a:t>
            </a:r>
            <a:r>
              <a:rPr sz="1600" b="1" spc="-35" dirty="0">
                <a:latin typeface="Times New Roman"/>
                <a:cs typeface="Times New Roman"/>
              </a:rPr>
              <a:t> </a:t>
            </a:r>
            <a:r>
              <a:rPr sz="1600" b="1" spc="-10" dirty="0">
                <a:latin typeface="Times New Roman"/>
                <a:cs typeface="Times New Roman"/>
              </a:rPr>
              <a:t>Modules</a:t>
            </a:r>
            <a:endParaRPr sz="1600" dirty="0">
              <a:latin typeface="Times New Roman"/>
              <a:cs typeface="Times New Roman"/>
            </a:endParaRPr>
          </a:p>
          <a:p>
            <a:pPr marL="12700" marR="6985" indent="129539" algn="just">
              <a:lnSpc>
                <a:spcPct val="143700"/>
              </a:lnSpc>
              <a:spcBef>
                <a:spcPts val="840"/>
              </a:spcBef>
              <a:buAutoNum type="romanLcPeriod"/>
              <a:tabLst>
                <a:tab pos="142240" algn="l"/>
              </a:tabLst>
            </a:pPr>
            <a:r>
              <a:rPr sz="1200" dirty="0">
                <a:latin typeface="Times New Roman"/>
                <a:cs typeface="Times New Roman"/>
              </a:rPr>
              <a:t>Web</a:t>
            </a:r>
            <a:r>
              <a:rPr sz="1200" spc="65" dirty="0">
                <a:latin typeface="Times New Roman"/>
                <a:cs typeface="Times New Roman"/>
              </a:rPr>
              <a:t> </a:t>
            </a:r>
            <a:r>
              <a:rPr sz="1200" dirty="0">
                <a:latin typeface="Times New Roman"/>
                <a:cs typeface="Times New Roman"/>
              </a:rPr>
              <a:t>Development</a:t>
            </a:r>
            <a:r>
              <a:rPr sz="1200" spc="70" dirty="0">
                <a:latin typeface="Times New Roman"/>
                <a:cs typeface="Times New Roman"/>
              </a:rPr>
              <a:t> </a:t>
            </a:r>
            <a:r>
              <a:rPr sz="1200" dirty="0">
                <a:latin typeface="Times New Roman"/>
                <a:cs typeface="Times New Roman"/>
              </a:rPr>
              <a:t>guided</a:t>
            </a:r>
            <a:r>
              <a:rPr sz="1200" spc="65" dirty="0">
                <a:latin typeface="Times New Roman"/>
                <a:cs typeface="Times New Roman"/>
              </a:rPr>
              <a:t> </a:t>
            </a:r>
            <a:r>
              <a:rPr sz="1200" dirty="0">
                <a:latin typeface="Times New Roman"/>
                <a:cs typeface="Times New Roman"/>
              </a:rPr>
              <a:t>us</a:t>
            </a:r>
            <a:r>
              <a:rPr sz="1200" spc="70" dirty="0">
                <a:latin typeface="Times New Roman"/>
                <a:cs typeface="Times New Roman"/>
              </a:rPr>
              <a:t> </a:t>
            </a:r>
            <a:r>
              <a:rPr sz="1200" dirty="0">
                <a:latin typeface="Times New Roman"/>
                <a:cs typeface="Times New Roman"/>
              </a:rPr>
              <a:t>in</a:t>
            </a:r>
            <a:r>
              <a:rPr sz="1200" spc="70" dirty="0">
                <a:latin typeface="Times New Roman"/>
                <a:cs typeface="Times New Roman"/>
              </a:rPr>
              <a:t> </a:t>
            </a:r>
            <a:r>
              <a:rPr sz="1200" dirty="0">
                <a:latin typeface="Times New Roman"/>
                <a:cs typeface="Times New Roman"/>
              </a:rPr>
              <a:t>creating</a:t>
            </a:r>
            <a:r>
              <a:rPr sz="1200" spc="65"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dynamic</a:t>
            </a:r>
            <a:r>
              <a:rPr sz="1200" spc="6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responsive</a:t>
            </a:r>
            <a:r>
              <a:rPr sz="1200" spc="70" dirty="0">
                <a:latin typeface="Times New Roman"/>
                <a:cs typeface="Times New Roman"/>
              </a:rPr>
              <a:t> </a:t>
            </a:r>
            <a:r>
              <a:rPr sz="1200" dirty="0">
                <a:latin typeface="Times New Roman"/>
                <a:cs typeface="Times New Roman"/>
              </a:rPr>
              <a:t>user</a:t>
            </a:r>
            <a:r>
              <a:rPr sz="1200" spc="65" dirty="0">
                <a:latin typeface="Times New Roman"/>
                <a:cs typeface="Times New Roman"/>
              </a:rPr>
              <a:t> </a:t>
            </a:r>
            <a:r>
              <a:rPr sz="1200" dirty="0">
                <a:latin typeface="Times New Roman"/>
                <a:cs typeface="Times New Roman"/>
              </a:rPr>
              <a:t>interface</a:t>
            </a:r>
            <a:r>
              <a:rPr sz="1200" spc="65" dirty="0">
                <a:latin typeface="Times New Roman"/>
                <a:cs typeface="Times New Roman"/>
              </a:rPr>
              <a:t> </a:t>
            </a:r>
            <a:r>
              <a:rPr sz="1200" dirty="0">
                <a:latin typeface="Times New Roman"/>
                <a:cs typeface="Times New Roman"/>
              </a:rPr>
              <a:t>for</a:t>
            </a:r>
            <a:r>
              <a:rPr sz="1200" spc="65" dirty="0">
                <a:latin typeface="Times New Roman"/>
                <a:cs typeface="Times New Roman"/>
              </a:rPr>
              <a:t> </a:t>
            </a:r>
            <a:r>
              <a:rPr sz="1200" spc="-25" dirty="0">
                <a:latin typeface="Times New Roman"/>
                <a:cs typeface="Times New Roman"/>
              </a:rPr>
              <a:t>the </a:t>
            </a:r>
            <a:r>
              <a:rPr sz="1200" dirty="0">
                <a:latin typeface="Times New Roman"/>
                <a:cs typeface="Times New Roman"/>
              </a:rPr>
              <a:t>Auction</a:t>
            </a:r>
            <a:r>
              <a:rPr sz="1200" spc="200" dirty="0">
                <a:latin typeface="Times New Roman"/>
                <a:cs typeface="Times New Roman"/>
              </a:rPr>
              <a:t> </a:t>
            </a:r>
            <a:r>
              <a:rPr sz="1200" dirty="0">
                <a:latin typeface="Times New Roman"/>
                <a:cs typeface="Times New Roman"/>
              </a:rPr>
              <a:t>Abode</a:t>
            </a:r>
            <a:r>
              <a:rPr sz="1200" spc="195" dirty="0">
                <a:latin typeface="Times New Roman"/>
                <a:cs typeface="Times New Roman"/>
              </a:rPr>
              <a:t> </a:t>
            </a:r>
            <a:r>
              <a:rPr sz="1200" dirty="0">
                <a:latin typeface="Times New Roman"/>
                <a:cs typeface="Times New Roman"/>
              </a:rPr>
              <a:t>platform,</a:t>
            </a:r>
            <a:r>
              <a:rPr sz="1200" spc="204" dirty="0">
                <a:latin typeface="Times New Roman"/>
                <a:cs typeface="Times New Roman"/>
              </a:rPr>
              <a:t> </a:t>
            </a:r>
            <a:r>
              <a:rPr sz="1200" dirty="0">
                <a:latin typeface="Times New Roman"/>
                <a:cs typeface="Times New Roman"/>
              </a:rPr>
              <a:t>ensuring</a:t>
            </a:r>
            <a:r>
              <a:rPr sz="1200" spc="200" dirty="0">
                <a:latin typeface="Times New Roman"/>
                <a:cs typeface="Times New Roman"/>
              </a:rPr>
              <a:t> </a:t>
            </a:r>
            <a:r>
              <a:rPr sz="1200" dirty="0">
                <a:latin typeface="Times New Roman"/>
                <a:cs typeface="Times New Roman"/>
              </a:rPr>
              <a:t>seamless</a:t>
            </a:r>
            <a:r>
              <a:rPr sz="1200" spc="210" dirty="0">
                <a:latin typeface="Times New Roman"/>
                <a:cs typeface="Times New Roman"/>
              </a:rPr>
              <a:t> </a:t>
            </a:r>
            <a:r>
              <a:rPr sz="1200" dirty="0">
                <a:latin typeface="Times New Roman"/>
                <a:cs typeface="Times New Roman"/>
              </a:rPr>
              <a:t>accessibility</a:t>
            </a:r>
            <a:r>
              <a:rPr sz="1200" spc="200" dirty="0">
                <a:latin typeface="Times New Roman"/>
                <a:cs typeface="Times New Roman"/>
              </a:rPr>
              <a:t> </a:t>
            </a:r>
            <a:r>
              <a:rPr sz="1200" dirty="0">
                <a:latin typeface="Times New Roman"/>
                <a:cs typeface="Times New Roman"/>
              </a:rPr>
              <a:t>across</a:t>
            </a:r>
            <a:r>
              <a:rPr sz="1200" spc="200" dirty="0">
                <a:latin typeface="Times New Roman"/>
                <a:cs typeface="Times New Roman"/>
              </a:rPr>
              <a:t> </a:t>
            </a:r>
            <a:r>
              <a:rPr sz="1200" dirty="0">
                <a:latin typeface="Times New Roman"/>
                <a:cs typeface="Times New Roman"/>
              </a:rPr>
              <a:t>devices</a:t>
            </a:r>
            <a:r>
              <a:rPr sz="1200" spc="21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dirty="0">
                <a:latin typeface="Times New Roman"/>
                <a:cs typeface="Times New Roman"/>
              </a:rPr>
              <a:t>an</a:t>
            </a:r>
            <a:r>
              <a:rPr sz="1200" spc="204" dirty="0">
                <a:latin typeface="Times New Roman"/>
                <a:cs typeface="Times New Roman"/>
              </a:rPr>
              <a:t> </a:t>
            </a:r>
            <a:r>
              <a:rPr sz="1200" spc="-10" dirty="0">
                <a:latin typeface="Times New Roman"/>
                <a:cs typeface="Times New Roman"/>
              </a:rPr>
              <a:t>intuitive </a:t>
            </a:r>
            <a:r>
              <a:rPr sz="1200" dirty="0">
                <a:latin typeface="Times New Roman"/>
                <a:cs typeface="Times New Roman"/>
              </a:rPr>
              <a:t>bidding</a:t>
            </a:r>
            <a:r>
              <a:rPr sz="1200" spc="-25" dirty="0">
                <a:latin typeface="Times New Roman"/>
                <a:cs typeface="Times New Roman"/>
              </a:rPr>
              <a:t> </a:t>
            </a:r>
            <a:r>
              <a:rPr sz="1200" spc="-10" dirty="0">
                <a:latin typeface="Times New Roman"/>
                <a:cs typeface="Times New Roman"/>
              </a:rPr>
              <a:t>experience.</a:t>
            </a:r>
            <a:endParaRPr sz="1200" dirty="0">
              <a:latin typeface="Times New Roman"/>
              <a:cs typeface="Times New Roman"/>
            </a:endParaRPr>
          </a:p>
          <a:p>
            <a:pPr marL="12700" marR="6350" indent="160655" algn="just">
              <a:lnSpc>
                <a:spcPct val="143700"/>
              </a:lnSpc>
              <a:spcBef>
                <a:spcPts val="610"/>
              </a:spcBef>
              <a:buAutoNum type="romanLcPeriod"/>
              <a:tabLst>
                <a:tab pos="173355" algn="l"/>
              </a:tabLst>
            </a:pPr>
            <a:r>
              <a:rPr sz="1200" spc="-10" dirty="0">
                <a:latin typeface="Times New Roman"/>
                <a:cs typeface="Times New Roman"/>
              </a:rPr>
              <a:t>Object-</a:t>
            </a:r>
            <a:r>
              <a:rPr sz="1200" dirty="0">
                <a:latin typeface="Times New Roman"/>
                <a:cs typeface="Times New Roman"/>
              </a:rPr>
              <a:t>Oriented</a:t>
            </a:r>
            <a:r>
              <a:rPr sz="1200" spc="-10" dirty="0">
                <a:latin typeface="Times New Roman"/>
                <a:cs typeface="Times New Roman"/>
              </a:rPr>
              <a:t> </a:t>
            </a:r>
            <a:r>
              <a:rPr sz="1200" dirty="0">
                <a:latin typeface="Times New Roman"/>
                <a:cs typeface="Times New Roman"/>
              </a:rPr>
              <a:t>Analysis</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Design</a:t>
            </a:r>
            <a:r>
              <a:rPr sz="1200" spc="-15" dirty="0">
                <a:latin typeface="Times New Roman"/>
                <a:cs typeface="Times New Roman"/>
              </a:rPr>
              <a:t> </a:t>
            </a:r>
            <a:r>
              <a:rPr sz="1200" dirty="0">
                <a:latin typeface="Times New Roman"/>
                <a:cs typeface="Times New Roman"/>
              </a:rPr>
              <a:t>equipped</a:t>
            </a:r>
            <a:r>
              <a:rPr sz="1200" spc="-20" dirty="0">
                <a:latin typeface="Times New Roman"/>
                <a:cs typeface="Times New Roman"/>
              </a:rPr>
              <a:t> </a:t>
            </a:r>
            <a:r>
              <a:rPr sz="1200" dirty="0">
                <a:latin typeface="Times New Roman"/>
                <a:cs typeface="Times New Roman"/>
              </a:rPr>
              <a:t>us</a:t>
            </a:r>
            <a:r>
              <a:rPr sz="1200" spc="-1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skills</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design</a:t>
            </a:r>
            <a:r>
              <a:rPr sz="1200" spc="-15" dirty="0">
                <a:latin typeface="Times New Roman"/>
                <a:cs typeface="Times New Roman"/>
              </a:rPr>
              <a:t> </a:t>
            </a:r>
            <a:r>
              <a:rPr sz="1200" spc="-10" dirty="0">
                <a:latin typeface="Times New Roman"/>
                <a:cs typeface="Times New Roman"/>
              </a:rPr>
              <a:t>comprehensive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workflows</a:t>
            </a:r>
            <a:r>
              <a:rPr sz="1200" spc="40" dirty="0">
                <a:latin typeface="Times New Roman"/>
                <a:cs typeface="Times New Roman"/>
              </a:rPr>
              <a:t> </a:t>
            </a:r>
            <a:r>
              <a:rPr sz="1200" dirty="0">
                <a:latin typeface="Times New Roman"/>
                <a:cs typeface="Times New Roman"/>
              </a:rPr>
              <a:t>through</a:t>
            </a:r>
            <a:r>
              <a:rPr sz="1200" spc="40" dirty="0">
                <a:latin typeface="Times New Roman"/>
                <a:cs typeface="Times New Roman"/>
              </a:rPr>
              <a:t> </a:t>
            </a:r>
            <a:r>
              <a:rPr sz="1200" dirty="0">
                <a:latin typeface="Times New Roman"/>
                <a:cs typeface="Times New Roman"/>
              </a:rPr>
              <a:t>use</a:t>
            </a:r>
            <a:r>
              <a:rPr sz="1200" spc="40" dirty="0">
                <a:latin typeface="Times New Roman"/>
                <a:cs typeface="Times New Roman"/>
              </a:rPr>
              <a:t> </a:t>
            </a:r>
            <a:r>
              <a:rPr sz="1200" dirty="0">
                <a:latin typeface="Times New Roman"/>
                <a:cs typeface="Times New Roman"/>
              </a:rPr>
              <a:t>cases,</a:t>
            </a:r>
            <a:r>
              <a:rPr sz="1200" spc="50" dirty="0">
                <a:latin typeface="Times New Roman"/>
                <a:cs typeface="Times New Roman"/>
              </a:rPr>
              <a:t> </a:t>
            </a:r>
            <a:r>
              <a:rPr sz="1200" dirty="0">
                <a:latin typeface="Times New Roman"/>
                <a:cs typeface="Times New Roman"/>
              </a:rPr>
              <a:t>activity</a:t>
            </a:r>
            <a:r>
              <a:rPr sz="1200" spc="40" dirty="0">
                <a:latin typeface="Times New Roman"/>
                <a:cs typeface="Times New Roman"/>
              </a:rPr>
              <a:t> </a:t>
            </a:r>
            <a:r>
              <a:rPr sz="1200" dirty="0">
                <a:latin typeface="Times New Roman"/>
                <a:cs typeface="Times New Roman"/>
              </a:rPr>
              <a:t>diagrams,</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sequence</a:t>
            </a:r>
            <a:r>
              <a:rPr sz="1200" spc="35" dirty="0">
                <a:latin typeface="Times New Roman"/>
                <a:cs typeface="Times New Roman"/>
              </a:rPr>
              <a:t> </a:t>
            </a:r>
            <a:r>
              <a:rPr sz="1200" dirty="0">
                <a:latin typeface="Times New Roman"/>
                <a:cs typeface="Times New Roman"/>
              </a:rPr>
              <a:t>diagrams,</a:t>
            </a:r>
            <a:r>
              <a:rPr sz="1200" spc="40" dirty="0">
                <a:latin typeface="Times New Roman"/>
                <a:cs typeface="Times New Roman"/>
              </a:rPr>
              <a:t> </a:t>
            </a:r>
            <a:r>
              <a:rPr sz="1200" spc="-10" dirty="0">
                <a:latin typeface="Times New Roman"/>
                <a:cs typeface="Times New Roman"/>
              </a:rPr>
              <a:t>effectively </a:t>
            </a:r>
            <a:r>
              <a:rPr sz="1200" dirty="0">
                <a:latin typeface="Times New Roman"/>
                <a:cs typeface="Times New Roman"/>
              </a:rPr>
              <a:t>modeling</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bidding</a:t>
            </a:r>
            <a:r>
              <a:rPr sz="1200" spc="-3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interactions,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management</a:t>
            </a:r>
            <a:r>
              <a:rPr sz="1200" spc="-35" dirty="0">
                <a:latin typeface="Times New Roman"/>
                <a:cs typeface="Times New Roman"/>
              </a:rPr>
              <a:t> </a:t>
            </a:r>
            <a:r>
              <a:rPr sz="1200" spc="-10" dirty="0">
                <a:latin typeface="Times New Roman"/>
                <a:cs typeface="Times New Roman"/>
              </a:rPr>
              <a:t>functionalities.</a:t>
            </a:r>
            <a:endParaRPr sz="1200" dirty="0">
              <a:latin typeface="Times New Roman"/>
              <a:cs typeface="Times New Roman"/>
            </a:endParaRPr>
          </a:p>
          <a:p>
            <a:pPr marL="12700" marR="5715" indent="238125" algn="just">
              <a:lnSpc>
                <a:spcPct val="143700"/>
              </a:lnSpc>
              <a:spcBef>
                <a:spcPts val="595"/>
              </a:spcBef>
              <a:buAutoNum type="romanLcPeriod"/>
              <a:tabLst>
                <a:tab pos="250825" algn="l"/>
              </a:tabLst>
            </a:pPr>
            <a:r>
              <a:rPr sz="1200" dirty="0">
                <a:latin typeface="Times New Roman"/>
                <a:cs typeface="Times New Roman"/>
              </a:rPr>
              <a:t>Database</a:t>
            </a:r>
            <a:r>
              <a:rPr sz="1200" spc="245" dirty="0">
                <a:latin typeface="Times New Roman"/>
                <a:cs typeface="Times New Roman"/>
              </a:rPr>
              <a:t> </a:t>
            </a:r>
            <a:r>
              <a:rPr sz="1200" dirty="0">
                <a:latin typeface="Times New Roman"/>
                <a:cs typeface="Times New Roman"/>
              </a:rPr>
              <a:t>Administration</a:t>
            </a:r>
            <a:r>
              <a:rPr sz="1200" spc="245" dirty="0">
                <a:latin typeface="Times New Roman"/>
                <a:cs typeface="Times New Roman"/>
              </a:rPr>
              <a:t> </a:t>
            </a:r>
            <a:r>
              <a:rPr sz="1200" dirty="0">
                <a:latin typeface="Times New Roman"/>
                <a:cs typeface="Times New Roman"/>
              </a:rPr>
              <a:t>enabled</a:t>
            </a:r>
            <a:r>
              <a:rPr sz="1200" spc="245" dirty="0">
                <a:latin typeface="Times New Roman"/>
                <a:cs typeface="Times New Roman"/>
              </a:rPr>
              <a:t> </a:t>
            </a:r>
            <a:r>
              <a:rPr sz="1200" dirty="0">
                <a:latin typeface="Times New Roman"/>
                <a:cs typeface="Times New Roman"/>
              </a:rPr>
              <a:t>us</a:t>
            </a:r>
            <a:r>
              <a:rPr sz="1200" spc="250" dirty="0">
                <a:latin typeface="Times New Roman"/>
                <a:cs typeface="Times New Roman"/>
              </a:rPr>
              <a:t> </a:t>
            </a:r>
            <a:r>
              <a:rPr sz="1200" dirty="0">
                <a:latin typeface="Times New Roman"/>
                <a:cs typeface="Times New Roman"/>
              </a:rPr>
              <a:t>to</a:t>
            </a:r>
            <a:r>
              <a:rPr sz="1200" spc="250" dirty="0">
                <a:latin typeface="Times New Roman"/>
                <a:cs typeface="Times New Roman"/>
              </a:rPr>
              <a:t> </a:t>
            </a:r>
            <a:r>
              <a:rPr sz="1200" dirty="0">
                <a:latin typeface="Times New Roman"/>
                <a:cs typeface="Times New Roman"/>
              </a:rPr>
              <a:t>design</a:t>
            </a:r>
            <a:r>
              <a:rPr sz="1200" spc="250" dirty="0">
                <a:latin typeface="Times New Roman"/>
                <a:cs typeface="Times New Roman"/>
              </a:rPr>
              <a:t> </a:t>
            </a:r>
            <a:r>
              <a:rPr sz="1200" dirty="0">
                <a:latin typeface="Times New Roman"/>
                <a:cs typeface="Times New Roman"/>
              </a:rPr>
              <a:t>and</a:t>
            </a:r>
            <a:r>
              <a:rPr sz="1200" spc="245" dirty="0">
                <a:latin typeface="Times New Roman"/>
                <a:cs typeface="Times New Roman"/>
              </a:rPr>
              <a:t> </a:t>
            </a:r>
            <a:r>
              <a:rPr sz="1200" dirty="0">
                <a:latin typeface="Times New Roman"/>
                <a:cs typeface="Times New Roman"/>
              </a:rPr>
              <a:t>manage</a:t>
            </a:r>
            <a:r>
              <a:rPr sz="1200" spc="245" dirty="0">
                <a:latin typeface="Times New Roman"/>
                <a:cs typeface="Times New Roman"/>
              </a:rPr>
              <a:t> </a:t>
            </a:r>
            <a:r>
              <a:rPr sz="1200" dirty="0">
                <a:latin typeface="Times New Roman"/>
                <a:cs typeface="Times New Roman"/>
              </a:rPr>
              <a:t>the</a:t>
            </a:r>
            <a:r>
              <a:rPr sz="1200" spc="245" dirty="0">
                <a:latin typeface="Times New Roman"/>
                <a:cs typeface="Times New Roman"/>
              </a:rPr>
              <a:t> </a:t>
            </a:r>
            <a:r>
              <a:rPr sz="1200" dirty="0">
                <a:latin typeface="Times New Roman"/>
                <a:cs typeface="Times New Roman"/>
              </a:rPr>
              <a:t>MongoDB</a:t>
            </a:r>
            <a:r>
              <a:rPr sz="1200" spc="250" dirty="0">
                <a:latin typeface="Times New Roman"/>
                <a:cs typeface="Times New Roman"/>
              </a:rPr>
              <a:t> </a:t>
            </a:r>
            <a:r>
              <a:rPr sz="1200" spc="-10" dirty="0">
                <a:latin typeface="Times New Roman"/>
                <a:cs typeface="Times New Roman"/>
              </a:rPr>
              <a:t>database, securely</a:t>
            </a:r>
            <a:r>
              <a:rPr sz="1200" spc="-25" dirty="0">
                <a:latin typeface="Times New Roman"/>
                <a:cs typeface="Times New Roman"/>
              </a:rPr>
              <a:t> </a:t>
            </a:r>
            <a:r>
              <a:rPr sz="1200" spc="-10" dirty="0">
                <a:latin typeface="Times New Roman"/>
                <a:cs typeface="Times New Roman"/>
              </a:rPr>
              <a:t>storing</a:t>
            </a:r>
            <a:r>
              <a:rPr sz="1200" spc="-25" dirty="0">
                <a:latin typeface="Times New Roman"/>
                <a:cs typeface="Times New Roman"/>
              </a:rPr>
              <a:t> </a:t>
            </a:r>
            <a:r>
              <a:rPr sz="1200" spc="-10" dirty="0">
                <a:latin typeface="Times New Roman"/>
                <a:cs typeface="Times New Roman"/>
              </a:rPr>
              <a:t>property</a:t>
            </a:r>
            <a:r>
              <a:rPr sz="1200" spc="-15" dirty="0">
                <a:latin typeface="Times New Roman"/>
                <a:cs typeface="Times New Roman"/>
              </a:rPr>
              <a:t> </a:t>
            </a:r>
            <a:r>
              <a:rPr sz="1200" spc="-10" dirty="0">
                <a:latin typeface="Times New Roman"/>
                <a:cs typeface="Times New Roman"/>
              </a:rPr>
              <a:t>listings,</a:t>
            </a:r>
            <a:r>
              <a:rPr sz="1200" spc="-25" dirty="0">
                <a:latin typeface="Times New Roman"/>
                <a:cs typeface="Times New Roman"/>
              </a:rPr>
              <a:t> </a:t>
            </a:r>
            <a:r>
              <a:rPr sz="1200" spc="-10" dirty="0">
                <a:latin typeface="Times New Roman"/>
                <a:cs typeface="Times New Roman"/>
              </a:rPr>
              <a:t>bid</a:t>
            </a:r>
            <a:r>
              <a:rPr sz="1200" spc="-25" dirty="0">
                <a:latin typeface="Times New Roman"/>
                <a:cs typeface="Times New Roman"/>
              </a:rPr>
              <a:t> </a:t>
            </a:r>
            <a:r>
              <a:rPr sz="1200" spc="-10" dirty="0">
                <a:latin typeface="Times New Roman"/>
                <a:cs typeface="Times New Roman"/>
              </a:rPr>
              <a:t>histories,</a:t>
            </a:r>
            <a:r>
              <a:rPr sz="1200" spc="-25" dirty="0">
                <a:latin typeface="Times New Roman"/>
                <a:cs typeface="Times New Roman"/>
              </a:rPr>
              <a:t> </a:t>
            </a:r>
            <a:r>
              <a:rPr sz="1200" spc="-10" dirty="0">
                <a:latin typeface="Times New Roman"/>
                <a:cs typeface="Times New Roman"/>
              </a:rPr>
              <a:t>user</a:t>
            </a:r>
            <a:r>
              <a:rPr sz="1200" spc="-30" dirty="0">
                <a:latin typeface="Times New Roman"/>
                <a:cs typeface="Times New Roman"/>
              </a:rPr>
              <a:t> </a:t>
            </a:r>
            <a:r>
              <a:rPr sz="1200" spc="-10" dirty="0">
                <a:latin typeface="Times New Roman"/>
                <a:cs typeface="Times New Roman"/>
              </a:rPr>
              <a:t>profiles,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transaction</a:t>
            </a:r>
            <a:r>
              <a:rPr sz="1200" spc="-25" dirty="0">
                <a:latin typeface="Times New Roman"/>
                <a:cs typeface="Times New Roman"/>
              </a:rPr>
              <a:t> </a:t>
            </a:r>
            <a:r>
              <a:rPr sz="1200" spc="-10" dirty="0">
                <a:latin typeface="Times New Roman"/>
                <a:cs typeface="Times New Roman"/>
              </a:rPr>
              <a:t>records,</a:t>
            </a:r>
            <a:r>
              <a:rPr sz="1200" spc="-20" dirty="0">
                <a:latin typeface="Times New Roman"/>
                <a:cs typeface="Times New Roman"/>
              </a:rPr>
              <a:t> </a:t>
            </a:r>
            <a:r>
              <a:rPr sz="1200" spc="-10" dirty="0">
                <a:latin typeface="Times New Roman"/>
                <a:cs typeface="Times New Roman"/>
              </a:rPr>
              <a:t>ensuring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integrity</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efficient</a:t>
            </a:r>
            <a:r>
              <a:rPr sz="1200" spc="-35" dirty="0">
                <a:latin typeface="Times New Roman"/>
                <a:cs typeface="Times New Roman"/>
              </a:rPr>
              <a:t> </a:t>
            </a:r>
            <a:r>
              <a:rPr sz="1200" spc="-10" dirty="0">
                <a:latin typeface="Times New Roman"/>
                <a:cs typeface="Times New Roman"/>
              </a:rPr>
              <a:t>retrieval.</a:t>
            </a:r>
            <a:endParaRPr sz="12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a:t>
            </a:r>
          </a:p>
        </p:txBody>
      </p:sp>
      <p:sp>
        <p:nvSpPr>
          <p:cNvPr id="2" name="object 2"/>
          <p:cNvSpPr txBox="1"/>
          <p:nvPr/>
        </p:nvSpPr>
        <p:spPr>
          <a:xfrm>
            <a:off x="1176324" y="812037"/>
            <a:ext cx="5696585" cy="813435"/>
          </a:xfrm>
          <a:prstGeom prst="rect">
            <a:avLst/>
          </a:prstGeom>
        </p:spPr>
        <p:txBody>
          <a:bodyPr vert="horz" wrap="square" lIns="0" tIns="11430" rIns="0" bIns="0" rtlCol="0">
            <a:spAutoFit/>
          </a:bodyPr>
          <a:lstStyle/>
          <a:p>
            <a:pPr marL="12700" marR="5080" algn="just">
              <a:lnSpc>
                <a:spcPct val="143800"/>
              </a:lnSpc>
              <a:spcBef>
                <a:spcPts val="90"/>
              </a:spcBef>
            </a:pPr>
            <a:r>
              <a:rPr sz="1200" dirty="0">
                <a:latin typeface="Times New Roman"/>
                <a:cs typeface="Times New Roman"/>
              </a:rPr>
              <a:t>iv.</a:t>
            </a:r>
            <a:r>
              <a:rPr sz="1200" spc="70" dirty="0">
                <a:latin typeface="Times New Roman"/>
                <a:cs typeface="Times New Roman"/>
              </a:rPr>
              <a:t> </a:t>
            </a:r>
            <a:r>
              <a:rPr sz="1200" dirty="0">
                <a:latin typeface="Times New Roman"/>
                <a:cs typeface="Times New Roman"/>
              </a:rPr>
              <a:t>Artificial</a:t>
            </a:r>
            <a:r>
              <a:rPr sz="1200" spc="80" dirty="0">
                <a:latin typeface="Times New Roman"/>
                <a:cs typeface="Times New Roman"/>
              </a:rPr>
              <a:t> </a:t>
            </a:r>
            <a:r>
              <a:rPr sz="1200" dirty="0">
                <a:latin typeface="Times New Roman"/>
                <a:cs typeface="Times New Roman"/>
              </a:rPr>
              <a:t>Intelligence</a:t>
            </a:r>
            <a:r>
              <a:rPr sz="1200" spc="75" dirty="0">
                <a:latin typeface="Times New Roman"/>
                <a:cs typeface="Times New Roman"/>
              </a:rPr>
              <a:t> </a:t>
            </a:r>
            <a:r>
              <a:rPr sz="1200" dirty="0">
                <a:latin typeface="Times New Roman"/>
                <a:cs typeface="Times New Roman"/>
              </a:rPr>
              <a:t>was</a:t>
            </a:r>
            <a:r>
              <a:rPr sz="1200" spc="8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core</a:t>
            </a:r>
            <a:r>
              <a:rPr sz="1200" spc="70" dirty="0">
                <a:latin typeface="Times New Roman"/>
                <a:cs typeface="Times New Roman"/>
              </a:rPr>
              <a:t> </a:t>
            </a:r>
            <a:r>
              <a:rPr sz="1200" dirty="0">
                <a:latin typeface="Times New Roman"/>
                <a:cs typeface="Times New Roman"/>
              </a:rPr>
              <a:t>course</a:t>
            </a:r>
            <a:r>
              <a:rPr sz="1200" spc="60" dirty="0">
                <a:latin typeface="Times New Roman"/>
                <a:cs typeface="Times New Roman"/>
              </a:rPr>
              <a:t> </a:t>
            </a:r>
            <a:r>
              <a:rPr sz="1200" dirty="0">
                <a:latin typeface="Times New Roman"/>
                <a:cs typeface="Times New Roman"/>
              </a:rPr>
              <a:t>that</a:t>
            </a:r>
            <a:r>
              <a:rPr sz="1200" spc="70" dirty="0">
                <a:latin typeface="Times New Roman"/>
                <a:cs typeface="Times New Roman"/>
              </a:rPr>
              <a:t> </a:t>
            </a:r>
            <a:r>
              <a:rPr sz="1200" dirty="0">
                <a:latin typeface="Times New Roman"/>
                <a:cs typeface="Times New Roman"/>
              </a:rPr>
              <a:t>laid</a:t>
            </a:r>
            <a:r>
              <a:rPr sz="1200" spc="70"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foundation</a:t>
            </a:r>
            <a:r>
              <a:rPr sz="1200" spc="65" dirty="0">
                <a:latin typeface="Times New Roman"/>
                <a:cs typeface="Times New Roman"/>
              </a:rPr>
              <a:t> </a:t>
            </a:r>
            <a:r>
              <a:rPr sz="1200" dirty="0">
                <a:latin typeface="Times New Roman"/>
                <a:cs typeface="Times New Roman"/>
              </a:rPr>
              <a:t>for</a:t>
            </a:r>
            <a:r>
              <a:rPr sz="1200" spc="65" dirty="0">
                <a:latin typeface="Times New Roman"/>
                <a:cs typeface="Times New Roman"/>
              </a:rPr>
              <a:t> </a:t>
            </a:r>
            <a:r>
              <a:rPr sz="1200" dirty="0">
                <a:latin typeface="Times New Roman"/>
                <a:cs typeface="Times New Roman"/>
              </a:rPr>
              <a:t>developing</a:t>
            </a:r>
            <a:r>
              <a:rPr sz="1200" spc="70"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spc="-25" dirty="0">
                <a:latin typeface="Times New Roman"/>
                <a:cs typeface="Times New Roman"/>
              </a:rPr>
              <a:t>AI- </a:t>
            </a:r>
            <a:r>
              <a:rPr sz="1200" dirty="0">
                <a:latin typeface="Times New Roman"/>
                <a:cs typeface="Times New Roman"/>
              </a:rPr>
              <a:t>powered</a:t>
            </a:r>
            <a:r>
              <a:rPr sz="1200" spc="-50" dirty="0">
                <a:latin typeface="Times New Roman"/>
                <a:cs typeface="Times New Roman"/>
              </a:rPr>
              <a:t> </a:t>
            </a:r>
            <a:r>
              <a:rPr sz="1200" dirty="0">
                <a:latin typeface="Times New Roman"/>
                <a:cs typeface="Times New Roman"/>
              </a:rPr>
              <a:t>price</a:t>
            </a:r>
            <a:r>
              <a:rPr sz="1200" spc="-45" dirty="0">
                <a:latin typeface="Times New Roman"/>
                <a:cs typeface="Times New Roman"/>
              </a:rPr>
              <a:t> </a:t>
            </a:r>
            <a:r>
              <a:rPr sz="1200" dirty="0">
                <a:latin typeface="Times New Roman"/>
                <a:cs typeface="Times New Roman"/>
              </a:rPr>
              <a:t>prediction</a:t>
            </a:r>
            <a:r>
              <a:rPr sz="1200" spc="-35" dirty="0">
                <a:latin typeface="Times New Roman"/>
                <a:cs typeface="Times New Roman"/>
              </a:rPr>
              <a:t> </a:t>
            </a:r>
            <a:r>
              <a:rPr sz="1200" dirty="0">
                <a:latin typeface="Times New Roman"/>
                <a:cs typeface="Times New Roman"/>
              </a:rPr>
              <a:t>model</a:t>
            </a:r>
            <a:r>
              <a:rPr sz="1200" spc="-4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fraud</a:t>
            </a:r>
            <a:r>
              <a:rPr sz="1200" spc="-50" dirty="0">
                <a:latin typeface="Times New Roman"/>
                <a:cs typeface="Times New Roman"/>
              </a:rPr>
              <a:t> </a:t>
            </a:r>
            <a:r>
              <a:rPr sz="1200" dirty="0">
                <a:latin typeface="Times New Roman"/>
                <a:cs typeface="Times New Roman"/>
              </a:rPr>
              <a:t>detection</a:t>
            </a:r>
            <a:r>
              <a:rPr sz="1200" spc="-50" dirty="0">
                <a:latin typeface="Times New Roman"/>
                <a:cs typeface="Times New Roman"/>
              </a:rPr>
              <a:t> </a:t>
            </a:r>
            <a:r>
              <a:rPr sz="1200" dirty="0">
                <a:latin typeface="Times New Roman"/>
                <a:cs typeface="Times New Roman"/>
              </a:rPr>
              <a:t>algorithms,</a:t>
            </a:r>
            <a:r>
              <a:rPr sz="1200" spc="-45" dirty="0">
                <a:latin typeface="Times New Roman"/>
                <a:cs typeface="Times New Roman"/>
              </a:rPr>
              <a:t> </a:t>
            </a:r>
            <a:r>
              <a:rPr sz="1200" dirty="0">
                <a:latin typeface="Times New Roman"/>
                <a:cs typeface="Times New Roman"/>
              </a:rPr>
              <a:t>which</a:t>
            </a:r>
            <a:r>
              <a:rPr sz="1200" spc="-45" dirty="0">
                <a:latin typeface="Times New Roman"/>
                <a:cs typeface="Times New Roman"/>
              </a:rPr>
              <a:t> </a:t>
            </a:r>
            <a:r>
              <a:rPr sz="1200" dirty="0">
                <a:latin typeface="Times New Roman"/>
                <a:cs typeface="Times New Roman"/>
              </a:rPr>
              <a:t>enhance</a:t>
            </a:r>
            <a:r>
              <a:rPr sz="1200" spc="-55" dirty="0">
                <a:latin typeface="Times New Roman"/>
                <a:cs typeface="Times New Roman"/>
              </a:rPr>
              <a:t> </a:t>
            </a:r>
            <a:r>
              <a:rPr sz="1200" dirty="0">
                <a:latin typeface="Times New Roman"/>
                <a:cs typeface="Times New Roman"/>
              </a:rPr>
              <a:t>bid</a:t>
            </a:r>
            <a:r>
              <a:rPr sz="1200" spc="-45" dirty="0">
                <a:latin typeface="Times New Roman"/>
                <a:cs typeface="Times New Roman"/>
              </a:rPr>
              <a:t> </a:t>
            </a:r>
            <a:r>
              <a:rPr sz="1200" spc="-10" dirty="0">
                <a:latin typeface="Times New Roman"/>
                <a:cs typeface="Times New Roman"/>
              </a:rPr>
              <a:t>accuracy, </a:t>
            </a:r>
            <a:r>
              <a:rPr sz="1200" dirty="0">
                <a:latin typeface="Times New Roman"/>
                <a:cs typeface="Times New Roman"/>
              </a:rPr>
              <a:t>property</a:t>
            </a:r>
            <a:r>
              <a:rPr sz="1200" spc="-50" dirty="0">
                <a:latin typeface="Times New Roman"/>
                <a:cs typeface="Times New Roman"/>
              </a:rPr>
              <a:t> </a:t>
            </a:r>
            <a:r>
              <a:rPr sz="120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overall</a:t>
            </a:r>
            <a:r>
              <a:rPr sz="1200" spc="-45" dirty="0">
                <a:latin typeface="Times New Roman"/>
                <a:cs typeface="Times New Roman"/>
              </a:rPr>
              <a:t> </a:t>
            </a:r>
            <a:r>
              <a:rPr sz="1200" dirty="0">
                <a:latin typeface="Times New Roman"/>
                <a:cs typeface="Times New Roman"/>
              </a:rPr>
              <a:t>auction</a:t>
            </a:r>
            <a:r>
              <a:rPr sz="1200" spc="-45" dirty="0">
                <a:latin typeface="Times New Roman"/>
                <a:cs typeface="Times New Roman"/>
              </a:rPr>
              <a:t> </a:t>
            </a:r>
            <a:r>
              <a:rPr sz="1200" spc="-10" dirty="0">
                <a:latin typeface="Times New Roman"/>
                <a:cs typeface="Times New Roman"/>
              </a:rPr>
              <a:t>security.</a:t>
            </a:r>
            <a:endParaRPr sz="1200">
              <a:latin typeface="Times New Roman"/>
              <a:cs typeface="Times New Roman"/>
            </a:endParaRPr>
          </a:p>
        </p:txBody>
      </p:sp>
      <p:sp>
        <p:nvSpPr>
          <p:cNvPr id="3" name="object 3"/>
          <p:cNvSpPr txBox="1"/>
          <p:nvPr/>
        </p:nvSpPr>
        <p:spPr>
          <a:xfrm>
            <a:off x="1176324" y="2320798"/>
            <a:ext cx="5696585" cy="6354445"/>
          </a:xfrm>
          <a:prstGeom prst="rect">
            <a:avLst/>
          </a:prstGeom>
        </p:spPr>
        <p:txBody>
          <a:bodyPr vert="horz" wrap="square" lIns="0" tIns="12065" rIns="0" bIns="0" rtlCol="0">
            <a:spAutoFit/>
          </a:bodyPr>
          <a:lstStyle/>
          <a:p>
            <a:pPr marL="70485">
              <a:lnSpc>
                <a:spcPct val="100000"/>
              </a:lnSpc>
              <a:spcBef>
                <a:spcPts val="95"/>
              </a:spcBef>
            </a:pPr>
            <a:r>
              <a:rPr sz="1600" b="1" dirty="0">
                <a:latin typeface="Times New Roman"/>
                <a:cs typeface="Times New Roman"/>
              </a:rPr>
              <a:t>1.3.</a:t>
            </a:r>
            <a:r>
              <a:rPr sz="1600" b="1" spc="270" dirty="0">
                <a:latin typeface="Times New Roman"/>
                <a:cs typeface="Times New Roman"/>
              </a:rPr>
              <a:t> </a:t>
            </a:r>
            <a:r>
              <a:rPr sz="1600" b="1" dirty="0">
                <a:latin typeface="Times New Roman"/>
                <a:cs typeface="Times New Roman"/>
              </a:rPr>
              <a:t>Project</a:t>
            </a:r>
            <a:r>
              <a:rPr sz="1600" b="1" spc="-45" dirty="0">
                <a:latin typeface="Times New Roman"/>
                <a:cs typeface="Times New Roman"/>
              </a:rPr>
              <a:t> </a:t>
            </a:r>
            <a:r>
              <a:rPr sz="1600" b="1" spc="-10" dirty="0">
                <a:latin typeface="Times New Roman"/>
                <a:cs typeface="Times New Roman"/>
              </a:rPr>
              <a:t>Background</a:t>
            </a:r>
            <a:endParaRPr sz="1600">
              <a:latin typeface="Times New Roman"/>
              <a:cs typeface="Times New Roman"/>
            </a:endParaRPr>
          </a:p>
          <a:p>
            <a:pPr marL="12700" marR="5080" algn="just">
              <a:lnSpc>
                <a:spcPct val="143700"/>
              </a:lnSpc>
              <a:spcBef>
                <a:spcPts val="1639"/>
              </a:spcBef>
            </a:pP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project</a:t>
            </a:r>
            <a:r>
              <a:rPr sz="1200" spc="75" dirty="0">
                <a:latin typeface="Times New Roman"/>
                <a:cs typeface="Times New Roman"/>
              </a:rPr>
              <a:t> </a:t>
            </a:r>
            <a:r>
              <a:rPr sz="1200" dirty="0">
                <a:latin typeface="Times New Roman"/>
                <a:cs typeface="Times New Roman"/>
              </a:rPr>
              <a:t>"Auction</a:t>
            </a:r>
            <a:r>
              <a:rPr sz="1200" spc="75" dirty="0">
                <a:latin typeface="Times New Roman"/>
                <a:cs typeface="Times New Roman"/>
              </a:rPr>
              <a:t> </a:t>
            </a:r>
            <a:r>
              <a:rPr sz="1200" dirty="0">
                <a:latin typeface="Times New Roman"/>
                <a:cs typeface="Times New Roman"/>
              </a:rPr>
              <a:t>Abode:</a:t>
            </a:r>
            <a:r>
              <a:rPr sz="1200" spc="7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75" dirty="0">
                <a:latin typeface="Times New Roman"/>
                <a:cs typeface="Times New Roman"/>
              </a:rPr>
              <a:t> </a:t>
            </a:r>
            <a:r>
              <a:rPr sz="1200" dirty="0">
                <a:latin typeface="Times New Roman"/>
                <a:cs typeface="Times New Roman"/>
              </a:rPr>
              <a:t>Real</a:t>
            </a:r>
            <a:r>
              <a:rPr sz="1200" spc="75" dirty="0">
                <a:latin typeface="Times New Roman"/>
                <a:cs typeface="Times New Roman"/>
              </a:rPr>
              <a:t> </a:t>
            </a:r>
            <a:r>
              <a:rPr sz="1200" dirty="0">
                <a:latin typeface="Times New Roman"/>
                <a:cs typeface="Times New Roman"/>
              </a:rPr>
              <a:t>Estate</a:t>
            </a:r>
            <a:r>
              <a:rPr sz="1200" spc="70" dirty="0">
                <a:latin typeface="Times New Roman"/>
                <a:cs typeface="Times New Roman"/>
              </a:rPr>
              <a:t> </a:t>
            </a:r>
            <a:r>
              <a:rPr sz="1200" dirty="0">
                <a:latin typeface="Times New Roman"/>
                <a:cs typeface="Times New Roman"/>
              </a:rPr>
              <a:t>Bidding</a:t>
            </a:r>
            <a:r>
              <a:rPr sz="1200" spc="75" dirty="0">
                <a:latin typeface="Times New Roman"/>
                <a:cs typeface="Times New Roman"/>
              </a:rPr>
              <a:t> </a:t>
            </a:r>
            <a:r>
              <a:rPr sz="1200" dirty="0">
                <a:latin typeface="Times New Roman"/>
                <a:cs typeface="Times New Roman"/>
              </a:rPr>
              <a:t>Platform"</a:t>
            </a:r>
            <a:r>
              <a:rPr sz="1200" spc="90" dirty="0">
                <a:latin typeface="Times New Roman"/>
                <a:cs typeface="Times New Roman"/>
              </a:rPr>
              <a:t> </a:t>
            </a:r>
            <a:r>
              <a:rPr sz="1200" dirty="0">
                <a:latin typeface="Times New Roman"/>
                <a:cs typeface="Times New Roman"/>
              </a:rPr>
              <a:t>addresses</a:t>
            </a:r>
            <a:r>
              <a:rPr sz="1200" spc="85" dirty="0">
                <a:latin typeface="Times New Roman"/>
                <a:cs typeface="Times New Roman"/>
              </a:rPr>
              <a:t> </a:t>
            </a:r>
            <a:r>
              <a:rPr sz="1200" spc="-10" dirty="0">
                <a:latin typeface="Times New Roman"/>
                <a:cs typeface="Times New Roman"/>
              </a:rPr>
              <a:t>critical </a:t>
            </a:r>
            <a:r>
              <a:rPr sz="1200" dirty="0">
                <a:latin typeface="Times New Roman"/>
                <a:cs typeface="Times New Roman"/>
              </a:rPr>
              <a:t>challenges</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property</a:t>
            </a:r>
            <a:r>
              <a:rPr sz="1200" spc="-5" dirty="0">
                <a:latin typeface="Times New Roman"/>
                <a:cs typeface="Times New Roman"/>
              </a:rPr>
              <a:t> </a:t>
            </a:r>
            <a:r>
              <a:rPr sz="1200" dirty="0">
                <a:latin typeface="Times New Roman"/>
                <a:cs typeface="Times New Roman"/>
              </a:rPr>
              <a:t>auction</a:t>
            </a:r>
            <a:r>
              <a:rPr sz="1200" spc="-10" dirty="0">
                <a:latin typeface="Times New Roman"/>
                <a:cs typeface="Times New Roman"/>
              </a:rPr>
              <a:t> </a:t>
            </a:r>
            <a:r>
              <a:rPr sz="1200" dirty="0">
                <a:latin typeface="Times New Roman"/>
                <a:cs typeface="Times New Roman"/>
              </a:rPr>
              <a:t>industry</a:t>
            </a:r>
            <a:r>
              <a:rPr sz="1200" spc="-5" dirty="0">
                <a:latin typeface="Times New Roman"/>
                <a:cs typeface="Times New Roman"/>
              </a:rPr>
              <a:t> </a:t>
            </a:r>
            <a:r>
              <a:rPr sz="1200" dirty="0">
                <a:latin typeface="Times New Roman"/>
                <a:cs typeface="Times New Roman"/>
              </a:rPr>
              <a:t>by</a:t>
            </a:r>
            <a:r>
              <a:rPr sz="1200" spc="-5" dirty="0">
                <a:latin typeface="Times New Roman"/>
                <a:cs typeface="Times New Roman"/>
              </a:rPr>
              <a:t> </a:t>
            </a:r>
            <a:r>
              <a:rPr sz="1200" dirty="0">
                <a:latin typeface="Times New Roman"/>
                <a:cs typeface="Times New Roman"/>
              </a:rPr>
              <a:t>leveraging</a:t>
            </a:r>
            <a:r>
              <a:rPr sz="1200" spc="-5" dirty="0">
                <a:latin typeface="Times New Roman"/>
                <a:cs typeface="Times New Roman"/>
              </a:rPr>
              <a:t> </a:t>
            </a:r>
            <a:r>
              <a:rPr sz="1200" dirty="0">
                <a:latin typeface="Times New Roman"/>
                <a:cs typeface="Times New Roman"/>
              </a:rPr>
              <a:t>artificial</a:t>
            </a:r>
            <a:r>
              <a:rPr sz="1200" spc="-5" dirty="0">
                <a:latin typeface="Times New Roman"/>
                <a:cs typeface="Times New Roman"/>
              </a:rPr>
              <a:t> </a:t>
            </a:r>
            <a:r>
              <a:rPr sz="1200" dirty="0">
                <a:latin typeface="Times New Roman"/>
                <a:cs typeface="Times New Roman"/>
              </a:rPr>
              <a:t>intelligence</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real-</a:t>
            </a:r>
            <a:r>
              <a:rPr sz="1200" spc="-20" dirty="0">
                <a:latin typeface="Times New Roman"/>
                <a:cs typeface="Times New Roman"/>
              </a:rPr>
              <a:t>time </a:t>
            </a:r>
            <a:r>
              <a:rPr sz="1200" dirty="0">
                <a:latin typeface="Times New Roman"/>
                <a:cs typeface="Times New Roman"/>
              </a:rPr>
              <a:t>technologies</a:t>
            </a:r>
            <a:r>
              <a:rPr sz="1200" spc="175" dirty="0">
                <a:latin typeface="Times New Roman"/>
                <a:cs typeface="Times New Roman"/>
              </a:rPr>
              <a:t> </a:t>
            </a:r>
            <a:r>
              <a:rPr sz="1200" dirty="0">
                <a:latin typeface="Times New Roman"/>
                <a:cs typeface="Times New Roman"/>
              </a:rPr>
              <a:t>to</a:t>
            </a:r>
            <a:r>
              <a:rPr sz="1200" spc="180" dirty="0">
                <a:latin typeface="Times New Roman"/>
                <a:cs typeface="Times New Roman"/>
              </a:rPr>
              <a:t> </a:t>
            </a:r>
            <a:r>
              <a:rPr sz="1200" dirty="0">
                <a:latin typeface="Times New Roman"/>
                <a:cs typeface="Times New Roman"/>
              </a:rPr>
              <a:t>enhance</a:t>
            </a:r>
            <a:r>
              <a:rPr sz="1200" spc="180" dirty="0">
                <a:latin typeface="Times New Roman"/>
                <a:cs typeface="Times New Roman"/>
              </a:rPr>
              <a:t> </a:t>
            </a:r>
            <a:r>
              <a:rPr sz="1200" dirty="0">
                <a:latin typeface="Times New Roman"/>
                <a:cs typeface="Times New Roman"/>
              </a:rPr>
              <a:t>transparency,</a:t>
            </a:r>
            <a:r>
              <a:rPr sz="1200" spc="175" dirty="0">
                <a:latin typeface="Times New Roman"/>
                <a:cs typeface="Times New Roman"/>
              </a:rPr>
              <a:t> </a:t>
            </a:r>
            <a:r>
              <a:rPr sz="1200" dirty="0">
                <a:latin typeface="Times New Roman"/>
                <a:cs typeface="Times New Roman"/>
              </a:rPr>
              <a:t>efficiency,</a:t>
            </a:r>
            <a:r>
              <a:rPr sz="1200" spc="170" dirty="0">
                <a:latin typeface="Times New Roman"/>
                <a:cs typeface="Times New Roman"/>
              </a:rPr>
              <a:t> </a:t>
            </a:r>
            <a:r>
              <a:rPr sz="1200" dirty="0">
                <a:latin typeface="Times New Roman"/>
                <a:cs typeface="Times New Roman"/>
              </a:rPr>
              <a:t>and</a:t>
            </a:r>
            <a:r>
              <a:rPr sz="1200" spc="175" dirty="0">
                <a:latin typeface="Times New Roman"/>
                <a:cs typeface="Times New Roman"/>
              </a:rPr>
              <a:t> </a:t>
            </a:r>
            <a:r>
              <a:rPr sz="1200" dirty="0">
                <a:latin typeface="Times New Roman"/>
                <a:cs typeface="Times New Roman"/>
              </a:rPr>
              <a:t>security</a:t>
            </a:r>
            <a:r>
              <a:rPr sz="1200" spc="175" dirty="0">
                <a:latin typeface="Times New Roman"/>
                <a:cs typeface="Times New Roman"/>
              </a:rPr>
              <a:t> </a:t>
            </a:r>
            <a:r>
              <a:rPr sz="1200" dirty="0">
                <a:latin typeface="Times New Roman"/>
                <a:cs typeface="Times New Roman"/>
              </a:rPr>
              <a:t>in</a:t>
            </a:r>
            <a:r>
              <a:rPr sz="1200" spc="180" dirty="0">
                <a:latin typeface="Times New Roman"/>
                <a:cs typeface="Times New Roman"/>
              </a:rPr>
              <a:t> </a:t>
            </a:r>
            <a:r>
              <a:rPr sz="1200" dirty="0">
                <a:latin typeface="Times New Roman"/>
                <a:cs typeface="Times New Roman"/>
              </a:rPr>
              <a:t>real</a:t>
            </a:r>
            <a:r>
              <a:rPr sz="1200" spc="175" dirty="0">
                <a:latin typeface="Times New Roman"/>
                <a:cs typeface="Times New Roman"/>
              </a:rPr>
              <a:t> </a:t>
            </a:r>
            <a:r>
              <a:rPr sz="1200" dirty="0">
                <a:latin typeface="Times New Roman"/>
                <a:cs typeface="Times New Roman"/>
              </a:rPr>
              <a:t>estate</a:t>
            </a:r>
            <a:r>
              <a:rPr sz="1200" spc="175" dirty="0">
                <a:latin typeface="Times New Roman"/>
                <a:cs typeface="Times New Roman"/>
              </a:rPr>
              <a:t> </a:t>
            </a:r>
            <a:r>
              <a:rPr sz="1200" spc="-10" dirty="0">
                <a:latin typeface="Times New Roman"/>
                <a:cs typeface="Times New Roman"/>
              </a:rPr>
              <a:t>transactions. </a:t>
            </a:r>
            <a:r>
              <a:rPr sz="1200" dirty="0">
                <a:latin typeface="Times New Roman"/>
                <a:cs typeface="Times New Roman"/>
              </a:rPr>
              <a:t>Traditional</a:t>
            </a:r>
            <a:r>
              <a:rPr sz="1200" spc="-15" dirty="0">
                <a:latin typeface="Times New Roman"/>
                <a:cs typeface="Times New Roman"/>
              </a:rPr>
              <a:t> </a:t>
            </a:r>
            <a:r>
              <a:rPr sz="1200" dirty="0">
                <a:latin typeface="Times New Roman"/>
                <a:cs typeface="Times New Roman"/>
              </a:rPr>
              <a:t>property</a:t>
            </a:r>
            <a:r>
              <a:rPr sz="1200" spc="-10" dirty="0">
                <a:latin typeface="Times New Roman"/>
                <a:cs typeface="Times New Roman"/>
              </a:rPr>
              <a:t> </a:t>
            </a:r>
            <a:r>
              <a:rPr sz="1200" dirty="0">
                <a:latin typeface="Times New Roman"/>
                <a:cs typeface="Times New Roman"/>
              </a:rPr>
              <a:t>auctions</a:t>
            </a:r>
            <a:r>
              <a:rPr sz="1200" spc="-5" dirty="0">
                <a:latin typeface="Times New Roman"/>
                <a:cs typeface="Times New Roman"/>
              </a:rPr>
              <a:t> </a:t>
            </a:r>
            <a:r>
              <a:rPr sz="1200" dirty="0">
                <a:latin typeface="Times New Roman"/>
                <a:cs typeface="Times New Roman"/>
              </a:rPr>
              <a:t>often</a:t>
            </a:r>
            <a:r>
              <a:rPr sz="1200" spc="-10" dirty="0">
                <a:latin typeface="Times New Roman"/>
                <a:cs typeface="Times New Roman"/>
              </a:rPr>
              <a:t> </a:t>
            </a:r>
            <a:r>
              <a:rPr sz="1200" dirty="0">
                <a:latin typeface="Times New Roman"/>
                <a:cs typeface="Times New Roman"/>
              </a:rPr>
              <a:t>suffer</a:t>
            </a:r>
            <a:r>
              <a:rPr sz="1200" spc="-10" dirty="0">
                <a:latin typeface="Times New Roman"/>
                <a:cs typeface="Times New Roman"/>
              </a:rPr>
              <a:t> </a:t>
            </a:r>
            <a:r>
              <a:rPr sz="1200" dirty="0">
                <a:latin typeface="Times New Roman"/>
                <a:cs typeface="Times New Roman"/>
              </a:rPr>
              <a:t>from</a:t>
            </a:r>
            <a:r>
              <a:rPr sz="1200" spc="-5" dirty="0">
                <a:latin typeface="Times New Roman"/>
                <a:cs typeface="Times New Roman"/>
              </a:rPr>
              <a:t> </a:t>
            </a:r>
            <a:r>
              <a:rPr sz="1200" dirty="0">
                <a:latin typeface="Times New Roman"/>
                <a:cs typeface="Times New Roman"/>
              </a:rPr>
              <a:t>limited</a:t>
            </a:r>
            <a:r>
              <a:rPr sz="1200" spc="-10" dirty="0">
                <a:latin typeface="Times New Roman"/>
                <a:cs typeface="Times New Roman"/>
              </a:rPr>
              <a:t> </a:t>
            </a:r>
            <a:r>
              <a:rPr sz="1200" dirty="0">
                <a:latin typeface="Times New Roman"/>
                <a:cs typeface="Times New Roman"/>
              </a:rPr>
              <a:t>accessibility,</a:t>
            </a:r>
            <a:r>
              <a:rPr sz="1200" spc="-10" dirty="0">
                <a:latin typeface="Times New Roman"/>
                <a:cs typeface="Times New Roman"/>
              </a:rPr>
              <a:t> </a:t>
            </a:r>
            <a:r>
              <a:rPr sz="1200" dirty="0">
                <a:latin typeface="Times New Roman"/>
                <a:cs typeface="Times New Roman"/>
              </a:rPr>
              <a:t>bid</a:t>
            </a:r>
            <a:r>
              <a:rPr sz="1200" spc="-15" dirty="0">
                <a:latin typeface="Times New Roman"/>
                <a:cs typeface="Times New Roman"/>
              </a:rPr>
              <a:t> </a:t>
            </a:r>
            <a:r>
              <a:rPr sz="1200" dirty="0">
                <a:latin typeface="Times New Roman"/>
                <a:cs typeface="Times New Roman"/>
              </a:rPr>
              <a:t>manipulation,</a:t>
            </a:r>
            <a:r>
              <a:rPr sz="1200" spc="-5" dirty="0">
                <a:latin typeface="Times New Roman"/>
                <a:cs typeface="Times New Roman"/>
              </a:rPr>
              <a:t> </a:t>
            </a:r>
            <a:r>
              <a:rPr sz="1200" spc="-10" dirty="0">
                <a:latin typeface="Times New Roman"/>
                <a:cs typeface="Times New Roman"/>
              </a:rPr>
              <a:t>fraud </a:t>
            </a:r>
            <a:r>
              <a:rPr sz="1200" dirty="0">
                <a:latin typeface="Times New Roman"/>
                <a:cs typeface="Times New Roman"/>
              </a:rPr>
              <a:t>risks,</a:t>
            </a:r>
            <a:r>
              <a:rPr sz="1200" spc="90"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inefficient</a:t>
            </a:r>
            <a:r>
              <a:rPr sz="1200" spc="90" dirty="0">
                <a:latin typeface="Times New Roman"/>
                <a:cs typeface="Times New Roman"/>
              </a:rPr>
              <a:t> </a:t>
            </a:r>
            <a:r>
              <a:rPr sz="1200" dirty="0">
                <a:latin typeface="Times New Roman"/>
                <a:cs typeface="Times New Roman"/>
              </a:rPr>
              <a:t>bidding</a:t>
            </a:r>
            <a:r>
              <a:rPr sz="1200" spc="95" dirty="0">
                <a:latin typeface="Times New Roman"/>
                <a:cs typeface="Times New Roman"/>
              </a:rPr>
              <a:t> </a:t>
            </a:r>
            <a:r>
              <a:rPr sz="1200" dirty="0">
                <a:latin typeface="Times New Roman"/>
                <a:cs typeface="Times New Roman"/>
              </a:rPr>
              <a:t>mechanisms,</a:t>
            </a:r>
            <a:r>
              <a:rPr sz="1200" spc="95" dirty="0">
                <a:latin typeface="Times New Roman"/>
                <a:cs typeface="Times New Roman"/>
              </a:rPr>
              <a:t> </a:t>
            </a:r>
            <a:r>
              <a:rPr sz="1200" dirty="0">
                <a:latin typeface="Times New Roman"/>
                <a:cs typeface="Times New Roman"/>
              </a:rPr>
              <a:t>leading</a:t>
            </a:r>
            <a:r>
              <a:rPr sz="1200" spc="85" dirty="0">
                <a:latin typeface="Times New Roman"/>
                <a:cs typeface="Times New Roman"/>
              </a:rPr>
              <a:t> </a:t>
            </a:r>
            <a:r>
              <a:rPr sz="1200" dirty="0">
                <a:latin typeface="Times New Roman"/>
                <a:cs typeface="Times New Roman"/>
              </a:rPr>
              <a:t>to</a:t>
            </a:r>
            <a:r>
              <a:rPr sz="1200" spc="95" dirty="0">
                <a:latin typeface="Times New Roman"/>
                <a:cs typeface="Times New Roman"/>
              </a:rPr>
              <a:t> </a:t>
            </a:r>
            <a:r>
              <a:rPr sz="1200" dirty="0">
                <a:latin typeface="Times New Roman"/>
                <a:cs typeface="Times New Roman"/>
              </a:rPr>
              <a:t>a</a:t>
            </a:r>
            <a:r>
              <a:rPr sz="1200" spc="85" dirty="0">
                <a:latin typeface="Times New Roman"/>
                <a:cs typeface="Times New Roman"/>
              </a:rPr>
              <a:t> </a:t>
            </a:r>
            <a:r>
              <a:rPr sz="1200" dirty="0">
                <a:latin typeface="Times New Roman"/>
                <a:cs typeface="Times New Roman"/>
              </a:rPr>
              <a:t>lack</a:t>
            </a:r>
            <a:r>
              <a:rPr sz="1200" spc="85" dirty="0">
                <a:latin typeface="Times New Roman"/>
                <a:cs typeface="Times New Roman"/>
              </a:rPr>
              <a:t> </a:t>
            </a:r>
            <a:r>
              <a:rPr sz="1200" dirty="0">
                <a:latin typeface="Times New Roman"/>
                <a:cs typeface="Times New Roman"/>
              </a:rPr>
              <a:t>of</a:t>
            </a:r>
            <a:r>
              <a:rPr sz="1200" spc="90" dirty="0">
                <a:latin typeface="Times New Roman"/>
                <a:cs typeface="Times New Roman"/>
              </a:rPr>
              <a:t> </a:t>
            </a:r>
            <a:r>
              <a:rPr sz="1200" dirty="0">
                <a:latin typeface="Times New Roman"/>
                <a:cs typeface="Times New Roman"/>
              </a:rPr>
              <a:t>trust</a:t>
            </a:r>
            <a:r>
              <a:rPr sz="1200" spc="100"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engagement</a:t>
            </a:r>
            <a:r>
              <a:rPr sz="1200" spc="95" dirty="0">
                <a:latin typeface="Times New Roman"/>
                <a:cs typeface="Times New Roman"/>
              </a:rPr>
              <a:t> </a:t>
            </a:r>
            <a:r>
              <a:rPr sz="1200" spc="-20" dirty="0">
                <a:latin typeface="Times New Roman"/>
                <a:cs typeface="Times New Roman"/>
              </a:rPr>
              <a:t>from </a:t>
            </a:r>
            <a:r>
              <a:rPr sz="1200" dirty="0">
                <a:latin typeface="Times New Roman"/>
                <a:cs typeface="Times New Roman"/>
              </a:rPr>
              <a:t>buyers</a:t>
            </a:r>
            <a:r>
              <a:rPr sz="1200" spc="70"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sellers.</a:t>
            </a:r>
            <a:r>
              <a:rPr sz="1200" spc="70" dirty="0">
                <a:latin typeface="Times New Roman"/>
                <a:cs typeface="Times New Roman"/>
              </a:rPr>
              <a:t> </a:t>
            </a:r>
            <a:r>
              <a:rPr sz="1200" dirty="0">
                <a:latin typeface="Times New Roman"/>
                <a:cs typeface="Times New Roman"/>
              </a:rPr>
              <a:t>This</a:t>
            </a:r>
            <a:r>
              <a:rPr sz="1200" spc="75" dirty="0">
                <a:latin typeface="Times New Roman"/>
                <a:cs typeface="Times New Roman"/>
              </a:rPr>
              <a:t> </a:t>
            </a:r>
            <a:r>
              <a:rPr sz="1200" dirty="0">
                <a:latin typeface="Times New Roman"/>
                <a:cs typeface="Times New Roman"/>
              </a:rPr>
              <a:t>project</a:t>
            </a:r>
            <a:r>
              <a:rPr sz="1200" spc="75" dirty="0">
                <a:latin typeface="Times New Roman"/>
                <a:cs typeface="Times New Roman"/>
              </a:rPr>
              <a:t> </a:t>
            </a:r>
            <a:r>
              <a:rPr sz="1200" dirty="0">
                <a:latin typeface="Times New Roman"/>
                <a:cs typeface="Times New Roman"/>
              </a:rPr>
              <a:t>bridges</a:t>
            </a:r>
            <a:r>
              <a:rPr sz="1200" spc="75" dirty="0">
                <a:latin typeface="Times New Roman"/>
                <a:cs typeface="Times New Roman"/>
              </a:rPr>
              <a:t> </a:t>
            </a:r>
            <a:r>
              <a:rPr sz="1200" dirty="0">
                <a:latin typeface="Times New Roman"/>
                <a:cs typeface="Times New Roman"/>
              </a:rPr>
              <a:t>these</a:t>
            </a:r>
            <a:r>
              <a:rPr sz="1200" spc="70" dirty="0">
                <a:latin typeface="Times New Roman"/>
                <a:cs typeface="Times New Roman"/>
              </a:rPr>
              <a:t> </a:t>
            </a:r>
            <a:r>
              <a:rPr sz="1200" dirty="0">
                <a:latin typeface="Times New Roman"/>
                <a:cs typeface="Times New Roman"/>
              </a:rPr>
              <a:t>gaps</a:t>
            </a:r>
            <a:r>
              <a:rPr sz="1200" spc="75"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developing</a:t>
            </a:r>
            <a:r>
              <a:rPr sz="1200" spc="75" dirty="0">
                <a:latin typeface="Times New Roman"/>
                <a:cs typeface="Times New Roman"/>
              </a:rPr>
              <a:t> </a:t>
            </a:r>
            <a:r>
              <a:rPr sz="1200" dirty="0">
                <a:latin typeface="Times New Roman"/>
                <a:cs typeface="Times New Roman"/>
              </a:rPr>
              <a:t>an</a:t>
            </a:r>
            <a:r>
              <a:rPr sz="1200" spc="75" dirty="0">
                <a:latin typeface="Times New Roman"/>
                <a:cs typeface="Times New Roman"/>
              </a:rPr>
              <a:t> </a:t>
            </a:r>
            <a:r>
              <a:rPr sz="1200" dirty="0">
                <a:latin typeface="Times New Roman"/>
                <a:cs typeface="Times New Roman"/>
              </a:rPr>
              <a:t>intelligent,</a:t>
            </a:r>
            <a:r>
              <a:rPr sz="1200" spc="75" dirty="0">
                <a:latin typeface="Times New Roman"/>
                <a:cs typeface="Times New Roman"/>
              </a:rPr>
              <a:t> </a:t>
            </a:r>
            <a:r>
              <a:rPr sz="1200" spc="-10" dirty="0">
                <a:latin typeface="Times New Roman"/>
                <a:cs typeface="Times New Roman"/>
              </a:rPr>
              <a:t>automated </a:t>
            </a:r>
            <a:r>
              <a:rPr sz="1200" dirty="0">
                <a:latin typeface="Times New Roman"/>
                <a:cs typeface="Times New Roman"/>
              </a:rPr>
              <a:t>auction</a:t>
            </a:r>
            <a:r>
              <a:rPr sz="1200" spc="250" dirty="0">
                <a:latin typeface="Times New Roman"/>
                <a:cs typeface="Times New Roman"/>
              </a:rPr>
              <a:t> </a:t>
            </a:r>
            <a:r>
              <a:rPr sz="1200" dirty="0">
                <a:latin typeface="Times New Roman"/>
                <a:cs typeface="Times New Roman"/>
              </a:rPr>
              <a:t>system</a:t>
            </a:r>
            <a:r>
              <a:rPr sz="1200" spc="254" dirty="0">
                <a:latin typeface="Times New Roman"/>
                <a:cs typeface="Times New Roman"/>
              </a:rPr>
              <a:t> </a:t>
            </a:r>
            <a:r>
              <a:rPr sz="1200" dirty="0">
                <a:latin typeface="Times New Roman"/>
                <a:cs typeface="Times New Roman"/>
              </a:rPr>
              <a:t>powered</a:t>
            </a:r>
            <a:r>
              <a:rPr sz="1200" spc="260" dirty="0">
                <a:latin typeface="Times New Roman"/>
                <a:cs typeface="Times New Roman"/>
              </a:rPr>
              <a:t> </a:t>
            </a:r>
            <a:r>
              <a:rPr sz="1200" dirty="0">
                <a:latin typeface="Times New Roman"/>
                <a:cs typeface="Times New Roman"/>
              </a:rPr>
              <a:t>by</a:t>
            </a:r>
            <a:r>
              <a:rPr sz="1200" spc="25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0" dirty="0">
                <a:latin typeface="Times New Roman"/>
                <a:cs typeface="Times New Roman"/>
              </a:rPr>
              <a:t> </a:t>
            </a:r>
            <a:r>
              <a:rPr sz="1200" dirty="0">
                <a:latin typeface="Times New Roman"/>
                <a:cs typeface="Times New Roman"/>
              </a:rPr>
              <a:t>WebSocket</a:t>
            </a:r>
            <a:r>
              <a:rPr sz="1200" spc="250" dirty="0">
                <a:latin typeface="Times New Roman"/>
                <a:cs typeface="Times New Roman"/>
              </a:rPr>
              <a:t> </a:t>
            </a:r>
            <a:r>
              <a:rPr sz="1200" dirty="0">
                <a:latin typeface="Times New Roman"/>
                <a:cs typeface="Times New Roman"/>
              </a:rPr>
              <a:t>communication</a:t>
            </a:r>
            <a:r>
              <a:rPr sz="1200" spc="254" dirty="0">
                <a:latin typeface="Times New Roman"/>
                <a:cs typeface="Times New Roman"/>
              </a:rPr>
              <a:t> </a:t>
            </a:r>
            <a:r>
              <a:rPr sz="1200" dirty="0">
                <a:latin typeface="Times New Roman"/>
                <a:cs typeface="Times New Roman"/>
              </a:rPr>
              <a:t>and</a:t>
            </a:r>
            <a:r>
              <a:rPr sz="1200" spc="250"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254" dirty="0">
                <a:latin typeface="Times New Roman"/>
                <a:cs typeface="Times New Roman"/>
              </a:rPr>
              <a:t> </a:t>
            </a:r>
            <a:r>
              <a:rPr sz="1200" spc="-10" dirty="0">
                <a:latin typeface="Times New Roman"/>
                <a:cs typeface="Times New Roman"/>
              </a:rPr>
              <a:t>pricing models.</a:t>
            </a:r>
            <a:endParaRPr sz="1200">
              <a:latin typeface="Times New Roman"/>
              <a:cs typeface="Times New Roman"/>
            </a:endParaRPr>
          </a:p>
          <a:p>
            <a:pPr>
              <a:lnSpc>
                <a:spcPct val="100000"/>
              </a:lnSpc>
              <a:spcBef>
                <a:spcPts val="20"/>
              </a:spcBef>
            </a:pPr>
            <a:endParaRPr sz="1200">
              <a:latin typeface="Times New Roman"/>
              <a:cs typeface="Times New Roman"/>
            </a:endParaRPr>
          </a:p>
          <a:p>
            <a:pPr marL="12700" marR="5080" algn="just">
              <a:lnSpc>
                <a:spcPct val="143700"/>
              </a:lnSpc>
              <a:spcBef>
                <a:spcPts val="5"/>
              </a:spcBef>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platform</a:t>
            </a:r>
            <a:r>
              <a:rPr sz="1200" spc="-30"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bidding</a:t>
            </a:r>
            <a:r>
              <a:rPr sz="1200" spc="-30" dirty="0">
                <a:latin typeface="Times New Roman"/>
                <a:cs typeface="Times New Roman"/>
              </a:rPr>
              <a:t> </a:t>
            </a:r>
            <a:r>
              <a:rPr sz="1200" spc="-10" dirty="0">
                <a:latin typeface="Times New Roman"/>
                <a:cs typeface="Times New Roman"/>
              </a:rPr>
              <a:t>synchronization,</a:t>
            </a:r>
            <a:r>
              <a:rPr sz="1200" spc="-30" dirty="0">
                <a:latin typeface="Times New Roman"/>
                <a:cs typeface="Times New Roman"/>
              </a:rPr>
              <a:t> </a:t>
            </a:r>
            <a:r>
              <a:rPr sz="1200" dirty="0">
                <a:latin typeface="Times New Roman"/>
                <a:cs typeface="Times New Roman"/>
              </a:rPr>
              <a:t>ensuring</a:t>
            </a:r>
            <a:r>
              <a:rPr sz="1200" spc="-30"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participants</a:t>
            </a:r>
            <a:r>
              <a:rPr sz="1200" spc="-30" dirty="0">
                <a:latin typeface="Times New Roman"/>
                <a:cs typeface="Times New Roman"/>
              </a:rPr>
              <a:t> </a:t>
            </a:r>
            <a:r>
              <a:rPr sz="1200" spc="-10" dirty="0">
                <a:latin typeface="Times New Roman"/>
                <a:cs typeface="Times New Roman"/>
              </a:rPr>
              <a:t>receive </a:t>
            </a:r>
            <a:r>
              <a:rPr sz="1200" dirty="0">
                <a:latin typeface="Times New Roman"/>
                <a:cs typeface="Times New Roman"/>
              </a:rPr>
              <a:t>instant</a:t>
            </a:r>
            <a:r>
              <a:rPr sz="1200" spc="-10" dirty="0">
                <a:latin typeface="Times New Roman"/>
                <a:cs typeface="Times New Roman"/>
              </a:rPr>
              <a:t> </a:t>
            </a:r>
            <a:r>
              <a:rPr sz="1200" dirty="0">
                <a:latin typeface="Times New Roman"/>
                <a:cs typeface="Times New Roman"/>
              </a:rPr>
              <a:t>bid</a:t>
            </a:r>
            <a:r>
              <a:rPr sz="1200" spc="-10" dirty="0">
                <a:latin typeface="Times New Roman"/>
                <a:cs typeface="Times New Roman"/>
              </a:rPr>
              <a:t> </a:t>
            </a:r>
            <a:r>
              <a:rPr sz="1200" dirty="0">
                <a:latin typeface="Times New Roman"/>
                <a:cs typeface="Times New Roman"/>
              </a:rPr>
              <a:t>updates</a:t>
            </a:r>
            <a:r>
              <a:rPr sz="1200" spc="-10" dirty="0">
                <a:latin typeface="Times New Roman"/>
                <a:cs typeface="Times New Roman"/>
              </a:rPr>
              <a:t> </a:t>
            </a:r>
            <a:r>
              <a:rPr sz="1200" dirty="0">
                <a:latin typeface="Times New Roman"/>
                <a:cs typeface="Times New Roman"/>
              </a:rPr>
              <a:t>without</a:t>
            </a:r>
            <a:r>
              <a:rPr sz="1200" spc="-10" dirty="0">
                <a:latin typeface="Times New Roman"/>
                <a:cs typeface="Times New Roman"/>
              </a:rPr>
              <a:t> </a:t>
            </a:r>
            <a:r>
              <a:rPr sz="1200" dirty="0">
                <a:latin typeface="Times New Roman"/>
                <a:cs typeface="Times New Roman"/>
              </a:rPr>
              <a:t>delays.</a:t>
            </a:r>
            <a:r>
              <a:rPr sz="1200" spc="-10"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employing</a:t>
            </a:r>
            <a:r>
              <a:rPr sz="1200" spc="-5" dirty="0">
                <a:latin typeface="Times New Roman"/>
                <a:cs typeface="Times New Roman"/>
              </a:rPr>
              <a:t> </a:t>
            </a:r>
            <a:r>
              <a:rPr sz="1200" dirty="0">
                <a:latin typeface="Times New Roman"/>
                <a:cs typeface="Times New Roman"/>
              </a:rPr>
              <a:t>machine</a:t>
            </a:r>
            <a:r>
              <a:rPr sz="1200" spc="-15" dirty="0">
                <a:latin typeface="Times New Roman"/>
                <a:cs typeface="Times New Roman"/>
              </a:rPr>
              <a:t> </a:t>
            </a:r>
            <a:r>
              <a:rPr sz="1200" dirty="0">
                <a:latin typeface="Times New Roman"/>
                <a:cs typeface="Times New Roman"/>
              </a:rPr>
              <a:t>learning</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predictive</a:t>
            </a:r>
            <a:r>
              <a:rPr sz="1200" spc="-10" dirty="0">
                <a:latin typeface="Times New Roman"/>
                <a:cs typeface="Times New Roman"/>
              </a:rPr>
              <a:t> analytics,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Abode</a:t>
            </a:r>
            <a:r>
              <a:rPr sz="1200" spc="15"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intelligent</a:t>
            </a:r>
            <a:r>
              <a:rPr sz="1200" spc="25" dirty="0">
                <a:latin typeface="Times New Roman"/>
                <a:cs typeface="Times New Roman"/>
              </a:rPr>
              <a:t> </a:t>
            </a:r>
            <a:r>
              <a:rPr sz="1200" dirty="0">
                <a:latin typeface="Times New Roman"/>
                <a:cs typeface="Times New Roman"/>
              </a:rPr>
              <a:t>price</a:t>
            </a:r>
            <a:r>
              <a:rPr sz="1200" spc="20" dirty="0">
                <a:latin typeface="Times New Roman"/>
                <a:cs typeface="Times New Roman"/>
              </a:rPr>
              <a:t> </a:t>
            </a:r>
            <a:r>
              <a:rPr sz="1200" dirty="0">
                <a:latin typeface="Times New Roman"/>
                <a:cs typeface="Times New Roman"/>
              </a:rPr>
              <a:t>recommendations</a:t>
            </a:r>
            <a:r>
              <a:rPr sz="1200" spc="25"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historical</a:t>
            </a:r>
            <a:r>
              <a:rPr sz="1200" spc="25"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20" dirty="0">
                <a:latin typeface="Times New Roman"/>
                <a:cs typeface="Times New Roman"/>
              </a:rPr>
              <a:t>data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market</a:t>
            </a:r>
            <a:r>
              <a:rPr sz="1200" spc="-45" dirty="0">
                <a:latin typeface="Times New Roman"/>
                <a:cs typeface="Times New Roman"/>
              </a:rPr>
              <a:t> </a:t>
            </a:r>
            <a:r>
              <a:rPr sz="1200" dirty="0">
                <a:latin typeface="Times New Roman"/>
                <a:cs typeface="Times New Roman"/>
              </a:rPr>
              <a:t>trends,</a:t>
            </a:r>
            <a:r>
              <a:rPr sz="1200" spc="-45" dirty="0">
                <a:latin typeface="Times New Roman"/>
                <a:cs typeface="Times New Roman"/>
              </a:rPr>
              <a:t> </a:t>
            </a:r>
            <a:r>
              <a:rPr sz="1200" dirty="0">
                <a:latin typeface="Times New Roman"/>
                <a:cs typeface="Times New Roman"/>
              </a:rPr>
              <a:t>helping</a:t>
            </a:r>
            <a:r>
              <a:rPr sz="1200" spc="-45" dirty="0">
                <a:latin typeface="Times New Roman"/>
                <a:cs typeface="Times New Roman"/>
              </a:rPr>
              <a:t> </a:t>
            </a:r>
            <a:r>
              <a:rPr sz="1200" spc="-10" dirty="0">
                <a:latin typeface="Times New Roman"/>
                <a:cs typeface="Times New Roman"/>
              </a:rPr>
              <a:t>users</a:t>
            </a:r>
            <a:r>
              <a:rPr sz="1200" spc="-50" dirty="0">
                <a:latin typeface="Times New Roman"/>
                <a:cs typeface="Times New Roman"/>
              </a:rPr>
              <a:t> </a:t>
            </a:r>
            <a:r>
              <a:rPr sz="1200" spc="-10" dirty="0">
                <a:latin typeface="Times New Roman"/>
                <a:cs typeface="Times New Roman"/>
              </a:rPr>
              <a:t>make</a:t>
            </a:r>
            <a:r>
              <a:rPr sz="1200" spc="-50" dirty="0">
                <a:latin typeface="Times New Roman"/>
                <a:cs typeface="Times New Roman"/>
              </a:rPr>
              <a:t> </a:t>
            </a:r>
            <a:r>
              <a:rPr sz="1200" spc="-10" dirty="0">
                <a:latin typeface="Times New Roman"/>
                <a:cs typeface="Times New Roman"/>
              </a:rPr>
              <a:t>data-</a:t>
            </a:r>
            <a:r>
              <a:rPr sz="1200" dirty="0">
                <a:latin typeface="Times New Roman"/>
                <a:cs typeface="Times New Roman"/>
              </a:rPr>
              <a:t>driven</a:t>
            </a:r>
            <a:r>
              <a:rPr sz="1200" spc="-45" dirty="0">
                <a:latin typeface="Times New Roman"/>
                <a:cs typeface="Times New Roman"/>
              </a:rPr>
              <a:t> </a:t>
            </a:r>
            <a:r>
              <a:rPr sz="1200" dirty="0">
                <a:latin typeface="Times New Roman"/>
                <a:cs typeface="Times New Roman"/>
              </a:rPr>
              <a:t>bidding</a:t>
            </a:r>
            <a:r>
              <a:rPr sz="1200" spc="-45" dirty="0">
                <a:latin typeface="Times New Roman"/>
                <a:cs typeface="Times New Roman"/>
              </a:rPr>
              <a:t> </a:t>
            </a:r>
            <a:r>
              <a:rPr sz="1200" spc="-10" dirty="0">
                <a:latin typeface="Times New Roman"/>
                <a:cs typeface="Times New Roman"/>
              </a:rPr>
              <a:t>decisions.</a:t>
            </a:r>
            <a:r>
              <a:rPr sz="1200" spc="-45" dirty="0">
                <a:latin typeface="Times New Roman"/>
                <a:cs typeface="Times New Roman"/>
              </a:rPr>
              <a:t> </a:t>
            </a:r>
            <a:r>
              <a:rPr sz="1200" spc="-10" dirty="0">
                <a:latin typeface="Times New Roman"/>
                <a:cs typeface="Times New Roman"/>
              </a:rPr>
              <a:t>Furthermore,</a:t>
            </a:r>
            <a:r>
              <a:rPr sz="1200" spc="-45" dirty="0">
                <a:latin typeface="Times New Roman"/>
                <a:cs typeface="Times New Roman"/>
              </a:rPr>
              <a:t> </a:t>
            </a:r>
            <a:r>
              <a:rPr sz="1200" spc="-10" dirty="0">
                <a:latin typeface="Times New Roman"/>
                <a:cs typeface="Times New Roman"/>
              </a:rPr>
              <a:t>automated </a:t>
            </a:r>
            <a:r>
              <a:rPr sz="1200" dirty="0">
                <a:latin typeface="Times New Roman"/>
                <a:cs typeface="Times New Roman"/>
              </a:rPr>
              <a:t>fraud</a:t>
            </a:r>
            <a:r>
              <a:rPr sz="1200" spc="295" dirty="0">
                <a:latin typeface="Times New Roman"/>
                <a:cs typeface="Times New Roman"/>
              </a:rPr>
              <a:t> </a:t>
            </a:r>
            <a:r>
              <a:rPr sz="1200" dirty="0">
                <a:latin typeface="Times New Roman"/>
                <a:cs typeface="Times New Roman"/>
              </a:rPr>
              <a:t>detection</a:t>
            </a:r>
            <a:r>
              <a:rPr sz="1200" spc="290" dirty="0">
                <a:latin typeface="Times New Roman"/>
                <a:cs typeface="Times New Roman"/>
              </a:rPr>
              <a:t> </a:t>
            </a:r>
            <a:r>
              <a:rPr sz="1200" dirty="0">
                <a:latin typeface="Times New Roman"/>
                <a:cs typeface="Times New Roman"/>
              </a:rPr>
              <a:t>mechanisms,</a:t>
            </a:r>
            <a:r>
              <a:rPr sz="1200" spc="295" dirty="0">
                <a:latin typeface="Times New Roman"/>
                <a:cs typeface="Times New Roman"/>
              </a:rPr>
              <a:t> </a:t>
            </a:r>
            <a:r>
              <a:rPr sz="1200" dirty="0">
                <a:latin typeface="Times New Roman"/>
                <a:cs typeface="Times New Roman"/>
              </a:rPr>
              <a:t>incorporating</a:t>
            </a:r>
            <a:r>
              <a:rPr sz="1200" spc="295" dirty="0">
                <a:latin typeface="Times New Roman"/>
                <a:cs typeface="Times New Roman"/>
              </a:rPr>
              <a:t> </a:t>
            </a:r>
            <a:r>
              <a:rPr sz="1200" dirty="0">
                <a:latin typeface="Times New Roman"/>
                <a:cs typeface="Times New Roman"/>
              </a:rPr>
              <a:t>natural</a:t>
            </a:r>
            <a:r>
              <a:rPr sz="1200" spc="300" dirty="0">
                <a:latin typeface="Times New Roman"/>
                <a:cs typeface="Times New Roman"/>
              </a:rPr>
              <a:t> </a:t>
            </a:r>
            <a:r>
              <a:rPr sz="1200" dirty="0">
                <a:latin typeface="Times New Roman"/>
                <a:cs typeface="Times New Roman"/>
              </a:rPr>
              <a:t>language</a:t>
            </a:r>
            <a:r>
              <a:rPr sz="1200" spc="295" dirty="0">
                <a:latin typeface="Times New Roman"/>
                <a:cs typeface="Times New Roman"/>
              </a:rPr>
              <a:t> </a:t>
            </a:r>
            <a:r>
              <a:rPr sz="1200" dirty="0">
                <a:latin typeface="Times New Roman"/>
                <a:cs typeface="Times New Roman"/>
              </a:rPr>
              <a:t>processing</a:t>
            </a:r>
            <a:r>
              <a:rPr sz="1200" spc="310" dirty="0">
                <a:latin typeface="Times New Roman"/>
                <a:cs typeface="Times New Roman"/>
              </a:rPr>
              <a:t> </a:t>
            </a:r>
            <a:r>
              <a:rPr sz="1200" dirty="0">
                <a:latin typeface="Times New Roman"/>
                <a:cs typeface="Times New Roman"/>
              </a:rPr>
              <a:t>(NLP)</a:t>
            </a:r>
            <a:r>
              <a:rPr sz="1200" spc="295" dirty="0">
                <a:latin typeface="Times New Roman"/>
                <a:cs typeface="Times New Roman"/>
              </a:rPr>
              <a:t> </a:t>
            </a:r>
            <a:r>
              <a:rPr sz="1200" dirty="0">
                <a:latin typeface="Times New Roman"/>
                <a:cs typeface="Times New Roman"/>
              </a:rPr>
              <a:t>and</a:t>
            </a:r>
            <a:r>
              <a:rPr sz="1200" spc="310" dirty="0">
                <a:latin typeface="Times New Roman"/>
                <a:cs typeface="Times New Roman"/>
              </a:rPr>
              <a:t> </a:t>
            </a:r>
            <a:r>
              <a:rPr sz="1200" spc="-25" dirty="0">
                <a:latin typeface="Times New Roman"/>
                <a:cs typeface="Times New Roman"/>
              </a:rPr>
              <a:t>AI- </a:t>
            </a:r>
            <a:r>
              <a:rPr sz="1200" spc="-10" dirty="0">
                <a:latin typeface="Times New Roman"/>
                <a:cs typeface="Times New Roman"/>
              </a:rPr>
              <a:t>powered</a:t>
            </a:r>
            <a:r>
              <a:rPr sz="1200" spc="-40" dirty="0">
                <a:latin typeface="Times New Roman"/>
                <a:cs typeface="Times New Roman"/>
              </a:rPr>
              <a:t> </a:t>
            </a:r>
            <a:r>
              <a:rPr sz="1200" spc="-10" dirty="0">
                <a:latin typeface="Times New Roman"/>
                <a:cs typeface="Times New Roman"/>
              </a:rPr>
              <a:t>verification,</a:t>
            </a:r>
            <a:r>
              <a:rPr sz="1200" spc="-40" dirty="0">
                <a:latin typeface="Times New Roman"/>
                <a:cs typeface="Times New Roman"/>
              </a:rPr>
              <a:t> </a:t>
            </a:r>
            <a:r>
              <a:rPr sz="1200" spc="-10" dirty="0">
                <a:latin typeface="Times New Roman"/>
                <a:cs typeface="Times New Roman"/>
              </a:rPr>
              <a:t>safeguard</a:t>
            </a:r>
            <a:r>
              <a:rPr sz="1200" spc="-40" dirty="0">
                <a:latin typeface="Times New Roman"/>
                <a:cs typeface="Times New Roman"/>
              </a:rPr>
              <a:t> </a:t>
            </a:r>
            <a:r>
              <a:rPr sz="1200" spc="-10" dirty="0">
                <a:latin typeface="Times New Roman"/>
                <a:cs typeface="Times New Roman"/>
              </a:rPr>
              <a:t>users</a:t>
            </a:r>
            <a:r>
              <a:rPr sz="1200" spc="-40" dirty="0">
                <a:latin typeface="Times New Roman"/>
                <a:cs typeface="Times New Roman"/>
              </a:rPr>
              <a:t> </a:t>
            </a:r>
            <a:r>
              <a:rPr sz="1200" spc="-10" dirty="0">
                <a:latin typeface="Times New Roman"/>
                <a:cs typeface="Times New Roman"/>
              </a:rPr>
              <a:t>against</a:t>
            </a:r>
            <a:r>
              <a:rPr sz="1200" spc="-30" dirty="0">
                <a:latin typeface="Times New Roman"/>
                <a:cs typeface="Times New Roman"/>
              </a:rPr>
              <a:t> </a:t>
            </a:r>
            <a:r>
              <a:rPr sz="1200" spc="-10" dirty="0">
                <a:latin typeface="Times New Roman"/>
                <a:cs typeface="Times New Roman"/>
              </a:rPr>
              <a:t>deceptive</a:t>
            </a:r>
            <a:r>
              <a:rPr sz="1200" spc="-45" dirty="0">
                <a:latin typeface="Times New Roman"/>
                <a:cs typeface="Times New Roman"/>
              </a:rPr>
              <a:t> </a:t>
            </a:r>
            <a:r>
              <a:rPr sz="1200" spc="-10" dirty="0">
                <a:latin typeface="Times New Roman"/>
                <a:cs typeface="Times New Roman"/>
              </a:rPr>
              <a:t>property</a:t>
            </a:r>
            <a:r>
              <a:rPr sz="1200" spc="-35" dirty="0">
                <a:latin typeface="Times New Roman"/>
                <a:cs typeface="Times New Roman"/>
              </a:rPr>
              <a:t> </a:t>
            </a:r>
            <a:r>
              <a:rPr sz="1200" spc="-10" dirty="0">
                <a:latin typeface="Times New Roman"/>
                <a:cs typeface="Times New Roman"/>
              </a:rPr>
              <a:t>listings</a:t>
            </a:r>
            <a:r>
              <a:rPr sz="1200" spc="-40" dirty="0">
                <a:latin typeface="Times New Roman"/>
                <a:cs typeface="Times New Roman"/>
              </a:rPr>
              <a:t> </a:t>
            </a:r>
            <a:r>
              <a:rPr sz="1200" spc="-10" dirty="0">
                <a:latin typeface="Times New Roman"/>
                <a:cs typeface="Times New Roman"/>
              </a:rPr>
              <a:t>and</a:t>
            </a:r>
            <a:r>
              <a:rPr sz="1200" spc="-40" dirty="0">
                <a:latin typeface="Times New Roman"/>
                <a:cs typeface="Times New Roman"/>
              </a:rPr>
              <a:t> </a:t>
            </a:r>
            <a:r>
              <a:rPr sz="1200" spc="-10" dirty="0">
                <a:latin typeface="Times New Roman"/>
                <a:cs typeface="Times New Roman"/>
              </a:rPr>
              <a:t>tampered</a:t>
            </a:r>
            <a:r>
              <a:rPr sz="1200" spc="-20" dirty="0">
                <a:latin typeface="Times New Roman"/>
                <a:cs typeface="Times New Roman"/>
              </a:rPr>
              <a:t> </a:t>
            </a:r>
            <a:r>
              <a:rPr sz="1200" spc="-10" dirty="0">
                <a:latin typeface="Times New Roman"/>
                <a:cs typeface="Times New Roman"/>
              </a:rPr>
              <a:t>auction data.</a:t>
            </a:r>
            <a:endParaRPr sz="1200">
              <a:latin typeface="Times New Roman"/>
              <a:cs typeface="Times New Roman"/>
            </a:endParaRPr>
          </a:p>
          <a:p>
            <a:pPr>
              <a:lnSpc>
                <a:spcPct val="100000"/>
              </a:lnSpc>
              <a:spcBef>
                <a:spcPts val="15"/>
              </a:spcBef>
            </a:pPr>
            <a:endParaRPr sz="1200">
              <a:latin typeface="Times New Roman"/>
              <a:cs typeface="Times New Roman"/>
            </a:endParaRPr>
          </a:p>
          <a:p>
            <a:pPr marL="12700" marR="6350" algn="just">
              <a:lnSpc>
                <a:spcPct val="143900"/>
              </a:lnSpc>
            </a:pP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key</a:t>
            </a:r>
            <a:r>
              <a:rPr sz="1200" spc="105" dirty="0">
                <a:latin typeface="Times New Roman"/>
                <a:cs typeface="Times New Roman"/>
              </a:rPr>
              <a:t> </a:t>
            </a:r>
            <a:r>
              <a:rPr sz="1200" dirty="0">
                <a:latin typeface="Times New Roman"/>
                <a:cs typeface="Times New Roman"/>
              </a:rPr>
              <a:t>strength</a:t>
            </a:r>
            <a:r>
              <a:rPr sz="1200" spc="114" dirty="0">
                <a:latin typeface="Times New Roman"/>
                <a:cs typeface="Times New Roman"/>
              </a:rPr>
              <a:t> </a:t>
            </a:r>
            <a:r>
              <a:rPr sz="1200" dirty="0">
                <a:latin typeface="Times New Roman"/>
                <a:cs typeface="Times New Roman"/>
              </a:rPr>
              <a:t>of</a:t>
            </a:r>
            <a:r>
              <a:rPr sz="1200" spc="100" dirty="0">
                <a:latin typeface="Times New Roman"/>
                <a:cs typeface="Times New Roman"/>
              </a:rPr>
              <a:t> </a:t>
            </a:r>
            <a:r>
              <a:rPr sz="1200" dirty="0">
                <a:latin typeface="Times New Roman"/>
                <a:cs typeface="Times New Roman"/>
              </a:rPr>
              <a:t>this</a:t>
            </a:r>
            <a:r>
              <a:rPr sz="1200" spc="105" dirty="0">
                <a:latin typeface="Times New Roman"/>
                <a:cs typeface="Times New Roman"/>
              </a:rPr>
              <a:t> </a:t>
            </a:r>
            <a:r>
              <a:rPr sz="1200" dirty="0">
                <a:latin typeface="Times New Roman"/>
                <a:cs typeface="Times New Roman"/>
              </a:rPr>
              <a:t>project</a:t>
            </a:r>
            <a:r>
              <a:rPr sz="1200" spc="114" dirty="0">
                <a:latin typeface="Times New Roman"/>
                <a:cs typeface="Times New Roman"/>
              </a:rPr>
              <a:t> </a:t>
            </a:r>
            <a:r>
              <a:rPr sz="1200" dirty="0">
                <a:latin typeface="Times New Roman"/>
                <a:cs typeface="Times New Roman"/>
              </a:rPr>
              <a:t>is</a:t>
            </a:r>
            <a:r>
              <a:rPr sz="1200" spc="110" dirty="0">
                <a:latin typeface="Times New Roman"/>
                <a:cs typeface="Times New Roman"/>
              </a:rPr>
              <a:t> </a:t>
            </a:r>
            <a:r>
              <a:rPr sz="1200" dirty="0">
                <a:latin typeface="Times New Roman"/>
                <a:cs typeface="Times New Roman"/>
              </a:rPr>
              <a:t>its</a:t>
            </a:r>
            <a:r>
              <a:rPr sz="1200" spc="105" dirty="0">
                <a:latin typeface="Times New Roman"/>
                <a:cs typeface="Times New Roman"/>
              </a:rPr>
              <a:t> </a:t>
            </a:r>
            <a:r>
              <a:rPr sz="1200" dirty="0">
                <a:latin typeface="Times New Roman"/>
                <a:cs typeface="Times New Roman"/>
              </a:rPr>
              <a:t>interdisciplinary</a:t>
            </a:r>
            <a:r>
              <a:rPr sz="1200" spc="105" dirty="0">
                <a:latin typeface="Times New Roman"/>
                <a:cs typeface="Times New Roman"/>
              </a:rPr>
              <a:t> </a:t>
            </a:r>
            <a:r>
              <a:rPr sz="1200" dirty="0">
                <a:latin typeface="Times New Roman"/>
                <a:cs typeface="Times New Roman"/>
              </a:rPr>
              <a:t>approach,</a:t>
            </a:r>
            <a:r>
              <a:rPr sz="1200" spc="105" dirty="0">
                <a:latin typeface="Times New Roman"/>
                <a:cs typeface="Times New Roman"/>
              </a:rPr>
              <a:t> </a:t>
            </a:r>
            <a:r>
              <a:rPr sz="1200" dirty="0">
                <a:latin typeface="Times New Roman"/>
                <a:cs typeface="Times New Roman"/>
              </a:rPr>
              <a:t>bringing</a:t>
            </a:r>
            <a:r>
              <a:rPr sz="1200" spc="105" dirty="0">
                <a:latin typeface="Times New Roman"/>
                <a:cs typeface="Times New Roman"/>
              </a:rPr>
              <a:t> </a:t>
            </a:r>
            <a:r>
              <a:rPr sz="1200" dirty="0">
                <a:latin typeface="Times New Roman"/>
                <a:cs typeface="Times New Roman"/>
              </a:rPr>
              <a:t>together</a:t>
            </a:r>
            <a:r>
              <a:rPr sz="1200" spc="105" dirty="0">
                <a:latin typeface="Times New Roman"/>
                <a:cs typeface="Times New Roman"/>
              </a:rPr>
              <a:t> </a:t>
            </a:r>
            <a:r>
              <a:rPr sz="1200" spc="-10" dirty="0">
                <a:latin typeface="Times New Roman"/>
                <a:cs typeface="Times New Roman"/>
              </a:rPr>
              <a:t>expertise </a:t>
            </a:r>
            <a:r>
              <a:rPr sz="1200" dirty="0">
                <a:latin typeface="Times New Roman"/>
                <a:cs typeface="Times New Roman"/>
              </a:rPr>
              <a:t>from</a:t>
            </a:r>
            <a:r>
              <a:rPr sz="1200" spc="-35" dirty="0">
                <a:latin typeface="Times New Roman"/>
                <a:cs typeface="Times New Roman"/>
              </a:rPr>
              <a:t> </a:t>
            </a:r>
            <a:r>
              <a:rPr sz="1200" dirty="0">
                <a:latin typeface="Times New Roman"/>
                <a:cs typeface="Times New Roman"/>
              </a:rPr>
              <a:t>real</a:t>
            </a:r>
            <a:r>
              <a:rPr sz="1200" spc="-35" dirty="0">
                <a:latin typeface="Times New Roman"/>
                <a:cs typeface="Times New Roman"/>
              </a:rPr>
              <a:t> </a:t>
            </a:r>
            <a:r>
              <a:rPr sz="1200" dirty="0">
                <a:latin typeface="Times New Roman"/>
                <a:cs typeface="Times New Roman"/>
              </a:rPr>
              <a:t>estate</a:t>
            </a:r>
            <a:r>
              <a:rPr sz="1200" spc="-40" dirty="0">
                <a:latin typeface="Times New Roman"/>
                <a:cs typeface="Times New Roman"/>
              </a:rPr>
              <a:t> </a:t>
            </a:r>
            <a:r>
              <a:rPr sz="1200" dirty="0">
                <a:latin typeface="Times New Roman"/>
                <a:cs typeface="Times New Roman"/>
              </a:rPr>
              <a:t>professionals,</a:t>
            </a:r>
            <a:r>
              <a:rPr sz="1200" spc="-3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scientists,</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web</a:t>
            </a:r>
            <a:r>
              <a:rPr sz="1200" spc="-40" dirty="0">
                <a:latin typeface="Times New Roman"/>
                <a:cs typeface="Times New Roman"/>
              </a:rPr>
              <a:t> </a:t>
            </a:r>
            <a:r>
              <a:rPr sz="1200" dirty="0">
                <a:latin typeface="Times New Roman"/>
                <a:cs typeface="Times New Roman"/>
              </a:rPr>
              <a:t>developers.</a:t>
            </a:r>
            <a:r>
              <a:rPr sz="1200" spc="-3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collaboration</a:t>
            </a:r>
            <a:r>
              <a:rPr sz="1200" spc="-40" dirty="0">
                <a:latin typeface="Times New Roman"/>
                <a:cs typeface="Times New Roman"/>
              </a:rPr>
              <a:t> </a:t>
            </a:r>
            <a:r>
              <a:rPr sz="1200" spc="-10" dirty="0">
                <a:latin typeface="Times New Roman"/>
                <a:cs typeface="Times New Roman"/>
              </a:rPr>
              <a:t>ensures </a:t>
            </a:r>
            <a:r>
              <a:rPr sz="1200" dirty="0">
                <a:latin typeface="Times New Roman"/>
                <a:cs typeface="Times New Roman"/>
              </a:rPr>
              <a:t>that</a:t>
            </a:r>
            <a:r>
              <a:rPr sz="1200" spc="10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AI</a:t>
            </a:r>
            <a:r>
              <a:rPr sz="1200" spc="80" dirty="0">
                <a:latin typeface="Times New Roman"/>
                <a:cs typeface="Times New Roman"/>
              </a:rPr>
              <a:t> </a:t>
            </a:r>
            <a:r>
              <a:rPr sz="1200" dirty="0">
                <a:latin typeface="Times New Roman"/>
                <a:cs typeface="Times New Roman"/>
              </a:rPr>
              <a:t>models</a:t>
            </a:r>
            <a:r>
              <a:rPr sz="1200" spc="100"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dirty="0">
                <a:latin typeface="Times New Roman"/>
                <a:cs typeface="Times New Roman"/>
              </a:rPr>
              <a:t>bidding</a:t>
            </a:r>
            <a:r>
              <a:rPr sz="1200" spc="100" dirty="0">
                <a:latin typeface="Times New Roman"/>
                <a:cs typeface="Times New Roman"/>
              </a:rPr>
              <a:t> </a:t>
            </a:r>
            <a:r>
              <a:rPr sz="1200" dirty="0">
                <a:latin typeface="Times New Roman"/>
                <a:cs typeface="Times New Roman"/>
              </a:rPr>
              <a:t>mechanisms</a:t>
            </a:r>
            <a:r>
              <a:rPr sz="1200" spc="100" dirty="0">
                <a:latin typeface="Times New Roman"/>
                <a:cs typeface="Times New Roman"/>
              </a:rPr>
              <a:t> </a:t>
            </a:r>
            <a:r>
              <a:rPr sz="1200" dirty="0">
                <a:latin typeface="Times New Roman"/>
                <a:cs typeface="Times New Roman"/>
              </a:rPr>
              <a:t>are</a:t>
            </a:r>
            <a:r>
              <a:rPr sz="1200" spc="90" dirty="0">
                <a:latin typeface="Times New Roman"/>
                <a:cs typeface="Times New Roman"/>
              </a:rPr>
              <a:t> </a:t>
            </a:r>
            <a:r>
              <a:rPr sz="1200" dirty="0">
                <a:latin typeface="Times New Roman"/>
                <a:cs typeface="Times New Roman"/>
              </a:rPr>
              <a:t>both</a:t>
            </a:r>
            <a:r>
              <a:rPr sz="1200" spc="100" dirty="0">
                <a:latin typeface="Times New Roman"/>
                <a:cs typeface="Times New Roman"/>
              </a:rPr>
              <a:t> </a:t>
            </a:r>
            <a:r>
              <a:rPr sz="1200" dirty="0">
                <a:latin typeface="Times New Roman"/>
                <a:cs typeface="Times New Roman"/>
              </a:rPr>
              <a:t>technically</a:t>
            </a:r>
            <a:r>
              <a:rPr sz="1200" spc="100" dirty="0">
                <a:latin typeface="Times New Roman"/>
                <a:cs typeface="Times New Roman"/>
              </a:rPr>
              <a:t> </a:t>
            </a:r>
            <a:r>
              <a:rPr sz="1200" dirty="0">
                <a:latin typeface="Times New Roman"/>
                <a:cs typeface="Times New Roman"/>
              </a:rPr>
              <a:t>advanced</a:t>
            </a:r>
            <a:r>
              <a:rPr sz="1200" spc="100"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spc="-10" dirty="0">
                <a:latin typeface="Times New Roman"/>
                <a:cs typeface="Times New Roman"/>
              </a:rPr>
              <a:t>practically </a:t>
            </a:r>
            <a:r>
              <a:rPr sz="1200" dirty="0">
                <a:latin typeface="Times New Roman"/>
                <a:cs typeface="Times New Roman"/>
              </a:rPr>
              <a:t>relevant.</a:t>
            </a:r>
            <a:r>
              <a:rPr sz="1200" spc="195" dirty="0">
                <a:latin typeface="Times New Roman"/>
                <a:cs typeface="Times New Roman"/>
              </a:rPr>
              <a:t> </a:t>
            </a:r>
            <a:r>
              <a:rPr sz="1200" dirty="0">
                <a:latin typeface="Times New Roman"/>
                <a:cs typeface="Times New Roman"/>
              </a:rPr>
              <a:t>Additionally,</a:t>
            </a:r>
            <a:r>
              <a:rPr sz="1200" spc="190"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platform</a:t>
            </a:r>
            <a:r>
              <a:rPr sz="1200" spc="190" dirty="0">
                <a:latin typeface="Times New Roman"/>
                <a:cs typeface="Times New Roman"/>
              </a:rPr>
              <a:t> </a:t>
            </a:r>
            <a:r>
              <a:rPr sz="1200" dirty="0">
                <a:latin typeface="Times New Roman"/>
                <a:cs typeface="Times New Roman"/>
              </a:rPr>
              <a:t>adheres</a:t>
            </a:r>
            <a:r>
              <a:rPr sz="1200" spc="200" dirty="0">
                <a:latin typeface="Times New Roman"/>
                <a:cs typeface="Times New Roman"/>
              </a:rPr>
              <a:t> </a:t>
            </a:r>
            <a:r>
              <a:rPr sz="1200" dirty="0">
                <a:latin typeface="Times New Roman"/>
                <a:cs typeface="Times New Roman"/>
              </a:rPr>
              <a:t>to</a:t>
            </a:r>
            <a:r>
              <a:rPr sz="1200" spc="195" dirty="0">
                <a:latin typeface="Times New Roman"/>
                <a:cs typeface="Times New Roman"/>
              </a:rPr>
              <a:t> </a:t>
            </a:r>
            <a:r>
              <a:rPr sz="1200" dirty="0">
                <a:latin typeface="Times New Roman"/>
                <a:cs typeface="Times New Roman"/>
              </a:rPr>
              <a:t>strict</a:t>
            </a:r>
            <a:r>
              <a:rPr sz="1200" spc="195" dirty="0">
                <a:latin typeface="Times New Roman"/>
                <a:cs typeface="Times New Roman"/>
              </a:rPr>
              <a:t> </a:t>
            </a:r>
            <a:r>
              <a:rPr sz="1200" dirty="0">
                <a:latin typeface="Times New Roman"/>
                <a:cs typeface="Times New Roman"/>
              </a:rPr>
              <a:t>security</a:t>
            </a:r>
            <a:r>
              <a:rPr sz="1200" spc="195" dirty="0">
                <a:latin typeface="Times New Roman"/>
                <a:cs typeface="Times New Roman"/>
              </a:rPr>
              <a:t> </a:t>
            </a:r>
            <a:r>
              <a:rPr sz="1200" dirty="0">
                <a:latin typeface="Times New Roman"/>
                <a:cs typeface="Times New Roman"/>
              </a:rPr>
              <a:t>standards,</a:t>
            </a:r>
            <a:r>
              <a:rPr sz="1200" spc="195" dirty="0">
                <a:latin typeface="Times New Roman"/>
                <a:cs typeface="Times New Roman"/>
              </a:rPr>
              <a:t> </a:t>
            </a:r>
            <a:r>
              <a:rPr sz="1200" dirty="0">
                <a:latin typeface="Times New Roman"/>
                <a:cs typeface="Times New Roman"/>
              </a:rPr>
              <a:t>integrating</a:t>
            </a:r>
            <a:r>
              <a:rPr sz="1200" spc="190" dirty="0">
                <a:latin typeface="Times New Roman"/>
                <a:cs typeface="Times New Roman"/>
              </a:rPr>
              <a:t> </a:t>
            </a:r>
            <a:r>
              <a:rPr sz="1200" spc="-25" dirty="0">
                <a:latin typeface="Times New Roman"/>
                <a:cs typeface="Times New Roman"/>
              </a:rPr>
              <a:t>JWT </a:t>
            </a:r>
            <a:r>
              <a:rPr sz="1200" spc="-10" dirty="0">
                <a:latin typeface="Times New Roman"/>
                <a:cs typeface="Times New Roman"/>
              </a:rPr>
              <a:t>authentication,</a:t>
            </a:r>
            <a:r>
              <a:rPr sz="1200" spc="-20" dirty="0">
                <a:latin typeface="Times New Roman"/>
                <a:cs typeface="Times New Roman"/>
              </a:rPr>
              <a:t> </a:t>
            </a:r>
            <a:r>
              <a:rPr sz="1200" dirty="0">
                <a:latin typeface="Times New Roman"/>
                <a:cs typeface="Times New Roman"/>
              </a:rPr>
              <a:t>SSL</a:t>
            </a:r>
            <a:r>
              <a:rPr sz="1200" spc="-25" dirty="0">
                <a:latin typeface="Times New Roman"/>
                <a:cs typeface="Times New Roman"/>
              </a:rPr>
              <a:t> </a:t>
            </a:r>
            <a:r>
              <a:rPr sz="1200" dirty="0">
                <a:latin typeface="Times New Roman"/>
                <a:cs typeface="Times New Roman"/>
              </a:rPr>
              <a:t>encryption,</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compliance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property</a:t>
            </a:r>
            <a:r>
              <a:rPr sz="1200" spc="-20"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spc="-10" dirty="0">
                <a:latin typeface="Times New Roman"/>
                <a:cs typeface="Times New Roman"/>
              </a:rPr>
              <a:t>regulations,</a:t>
            </a:r>
            <a:r>
              <a:rPr sz="1200" spc="-15" dirty="0">
                <a:latin typeface="Times New Roman"/>
                <a:cs typeface="Times New Roman"/>
              </a:rPr>
              <a:t> </a:t>
            </a:r>
            <a:r>
              <a:rPr sz="1200" dirty="0">
                <a:latin typeface="Times New Roman"/>
                <a:cs typeface="Times New Roman"/>
              </a:rPr>
              <a:t>ensuring</a:t>
            </a:r>
            <a:r>
              <a:rPr sz="1200" spc="-20" dirty="0">
                <a:latin typeface="Times New Roman"/>
                <a:cs typeface="Times New Roman"/>
              </a:rPr>
              <a:t> </a:t>
            </a:r>
            <a:r>
              <a:rPr sz="1200" spc="-50" dirty="0">
                <a:latin typeface="Times New Roman"/>
                <a:cs typeface="Times New Roman"/>
              </a:rPr>
              <a:t>a </a:t>
            </a:r>
            <a:r>
              <a:rPr sz="1200" dirty="0">
                <a:latin typeface="Times New Roman"/>
                <a:cs typeface="Times New Roman"/>
              </a:rPr>
              <a:t>safe</a:t>
            </a:r>
            <a:r>
              <a:rPr sz="1200" spc="-3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trustworthy</a:t>
            </a:r>
            <a:r>
              <a:rPr sz="1200" spc="-20" dirty="0">
                <a:latin typeface="Times New Roman"/>
                <a:cs typeface="Times New Roman"/>
              </a:rPr>
              <a:t> </a:t>
            </a:r>
            <a:r>
              <a:rPr sz="1200" dirty="0">
                <a:latin typeface="Times New Roman"/>
                <a:cs typeface="Times New Roman"/>
              </a:rPr>
              <a:t>bidding</a:t>
            </a:r>
            <a:r>
              <a:rPr sz="1200" spc="-15" dirty="0">
                <a:latin typeface="Times New Roman"/>
                <a:cs typeface="Times New Roman"/>
              </a:rPr>
              <a:t> </a:t>
            </a:r>
            <a:r>
              <a:rPr sz="1200" spc="-10" dirty="0">
                <a:latin typeface="Times New Roman"/>
                <a:cs typeface="Times New Roman"/>
              </a:rPr>
              <a:t>environment.</a:t>
            </a:r>
            <a:endParaRPr sz="12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a:t>
            </a:r>
          </a:p>
        </p:txBody>
      </p:sp>
      <p:sp>
        <p:nvSpPr>
          <p:cNvPr id="2" name="object 2"/>
          <p:cNvSpPr txBox="1"/>
          <p:nvPr/>
        </p:nvSpPr>
        <p:spPr>
          <a:xfrm>
            <a:off x="1176324" y="812037"/>
            <a:ext cx="5697220" cy="7855484"/>
          </a:xfrm>
          <a:prstGeom prst="rect">
            <a:avLst/>
          </a:prstGeom>
        </p:spPr>
        <p:txBody>
          <a:bodyPr vert="horz" wrap="square" lIns="0" tIns="12065" rIns="0" bIns="0" rtlCol="0">
            <a:spAutoFit/>
          </a:bodyPr>
          <a:lstStyle/>
          <a:p>
            <a:pPr marL="12700" marR="6985" algn="just">
              <a:lnSpc>
                <a:spcPct val="143700"/>
              </a:lnSpc>
              <a:spcBef>
                <a:spcPts val="95"/>
              </a:spcBef>
            </a:pPr>
            <a:r>
              <a:rPr sz="1200" dirty="0">
                <a:latin typeface="Times New Roman"/>
                <a:cs typeface="Times New Roman"/>
              </a:rPr>
              <a:t>In</a:t>
            </a:r>
            <a:r>
              <a:rPr sz="1200" spc="165" dirty="0">
                <a:latin typeface="Times New Roman"/>
                <a:cs typeface="Times New Roman"/>
              </a:rPr>
              <a:t> </a:t>
            </a:r>
            <a:r>
              <a:rPr sz="1200" dirty="0">
                <a:latin typeface="Times New Roman"/>
                <a:cs typeface="Times New Roman"/>
              </a:rPr>
              <a:t>summary,</a:t>
            </a:r>
            <a:r>
              <a:rPr sz="1200" spc="160" dirty="0">
                <a:latin typeface="Times New Roman"/>
                <a:cs typeface="Times New Roman"/>
              </a:rPr>
              <a:t> </a:t>
            </a:r>
            <a:r>
              <a:rPr sz="1200" dirty="0">
                <a:latin typeface="Times New Roman"/>
                <a:cs typeface="Times New Roman"/>
              </a:rPr>
              <a:t>Auction</a:t>
            </a:r>
            <a:r>
              <a:rPr sz="1200" spc="170" dirty="0">
                <a:latin typeface="Times New Roman"/>
                <a:cs typeface="Times New Roman"/>
              </a:rPr>
              <a:t> </a:t>
            </a:r>
            <a:r>
              <a:rPr sz="1200" dirty="0">
                <a:latin typeface="Times New Roman"/>
                <a:cs typeface="Times New Roman"/>
              </a:rPr>
              <a:t>Abode</a:t>
            </a:r>
            <a:r>
              <a:rPr sz="1200" spc="160" dirty="0">
                <a:latin typeface="Times New Roman"/>
                <a:cs typeface="Times New Roman"/>
              </a:rPr>
              <a:t> </a:t>
            </a:r>
            <a:r>
              <a:rPr sz="1200" dirty="0">
                <a:latin typeface="Times New Roman"/>
                <a:cs typeface="Times New Roman"/>
              </a:rPr>
              <a:t>represents</a:t>
            </a:r>
            <a:r>
              <a:rPr sz="1200" spc="170" dirty="0">
                <a:latin typeface="Times New Roman"/>
                <a:cs typeface="Times New Roman"/>
              </a:rPr>
              <a:t> </a:t>
            </a:r>
            <a:r>
              <a:rPr sz="1200" dirty="0">
                <a:latin typeface="Times New Roman"/>
                <a:cs typeface="Times New Roman"/>
              </a:rPr>
              <a:t>a</a:t>
            </a:r>
            <a:r>
              <a:rPr sz="1200" spc="165" dirty="0">
                <a:latin typeface="Times New Roman"/>
                <a:cs typeface="Times New Roman"/>
              </a:rPr>
              <a:t> </a:t>
            </a:r>
            <a:r>
              <a:rPr sz="1200" dirty="0">
                <a:latin typeface="Times New Roman"/>
                <a:cs typeface="Times New Roman"/>
              </a:rPr>
              <a:t>groundbreaking</a:t>
            </a:r>
            <a:r>
              <a:rPr sz="1200" spc="170" dirty="0">
                <a:latin typeface="Times New Roman"/>
                <a:cs typeface="Times New Roman"/>
              </a:rPr>
              <a:t> </a:t>
            </a:r>
            <a:r>
              <a:rPr sz="1200" dirty="0">
                <a:latin typeface="Times New Roman"/>
                <a:cs typeface="Times New Roman"/>
              </a:rPr>
              <a:t>advancement</a:t>
            </a:r>
            <a:r>
              <a:rPr sz="1200" spc="175" dirty="0">
                <a:latin typeface="Times New Roman"/>
                <a:cs typeface="Times New Roman"/>
              </a:rPr>
              <a:t> </a:t>
            </a:r>
            <a:r>
              <a:rPr sz="1200" dirty="0">
                <a:latin typeface="Times New Roman"/>
                <a:cs typeface="Times New Roman"/>
              </a:rPr>
              <a:t>in</a:t>
            </a:r>
            <a:r>
              <a:rPr sz="1200" spc="175"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dirty="0">
                <a:latin typeface="Times New Roman"/>
                <a:cs typeface="Times New Roman"/>
              </a:rPr>
              <a:t>real</a:t>
            </a:r>
            <a:r>
              <a:rPr sz="1200" spc="170" dirty="0">
                <a:latin typeface="Times New Roman"/>
                <a:cs typeface="Times New Roman"/>
              </a:rPr>
              <a:t> </a:t>
            </a:r>
            <a:r>
              <a:rPr sz="1200" spc="-10" dirty="0">
                <a:latin typeface="Times New Roman"/>
                <a:cs typeface="Times New Roman"/>
              </a:rPr>
              <a:t>estate </a:t>
            </a:r>
            <a:r>
              <a:rPr sz="1200" dirty="0">
                <a:latin typeface="Times New Roman"/>
                <a:cs typeface="Times New Roman"/>
              </a:rPr>
              <a:t>auction</a:t>
            </a:r>
            <a:r>
              <a:rPr sz="1200" spc="365" dirty="0">
                <a:latin typeface="Times New Roman"/>
                <a:cs typeface="Times New Roman"/>
              </a:rPr>
              <a:t> </a:t>
            </a:r>
            <a:r>
              <a:rPr sz="1200" dirty="0">
                <a:latin typeface="Times New Roman"/>
                <a:cs typeface="Times New Roman"/>
              </a:rPr>
              <a:t>industry,</a:t>
            </a:r>
            <a:r>
              <a:rPr sz="1200" spc="365" dirty="0">
                <a:latin typeface="Times New Roman"/>
                <a:cs typeface="Times New Roman"/>
              </a:rPr>
              <a:t> </a:t>
            </a:r>
            <a:r>
              <a:rPr sz="1200" dirty="0">
                <a:latin typeface="Times New Roman"/>
                <a:cs typeface="Times New Roman"/>
              </a:rPr>
              <a:t>offering</a:t>
            </a:r>
            <a:r>
              <a:rPr sz="1200" spc="365" dirty="0">
                <a:latin typeface="Times New Roman"/>
                <a:cs typeface="Times New Roman"/>
              </a:rPr>
              <a:t> </a:t>
            </a:r>
            <a:r>
              <a:rPr sz="1200" dirty="0">
                <a:latin typeface="Times New Roman"/>
                <a:cs typeface="Times New Roman"/>
              </a:rPr>
              <a:t>a</a:t>
            </a:r>
            <a:r>
              <a:rPr sz="1200" spc="365" dirty="0">
                <a:latin typeface="Times New Roman"/>
                <a:cs typeface="Times New Roman"/>
              </a:rPr>
              <a:t> </a:t>
            </a:r>
            <a:r>
              <a:rPr sz="1200" dirty="0">
                <a:latin typeface="Times New Roman"/>
                <a:cs typeface="Times New Roman"/>
              </a:rPr>
              <a:t>transparent,</a:t>
            </a:r>
            <a:r>
              <a:rPr sz="1200" spc="365"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365" dirty="0">
                <a:latin typeface="Times New Roman"/>
                <a:cs typeface="Times New Roman"/>
              </a:rPr>
              <a:t> </a:t>
            </a:r>
            <a:r>
              <a:rPr sz="1200" dirty="0">
                <a:latin typeface="Times New Roman"/>
                <a:cs typeface="Times New Roman"/>
              </a:rPr>
              <a:t>and</a:t>
            </a:r>
            <a:r>
              <a:rPr sz="1200" spc="365" dirty="0">
                <a:latin typeface="Times New Roman"/>
                <a:cs typeface="Times New Roman"/>
              </a:rPr>
              <a:t> </a:t>
            </a:r>
            <a:r>
              <a:rPr sz="1200" dirty="0">
                <a:latin typeface="Times New Roman"/>
                <a:cs typeface="Times New Roman"/>
              </a:rPr>
              <a:t>highly</a:t>
            </a:r>
            <a:r>
              <a:rPr sz="1200" spc="365" dirty="0">
                <a:latin typeface="Times New Roman"/>
                <a:cs typeface="Times New Roman"/>
              </a:rPr>
              <a:t> </a:t>
            </a:r>
            <a:r>
              <a:rPr sz="1200" dirty="0">
                <a:latin typeface="Times New Roman"/>
                <a:cs typeface="Times New Roman"/>
              </a:rPr>
              <a:t>efficient</a:t>
            </a:r>
            <a:r>
              <a:rPr sz="1200" spc="370" dirty="0">
                <a:latin typeface="Times New Roman"/>
                <a:cs typeface="Times New Roman"/>
              </a:rPr>
              <a:t> </a:t>
            </a:r>
            <a:r>
              <a:rPr sz="1200" dirty="0">
                <a:latin typeface="Times New Roman"/>
                <a:cs typeface="Times New Roman"/>
              </a:rPr>
              <a:t>alternative</a:t>
            </a:r>
            <a:r>
              <a:rPr sz="1200" spc="360" dirty="0">
                <a:latin typeface="Times New Roman"/>
                <a:cs typeface="Times New Roman"/>
              </a:rPr>
              <a:t> </a:t>
            </a:r>
            <a:r>
              <a:rPr sz="1200" spc="-25" dirty="0">
                <a:latin typeface="Times New Roman"/>
                <a:cs typeface="Times New Roman"/>
              </a:rPr>
              <a:t>to </a:t>
            </a:r>
            <a:r>
              <a:rPr sz="1200" dirty="0">
                <a:latin typeface="Times New Roman"/>
                <a:cs typeface="Times New Roman"/>
              </a:rPr>
              <a:t>traditional</a:t>
            </a:r>
            <a:r>
              <a:rPr sz="1200" spc="135" dirty="0">
                <a:latin typeface="Times New Roman"/>
                <a:cs typeface="Times New Roman"/>
              </a:rPr>
              <a:t> </a:t>
            </a:r>
            <a:r>
              <a:rPr sz="1200" dirty="0">
                <a:latin typeface="Times New Roman"/>
                <a:cs typeface="Times New Roman"/>
              </a:rPr>
              <a:t>property</a:t>
            </a:r>
            <a:r>
              <a:rPr sz="1200" spc="135" dirty="0">
                <a:latin typeface="Times New Roman"/>
                <a:cs typeface="Times New Roman"/>
              </a:rPr>
              <a:t> </a:t>
            </a:r>
            <a:r>
              <a:rPr sz="1200" dirty="0">
                <a:latin typeface="Times New Roman"/>
                <a:cs typeface="Times New Roman"/>
              </a:rPr>
              <a:t>bidding</a:t>
            </a:r>
            <a:r>
              <a:rPr sz="1200" spc="135" dirty="0">
                <a:latin typeface="Times New Roman"/>
                <a:cs typeface="Times New Roman"/>
              </a:rPr>
              <a:t> </a:t>
            </a:r>
            <a:r>
              <a:rPr sz="1200" dirty="0">
                <a:latin typeface="Times New Roman"/>
                <a:cs typeface="Times New Roman"/>
              </a:rPr>
              <a:t>systems.</a:t>
            </a:r>
            <a:r>
              <a:rPr sz="1200" spc="140" dirty="0">
                <a:latin typeface="Times New Roman"/>
                <a:cs typeface="Times New Roman"/>
              </a:rPr>
              <a:t> </a:t>
            </a:r>
            <a:r>
              <a:rPr sz="1200" dirty="0">
                <a:latin typeface="Times New Roman"/>
                <a:cs typeface="Times New Roman"/>
              </a:rPr>
              <a:t>By</a:t>
            </a:r>
            <a:r>
              <a:rPr sz="1200" spc="120" dirty="0">
                <a:latin typeface="Times New Roman"/>
                <a:cs typeface="Times New Roman"/>
              </a:rPr>
              <a:t> </a:t>
            </a:r>
            <a:r>
              <a:rPr sz="1200" dirty="0">
                <a:latin typeface="Times New Roman"/>
                <a:cs typeface="Times New Roman"/>
              </a:rPr>
              <a:t>combining</a:t>
            </a:r>
            <a:r>
              <a:rPr sz="1200" spc="13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30" dirty="0">
                <a:latin typeface="Times New Roman"/>
                <a:cs typeface="Times New Roman"/>
              </a:rPr>
              <a:t> </a:t>
            </a:r>
            <a:r>
              <a:rPr sz="1200" dirty="0">
                <a:latin typeface="Times New Roman"/>
                <a:cs typeface="Times New Roman"/>
              </a:rPr>
              <a:t>responsiveness,</a:t>
            </a:r>
            <a:r>
              <a:rPr sz="1200" spc="135" dirty="0">
                <a:latin typeface="Times New Roman"/>
                <a:cs typeface="Times New Roman"/>
              </a:rPr>
              <a:t> </a:t>
            </a:r>
            <a:r>
              <a:rPr sz="1200" spc="-10" dirty="0">
                <a:latin typeface="Times New Roman"/>
                <a:cs typeface="Times New Roman"/>
              </a:rPr>
              <a:t>AI-powered </a:t>
            </a:r>
            <a:r>
              <a:rPr sz="1200" dirty="0">
                <a:latin typeface="Times New Roman"/>
                <a:cs typeface="Times New Roman"/>
              </a:rPr>
              <a:t>insights,</a:t>
            </a:r>
            <a:r>
              <a:rPr sz="1200" spc="85"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dirty="0">
                <a:latin typeface="Times New Roman"/>
                <a:cs typeface="Times New Roman"/>
              </a:rPr>
              <a:t>robust</a:t>
            </a:r>
            <a:r>
              <a:rPr sz="1200" spc="80" dirty="0">
                <a:latin typeface="Times New Roman"/>
                <a:cs typeface="Times New Roman"/>
              </a:rPr>
              <a:t> </a:t>
            </a:r>
            <a:r>
              <a:rPr sz="1200" dirty="0">
                <a:latin typeface="Times New Roman"/>
                <a:cs typeface="Times New Roman"/>
              </a:rPr>
              <a:t>security</a:t>
            </a:r>
            <a:r>
              <a:rPr sz="1200" spc="80" dirty="0">
                <a:latin typeface="Times New Roman"/>
                <a:cs typeface="Times New Roman"/>
              </a:rPr>
              <a:t> </a:t>
            </a:r>
            <a:r>
              <a:rPr sz="1200" dirty="0">
                <a:latin typeface="Times New Roman"/>
                <a:cs typeface="Times New Roman"/>
              </a:rPr>
              <a:t>measures,</a:t>
            </a:r>
            <a:r>
              <a:rPr sz="1200" spc="8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platform</a:t>
            </a:r>
            <a:r>
              <a:rPr sz="1200" spc="80" dirty="0">
                <a:latin typeface="Times New Roman"/>
                <a:cs typeface="Times New Roman"/>
              </a:rPr>
              <a:t> </a:t>
            </a:r>
            <a:r>
              <a:rPr sz="1200" dirty="0">
                <a:latin typeface="Times New Roman"/>
                <a:cs typeface="Times New Roman"/>
              </a:rPr>
              <a:t>sets</a:t>
            </a:r>
            <a:r>
              <a:rPr sz="1200" spc="85" dirty="0">
                <a:latin typeface="Times New Roman"/>
                <a:cs typeface="Times New Roman"/>
              </a:rPr>
              <a:t> </a:t>
            </a:r>
            <a:r>
              <a:rPr sz="1200" dirty="0">
                <a:latin typeface="Times New Roman"/>
                <a:cs typeface="Times New Roman"/>
              </a:rPr>
              <a:t>a</a:t>
            </a:r>
            <a:r>
              <a:rPr sz="1200" spc="80" dirty="0">
                <a:latin typeface="Times New Roman"/>
                <a:cs typeface="Times New Roman"/>
              </a:rPr>
              <a:t> </a:t>
            </a:r>
            <a:r>
              <a:rPr sz="1200" dirty="0">
                <a:latin typeface="Times New Roman"/>
                <a:cs typeface="Times New Roman"/>
              </a:rPr>
              <a:t>new</a:t>
            </a:r>
            <a:r>
              <a:rPr sz="1200" spc="90" dirty="0">
                <a:latin typeface="Times New Roman"/>
                <a:cs typeface="Times New Roman"/>
              </a:rPr>
              <a:t> </a:t>
            </a:r>
            <a:r>
              <a:rPr sz="1200" dirty="0">
                <a:latin typeface="Times New Roman"/>
                <a:cs typeface="Times New Roman"/>
              </a:rPr>
              <a:t>standard</a:t>
            </a:r>
            <a:r>
              <a:rPr sz="1200" spc="90" dirty="0">
                <a:latin typeface="Times New Roman"/>
                <a:cs typeface="Times New Roman"/>
              </a:rPr>
              <a:t> </a:t>
            </a:r>
            <a:r>
              <a:rPr sz="1200" dirty="0">
                <a:latin typeface="Times New Roman"/>
                <a:cs typeface="Times New Roman"/>
              </a:rPr>
              <a:t>for</a:t>
            </a:r>
            <a:r>
              <a:rPr sz="1200" spc="75" dirty="0">
                <a:latin typeface="Times New Roman"/>
                <a:cs typeface="Times New Roman"/>
              </a:rPr>
              <a:t> </a:t>
            </a:r>
            <a:r>
              <a:rPr sz="1200" dirty="0">
                <a:latin typeface="Times New Roman"/>
                <a:cs typeface="Times New Roman"/>
              </a:rPr>
              <a:t>accessible</a:t>
            </a:r>
            <a:r>
              <a:rPr sz="1200" spc="80" dirty="0">
                <a:latin typeface="Times New Roman"/>
                <a:cs typeface="Times New Roman"/>
              </a:rPr>
              <a:t> </a:t>
            </a:r>
            <a:r>
              <a:rPr sz="1200" spc="-25" dirty="0">
                <a:latin typeface="Times New Roman"/>
                <a:cs typeface="Times New Roman"/>
              </a:rPr>
              <a:t>and </a:t>
            </a:r>
            <a:r>
              <a:rPr sz="1200" dirty="0">
                <a:latin typeface="Times New Roman"/>
                <a:cs typeface="Times New Roman"/>
              </a:rPr>
              <a:t>reliable</a:t>
            </a:r>
            <a:r>
              <a:rPr sz="1200" spc="155" dirty="0">
                <a:latin typeface="Times New Roman"/>
                <a:cs typeface="Times New Roman"/>
              </a:rPr>
              <a:t> </a:t>
            </a:r>
            <a:r>
              <a:rPr sz="1200" dirty="0">
                <a:latin typeface="Times New Roman"/>
                <a:cs typeface="Times New Roman"/>
              </a:rPr>
              <a:t>real</a:t>
            </a:r>
            <a:r>
              <a:rPr sz="1200" spc="160" dirty="0">
                <a:latin typeface="Times New Roman"/>
                <a:cs typeface="Times New Roman"/>
              </a:rPr>
              <a:t> </a:t>
            </a:r>
            <a:r>
              <a:rPr sz="1200" dirty="0">
                <a:latin typeface="Times New Roman"/>
                <a:cs typeface="Times New Roman"/>
              </a:rPr>
              <a:t>estate</a:t>
            </a:r>
            <a:r>
              <a:rPr sz="1200" spc="155" dirty="0">
                <a:latin typeface="Times New Roman"/>
                <a:cs typeface="Times New Roman"/>
              </a:rPr>
              <a:t> </a:t>
            </a:r>
            <a:r>
              <a:rPr sz="1200" dirty="0">
                <a:latin typeface="Times New Roman"/>
                <a:cs typeface="Times New Roman"/>
              </a:rPr>
              <a:t>transactions,</a:t>
            </a:r>
            <a:r>
              <a:rPr sz="1200" spc="155" dirty="0">
                <a:latin typeface="Times New Roman"/>
                <a:cs typeface="Times New Roman"/>
              </a:rPr>
              <a:t> </a:t>
            </a:r>
            <a:r>
              <a:rPr sz="1200" dirty="0">
                <a:latin typeface="Times New Roman"/>
                <a:cs typeface="Times New Roman"/>
              </a:rPr>
              <a:t>empowering</a:t>
            </a:r>
            <a:r>
              <a:rPr sz="1200" spc="145" dirty="0">
                <a:latin typeface="Times New Roman"/>
                <a:cs typeface="Times New Roman"/>
              </a:rPr>
              <a:t> </a:t>
            </a:r>
            <a:r>
              <a:rPr sz="1200" dirty="0">
                <a:latin typeface="Times New Roman"/>
                <a:cs typeface="Times New Roman"/>
              </a:rPr>
              <a:t>a</a:t>
            </a:r>
            <a:r>
              <a:rPr sz="1200" spc="165" dirty="0">
                <a:latin typeface="Times New Roman"/>
                <a:cs typeface="Times New Roman"/>
              </a:rPr>
              <a:t> </a:t>
            </a:r>
            <a:r>
              <a:rPr sz="1200" dirty="0">
                <a:latin typeface="Times New Roman"/>
                <a:cs typeface="Times New Roman"/>
              </a:rPr>
              <a:t>diverse</a:t>
            </a:r>
            <a:r>
              <a:rPr sz="1200" spc="160" dirty="0">
                <a:latin typeface="Times New Roman"/>
                <a:cs typeface="Times New Roman"/>
              </a:rPr>
              <a:t> </a:t>
            </a:r>
            <a:r>
              <a:rPr sz="1200" dirty="0">
                <a:latin typeface="Times New Roman"/>
                <a:cs typeface="Times New Roman"/>
              </a:rPr>
              <a:t>range</a:t>
            </a:r>
            <a:r>
              <a:rPr sz="1200" spc="150" dirty="0">
                <a:latin typeface="Times New Roman"/>
                <a:cs typeface="Times New Roman"/>
              </a:rPr>
              <a:t> </a:t>
            </a:r>
            <a:r>
              <a:rPr sz="1200" dirty="0">
                <a:latin typeface="Times New Roman"/>
                <a:cs typeface="Times New Roman"/>
              </a:rPr>
              <a:t>of</a:t>
            </a:r>
            <a:r>
              <a:rPr sz="1200" spc="155" dirty="0">
                <a:latin typeface="Times New Roman"/>
                <a:cs typeface="Times New Roman"/>
              </a:rPr>
              <a:t> </a:t>
            </a:r>
            <a:r>
              <a:rPr sz="1200" dirty="0">
                <a:latin typeface="Times New Roman"/>
                <a:cs typeface="Times New Roman"/>
              </a:rPr>
              <a:t>buyers</a:t>
            </a:r>
            <a:r>
              <a:rPr sz="1200" spc="165" dirty="0">
                <a:latin typeface="Times New Roman"/>
                <a:cs typeface="Times New Roman"/>
              </a:rPr>
              <a:t> </a:t>
            </a:r>
            <a:r>
              <a:rPr sz="1200" dirty="0">
                <a:latin typeface="Times New Roman"/>
                <a:cs typeface="Times New Roman"/>
              </a:rPr>
              <a:t>and</a:t>
            </a:r>
            <a:r>
              <a:rPr sz="1200" spc="150" dirty="0">
                <a:latin typeface="Times New Roman"/>
                <a:cs typeface="Times New Roman"/>
              </a:rPr>
              <a:t> </a:t>
            </a:r>
            <a:r>
              <a:rPr sz="1200" dirty="0">
                <a:latin typeface="Times New Roman"/>
                <a:cs typeface="Times New Roman"/>
              </a:rPr>
              <a:t>sellers</a:t>
            </a:r>
            <a:r>
              <a:rPr sz="1200" spc="155" dirty="0">
                <a:latin typeface="Times New Roman"/>
                <a:cs typeface="Times New Roman"/>
              </a:rPr>
              <a:t> </a:t>
            </a:r>
            <a:r>
              <a:rPr sz="1200" spc="-10" dirty="0">
                <a:latin typeface="Times New Roman"/>
                <a:cs typeface="Times New Roman"/>
              </a:rPr>
              <a:t>across </a:t>
            </a:r>
            <a:r>
              <a:rPr sz="1200" dirty="0">
                <a:latin typeface="Times New Roman"/>
                <a:cs typeface="Times New Roman"/>
              </a:rPr>
              <a:t>global</a:t>
            </a:r>
            <a:r>
              <a:rPr sz="1200" spc="-35" dirty="0">
                <a:latin typeface="Times New Roman"/>
                <a:cs typeface="Times New Roman"/>
              </a:rPr>
              <a:t> </a:t>
            </a:r>
            <a:r>
              <a:rPr sz="1200" spc="-10" dirty="0">
                <a:latin typeface="Times New Roman"/>
                <a:cs typeface="Times New Roman"/>
              </a:rPr>
              <a:t>markets.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45"/>
              </a:spcBef>
            </a:pPr>
            <a:endParaRPr sz="1200" dirty="0">
              <a:latin typeface="Times New Roman"/>
              <a:cs typeface="Times New Roman"/>
            </a:endParaRPr>
          </a:p>
          <a:p>
            <a:pPr marL="70485">
              <a:lnSpc>
                <a:spcPct val="100000"/>
              </a:lnSpc>
            </a:pPr>
            <a:r>
              <a:rPr sz="1600" b="1" dirty="0">
                <a:latin typeface="Times New Roman"/>
                <a:cs typeface="Times New Roman"/>
              </a:rPr>
              <a:t>1.4.</a:t>
            </a:r>
            <a:r>
              <a:rPr sz="1600" b="1" spc="254" dirty="0">
                <a:latin typeface="Times New Roman"/>
                <a:cs typeface="Times New Roman"/>
              </a:rPr>
              <a:t> </a:t>
            </a:r>
            <a:r>
              <a:rPr sz="1600" b="1" dirty="0">
                <a:latin typeface="Times New Roman"/>
                <a:cs typeface="Times New Roman"/>
              </a:rPr>
              <a:t>Literature</a:t>
            </a:r>
            <a:r>
              <a:rPr sz="1600" b="1" spc="-40" dirty="0">
                <a:latin typeface="Times New Roman"/>
                <a:cs typeface="Times New Roman"/>
              </a:rPr>
              <a:t> </a:t>
            </a:r>
            <a:r>
              <a:rPr sz="1600" b="1" spc="-10" dirty="0">
                <a:latin typeface="Times New Roman"/>
                <a:cs typeface="Times New Roman"/>
              </a:rPr>
              <a:t>Review</a:t>
            </a:r>
            <a:endParaRPr sz="1600" dirty="0">
              <a:latin typeface="Times New Roman"/>
              <a:cs typeface="Times New Roman"/>
            </a:endParaRPr>
          </a:p>
          <a:p>
            <a:pPr>
              <a:lnSpc>
                <a:spcPct val="100000"/>
              </a:lnSpc>
              <a:spcBef>
                <a:spcPts val="530"/>
              </a:spcBef>
            </a:pPr>
            <a:endParaRPr sz="1600" dirty="0">
              <a:latin typeface="Times New Roman"/>
              <a:cs typeface="Times New Roman"/>
            </a:endParaRPr>
          </a:p>
          <a:p>
            <a:pPr marL="12700" marR="8255" indent="208279">
              <a:spcBef>
                <a:spcPts val="5"/>
              </a:spcBef>
              <a:buFont typeface="Times New Roman"/>
              <a:buAutoNum type="arabicPeriod"/>
              <a:tabLst>
                <a:tab pos="220979" algn="l"/>
              </a:tabLst>
            </a:pPr>
            <a:r>
              <a:rPr sz="1200" b="1" dirty="0">
                <a:latin typeface="Times New Roman"/>
                <a:cs typeface="Times New Roman"/>
              </a:rPr>
              <a:t>Integration of Artificial Intelligence and Real-Time Technologies in Property Auctions</a:t>
            </a:r>
            <a:endParaRPr sz="1200" dirty="0">
              <a:latin typeface="Times New Roman"/>
              <a:cs typeface="Times New Roman"/>
            </a:endParaRPr>
          </a:p>
          <a:p>
            <a:pPr>
              <a:spcBef>
                <a:spcPts val="10"/>
              </a:spcBef>
              <a:buAutoNum type="arabicPeriod"/>
            </a:pPr>
            <a:endParaRPr sz="1200" dirty="0">
              <a:latin typeface="Times New Roman"/>
              <a:cs typeface="Times New Roman"/>
            </a:endParaRPr>
          </a:p>
          <a:p>
            <a:pPr marL="12700" marR="5080" algn="just"/>
            <a:r>
              <a:rPr sz="1200" dirty="0">
                <a:latin typeface="Times New Roman"/>
                <a:cs typeface="Times New Roman"/>
              </a:rPr>
              <a:t>The integration of artificial intelligence (AI) and real-time web technologies in property auctions has revolutionized how real estate transactions are conducted. These innovations have introduced new levels of security, transparency, efficiency, and scalability, enabling smarter, faster, and fairer bidding processes. Below is an overview of significant studies that demonstrate the advancements in this evolving field:</a:t>
            </a:r>
          </a:p>
          <a:p>
            <a:pPr marL="240665" indent="-227965">
              <a:spcBef>
                <a:spcPts val="1310"/>
              </a:spcBef>
              <a:buAutoNum type="arabicPeriod" startAt="2"/>
              <a:tabLst>
                <a:tab pos="240665" algn="l"/>
              </a:tabLst>
            </a:pPr>
            <a:r>
              <a:rPr sz="1200" b="1" dirty="0">
                <a:latin typeface="Times New Roman"/>
                <a:cs typeface="Times New Roman"/>
              </a:rPr>
              <a:t>AI-Powered Price Prediction in Real Estate Auctions</a:t>
            </a:r>
            <a:endParaRPr sz="1200" dirty="0">
              <a:latin typeface="Times New Roman"/>
              <a:cs typeface="Times New Roman"/>
            </a:endParaRPr>
          </a:p>
          <a:p>
            <a:pPr>
              <a:spcBef>
                <a:spcPts val="45"/>
              </a:spcBef>
              <a:buAutoNum type="arabicPeriod" startAt="2"/>
            </a:pPr>
            <a:endParaRPr sz="1200" dirty="0">
              <a:latin typeface="Times New Roman"/>
              <a:cs typeface="Times New Roman"/>
            </a:endParaRPr>
          </a:p>
          <a:p>
            <a:pPr marL="12700" marR="9525" algn="just">
              <a:spcBef>
                <a:spcPts val="5"/>
              </a:spcBef>
            </a:pPr>
            <a:r>
              <a:rPr sz="1200" dirty="0">
                <a:latin typeface="Times New Roman"/>
                <a:cs typeface="Times New Roman"/>
              </a:rPr>
              <a:t>This study explored various machine learning models such as regression analysis and deep neural networks to predict property auction prices based on historical datasets. The research concluded that AI-based pricing models significantly improve bid accuracy, align with seller expectations, and promote fair market valuations by minimizing human error in appraisals.</a:t>
            </a:r>
          </a:p>
          <a:p>
            <a:pPr marL="240665" indent="-227965">
              <a:spcBef>
                <a:spcPts val="1305"/>
              </a:spcBef>
              <a:buFont typeface="Times New Roman"/>
              <a:buAutoNum type="arabicPeriod" startAt="3"/>
              <a:tabLst>
                <a:tab pos="240665" algn="l"/>
              </a:tabLst>
            </a:pPr>
            <a:r>
              <a:rPr sz="1200" b="1" dirty="0">
                <a:latin typeface="Times New Roman"/>
                <a:cs typeface="Times New Roman"/>
              </a:rPr>
              <a:t>Real-Time Bidding Systems Using </a:t>
            </a:r>
            <a:r>
              <a:rPr sz="1200" b="1" dirty="0" err="1">
                <a:latin typeface="Times New Roman"/>
                <a:cs typeface="Times New Roman"/>
              </a:rPr>
              <a:t>WebSockets</a:t>
            </a:r>
            <a:endParaRPr lang="en-US" sz="1200" b="1" dirty="0">
              <a:latin typeface="Times New Roman"/>
              <a:cs typeface="Times New Roman"/>
            </a:endParaRPr>
          </a:p>
          <a:p>
            <a:pPr marL="12700" lvl="2" algn="l">
              <a:spcBef>
                <a:spcPts val="1305"/>
              </a:spcBef>
              <a:tabLst>
                <a:tab pos="240665" algn="l"/>
              </a:tabLst>
            </a:pPr>
            <a:r>
              <a:rPr lang="en-US" sz="1200" dirty="0">
                <a:latin typeface="Times New Roman"/>
                <a:cs typeface="Times New Roman"/>
              </a:rPr>
              <a:t>This research investigated the implementation of WebSocket technology to achieve real- time auction synchronization. Key findings included instant bid updates, reduced latency, and prevention of last-minute manipulation. The study demonstrated the scalability and responsiveness of </a:t>
            </a:r>
            <a:r>
              <a:rPr lang="en-US" sz="1200" dirty="0" err="1">
                <a:latin typeface="Times New Roman"/>
                <a:cs typeface="Times New Roman"/>
              </a:rPr>
              <a:t>WebSockets</a:t>
            </a:r>
            <a:r>
              <a:rPr lang="en-US" sz="1200" dirty="0">
                <a:latin typeface="Times New Roman"/>
                <a:cs typeface="Times New Roman"/>
              </a:rPr>
              <a:t> in managing large-scale, high-traffic property auctions.</a:t>
            </a:r>
            <a:endParaRPr sz="1200" dirty="0">
              <a:latin typeface="Times New Roman"/>
              <a:cs typeface="Times New Roman"/>
            </a:endParaRPr>
          </a:p>
          <a:p>
            <a:pPr marL="164465" indent="-151765">
              <a:spcBef>
                <a:spcPts val="1330"/>
              </a:spcBef>
              <a:buAutoNum type="arabicPeriod" startAt="4"/>
              <a:tabLst>
                <a:tab pos="164465" algn="l"/>
              </a:tabLst>
            </a:pPr>
            <a:r>
              <a:rPr sz="1200" b="1" dirty="0">
                <a:latin typeface="Times New Roman"/>
                <a:cs typeface="Times New Roman"/>
              </a:rPr>
              <a:t>AI-Driven Fraud Detection in Online Marketplaces</a:t>
            </a:r>
            <a:endParaRPr sz="1200" dirty="0">
              <a:latin typeface="Times New Roman"/>
              <a:cs typeface="Times New Roman"/>
            </a:endParaRPr>
          </a:p>
          <a:p>
            <a:pPr>
              <a:spcBef>
                <a:spcPts val="60"/>
              </a:spcBef>
            </a:pPr>
            <a:endParaRPr sz="1200" dirty="0">
              <a:latin typeface="Times New Roman"/>
              <a:cs typeface="Times New Roman"/>
            </a:endParaRPr>
          </a:p>
          <a:p>
            <a:pPr marL="12700" marR="10795" algn="just"/>
            <a:r>
              <a:rPr sz="1200" dirty="0">
                <a:latin typeface="Times New Roman"/>
                <a:cs typeface="Times New Roman"/>
              </a:rPr>
              <a:t>Focusing on fraud prevention, this study employed Natural Language Processing (NLP) and anomaly detection algorithms to identify fake property listings, forged documents, and suspicious bidding behaviors. The use of AI tools helped enhance platform trust, reduce financial risk, and ensure the integrity of digital property auctions.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5</a:t>
            </a:r>
          </a:p>
        </p:txBody>
      </p:sp>
      <p:sp>
        <p:nvSpPr>
          <p:cNvPr id="2" name="object 2"/>
          <p:cNvSpPr txBox="1"/>
          <p:nvPr/>
        </p:nvSpPr>
        <p:spPr>
          <a:xfrm>
            <a:off x="1176324" y="891285"/>
            <a:ext cx="5695950" cy="7805420"/>
          </a:xfrm>
          <a:prstGeom prst="rect">
            <a:avLst/>
          </a:prstGeom>
        </p:spPr>
        <p:txBody>
          <a:bodyPr vert="horz" wrap="square" lIns="0" tIns="12700" rIns="0" bIns="0" rtlCol="0">
            <a:spAutoFit/>
          </a:bodyPr>
          <a:lstStyle/>
          <a:p>
            <a:pPr marL="164465" indent="-151765">
              <a:lnSpc>
                <a:spcPct val="100000"/>
              </a:lnSpc>
              <a:spcBef>
                <a:spcPts val="100"/>
              </a:spcBef>
              <a:buAutoNum type="arabicPeriod" startAt="5"/>
              <a:tabLst>
                <a:tab pos="164465" algn="l"/>
              </a:tabLst>
            </a:pPr>
            <a:r>
              <a:rPr sz="1200" b="1" spc="-10" dirty="0">
                <a:latin typeface="Times New Roman"/>
                <a:cs typeface="Times New Roman"/>
              </a:rPr>
              <a:t>Cloud-</a:t>
            </a:r>
            <a:r>
              <a:rPr sz="1200" b="1" dirty="0">
                <a:latin typeface="Times New Roman"/>
                <a:cs typeface="Times New Roman"/>
              </a:rPr>
              <a:t>Based</a:t>
            </a:r>
            <a:r>
              <a:rPr sz="1200" b="1" spc="-15" dirty="0">
                <a:latin typeface="Times New Roman"/>
                <a:cs typeface="Times New Roman"/>
              </a:rPr>
              <a:t> </a:t>
            </a:r>
            <a:r>
              <a:rPr sz="1200" b="1" dirty="0">
                <a:latin typeface="Times New Roman"/>
                <a:cs typeface="Times New Roman"/>
              </a:rPr>
              <a:t>Auction</a:t>
            </a:r>
            <a:r>
              <a:rPr sz="1200" b="1" spc="-25" dirty="0">
                <a:latin typeface="Times New Roman"/>
                <a:cs typeface="Times New Roman"/>
              </a:rPr>
              <a:t> </a:t>
            </a:r>
            <a:r>
              <a:rPr sz="1200" b="1" dirty="0">
                <a:latin typeface="Times New Roman"/>
                <a:cs typeface="Times New Roman"/>
              </a:rPr>
              <a:t>Platforms</a:t>
            </a:r>
            <a:r>
              <a:rPr sz="1200" b="1" spc="-10" dirty="0">
                <a:latin typeface="Times New Roman"/>
                <a:cs typeface="Times New Roman"/>
              </a:rPr>
              <a:t> </a:t>
            </a:r>
            <a:r>
              <a:rPr sz="1200" b="1" dirty="0">
                <a:latin typeface="Times New Roman"/>
                <a:cs typeface="Times New Roman"/>
              </a:rPr>
              <a:t>for</a:t>
            </a:r>
            <a:r>
              <a:rPr sz="1200" b="1" spc="-25" dirty="0">
                <a:latin typeface="Times New Roman"/>
                <a:cs typeface="Times New Roman"/>
              </a:rPr>
              <a:t> </a:t>
            </a:r>
            <a:r>
              <a:rPr sz="1200" b="1" dirty="0">
                <a:latin typeface="Times New Roman"/>
                <a:cs typeface="Times New Roman"/>
              </a:rPr>
              <a:t>Scalability</a:t>
            </a:r>
            <a:r>
              <a:rPr sz="1200" b="1" spc="-15" dirty="0">
                <a:latin typeface="Times New Roman"/>
                <a:cs typeface="Times New Roman"/>
              </a:rPr>
              <a:t> </a:t>
            </a:r>
            <a:r>
              <a:rPr sz="1200" b="1" dirty="0">
                <a:latin typeface="Times New Roman"/>
                <a:cs typeface="Times New Roman"/>
              </a:rPr>
              <a:t>and</a:t>
            </a:r>
            <a:r>
              <a:rPr sz="1200" b="1" spc="-10" dirty="0">
                <a:latin typeface="Times New Roman"/>
                <a:cs typeface="Times New Roman"/>
              </a:rPr>
              <a:t> Accessibility</a:t>
            </a:r>
            <a:endParaRPr sz="1200">
              <a:latin typeface="Times New Roman"/>
              <a:cs typeface="Times New Roman"/>
            </a:endParaRPr>
          </a:p>
          <a:p>
            <a:pPr>
              <a:lnSpc>
                <a:spcPct val="100000"/>
              </a:lnSpc>
              <a:spcBef>
                <a:spcPts val="60"/>
              </a:spcBef>
              <a:buFont typeface="Times New Roman"/>
              <a:buAutoNum type="arabicPeriod" startAt="5"/>
            </a:pPr>
            <a:endParaRPr sz="1200">
              <a:latin typeface="Times New Roman"/>
              <a:cs typeface="Times New Roman"/>
            </a:endParaRPr>
          </a:p>
          <a:p>
            <a:pPr marL="12700" marR="5080" algn="just">
              <a:lnSpc>
                <a:spcPts val="1380"/>
              </a:lnSpc>
            </a:pPr>
            <a:r>
              <a:rPr sz="1200" dirty="0">
                <a:latin typeface="Times New Roman"/>
                <a:cs typeface="Times New Roman"/>
              </a:rPr>
              <a:t>This</a:t>
            </a:r>
            <a:r>
              <a:rPr sz="1200" spc="265" dirty="0">
                <a:latin typeface="Times New Roman"/>
                <a:cs typeface="Times New Roman"/>
              </a:rPr>
              <a:t> </a:t>
            </a:r>
            <a:r>
              <a:rPr sz="1200" dirty="0">
                <a:latin typeface="Times New Roman"/>
                <a:cs typeface="Times New Roman"/>
              </a:rPr>
              <a:t>research</a:t>
            </a:r>
            <a:r>
              <a:rPr sz="1200" spc="265" dirty="0">
                <a:latin typeface="Times New Roman"/>
                <a:cs typeface="Times New Roman"/>
              </a:rPr>
              <a:t> </a:t>
            </a:r>
            <a:r>
              <a:rPr sz="1200" dirty="0">
                <a:latin typeface="Times New Roman"/>
                <a:cs typeface="Times New Roman"/>
              </a:rPr>
              <a:t>highlighted</a:t>
            </a:r>
            <a:r>
              <a:rPr sz="1200" spc="260" dirty="0">
                <a:latin typeface="Times New Roman"/>
                <a:cs typeface="Times New Roman"/>
              </a:rPr>
              <a:t> </a:t>
            </a:r>
            <a:r>
              <a:rPr sz="1200" dirty="0">
                <a:latin typeface="Times New Roman"/>
                <a:cs typeface="Times New Roman"/>
              </a:rPr>
              <a:t>the</a:t>
            </a:r>
            <a:r>
              <a:rPr sz="1200" spc="265" dirty="0">
                <a:latin typeface="Times New Roman"/>
                <a:cs typeface="Times New Roman"/>
              </a:rPr>
              <a:t> </a:t>
            </a:r>
            <a:r>
              <a:rPr sz="1200" dirty="0">
                <a:latin typeface="Times New Roman"/>
                <a:cs typeface="Times New Roman"/>
              </a:rPr>
              <a:t>benefits</a:t>
            </a:r>
            <a:r>
              <a:rPr sz="1200" spc="270" dirty="0">
                <a:latin typeface="Times New Roman"/>
                <a:cs typeface="Times New Roman"/>
              </a:rPr>
              <a:t> </a:t>
            </a:r>
            <a:r>
              <a:rPr sz="1200" dirty="0">
                <a:latin typeface="Times New Roman"/>
                <a:cs typeface="Times New Roman"/>
              </a:rPr>
              <a:t>of</a:t>
            </a:r>
            <a:r>
              <a:rPr sz="1200" spc="260" dirty="0">
                <a:latin typeface="Times New Roman"/>
                <a:cs typeface="Times New Roman"/>
              </a:rPr>
              <a:t> </a:t>
            </a:r>
            <a:r>
              <a:rPr sz="1200" dirty="0">
                <a:latin typeface="Times New Roman"/>
                <a:cs typeface="Times New Roman"/>
              </a:rPr>
              <a:t>cloud</a:t>
            </a:r>
            <a:r>
              <a:rPr sz="1200" spc="280" dirty="0">
                <a:latin typeface="Times New Roman"/>
                <a:cs typeface="Times New Roman"/>
              </a:rPr>
              <a:t> </a:t>
            </a:r>
            <a:r>
              <a:rPr sz="1200" dirty="0">
                <a:latin typeface="Times New Roman"/>
                <a:cs typeface="Times New Roman"/>
              </a:rPr>
              <a:t>computing</a:t>
            </a:r>
            <a:r>
              <a:rPr sz="1200" spc="265" dirty="0">
                <a:latin typeface="Times New Roman"/>
                <a:cs typeface="Times New Roman"/>
              </a:rPr>
              <a:t> </a:t>
            </a:r>
            <a:r>
              <a:rPr sz="1200" dirty="0">
                <a:latin typeface="Times New Roman"/>
                <a:cs typeface="Times New Roman"/>
              </a:rPr>
              <a:t>in</a:t>
            </a:r>
            <a:r>
              <a:rPr sz="1200" spc="270" dirty="0">
                <a:latin typeface="Times New Roman"/>
                <a:cs typeface="Times New Roman"/>
              </a:rPr>
              <a:t> </a:t>
            </a:r>
            <a:r>
              <a:rPr sz="1200" dirty="0">
                <a:latin typeface="Times New Roman"/>
                <a:cs typeface="Times New Roman"/>
              </a:rPr>
              <a:t>online</a:t>
            </a:r>
            <a:r>
              <a:rPr sz="1200" spc="260" dirty="0">
                <a:latin typeface="Times New Roman"/>
                <a:cs typeface="Times New Roman"/>
              </a:rPr>
              <a:t> </a:t>
            </a:r>
            <a:r>
              <a:rPr sz="1200" dirty="0">
                <a:latin typeface="Times New Roman"/>
                <a:cs typeface="Times New Roman"/>
              </a:rPr>
              <a:t>auction</a:t>
            </a:r>
            <a:r>
              <a:rPr sz="1200" spc="260" dirty="0">
                <a:latin typeface="Times New Roman"/>
                <a:cs typeface="Times New Roman"/>
              </a:rPr>
              <a:t> </a:t>
            </a:r>
            <a:r>
              <a:rPr sz="1200" spc="-10" dirty="0">
                <a:latin typeface="Times New Roman"/>
                <a:cs typeface="Times New Roman"/>
              </a:rPr>
              <a:t>platforms, including</a:t>
            </a:r>
            <a:r>
              <a:rPr sz="1200" spc="-35" dirty="0">
                <a:latin typeface="Times New Roman"/>
                <a:cs typeface="Times New Roman"/>
              </a:rPr>
              <a:t> </a:t>
            </a:r>
            <a:r>
              <a:rPr sz="1200" spc="-10" dirty="0">
                <a:latin typeface="Times New Roman"/>
                <a:cs typeface="Times New Roman"/>
              </a:rPr>
              <a:t>efficient</a:t>
            </a:r>
            <a:r>
              <a:rPr sz="1200" spc="-25" dirty="0">
                <a:latin typeface="Times New Roman"/>
                <a:cs typeface="Times New Roman"/>
              </a:rPr>
              <a:t> </a:t>
            </a:r>
            <a:r>
              <a:rPr sz="1200" spc="-10" dirty="0">
                <a:latin typeface="Times New Roman"/>
                <a:cs typeface="Times New Roman"/>
              </a:rPr>
              <a:t>handling</a:t>
            </a:r>
            <a:r>
              <a:rPr sz="1200" spc="-40" dirty="0">
                <a:latin typeface="Times New Roman"/>
                <a:cs typeface="Times New Roman"/>
              </a:rPr>
              <a:t> </a:t>
            </a:r>
            <a:r>
              <a:rPr sz="1200" spc="-20" dirty="0">
                <a:latin typeface="Times New Roman"/>
                <a:cs typeface="Times New Roman"/>
              </a:rPr>
              <a:t>of</a:t>
            </a:r>
            <a:r>
              <a:rPr sz="1200" spc="-50" dirty="0">
                <a:latin typeface="Times New Roman"/>
                <a:cs typeface="Times New Roman"/>
              </a:rPr>
              <a:t> </a:t>
            </a:r>
            <a:r>
              <a:rPr sz="1200" spc="-10" dirty="0">
                <a:latin typeface="Times New Roman"/>
                <a:cs typeface="Times New Roman"/>
              </a:rPr>
              <a:t>large</a:t>
            </a:r>
            <a:r>
              <a:rPr sz="1200" spc="-45" dirty="0">
                <a:latin typeface="Times New Roman"/>
                <a:cs typeface="Times New Roman"/>
              </a:rPr>
              <a:t> </a:t>
            </a:r>
            <a:r>
              <a:rPr sz="1200" spc="-10" dirty="0">
                <a:latin typeface="Times New Roman"/>
                <a:cs typeface="Times New Roman"/>
              </a:rPr>
              <a:t>transaction</a:t>
            </a:r>
            <a:r>
              <a:rPr sz="1200" spc="-40" dirty="0">
                <a:latin typeface="Times New Roman"/>
                <a:cs typeface="Times New Roman"/>
              </a:rPr>
              <a:t> </a:t>
            </a:r>
            <a:r>
              <a:rPr sz="1200" spc="-10" dirty="0">
                <a:latin typeface="Times New Roman"/>
                <a:cs typeface="Times New Roman"/>
              </a:rPr>
              <a:t>volumes,</a:t>
            </a:r>
            <a:r>
              <a:rPr sz="1200" spc="-40" dirty="0">
                <a:latin typeface="Times New Roman"/>
                <a:cs typeface="Times New Roman"/>
              </a:rPr>
              <a:t> </a:t>
            </a:r>
            <a:r>
              <a:rPr sz="1200" spc="-10" dirty="0">
                <a:latin typeface="Times New Roman"/>
                <a:cs typeface="Times New Roman"/>
              </a:rPr>
              <a:t>improved</a:t>
            </a:r>
            <a:r>
              <a:rPr sz="1200" spc="-40" dirty="0">
                <a:latin typeface="Times New Roman"/>
                <a:cs typeface="Times New Roman"/>
              </a:rPr>
              <a:t> </a:t>
            </a:r>
            <a:r>
              <a:rPr sz="1200" spc="-10" dirty="0">
                <a:latin typeface="Times New Roman"/>
                <a:cs typeface="Times New Roman"/>
              </a:rPr>
              <a:t>uptime</a:t>
            </a:r>
            <a:r>
              <a:rPr sz="1200" spc="-30" dirty="0">
                <a:latin typeface="Times New Roman"/>
                <a:cs typeface="Times New Roman"/>
              </a:rPr>
              <a:t> </a:t>
            </a:r>
            <a:r>
              <a:rPr sz="1200" spc="-10" dirty="0">
                <a:latin typeface="Times New Roman"/>
                <a:cs typeface="Times New Roman"/>
              </a:rPr>
              <a:t>and</a:t>
            </a:r>
            <a:r>
              <a:rPr sz="1200" spc="-40" dirty="0">
                <a:latin typeface="Times New Roman"/>
                <a:cs typeface="Times New Roman"/>
              </a:rPr>
              <a:t> </a:t>
            </a:r>
            <a:r>
              <a:rPr sz="1200" spc="-10" dirty="0">
                <a:latin typeface="Times New Roman"/>
                <a:cs typeface="Times New Roman"/>
              </a:rPr>
              <a:t>bid</a:t>
            </a:r>
            <a:r>
              <a:rPr sz="1200" spc="-35" dirty="0">
                <a:latin typeface="Times New Roman"/>
                <a:cs typeface="Times New Roman"/>
              </a:rPr>
              <a:t> </a:t>
            </a:r>
            <a:r>
              <a:rPr sz="1200" spc="-10" dirty="0">
                <a:latin typeface="Times New Roman"/>
                <a:cs typeface="Times New Roman"/>
              </a:rPr>
              <a:t>processing </a:t>
            </a:r>
            <a:r>
              <a:rPr sz="1200" dirty="0">
                <a:latin typeface="Times New Roman"/>
                <a:cs typeface="Times New Roman"/>
              </a:rPr>
              <a:t>speeds,</a:t>
            </a:r>
            <a:r>
              <a:rPr sz="1200" spc="315" dirty="0">
                <a:latin typeface="Times New Roman"/>
                <a:cs typeface="Times New Roman"/>
              </a:rPr>
              <a:t> </a:t>
            </a:r>
            <a:r>
              <a:rPr sz="1200" dirty="0">
                <a:latin typeface="Times New Roman"/>
                <a:cs typeface="Times New Roman"/>
              </a:rPr>
              <a:t>and</a:t>
            </a:r>
            <a:r>
              <a:rPr sz="1200" spc="330" dirty="0">
                <a:latin typeface="Times New Roman"/>
                <a:cs typeface="Times New Roman"/>
              </a:rPr>
              <a:t> </a:t>
            </a:r>
            <a:r>
              <a:rPr sz="1200" dirty="0">
                <a:latin typeface="Times New Roman"/>
                <a:cs typeface="Times New Roman"/>
              </a:rPr>
              <a:t>accessibility</a:t>
            </a:r>
            <a:r>
              <a:rPr sz="1200" spc="315" dirty="0">
                <a:latin typeface="Times New Roman"/>
                <a:cs typeface="Times New Roman"/>
              </a:rPr>
              <a:t> </a:t>
            </a:r>
            <a:r>
              <a:rPr sz="1200" dirty="0">
                <a:latin typeface="Times New Roman"/>
                <a:cs typeface="Times New Roman"/>
              </a:rPr>
              <a:t>across</a:t>
            </a:r>
            <a:r>
              <a:rPr sz="1200" spc="330" dirty="0">
                <a:latin typeface="Times New Roman"/>
                <a:cs typeface="Times New Roman"/>
              </a:rPr>
              <a:t> </a:t>
            </a:r>
            <a:r>
              <a:rPr sz="1200" dirty="0">
                <a:latin typeface="Times New Roman"/>
                <a:cs typeface="Times New Roman"/>
              </a:rPr>
              <a:t>regions</a:t>
            </a:r>
            <a:r>
              <a:rPr sz="1200" spc="320" dirty="0">
                <a:latin typeface="Times New Roman"/>
                <a:cs typeface="Times New Roman"/>
              </a:rPr>
              <a:t> </a:t>
            </a:r>
            <a:r>
              <a:rPr sz="1200" dirty="0">
                <a:latin typeface="Times New Roman"/>
                <a:cs typeface="Times New Roman"/>
              </a:rPr>
              <a:t>and</a:t>
            </a:r>
            <a:r>
              <a:rPr sz="1200" spc="315" dirty="0">
                <a:latin typeface="Times New Roman"/>
                <a:cs typeface="Times New Roman"/>
              </a:rPr>
              <a:t> </a:t>
            </a:r>
            <a:r>
              <a:rPr sz="1200" dirty="0">
                <a:latin typeface="Times New Roman"/>
                <a:cs typeface="Times New Roman"/>
              </a:rPr>
              <a:t>devices.</a:t>
            </a:r>
            <a:r>
              <a:rPr sz="1200" spc="320" dirty="0">
                <a:latin typeface="Times New Roman"/>
                <a:cs typeface="Times New Roman"/>
              </a:rPr>
              <a:t> </a:t>
            </a:r>
            <a:r>
              <a:rPr sz="1200" spc="-10" dirty="0">
                <a:latin typeface="Times New Roman"/>
                <a:cs typeface="Times New Roman"/>
              </a:rPr>
              <a:t>Cloud-</a:t>
            </a:r>
            <a:r>
              <a:rPr sz="1200" dirty="0">
                <a:latin typeface="Times New Roman"/>
                <a:cs typeface="Times New Roman"/>
              </a:rPr>
              <a:t>based</a:t>
            </a:r>
            <a:r>
              <a:rPr sz="1200" spc="315" dirty="0">
                <a:latin typeface="Times New Roman"/>
                <a:cs typeface="Times New Roman"/>
              </a:rPr>
              <a:t> </a:t>
            </a:r>
            <a:r>
              <a:rPr sz="1200" dirty="0">
                <a:latin typeface="Times New Roman"/>
                <a:cs typeface="Times New Roman"/>
              </a:rPr>
              <a:t>systems</a:t>
            </a:r>
            <a:r>
              <a:rPr sz="1200" spc="320" dirty="0">
                <a:latin typeface="Times New Roman"/>
                <a:cs typeface="Times New Roman"/>
              </a:rPr>
              <a:t> </a:t>
            </a:r>
            <a:r>
              <a:rPr sz="1200" dirty="0">
                <a:latin typeface="Times New Roman"/>
                <a:cs typeface="Times New Roman"/>
              </a:rPr>
              <a:t>support</a:t>
            </a:r>
            <a:r>
              <a:rPr sz="1200" spc="310" dirty="0">
                <a:latin typeface="Times New Roman"/>
                <a:cs typeface="Times New Roman"/>
              </a:rPr>
              <a:t> </a:t>
            </a:r>
            <a:r>
              <a:rPr sz="1200" spc="-25" dirty="0">
                <a:latin typeface="Times New Roman"/>
                <a:cs typeface="Times New Roman"/>
              </a:rPr>
              <a:t>the </a:t>
            </a:r>
            <a:r>
              <a:rPr sz="1200" dirty="0">
                <a:latin typeface="Times New Roman"/>
                <a:cs typeface="Times New Roman"/>
              </a:rPr>
              <a:t>globalization</a:t>
            </a:r>
            <a:r>
              <a:rPr sz="1200" spc="434" dirty="0">
                <a:latin typeface="Times New Roman"/>
                <a:cs typeface="Times New Roman"/>
              </a:rPr>
              <a:t> </a:t>
            </a:r>
            <a:r>
              <a:rPr sz="1200" dirty="0">
                <a:latin typeface="Times New Roman"/>
                <a:cs typeface="Times New Roman"/>
              </a:rPr>
              <a:t>and</a:t>
            </a:r>
            <a:r>
              <a:rPr sz="1200" spc="434" dirty="0">
                <a:latin typeface="Times New Roman"/>
                <a:cs typeface="Times New Roman"/>
              </a:rPr>
              <a:t> </a:t>
            </a:r>
            <a:r>
              <a:rPr sz="1200" dirty="0">
                <a:latin typeface="Times New Roman"/>
                <a:cs typeface="Times New Roman"/>
              </a:rPr>
              <a:t>inclusivity</a:t>
            </a:r>
            <a:r>
              <a:rPr sz="1200" spc="440" dirty="0">
                <a:latin typeface="Times New Roman"/>
                <a:cs typeface="Times New Roman"/>
              </a:rPr>
              <a:t> </a:t>
            </a:r>
            <a:r>
              <a:rPr sz="1200" dirty="0">
                <a:latin typeface="Times New Roman"/>
                <a:cs typeface="Times New Roman"/>
              </a:rPr>
              <a:t>of</a:t>
            </a:r>
            <a:r>
              <a:rPr sz="1200" spc="430" dirty="0">
                <a:latin typeface="Times New Roman"/>
                <a:cs typeface="Times New Roman"/>
              </a:rPr>
              <a:t> </a:t>
            </a:r>
            <a:r>
              <a:rPr sz="1200" dirty="0">
                <a:latin typeface="Times New Roman"/>
                <a:cs typeface="Times New Roman"/>
              </a:rPr>
              <a:t>real</a:t>
            </a:r>
            <a:r>
              <a:rPr sz="1200" spc="440" dirty="0">
                <a:latin typeface="Times New Roman"/>
                <a:cs typeface="Times New Roman"/>
              </a:rPr>
              <a:t> </a:t>
            </a:r>
            <a:r>
              <a:rPr sz="1200" dirty="0">
                <a:latin typeface="Times New Roman"/>
                <a:cs typeface="Times New Roman"/>
              </a:rPr>
              <a:t>estate</a:t>
            </a:r>
            <a:r>
              <a:rPr sz="1200" spc="430" dirty="0">
                <a:latin typeface="Times New Roman"/>
                <a:cs typeface="Times New Roman"/>
              </a:rPr>
              <a:t> </a:t>
            </a:r>
            <a:r>
              <a:rPr sz="1200" dirty="0">
                <a:latin typeface="Times New Roman"/>
                <a:cs typeface="Times New Roman"/>
              </a:rPr>
              <a:t>auctions</a:t>
            </a:r>
            <a:r>
              <a:rPr sz="1200" spc="440" dirty="0">
                <a:latin typeface="Times New Roman"/>
                <a:cs typeface="Times New Roman"/>
              </a:rPr>
              <a:t> </a:t>
            </a:r>
            <a:r>
              <a:rPr sz="1200" dirty="0">
                <a:latin typeface="Times New Roman"/>
                <a:cs typeface="Times New Roman"/>
              </a:rPr>
              <a:t>by</a:t>
            </a:r>
            <a:r>
              <a:rPr sz="1200" spc="434" dirty="0">
                <a:latin typeface="Times New Roman"/>
                <a:cs typeface="Times New Roman"/>
              </a:rPr>
              <a:t> </a:t>
            </a:r>
            <a:r>
              <a:rPr sz="1200" dirty="0">
                <a:latin typeface="Times New Roman"/>
                <a:cs typeface="Times New Roman"/>
              </a:rPr>
              <a:t>offering</a:t>
            </a:r>
            <a:r>
              <a:rPr sz="1200" spc="434" dirty="0">
                <a:latin typeface="Times New Roman"/>
                <a:cs typeface="Times New Roman"/>
              </a:rPr>
              <a:t> </a:t>
            </a:r>
            <a:r>
              <a:rPr sz="1200" dirty="0">
                <a:latin typeface="Times New Roman"/>
                <a:cs typeface="Times New Roman"/>
              </a:rPr>
              <a:t>robust</a:t>
            </a:r>
            <a:r>
              <a:rPr sz="1200" spc="440" dirty="0">
                <a:latin typeface="Times New Roman"/>
                <a:cs typeface="Times New Roman"/>
              </a:rPr>
              <a:t> </a:t>
            </a:r>
            <a:r>
              <a:rPr sz="1200" dirty="0">
                <a:latin typeface="Times New Roman"/>
                <a:cs typeface="Times New Roman"/>
              </a:rPr>
              <a:t>and</a:t>
            </a:r>
            <a:r>
              <a:rPr sz="1200" spc="434" dirty="0">
                <a:latin typeface="Times New Roman"/>
                <a:cs typeface="Times New Roman"/>
              </a:rPr>
              <a:t> </a:t>
            </a:r>
            <a:r>
              <a:rPr sz="1200" spc="-10" dirty="0">
                <a:latin typeface="Times New Roman"/>
                <a:cs typeface="Times New Roman"/>
              </a:rPr>
              <a:t>scalable infrastructure.</a:t>
            </a:r>
            <a:endParaRPr sz="1200">
              <a:latin typeface="Times New Roman"/>
              <a:cs typeface="Times New Roman"/>
            </a:endParaRPr>
          </a:p>
          <a:p>
            <a:pPr marL="164465" indent="-151765">
              <a:lnSpc>
                <a:spcPct val="100000"/>
              </a:lnSpc>
              <a:spcBef>
                <a:spcPts val="1295"/>
              </a:spcBef>
              <a:buAutoNum type="arabicPeriod" startAt="6"/>
              <a:tabLst>
                <a:tab pos="164465" algn="l"/>
              </a:tabLst>
            </a:pPr>
            <a:r>
              <a:rPr sz="1200" b="1" dirty="0">
                <a:latin typeface="Times New Roman"/>
                <a:cs typeface="Times New Roman"/>
              </a:rPr>
              <a:t>User</a:t>
            </a:r>
            <a:r>
              <a:rPr sz="1200" b="1" spc="-25" dirty="0">
                <a:latin typeface="Times New Roman"/>
                <a:cs typeface="Times New Roman"/>
              </a:rPr>
              <a:t> </a:t>
            </a:r>
            <a:r>
              <a:rPr sz="1200" b="1" dirty="0">
                <a:latin typeface="Times New Roman"/>
                <a:cs typeface="Times New Roman"/>
              </a:rPr>
              <a:t>Experience</a:t>
            </a:r>
            <a:r>
              <a:rPr sz="1200" b="1" spc="-2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dirty="0">
                <a:latin typeface="Times New Roman"/>
                <a:cs typeface="Times New Roman"/>
              </a:rPr>
              <a:t>UI</a:t>
            </a:r>
            <a:r>
              <a:rPr sz="1200" b="1" spc="-15" dirty="0">
                <a:latin typeface="Times New Roman"/>
                <a:cs typeface="Times New Roman"/>
              </a:rPr>
              <a:t> </a:t>
            </a:r>
            <a:r>
              <a:rPr sz="1200" b="1" dirty="0">
                <a:latin typeface="Times New Roman"/>
                <a:cs typeface="Times New Roman"/>
              </a:rPr>
              <a:t>Design</a:t>
            </a:r>
            <a:r>
              <a:rPr sz="1200" b="1" spc="-10" dirty="0">
                <a:latin typeface="Times New Roman"/>
                <a:cs typeface="Times New Roman"/>
              </a:rPr>
              <a:t> </a:t>
            </a:r>
            <a:r>
              <a:rPr sz="1200" b="1" dirty="0">
                <a:latin typeface="Times New Roman"/>
                <a:cs typeface="Times New Roman"/>
              </a:rPr>
              <a:t>in</a:t>
            </a:r>
            <a:r>
              <a:rPr sz="1200" b="1" spc="-10" dirty="0">
                <a:latin typeface="Times New Roman"/>
                <a:cs typeface="Times New Roman"/>
              </a:rPr>
              <a:t> </a:t>
            </a:r>
            <a:r>
              <a:rPr sz="1200" b="1" dirty="0">
                <a:latin typeface="Times New Roman"/>
                <a:cs typeface="Times New Roman"/>
              </a:rPr>
              <a:t>Digital</a:t>
            </a:r>
            <a:r>
              <a:rPr sz="1200" b="1" spc="-15" dirty="0">
                <a:latin typeface="Times New Roman"/>
                <a:cs typeface="Times New Roman"/>
              </a:rPr>
              <a:t> </a:t>
            </a:r>
            <a:r>
              <a:rPr sz="1200" b="1" spc="-10" dirty="0">
                <a:latin typeface="Times New Roman"/>
                <a:cs typeface="Times New Roman"/>
              </a:rPr>
              <a:t>Auctions</a:t>
            </a:r>
            <a:endParaRPr sz="1200">
              <a:latin typeface="Times New Roman"/>
              <a:cs typeface="Times New Roman"/>
            </a:endParaRPr>
          </a:p>
          <a:p>
            <a:pPr>
              <a:lnSpc>
                <a:spcPct val="100000"/>
              </a:lnSpc>
              <a:buFont typeface="Times New Roman"/>
              <a:buAutoNum type="arabicPeriod" startAt="6"/>
            </a:pPr>
            <a:endParaRPr sz="1200">
              <a:latin typeface="Times New Roman"/>
              <a:cs typeface="Times New Roman"/>
            </a:endParaRPr>
          </a:p>
          <a:p>
            <a:pPr>
              <a:lnSpc>
                <a:spcPct val="100000"/>
              </a:lnSpc>
              <a:spcBef>
                <a:spcPts val="20"/>
              </a:spcBef>
              <a:buFont typeface="Times New Roman"/>
              <a:buAutoNum type="arabicPeriod" startAt="6"/>
            </a:pPr>
            <a:endParaRPr sz="1200">
              <a:latin typeface="Times New Roman"/>
              <a:cs typeface="Times New Roman"/>
            </a:endParaRPr>
          </a:p>
          <a:p>
            <a:pPr marL="12700" marR="6985" algn="just">
              <a:lnSpc>
                <a:spcPct val="95900"/>
              </a:lnSpc>
              <a:spcBef>
                <a:spcPts val="5"/>
              </a:spcBef>
            </a:pP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study</a:t>
            </a:r>
            <a:r>
              <a:rPr sz="1200" spc="130" dirty="0">
                <a:latin typeface="Times New Roman"/>
                <a:cs typeface="Times New Roman"/>
              </a:rPr>
              <a:t> </a:t>
            </a:r>
            <a:r>
              <a:rPr sz="1200" dirty="0">
                <a:latin typeface="Times New Roman"/>
                <a:cs typeface="Times New Roman"/>
              </a:rPr>
              <a:t>emphasized</a:t>
            </a:r>
            <a:r>
              <a:rPr sz="1200" spc="12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importance</a:t>
            </a:r>
            <a:r>
              <a:rPr sz="1200" spc="125" dirty="0">
                <a:latin typeface="Times New Roman"/>
                <a:cs typeface="Times New Roman"/>
              </a:rPr>
              <a:t> </a:t>
            </a:r>
            <a:r>
              <a:rPr sz="1200" dirty="0">
                <a:latin typeface="Times New Roman"/>
                <a:cs typeface="Times New Roman"/>
              </a:rPr>
              <a:t>of</a:t>
            </a:r>
            <a:r>
              <a:rPr sz="1200" spc="130" dirty="0">
                <a:latin typeface="Times New Roman"/>
                <a:cs typeface="Times New Roman"/>
              </a:rPr>
              <a:t> </a:t>
            </a:r>
            <a:r>
              <a:rPr sz="1200" dirty="0">
                <a:latin typeface="Times New Roman"/>
                <a:cs typeface="Times New Roman"/>
              </a:rPr>
              <a:t>user</a:t>
            </a:r>
            <a:r>
              <a:rPr sz="1200" spc="135" dirty="0">
                <a:latin typeface="Times New Roman"/>
                <a:cs typeface="Times New Roman"/>
              </a:rPr>
              <a:t> </a:t>
            </a:r>
            <a:r>
              <a:rPr sz="1200" dirty="0">
                <a:latin typeface="Times New Roman"/>
                <a:cs typeface="Times New Roman"/>
              </a:rPr>
              <a:t>interface</a:t>
            </a:r>
            <a:r>
              <a:rPr sz="1200" spc="130" dirty="0">
                <a:latin typeface="Times New Roman"/>
                <a:cs typeface="Times New Roman"/>
              </a:rPr>
              <a:t> </a:t>
            </a:r>
            <a:r>
              <a:rPr sz="1200" dirty="0">
                <a:latin typeface="Times New Roman"/>
                <a:cs typeface="Times New Roman"/>
              </a:rPr>
              <a:t>(UI)</a:t>
            </a:r>
            <a:r>
              <a:rPr sz="1200" spc="135" dirty="0">
                <a:latin typeface="Times New Roman"/>
                <a:cs typeface="Times New Roman"/>
              </a:rPr>
              <a:t> </a:t>
            </a:r>
            <a:r>
              <a:rPr sz="1200" dirty="0">
                <a:latin typeface="Times New Roman"/>
                <a:cs typeface="Times New Roman"/>
              </a:rPr>
              <a:t>and</a:t>
            </a:r>
            <a:r>
              <a:rPr sz="1200" spc="135" dirty="0">
                <a:latin typeface="Times New Roman"/>
                <a:cs typeface="Times New Roman"/>
              </a:rPr>
              <a:t> </a:t>
            </a:r>
            <a:r>
              <a:rPr sz="1200" dirty="0">
                <a:latin typeface="Times New Roman"/>
                <a:cs typeface="Times New Roman"/>
              </a:rPr>
              <a:t>user</a:t>
            </a:r>
            <a:r>
              <a:rPr sz="1200" spc="130" dirty="0">
                <a:latin typeface="Times New Roman"/>
                <a:cs typeface="Times New Roman"/>
              </a:rPr>
              <a:t> </a:t>
            </a:r>
            <a:r>
              <a:rPr sz="1200" dirty="0">
                <a:latin typeface="Times New Roman"/>
                <a:cs typeface="Times New Roman"/>
              </a:rPr>
              <a:t>experience</a:t>
            </a:r>
            <a:r>
              <a:rPr sz="1200" spc="125" dirty="0">
                <a:latin typeface="Times New Roman"/>
                <a:cs typeface="Times New Roman"/>
              </a:rPr>
              <a:t> </a:t>
            </a:r>
            <a:r>
              <a:rPr sz="1200" dirty="0">
                <a:latin typeface="Times New Roman"/>
                <a:cs typeface="Times New Roman"/>
              </a:rPr>
              <a:t>(UX)</a:t>
            </a:r>
            <a:r>
              <a:rPr sz="1200" spc="130" dirty="0">
                <a:latin typeface="Times New Roman"/>
                <a:cs typeface="Times New Roman"/>
              </a:rPr>
              <a:t> </a:t>
            </a:r>
            <a:r>
              <a:rPr sz="1200" spc="-25" dirty="0">
                <a:latin typeface="Times New Roman"/>
                <a:cs typeface="Times New Roman"/>
              </a:rPr>
              <a:t>in </a:t>
            </a:r>
            <a:r>
              <a:rPr sz="1200" dirty="0">
                <a:latin typeface="Times New Roman"/>
                <a:cs typeface="Times New Roman"/>
              </a:rPr>
              <a:t>enhancing</a:t>
            </a:r>
            <a:r>
              <a:rPr sz="1200" spc="-45" dirty="0">
                <a:latin typeface="Times New Roman"/>
                <a:cs typeface="Times New Roman"/>
              </a:rPr>
              <a:t> </a:t>
            </a:r>
            <a:r>
              <a:rPr sz="1200" dirty="0">
                <a:latin typeface="Times New Roman"/>
                <a:cs typeface="Times New Roman"/>
              </a:rPr>
              <a:t>bidder</a:t>
            </a:r>
            <a:r>
              <a:rPr sz="1200" spc="-55" dirty="0">
                <a:latin typeface="Times New Roman"/>
                <a:cs typeface="Times New Roman"/>
              </a:rPr>
              <a:t> </a:t>
            </a:r>
            <a:r>
              <a:rPr sz="1200" dirty="0">
                <a:latin typeface="Times New Roman"/>
                <a:cs typeface="Times New Roman"/>
              </a:rPr>
              <a:t>engagement.</a:t>
            </a:r>
            <a:r>
              <a:rPr sz="1200" spc="-50" dirty="0">
                <a:latin typeface="Times New Roman"/>
                <a:cs typeface="Times New Roman"/>
              </a:rPr>
              <a:t> </a:t>
            </a:r>
            <a:r>
              <a:rPr sz="1200" dirty="0">
                <a:latin typeface="Times New Roman"/>
                <a:cs typeface="Times New Roman"/>
              </a:rPr>
              <a:t>By</a:t>
            </a:r>
            <a:r>
              <a:rPr sz="1200" spc="-50" dirty="0">
                <a:latin typeface="Times New Roman"/>
                <a:cs typeface="Times New Roman"/>
              </a:rPr>
              <a:t> </a:t>
            </a:r>
            <a:r>
              <a:rPr sz="1200" dirty="0">
                <a:latin typeface="Times New Roman"/>
                <a:cs typeface="Times New Roman"/>
              </a:rPr>
              <a:t>analyzing</a:t>
            </a:r>
            <a:r>
              <a:rPr sz="1200" spc="-45" dirty="0">
                <a:latin typeface="Times New Roman"/>
                <a:cs typeface="Times New Roman"/>
              </a:rPr>
              <a:t> </a:t>
            </a:r>
            <a:r>
              <a:rPr sz="1200" dirty="0">
                <a:latin typeface="Times New Roman"/>
                <a:cs typeface="Times New Roman"/>
              </a:rPr>
              <a:t>platforms</a:t>
            </a:r>
            <a:r>
              <a:rPr sz="1200" spc="-50" dirty="0">
                <a:latin typeface="Times New Roman"/>
                <a:cs typeface="Times New Roman"/>
              </a:rPr>
              <a:t> </a:t>
            </a:r>
            <a:r>
              <a:rPr sz="1200" dirty="0">
                <a:latin typeface="Times New Roman"/>
                <a:cs typeface="Times New Roman"/>
              </a:rPr>
              <a:t>built</a:t>
            </a:r>
            <a:r>
              <a:rPr sz="1200" spc="-4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responsive</a:t>
            </a:r>
            <a:r>
              <a:rPr sz="1200" spc="-55" dirty="0">
                <a:latin typeface="Times New Roman"/>
                <a:cs typeface="Times New Roman"/>
              </a:rPr>
              <a:t> </a:t>
            </a:r>
            <a:r>
              <a:rPr sz="1200" dirty="0">
                <a:latin typeface="Times New Roman"/>
                <a:cs typeface="Times New Roman"/>
              </a:rPr>
              <a:t>frameworks</a:t>
            </a:r>
            <a:r>
              <a:rPr sz="1200" spc="-50" dirty="0">
                <a:latin typeface="Times New Roman"/>
                <a:cs typeface="Times New Roman"/>
              </a:rPr>
              <a:t> </a:t>
            </a:r>
            <a:r>
              <a:rPr sz="1200" spc="-20" dirty="0">
                <a:latin typeface="Times New Roman"/>
                <a:cs typeface="Times New Roman"/>
              </a:rPr>
              <a:t>like </a:t>
            </a:r>
            <a:r>
              <a:rPr sz="1200" dirty="0">
                <a:latin typeface="Times New Roman"/>
                <a:cs typeface="Times New Roman"/>
              </a:rPr>
              <a:t>React.js,</a:t>
            </a:r>
            <a:r>
              <a:rPr sz="1200" spc="10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research</a:t>
            </a:r>
            <a:r>
              <a:rPr sz="1200" spc="100" dirty="0">
                <a:latin typeface="Times New Roman"/>
                <a:cs typeface="Times New Roman"/>
              </a:rPr>
              <a:t> </a:t>
            </a:r>
            <a:r>
              <a:rPr sz="1200" dirty="0">
                <a:latin typeface="Times New Roman"/>
                <a:cs typeface="Times New Roman"/>
              </a:rPr>
              <a:t>showed</a:t>
            </a:r>
            <a:r>
              <a:rPr sz="1200" spc="100" dirty="0">
                <a:latin typeface="Times New Roman"/>
                <a:cs typeface="Times New Roman"/>
              </a:rPr>
              <a:t> </a:t>
            </a:r>
            <a:r>
              <a:rPr sz="1200" dirty="0">
                <a:latin typeface="Times New Roman"/>
                <a:cs typeface="Times New Roman"/>
              </a:rPr>
              <a:t>how</a:t>
            </a:r>
            <a:r>
              <a:rPr sz="1200" spc="95" dirty="0">
                <a:latin typeface="Times New Roman"/>
                <a:cs typeface="Times New Roman"/>
              </a:rPr>
              <a:t> </a:t>
            </a:r>
            <a:r>
              <a:rPr sz="1200" dirty="0">
                <a:latin typeface="Times New Roman"/>
                <a:cs typeface="Times New Roman"/>
              </a:rPr>
              <a:t>intuitive</a:t>
            </a:r>
            <a:r>
              <a:rPr sz="1200" spc="95" dirty="0">
                <a:latin typeface="Times New Roman"/>
                <a:cs typeface="Times New Roman"/>
              </a:rPr>
              <a:t> </a:t>
            </a:r>
            <a:r>
              <a:rPr sz="1200" dirty="0">
                <a:latin typeface="Times New Roman"/>
                <a:cs typeface="Times New Roman"/>
              </a:rPr>
              <a:t>design</a:t>
            </a:r>
            <a:r>
              <a:rPr sz="1200" spc="100" dirty="0">
                <a:latin typeface="Times New Roman"/>
                <a:cs typeface="Times New Roman"/>
              </a:rPr>
              <a:t> </a:t>
            </a:r>
            <a:r>
              <a:rPr sz="1200" dirty="0">
                <a:latin typeface="Times New Roman"/>
                <a:cs typeface="Times New Roman"/>
              </a:rPr>
              <a:t>improves</a:t>
            </a:r>
            <a:r>
              <a:rPr sz="1200" spc="100" dirty="0">
                <a:latin typeface="Times New Roman"/>
                <a:cs typeface="Times New Roman"/>
              </a:rPr>
              <a:t> </a:t>
            </a:r>
            <a:r>
              <a:rPr sz="1200" dirty="0">
                <a:latin typeface="Times New Roman"/>
                <a:cs typeface="Times New Roman"/>
              </a:rPr>
              <a:t>usability</a:t>
            </a:r>
            <a:r>
              <a:rPr sz="1200" spc="90" dirty="0">
                <a:latin typeface="Times New Roman"/>
                <a:cs typeface="Times New Roman"/>
              </a:rPr>
              <a:t> </a:t>
            </a:r>
            <a:r>
              <a:rPr sz="1200" dirty="0">
                <a:latin typeface="Times New Roman"/>
                <a:cs typeface="Times New Roman"/>
              </a:rPr>
              <a:t>for</a:t>
            </a:r>
            <a:r>
              <a:rPr sz="1200" spc="90" dirty="0">
                <a:latin typeface="Times New Roman"/>
                <a:cs typeface="Times New Roman"/>
              </a:rPr>
              <a:t> </a:t>
            </a:r>
            <a:r>
              <a:rPr sz="1200" dirty="0">
                <a:latin typeface="Times New Roman"/>
                <a:cs typeface="Times New Roman"/>
              </a:rPr>
              <a:t>both</a:t>
            </a:r>
            <a:r>
              <a:rPr sz="1200" spc="100" dirty="0">
                <a:latin typeface="Times New Roman"/>
                <a:cs typeface="Times New Roman"/>
              </a:rPr>
              <a:t> </a:t>
            </a:r>
            <a:r>
              <a:rPr sz="1200" dirty="0">
                <a:latin typeface="Times New Roman"/>
                <a:cs typeface="Times New Roman"/>
              </a:rPr>
              <a:t>novice</a:t>
            </a:r>
            <a:r>
              <a:rPr sz="1200" spc="90" dirty="0">
                <a:latin typeface="Times New Roman"/>
                <a:cs typeface="Times New Roman"/>
              </a:rPr>
              <a:t> </a:t>
            </a:r>
            <a:r>
              <a:rPr sz="1200" spc="-25" dirty="0">
                <a:latin typeface="Times New Roman"/>
                <a:cs typeface="Times New Roman"/>
              </a:rPr>
              <a:t>and </a:t>
            </a:r>
            <a:r>
              <a:rPr sz="1200" dirty="0">
                <a:latin typeface="Times New Roman"/>
                <a:cs typeface="Times New Roman"/>
              </a:rPr>
              <a:t>expert</a:t>
            </a:r>
            <a:r>
              <a:rPr sz="1200" spc="135" dirty="0">
                <a:latin typeface="Times New Roman"/>
                <a:cs typeface="Times New Roman"/>
              </a:rPr>
              <a:t> </a:t>
            </a:r>
            <a:r>
              <a:rPr sz="1200" dirty="0">
                <a:latin typeface="Times New Roman"/>
                <a:cs typeface="Times New Roman"/>
              </a:rPr>
              <a:t>users,</a:t>
            </a:r>
            <a:r>
              <a:rPr sz="1200" spc="140" dirty="0">
                <a:latin typeface="Times New Roman"/>
                <a:cs typeface="Times New Roman"/>
              </a:rPr>
              <a:t> </a:t>
            </a:r>
            <a:r>
              <a:rPr sz="1200" dirty="0">
                <a:latin typeface="Times New Roman"/>
                <a:cs typeface="Times New Roman"/>
              </a:rPr>
              <a:t>reduces</a:t>
            </a:r>
            <a:r>
              <a:rPr sz="1200" spc="140" dirty="0">
                <a:latin typeface="Times New Roman"/>
                <a:cs typeface="Times New Roman"/>
              </a:rPr>
              <a:t> </a:t>
            </a:r>
            <a:r>
              <a:rPr sz="1200" dirty="0">
                <a:latin typeface="Times New Roman"/>
                <a:cs typeface="Times New Roman"/>
              </a:rPr>
              <a:t>friction</a:t>
            </a:r>
            <a:r>
              <a:rPr sz="1200" spc="135" dirty="0">
                <a:latin typeface="Times New Roman"/>
                <a:cs typeface="Times New Roman"/>
              </a:rPr>
              <a:t> </a:t>
            </a:r>
            <a:r>
              <a:rPr sz="1200" dirty="0">
                <a:latin typeface="Times New Roman"/>
                <a:cs typeface="Times New Roman"/>
              </a:rPr>
              <a:t>in</a:t>
            </a:r>
            <a:r>
              <a:rPr sz="1200" spc="140" dirty="0">
                <a:latin typeface="Times New Roman"/>
                <a:cs typeface="Times New Roman"/>
              </a:rPr>
              <a:t> </a:t>
            </a:r>
            <a:r>
              <a:rPr sz="1200" dirty="0">
                <a:latin typeface="Times New Roman"/>
                <a:cs typeface="Times New Roman"/>
              </a:rPr>
              <a:t>the</a:t>
            </a:r>
            <a:r>
              <a:rPr sz="1200" spc="135" dirty="0">
                <a:latin typeface="Times New Roman"/>
                <a:cs typeface="Times New Roman"/>
              </a:rPr>
              <a:t> </a:t>
            </a:r>
            <a:r>
              <a:rPr sz="1200" dirty="0">
                <a:latin typeface="Times New Roman"/>
                <a:cs typeface="Times New Roman"/>
              </a:rPr>
              <a:t>bidding</a:t>
            </a:r>
            <a:r>
              <a:rPr sz="1200" spc="140" dirty="0">
                <a:latin typeface="Times New Roman"/>
                <a:cs typeface="Times New Roman"/>
              </a:rPr>
              <a:t> </a:t>
            </a:r>
            <a:r>
              <a:rPr sz="1200" dirty="0">
                <a:latin typeface="Times New Roman"/>
                <a:cs typeface="Times New Roman"/>
              </a:rPr>
              <a:t>process,</a:t>
            </a:r>
            <a:r>
              <a:rPr sz="1200" spc="13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boosts</a:t>
            </a:r>
            <a:r>
              <a:rPr sz="1200" spc="140" dirty="0">
                <a:latin typeface="Times New Roman"/>
                <a:cs typeface="Times New Roman"/>
              </a:rPr>
              <a:t> </a:t>
            </a:r>
            <a:r>
              <a:rPr sz="1200" dirty="0">
                <a:latin typeface="Times New Roman"/>
                <a:cs typeface="Times New Roman"/>
              </a:rPr>
              <a:t>participation</a:t>
            </a:r>
            <a:r>
              <a:rPr sz="1200" spc="135" dirty="0">
                <a:latin typeface="Times New Roman"/>
                <a:cs typeface="Times New Roman"/>
              </a:rPr>
              <a:t> </a:t>
            </a:r>
            <a:r>
              <a:rPr sz="1200" dirty="0">
                <a:latin typeface="Times New Roman"/>
                <a:cs typeface="Times New Roman"/>
              </a:rPr>
              <a:t>rates.</a:t>
            </a:r>
            <a:r>
              <a:rPr sz="1200" spc="140" dirty="0">
                <a:latin typeface="Times New Roman"/>
                <a:cs typeface="Times New Roman"/>
              </a:rPr>
              <a:t> </a:t>
            </a:r>
            <a:r>
              <a:rPr sz="1200" spc="-20" dirty="0">
                <a:latin typeface="Times New Roman"/>
                <a:cs typeface="Times New Roman"/>
              </a:rPr>
              <a:t>Good </a:t>
            </a:r>
            <a:r>
              <a:rPr sz="1200" dirty="0">
                <a:latin typeface="Times New Roman"/>
                <a:cs typeface="Times New Roman"/>
              </a:rPr>
              <a:t>UI/UX</a:t>
            </a:r>
            <a:r>
              <a:rPr sz="1200" spc="-2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key</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building</a:t>
            </a:r>
            <a:r>
              <a:rPr sz="1200" spc="-15" dirty="0">
                <a:latin typeface="Times New Roman"/>
                <a:cs typeface="Times New Roman"/>
              </a:rPr>
              <a:t> </a:t>
            </a:r>
            <a:r>
              <a:rPr sz="1200" dirty="0">
                <a:latin typeface="Times New Roman"/>
                <a:cs typeface="Times New Roman"/>
              </a:rPr>
              <a:t>trust</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ease-of-</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digital</a:t>
            </a:r>
            <a:r>
              <a:rPr sz="1200" spc="-15" dirty="0">
                <a:latin typeface="Times New Roman"/>
                <a:cs typeface="Times New Roman"/>
              </a:rPr>
              <a:t> </a:t>
            </a:r>
            <a:r>
              <a:rPr sz="1200" dirty="0">
                <a:latin typeface="Times New Roman"/>
                <a:cs typeface="Times New Roman"/>
              </a:rPr>
              <a:t>auction</a:t>
            </a:r>
            <a:r>
              <a:rPr sz="1200" spc="-15" dirty="0">
                <a:latin typeface="Times New Roman"/>
                <a:cs typeface="Times New Roman"/>
              </a:rPr>
              <a:t> </a:t>
            </a:r>
            <a:r>
              <a:rPr sz="1200" spc="-10" dirty="0">
                <a:latin typeface="Times New Roman"/>
                <a:cs typeface="Times New Roman"/>
              </a:rPr>
              <a:t>environments.</a:t>
            </a:r>
            <a:endParaRPr sz="1200">
              <a:latin typeface="Times New Roman"/>
              <a:cs typeface="Times New Roman"/>
            </a:endParaRPr>
          </a:p>
          <a:p>
            <a:pPr marL="164465" indent="-151765">
              <a:lnSpc>
                <a:spcPct val="100000"/>
              </a:lnSpc>
              <a:spcBef>
                <a:spcPts val="1340"/>
              </a:spcBef>
              <a:buAutoNum type="arabicPeriod" startAt="7"/>
              <a:tabLst>
                <a:tab pos="164465" algn="l"/>
              </a:tabLst>
            </a:pPr>
            <a:r>
              <a:rPr sz="1200" b="1" dirty="0">
                <a:latin typeface="Times New Roman"/>
                <a:cs typeface="Times New Roman"/>
              </a:rPr>
              <a:t>Comparing</a:t>
            </a:r>
            <a:r>
              <a:rPr sz="1200" b="1" spc="-30" dirty="0">
                <a:latin typeface="Times New Roman"/>
                <a:cs typeface="Times New Roman"/>
              </a:rPr>
              <a:t> </a:t>
            </a:r>
            <a:r>
              <a:rPr sz="1200" b="1" dirty="0">
                <a:latin typeface="Times New Roman"/>
                <a:cs typeface="Times New Roman"/>
              </a:rPr>
              <a:t>Traditional</a:t>
            </a:r>
            <a:r>
              <a:rPr sz="1200" b="1" spc="-25" dirty="0">
                <a:latin typeface="Times New Roman"/>
                <a:cs typeface="Times New Roman"/>
              </a:rPr>
              <a:t> </a:t>
            </a:r>
            <a:r>
              <a:rPr sz="1200" b="1" dirty="0">
                <a:latin typeface="Times New Roman"/>
                <a:cs typeface="Times New Roman"/>
              </a:rPr>
              <a:t>vs.</a:t>
            </a:r>
            <a:r>
              <a:rPr sz="1200" b="1" spc="-25" dirty="0">
                <a:latin typeface="Times New Roman"/>
                <a:cs typeface="Times New Roman"/>
              </a:rPr>
              <a:t> </a:t>
            </a:r>
            <a:r>
              <a:rPr sz="1200" b="1" spc="-10" dirty="0">
                <a:latin typeface="Times New Roman"/>
                <a:cs typeface="Times New Roman"/>
              </a:rPr>
              <a:t>AI-</a:t>
            </a:r>
            <a:r>
              <a:rPr sz="1200" b="1" dirty="0">
                <a:latin typeface="Times New Roman"/>
                <a:cs typeface="Times New Roman"/>
              </a:rPr>
              <a:t>Enhanced</a:t>
            </a:r>
            <a:r>
              <a:rPr sz="1200" b="1" spc="-25" dirty="0">
                <a:latin typeface="Times New Roman"/>
                <a:cs typeface="Times New Roman"/>
              </a:rPr>
              <a:t> </a:t>
            </a:r>
            <a:r>
              <a:rPr sz="1200" b="1" dirty="0">
                <a:latin typeface="Times New Roman"/>
                <a:cs typeface="Times New Roman"/>
              </a:rPr>
              <a:t>Property</a:t>
            </a:r>
            <a:r>
              <a:rPr sz="1200" b="1" spc="-25" dirty="0">
                <a:latin typeface="Times New Roman"/>
                <a:cs typeface="Times New Roman"/>
              </a:rPr>
              <a:t> </a:t>
            </a:r>
            <a:r>
              <a:rPr sz="1200" b="1" spc="-10" dirty="0">
                <a:latin typeface="Times New Roman"/>
                <a:cs typeface="Times New Roman"/>
              </a:rPr>
              <a:t>Auctions</a:t>
            </a:r>
            <a:endParaRPr sz="1200">
              <a:latin typeface="Times New Roman"/>
              <a:cs typeface="Times New Roman"/>
            </a:endParaRPr>
          </a:p>
          <a:p>
            <a:pPr>
              <a:lnSpc>
                <a:spcPct val="100000"/>
              </a:lnSpc>
              <a:spcBef>
                <a:spcPts val="50"/>
              </a:spcBef>
            </a:pPr>
            <a:endParaRPr sz="1200">
              <a:latin typeface="Times New Roman"/>
              <a:cs typeface="Times New Roman"/>
            </a:endParaRPr>
          </a:p>
          <a:p>
            <a:pPr marL="12700" marR="5080" algn="just">
              <a:lnSpc>
                <a:spcPts val="1380"/>
              </a:lnSpc>
            </a:pPr>
            <a:r>
              <a:rPr sz="1200" spc="-1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comparative</a:t>
            </a:r>
            <a:r>
              <a:rPr sz="1200" spc="-35" dirty="0">
                <a:latin typeface="Times New Roman"/>
                <a:cs typeface="Times New Roman"/>
              </a:rPr>
              <a:t> </a:t>
            </a:r>
            <a:r>
              <a:rPr sz="1200" dirty="0">
                <a:latin typeface="Times New Roman"/>
                <a:cs typeface="Times New Roman"/>
              </a:rPr>
              <a:t>study</a:t>
            </a:r>
            <a:r>
              <a:rPr sz="1200" spc="-30" dirty="0">
                <a:latin typeface="Times New Roman"/>
                <a:cs typeface="Times New Roman"/>
              </a:rPr>
              <a:t> </a:t>
            </a:r>
            <a:r>
              <a:rPr sz="1200" spc="-10" dirty="0">
                <a:latin typeface="Times New Roman"/>
                <a:cs typeface="Times New Roman"/>
              </a:rPr>
              <a:t>evaluated</a:t>
            </a:r>
            <a:r>
              <a:rPr sz="1200" spc="-30" dirty="0">
                <a:latin typeface="Times New Roman"/>
                <a:cs typeface="Times New Roman"/>
              </a:rPr>
              <a:t> </a:t>
            </a:r>
            <a:r>
              <a:rPr sz="1200" spc="-10" dirty="0">
                <a:latin typeface="Times New Roman"/>
                <a:cs typeface="Times New Roman"/>
              </a:rPr>
              <a:t>conventional</a:t>
            </a:r>
            <a:r>
              <a:rPr sz="1200" spc="-30" dirty="0">
                <a:latin typeface="Times New Roman"/>
                <a:cs typeface="Times New Roman"/>
              </a:rPr>
              <a:t> </a:t>
            </a:r>
            <a:r>
              <a:rPr sz="1200" spc="-10" dirty="0">
                <a:latin typeface="Times New Roman"/>
                <a:cs typeface="Times New Roman"/>
              </a:rPr>
              <a:t>real</a:t>
            </a:r>
            <a:r>
              <a:rPr sz="1200" spc="-30" dirty="0">
                <a:latin typeface="Times New Roman"/>
                <a:cs typeface="Times New Roman"/>
              </a:rPr>
              <a:t> </a:t>
            </a:r>
            <a:r>
              <a:rPr sz="1200" spc="-10" dirty="0">
                <a:latin typeface="Times New Roman"/>
                <a:cs typeface="Times New Roman"/>
              </a:rPr>
              <a:t>estate</a:t>
            </a:r>
            <a:r>
              <a:rPr sz="1200" spc="-40" dirty="0">
                <a:latin typeface="Times New Roman"/>
                <a:cs typeface="Times New Roman"/>
              </a:rPr>
              <a:t> </a:t>
            </a:r>
            <a:r>
              <a:rPr sz="1200" spc="-10" dirty="0">
                <a:latin typeface="Times New Roman"/>
                <a:cs typeface="Times New Roman"/>
              </a:rPr>
              <a:t>auctions</a:t>
            </a:r>
            <a:r>
              <a:rPr sz="1200" spc="-30" dirty="0">
                <a:latin typeface="Times New Roman"/>
                <a:cs typeface="Times New Roman"/>
              </a:rPr>
              <a:t> </a:t>
            </a:r>
            <a:r>
              <a:rPr sz="1200" spc="-10" dirty="0">
                <a:latin typeface="Times New Roman"/>
                <a:cs typeface="Times New Roman"/>
              </a:rPr>
              <a:t>against AI-powered</a:t>
            </a:r>
            <a:r>
              <a:rPr sz="1200" spc="-35" dirty="0">
                <a:latin typeface="Times New Roman"/>
                <a:cs typeface="Times New Roman"/>
              </a:rPr>
              <a:t> </a:t>
            </a:r>
            <a:r>
              <a:rPr sz="1200" spc="-10" dirty="0">
                <a:latin typeface="Times New Roman"/>
                <a:cs typeface="Times New Roman"/>
              </a:rPr>
              <a:t>digital </a:t>
            </a:r>
            <a:r>
              <a:rPr sz="1200" dirty="0">
                <a:latin typeface="Times New Roman"/>
                <a:cs typeface="Times New Roman"/>
              </a:rPr>
              <a:t>platforms.</a:t>
            </a:r>
            <a:r>
              <a:rPr sz="1200" spc="235" dirty="0">
                <a:latin typeface="Times New Roman"/>
                <a:cs typeface="Times New Roman"/>
              </a:rPr>
              <a:t> </a:t>
            </a:r>
            <a:r>
              <a:rPr sz="1200" dirty="0">
                <a:latin typeface="Times New Roman"/>
                <a:cs typeface="Times New Roman"/>
              </a:rPr>
              <a:t>Key</a:t>
            </a:r>
            <a:r>
              <a:rPr sz="1200" spc="240" dirty="0">
                <a:latin typeface="Times New Roman"/>
                <a:cs typeface="Times New Roman"/>
              </a:rPr>
              <a:t> </a:t>
            </a:r>
            <a:r>
              <a:rPr sz="1200" dirty="0">
                <a:latin typeface="Times New Roman"/>
                <a:cs typeface="Times New Roman"/>
              </a:rPr>
              <a:t>outcomes</a:t>
            </a:r>
            <a:r>
              <a:rPr sz="1200" spc="245" dirty="0">
                <a:latin typeface="Times New Roman"/>
                <a:cs typeface="Times New Roman"/>
              </a:rPr>
              <a:t> </a:t>
            </a:r>
            <a:r>
              <a:rPr sz="1200" dirty="0">
                <a:latin typeface="Times New Roman"/>
                <a:cs typeface="Times New Roman"/>
              </a:rPr>
              <a:t>included</a:t>
            </a:r>
            <a:r>
              <a:rPr sz="1200" spc="235" dirty="0">
                <a:latin typeface="Times New Roman"/>
                <a:cs typeface="Times New Roman"/>
              </a:rPr>
              <a:t> </a:t>
            </a:r>
            <a:r>
              <a:rPr sz="1200" dirty="0">
                <a:latin typeface="Times New Roman"/>
                <a:cs typeface="Times New Roman"/>
              </a:rPr>
              <a:t>reduced</a:t>
            </a:r>
            <a:r>
              <a:rPr sz="1200" spc="240" dirty="0">
                <a:latin typeface="Times New Roman"/>
                <a:cs typeface="Times New Roman"/>
              </a:rPr>
              <a:t> </a:t>
            </a:r>
            <a:r>
              <a:rPr sz="1200" dirty="0">
                <a:latin typeface="Times New Roman"/>
                <a:cs typeface="Times New Roman"/>
              </a:rPr>
              <a:t>fraud</a:t>
            </a:r>
            <a:r>
              <a:rPr sz="1200" spc="240" dirty="0">
                <a:latin typeface="Times New Roman"/>
                <a:cs typeface="Times New Roman"/>
              </a:rPr>
              <a:t> </a:t>
            </a:r>
            <a:r>
              <a:rPr sz="1200" dirty="0">
                <a:latin typeface="Times New Roman"/>
                <a:cs typeface="Times New Roman"/>
              </a:rPr>
              <a:t>incidents,</a:t>
            </a:r>
            <a:r>
              <a:rPr sz="1200" spc="240" dirty="0">
                <a:latin typeface="Times New Roman"/>
                <a:cs typeface="Times New Roman"/>
              </a:rPr>
              <a:t> </a:t>
            </a:r>
            <a:r>
              <a:rPr sz="1200" dirty="0">
                <a:latin typeface="Times New Roman"/>
                <a:cs typeface="Times New Roman"/>
              </a:rPr>
              <a:t>higher</a:t>
            </a:r>
            <a:r>
              <a:rPr sz="1200" spc="235" dirty="0">
                <a:latin typeface="Times New Roman"/>
                <a:cs typeface="Times New Roman"/>
              </a:rPr>
              <a:t> </a:t>
            </a:r>
            <a:r>
              <a:rPr sz="1200" dirty="0">
                <a:latin typeface="Times New Roman"/>
                <a:cs typeface="Times New Roman"/>
              </a:rPr>
              <a:t>accuracy</a:t>
            </a:r>
            <a:r>
              <a:rPr sz="1200" spc="240" dirty="0">
                <a:latin typeface="Times New Roman"/>
                <a:cs typeface="Times New Roman"/>
              </a:rPr>
              <a:t> </a:t>
            </a:r>
            <a:r>
              <a:rPr sz="1200" dirty="0">
                <a:latin typeface="Times New Roman"/>
                <a:cs typeface="Times New Roman"/>
              </a:rPr>
              <a:t>in</a:t>
            </a:r>
            <a:r>
              <a:rPr sz="1200" spc="245" dirty="0">
                <a:latin typeface="Times New Roman"/>
                <a:cs typeface="Times New Roman"/>
              </a:rPr>
              <a:t> </a:t>
            </a:r>
            <a:r>
              <a:rPr sz="1200" spc="-10" dirty="0">
                <a:latin typeface="Times New Roman"/>
                <a:cs typeface="Times New Roman"/>
              </a:rPr>
              <a:t>property </a:t>
            </a:r>
            <a:r>
              <a:rPr sz="1200" dirty="0">
                <a:latin typeface="Times New Roman"/>
                <a:cs typeface="Times New Roman"/>
              </a:rPr>
              <a:t>valuation,</a:t>
            </a:r>
            <a:r>
              <a:rPr sz="1200" spc="305" dirty="0">
                <a:latin typeface="Times New Roman"/>
                <a:cs typeface="Times New Roman"/>
              </a:rPr>
              <a:t> </a:t>
            </a:r>
            <a:r>
              <a:rPr sz="1200" dirty="0">
                <a:latin typeface="Times New Roman"/>
                <a:cs typeface="Times New Roman"/>
              </a:rPr>
              <a:t>and</a:t>
            </a:r>
            <a:r>
              <a:rPr sz="1200" spc="300" dirty="0">
                <a:latin typeface="Times New Roman"/>
                <a:cs typeface="Times New Roman"/>
              </a:rPr>
              <a:t> </a:t>
            </a:r>
            <a:r>
              <a:rPr sz="1200" dirty="0">
                <a:latin typeface="Times New Roman"/>
                <a:cs typeface="Times New Roman"/>
              </a:rPr>
              <a:t>increased</a:t>
            </a:r>
            <a:r>
              <a:rPr sz="1200" spc="300" dirty="0">
                <a:latin typeface="Times New Roman"/>
                <a:cs typeface="Times New Roman"/>
              </a:rPr>
              <a:t> </a:t>
            </a:r>
            <a:r>
              <a:rPr sz="1200" dirty="0">
                <a:latin typeface="Times New Roman"/>
                <a:cs typeface="Times New Roman"/>
              </a:rPr>
              <a:t>bidder</a:t>
            </a:r>
            <a:r>
              <a:rPr sz="1200" spc="295" dirty="0">
                <a:latin typeface="Times New Roman"/>
                <a:cs typeface="Times New Roman"/>
              </a:rPr>
              <a:t> </a:t>
            </a:r>
            <a:r>
              <a:rPr sz="1200" dirty="0">
                <a:latin typeface="Times New Roman"/>
                <a:cs typeface="Times New Roman"/>
              </a:rPr>
              <a:t>turnout.</a:t>
            </a:r>
            <a:r>
              <a:rPr sz="1200" spc="305" dirty="0">
                <a:latin typeface="Times New Roman"/>
                <a:cs typeface="Times New Roman"/>
              </a:rPr>
              <a:t> </a:t>
            </a:r>
            <a:r>
              <a:rPr sz="1200" spc="-10" dirty="0">
                <a:latin typeface="Times New Roman"/>
                <a:cs typeface="Times New Roman"/>
              </a:rPr>
              <a:t>AI-</a:t>
            </a:r>
            <a:r>
              <a:rPr sz="1200" dirty="0">
                <a:latin typeface="Times New Roman"/>
                <a:cs typeface="Times New Roman"/>
              </a:rPr>
              <a:t>enhanced</a:t>
            </a:r>
            <a:r>
              <a:rPr sz="1200" spc="300" dirty="0">
                <a:latin typeface="Times New Roman"/>
                <a:cs typeface="Times New Roman"/>
              </a:rPr>
              <a:t> </a:t>
            </a:r>
            <a:r>
              <a:rPr sz="1200" dirty="0">
                <a:latin typeface="Times New Roman"/>
                <a:cs typeface="Times New Roman"/>
              </a:rPr>
              <a:t>systems</a:t>
            </a:r>
            <a:r>
              <a:rPr sz="1200" spc="305" dirty="0">
                <a:latin typeface="Times New Roman"/>
                <a:cs typeface="Times New Roman"/>
              </a:rPr>
              <a:t> </a:t>
            </a:r>
            <a:r>
              <a:rPr sz="1200" dirty="0">
                <a:latin typeface="Times New Roman"/>
                <a:cs typeface="Times New Roman"/>
              </a:rPr>
              <a:t>also</a:t>
            </a:r>
            <a:r>
              <a:rPr sz="1200" spc="305" dirty="0">
                <a:latin typeface="Times New Roman"/>
                <a:cs typeface="Times New Roman"/>
              </a:rPr>
              <a:t> </a:t>
            </a:r>
            <a:r>
              <a:rPr sz="1200" dirty="0">
                <a:latin typeface="Times New Roman"/>
                <a:cs typeface="Times New Roman"/>
              </a:rPr>
              <a:t>automate</a:t>
            </a:r>
            <a:r>
              <a:rPr sz="1200" spc="300" dirty="0">
                <a:latin typeface="Times New Roman"/>
                <a:cs typeface="Times New Roman"/>
              </a:rPr>
              <a:t> </a:t>
            </a:r>
            <a:r>
              <a:rPr sz="1200" spc="-10" dirty="0">
                <a:latin typeface="Times New Roman"/>
                <a:cs typeface="Times New Roman"/>
              </a:rPr>
              <a:t>document </a:t>
            </a:r>
            <a:r>
              <a:rPr sz="1200" dirty="0">
                <a:latin typeface="Times New Roman"/>
                <a:cs typeface="Times New Roman"/>
              </a:rPr>
              <a:t>verification</a:t>
            </a:r>
            <a:r>
              <a:rPr sz="1200" spc="305" dirty="0">
                <a:latin typeface="Times New Roman"/>
                <a:cs typeface="Times New Roman"/>
              </a:rPr>
              <a:t> </a:t>
            </a:r>
            <a:r>
              <a:rPr sz="1200" dirty="0">
                <a:latin typeface="Times New Roman"/>
                <a:cs typeface="Times New Roman"/>
              </a:rPr>
              <a:t>and</a:t>
            </a:r>
            <a:r>
              <a:rPr sz="1200" spc="305" dirty="0">
                <a:latin typeface="Times New Roman"/>
                <a:cs typeface="Times New Roman"/>
              </a:rPr>
              <a:t> </a:t>
            </a:r>
            <a:r>
              <a:rPr sz="1200" dirty="0">
                <a:latin typeface="Times New Roman"/>
                <a:cs typeface="Times New Roman"/>
              </a:rPr>
              <a:t>ensure</a:t>
            </a:r>
            <a:r>
              <a:rPr sz="1200" spc="310" dirty="0">
                <a:latin typeface="Times New Roman"/>
                <a:cs typeface="Times New Roman"/>
              </a:rPr>
              <a:t> </a:t>
            </a:r>
            <a:r>
              <a:rPr sz="1200" dirty="0">
                <a:latin typeface="Times New Roman"/>
                <a:cs typeface="Times New Roman"/>
              </a:rPr>
              <a:t>legal</a:t>
            </a:r>
            <a:r>
              <a:rPr sz="1200" spc="320" dirty="0">
                <a:latin typeface="Times New Roman"/>
                <a:cs typeface="Times New Roman"/>
              </a:rPr>
              <a:t> </a:t>
            </a:r>
            <a:r>
              <a:rPr sz="1200" dirty="0">
                <a:latin typeface="Times New Roman"/>
                <a:cs typeface="Times New Roman"/>
              </a:rPr>
              <a:t>compliance,</a:t>
            </a:r>
            <a:r>
              <a:rPr sz="1200" spc="305" dirty="0">
                <a:latin typeface="Times New Roman"/>
                <a:cs typeface="Times New Roman"/>
              </a:rPr>
              <a:t> </a:t>
            </a:r>
            <a:r>
              <a:rPr sz="1200" dirty="0">
                <a:latin typeface="Times New Roman"/>
                <a:cs typeface="Times New Roman"/>
              </a:rPr>
              <a:t>thereby</a:t>
            </a:r>
            <a:r>
              <a:rPr sz="1200" spc="305" dirty="0">
                <a:latin typeface="Times New Roman"/>
                <a:cs typeface="Times New Roman"/>
              </a:rPr>
              <a:t> </a:t>
            </a:r>
            <a:r>
              <a:rPr sz="1200" dirty="0">
                <a:latin typeface="Times New Roman"/>
                <a:cs typeface="Times New Roman"/>
              </a:rPr>
              <a:t>expediting</a:t>
            </a:r>
            <a:r>
              <a:rPr sz="1200" spc="310" dirty="0">
                <a:latin typeface="Times New Roman"/>
                <a:cs typeface="Times New Roman"/>
              </a:rPr>
              <a:t> </a:t>
            </a:r>
            <a:r>
              <a:rPr sz="1200" dirty="0">
                <a:latin typeface="Times New Roman"/>
                <a:cs typeface="Times New Roman"/>
              </a:rPr>
              <a:t>property</a:t>
            </a:r>
            <a:r>
              <a:rPr sz="1200" spc="305" dirty="0">
                <a:latin typeface="Times New Roman"/>
                <a:cs typeface="Times New Roman"/>
              </a:rPr>
              <a:t> </a:t>
            </a:r>
            <a:r>
              <a:rPr sz="1200" dirty="0">
                <a:latin typeface="Times New Roman"/>
                <a:cs typeface="Times New Roman"/>
              </a:rPr>
              <a:t>transactions</a:t>
            </a:r>
            <a:r>
              <a:rPr sz="1200" spc="310" dirty="0">
                <a:latin typeface="Times New Roman"/>
                <a:cs typeface="Times New Roman"/>
              </a:rPr>
              <a:t> </a:t>
            </a:r>
            <a:r>
              <a:rPr sz="1200" spc="-25" dirty="0">
                <a:latin typeface="Times New Roman"/>
                <a:cs typeface="Times New Roman"/>
              </a:rPr>
              <a:t>and </a:t>
            </a:r>
            <a:r>
              <a:rPr sz="1200" dirty="0">
                <a:latin typeface="Times New Roman"/>
                <a:cs typeface="Times New Roman"/>
              </a:rPr>
              <a:t>minimizing</a:t>
            </a:r>
            <a:r>
              <a:rPr sz="1200" spc="-45" dirty="0">
                <a:latin typeface="Times New Roman"/>
                <a:cs typeface="Times New Roman"/>
              </a:rPr>
              <a:t> </a:t>
            </a:r>
            <a:r>
              <a:rPr sz="1200" dirty="0">
                <a:latin typeface="Times New Roman"/>
                <a:cs typeface="Times New Roman"/>
              </a:rPr>
              <a:t>human</a:t>
            </a:r>
            <a:r>
              <a:rPr sz="1200" spc="-45" dirty="0">
                <a:latin typeface="Times New Roman"/>
                <a:cs typeface="Times New Roman"/>
              </a:rPr>
              <a:t> </a:t>
            </a:r>
            <a:r>
              <a:rPr sz="1200" spc="-10" dirty="0">
                <a:latin typeface="Times New Roman"/>
                <a:cs typeface="Times New Roman"/>
              </a:rPr>
              <a:t>error.</a:t>
            </a:r>
            <a:endParaRPr sz="1200">
              <a:latin typeface="Times New Roman"/>
              <a:cs typeface="Times New Roman"/>
            </a:endParaRPr>
          </a:p>
          <a:p>
            <a:pPr>
              <a:lnSpc>
                <a:spcPct val="100000"/>
              </a:lnSpc>
              <a:spcBef>
                <a:spcPts val="894"/>
              </a:spcBef>
            </a:pPr>
            <a:endParaRPr sz="1200">
              <a:latin typeface="Times New Roman"/>
              <a:cs typeface="Times New Roman"/>
            </a:endParaRPr>
          </a:p>
          <a:p>
            <a:pPr marL="12700">
              <a:lnSpc>
                <a:spcPct val="100000"/>
              </a:lnSpc>
              <a:spcBef>
                <a:spcPts val="5"/>
              </a:spcBef>
            </a:pPr>
            <a:r>
              <a:rPr sz="1600" b="1" dirty="0">
                <a:latin typeface="Times New Roman"/>
                <a:cs typeface="Times New Roman"/>
              </a:rPr>
              <a:t>1.5.</a:t>
            </a:r>
            <a:r>
              <a:rPr sz="1600" b="1" spc="-100" dirty="0">
                <a:latin typeface="Times New Roman"/>
                <a:cs typeface="Times New Roman"/>
              </a:rPr>
              <a:t> </a:t>
            </a:r>
            <a:r>
              <a:rPr sz="1600" b="1" dirty="0">
                <a:latin typeface="Times New Roman"/>
                <a:cs typeface="Times New Roman"/>
              </a:rPr>
              <a:t>Analysis</a:t>
            </a:r>
            <a:r>
              <a:rPr sz="1600" b="1" spc="-70" dirty="0">
                <a:latin typeface="Times New Roman"/>
                <a:cs typeface="Times New Roman"/>
              </a:rPr>
              <a:t> </a:t>
            </a:r>
            <a:r>
              <a:rPr sz="1600" b="1" dirty="0">
                <a:latin typeface="Times New Roman"/>
                <a:cs typeface="Times New Roman"/>
              </a:rPr>
              <a:t>from</a:t>
            </a:r>
            <a:r>
              <a:rPr sz="1600" b="1" spc="-65" dirty="0">
                <a:latin typeface="Times New Roman"/>
                <a:cs typeface="Times New Roman"/>
              </a:rPr>
              <a:t> </a:t>
            </a:r>
            <a:r>
              <a:rPr sz="1600" b="1" dirty="0">
                <a:latin typeface="Times New Roman"/>
                <a:cs typeface="Times New Roman"/>
              </a:rPr>
              <a:t>Literature</a:t>
            </a:r>
            <a:r>
              <a:rPr sz="1600" b="1" spc="-55" dirty="0">
                <a:latin typeface="Times New Roman"/>
                <a:cs typeface="Times New Roman"/>
              </a:rPr>
              <a:t> </a:t>
            </a:r>
            <a:r>
              <a:rPr sz="1600" b="1" spc="-10" dirty="0">
                <a:latin typeface="Times New Roman"/>
                <a:cs typeface="Times New Roman"/>
              </a:rPr>
              <a:t>Review</a:t>
            </a:r>
            <a:endParaRPr sz="1600">
              <a:latin typeface="Times New Roman"/>
              <a:cs typeface="Times New Roman"/>
            </a:endParaRPr>
          </a:p>
          <a:p>
            <a:pPr marL="12700" marR="5715" algn="just">
              <a:lnSpc>
                <a:spcPct val="143800"/>
              </a:lnSpc>
              <a:spcBef>
                <a:spcPts val="1639"/>
              </a:spcBef>
            </a:pPr>
            <a:r>
              <a:rPr sz="1200" dirty="0">
                <a:latin typeface="Times New Roman"/>
                <a:cs typeface="Times New Roman"/>
              </a:rPr>
              <a:t>our</a:t>
            </a:r>
            <a:r>
              <a:rPr sz="1200" spc="70" dirty="0">
                <a:latin typeface="Times New Roman"/>
                <a:cs typeface="Times New Roman"/>
              </a:rPr>
              <a:t> </a:t>
            </a:r>
            <a:r>
              <a:rPr sz="1200" dirty="0">
                <a:latin typeface="Times New Roman"/>
                <a:cs typeface="Times New Roman"/>
              </a:rPr>
              <a:t>analysis</a:t>
            </a:r>
            <a:r>
              <a:rPr sz="1200" spc="75" dirty="0">
                <a:latin typeface="Times New Roman"/>
                <a:cs typeface="Times New Roman"/>
              </a:rPr>
              <a:t> </a:t>
            </a:r>
            <a:r>
              <a:rPr sz="1200" dirty="0">
                <a:latin typeface="Times New Roman"/>
                <a:cs typeface="Times New Roman"/>
              </a:rPr>
              <a:t>reveals</a:t>
            </a:r>
            <a:r>
              <a:rPr sz="1200" spc="90"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strong</a:t>
            </a:r>
            <a:r>
              <a:rPr sz="1200" spc="75" dirty="0">
                <a:latin typeface="Times New Roman"/>
                <a:cs typeface="Times New Roman"/>
              </a:rPr>
              <a:t> </a:t>
            </a:r>
            <a:r>
              <a:rPr sz="1200" dirty="0">
                <a:latin typeface="Times New Roman"/>
                <a:cs typeface="Times New Roman"/>
              </a:rPr>
              <a:t>alignment</a:t>
            </a:r>
            <a:r>
              <a:rPr sz="1200" spc="75" dirty="0">
                <a:latin typeface="Times New Roman"/>
                <a:cs typeface="Times New Roman"/>
              </a:rPr>
              <a:t> </a:t>
            </a:r>
            <a:r>
              <a:rPr sz="1200" dirty="0">
                <a:latin typeface="Times New Roman"/>
                <a:cs typeface="Times New Roman"/>
              </a:rPr>
              <a:t>with</a:t>
            </a:r>
            <a:r>
              <a:rPr sz="1200" spc="80" dirty="0">
                <a:latin typeface="Times New Roman"/>
                <a:cs typeface="Times New Roman"/>
              </a:rPr>
              <a:t> </a:t>
            </a:r>
            <a:r>
              <a:rPr sz="1200" dirty="0">
                <a:latin typeface="Times New Roman"/>
                <a:cs typeface="Times New Roman"/>
              </a:rPr>
              <a:t>existing</a:t>
            </a:r>
            <a:r>
              <a:rPr sz="1200" spc="75" dirty="0">
                <a:latin typeface="Times New Roman"/>
                <a:cs typeface="Times New Roman"/>
              </a:rPr>
              <a:t> </a:t>
            </a:r>
            <a:r>
              <a:rPr sz="1200" dirty="0">
                <a:latin typeface="Times New Roman"/>
                <a:cs typeface="Times New Roman"/>
              </a:rPr>
              <a:t>findings</a:t>
            </a:r>
            <a:r>
              <a:rPr sz="1200" spc="75" dirty="0">
                <a:latin typeface="Times New Roman"/>
                <a:cs typeface="Times New Roman"/>
              </a:rPr>
              <a:t> </a:t>
            </a:r>
            <a:r>
              <a:rPr sz="1200" dirty="0">
                <a:latin typeface="Times New Roman"/>
                <a:cs typeface="Times New Roman"/>
              </a:rPr>
              <a:t>regarding</a:t>
            </a:r>
            <a:r>
              <a:rPr sz="1200" spc="7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spc="-10" dirty="0">
                <a:latin typeface="Times New Roman"/>
                <a:cs typeface="Times New Roman"/>
              </a:rPr>
              <a:t>transformative </a:t>
            </a:r>
            <a:r>
              <a:rPr sz="1200" dirty="0">
                <a:latin typeface="Times New Roman"/>
                <a:cs typeface="Times New Roman"/>
              </a:rPr>
              <a:t>potential</a:t>
            </a:r>
            <a:r>
              <a:rPr sz="1200" spc="350" dirty="0">
                <a:latin typeface="Times New Roman"/>
                <a:cs typeface="Times New Roman"/>
              </a:rPr>
              <a:t> </a:t>
            </a:r>
            <a:r>
              <a:rPr sz="1200" dirty="0">
                <a:latin typeface="Times New Roman"/>
                <a:cs typeface="Times New Roman"/>
              </a:rPr>
              <a:t>of</a:t>
            </a:r>
            <a:r>
              <a:rPr sz="1200" spc="350" dirty="0">
                <a:latin typeface="Times New Roman"/>
                <a:cs typeface="Times New Roman"/>
              </a:rPr>
              <a:t> </a:t>
            </a:r>
            <a:r>
              <a:rPr sz="1200" dirty="0">
                <a:latin typeface="Times New Roman"/>
                <a:cs typeface="Times New Roman"/>
              </a:rPr>
              <a:t>AI</a:t>
            </a:r>
            <a:r>
              <a:rPr sz="1200" spc="335" dirty="0">
                <a:latin typeface="Times New Roman"/>
                <a:cs typeface="Times New Roman"/>
              </a:rPr>
              <a:t> </a:t>
            </a:r>
            <a:r>
              <a:rPr sz="1200" dirty="0">
                <a:latin typeface="Times New Roman"/>
                <a:cs typeface="Times New Roman"/>
              </a:rPr>
              <a:t>and</a:t>
            </a:r>
            <a:r>
              <a:rPr sz="1200" spc="35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50" dirty="0">
                <a:latin typeface="Times New Roman"/>
                <a:cs typeface="Times New Roman"/>
              </a:rPr>
              <a:t> </a:t>
            </a:r>
            <a:r>
              <a:rPr sz="1200" dirty="0">
                <a:latin typeface="Times New Roman"/>
                <a:cs typeface="Times New Roman"/>
              </a:rPr>
              <a:t>technologies</a:t>
            </a:r>
            <a:r>
              <a:rPr sz="1200" spc="355" dirty="0">
                <a:latin typeface="Times New Roman"/>
                <a:cs typeface="Times New Roman"/>
              </a:rPr>
              <a:t> </a:t>
            </a:r>
            <a:r>
              <a:rPr sz="1200" dirty="0">
                <a:latin typeface="Times New Roman"/>
                <a:cs typeface="Times New Roman"/>
              </a:rPr>
              <a:t>in</a:t>
            </a:r>
            <a:r>
              <a:rPr sz="1200" spc="370" dirty="0">
                <a:latin typeface="Times New Roman"/>
                <a:cs typeface="Times New Roman"/>
              </a:rPr>
              <a:t> </a:t>
            </a:r>
            <a:r>
              <a:rPr sz="1200" dirty="0">
                <a:latin typeface="Times New Roman"/>
                <a:cs typeface="Times New Roman"/>
              </a:rPr>
              <a:t>digital</a:t>
            </a:r>
            <a:r>
              <a:rPr sz="1200" spc="350" dirty="0">
                <a:latin typeface="Times New Roman"/>
                <a:cs typeface="Times New Roman"/>
              </a:rPr>
              <a:t> </a:t>
            </a:r>
            <a:r>
              <a:rPr sz="1200" dirty="0">
                <a:latin typeface="Times New Roman"/>
                <a:cs typeface="Times New Roman"/>
              </a:rPr>
              <a:t>property</a:t>
            </a:r>
            <a:r>
              <a:rPr sz="1200" spc="355" dirty="0">
                <a:latin typeface="Times New Roman"/>
                <a:cs typeface="Times New Roman"/>
              </a:rPr>
              <a:t> </a:t>
            </a:r>
            <a:r>
              <a:rPr sz="1200" dirty="0">
                <a:latin typeface="Times New Roman"/>
                <a:cs typeface="Times New Roman"/>
              </a:rPr>
              <a:t>auctions.</a:t>
            </a:r>
            <a:r>
              <a:rPr sz="1200" spc="355" dirty="0">
                <a:latin typeface="Times New Roman"/>
                <a:cs typeface="Times New Roman"/>
              </a:rPr>
              <a:t> </a:t>
            </a:r>
            <a:r>
              <a:rPr sz="1200" dirty="0">
                <a:latin typeface="Times New Roman"/>
                <a:cs typeface="Times New Roman"/>
              </a:rPr>
              <a:t>The</a:t>
            </a:r>
            <a:r>
              <a:rPr sz="1200" spc="350" dirty="0">
                <a:latin typeface="Times New Roman"/>
                <a:cs typeface="Times New Roman"/>
              </a:rPr>
              <a:t> </a:t>
            </a:r>
            <a:r>
              <a:rPr sz="1200" spc="-10" dirty="0">
                <a:latin typeface="Times New Roman"/>
                <a:cs typeface="Times New Roman"/>
              </a:rPr>
              <a:t>literature </a:t>
            </a:r>
            <a:r>
              <a:rPr sz="1200" dirty="0">
                <a:latin typeface="Times New Roman"/>
                <a:cs typeface="Times New Roman"/>
              </a:rPr>
              <a:t>underscores</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effectiveness</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machine</a:t>
            </a:r>
            <a:r>
              <a:rPr sz="1200" spc="-5" dirty="0">
                <a:latin typeface="Times New Roman"/>
                <a:cs typeface="Times New Roman"/>
              </a:rPr>
              <a:t> </a:t>
            </a:r>
            <a:r>
              <a:rPr sz="1200" dirty="0">
                <a:latin typeface="Times New Roman"/>
                <a:cs typeface="Times New Roman"/>
              </a:rPr>
              <a:t>learning models for</a:t>
            </a:r>
            <a:r>
              <a:rPr sz="1200" spc="-10" dirty="0">
                <a:latin typeface="Times New Roman"/>
                <a:cs typeface="Times New Roman"/>
              </a:rPr>
              <a:t> </a:t>
            </a:r>
            <a:r>
              <a:rPr sz="1200" dirty="0">
                <a:latin typeface="Times New Roman"/>
                <a:cs typeface="Times New Roman"/>
              </a:rPr>
              <a:t>price</a:t>
            </a:r>
            <a:r>
              <a:rPr sz="1200" spc="-10" dirty="0">
                <a:latin typeface="Times New Roman"/>
                <a:cs typeface="Times New Roman"/>
              </a:rPr>
              <a:t> </a:t>
            </a:r>
            <a:r>
              <a:rPr sz="1200" dirty="0">
                <a:latin typeface="Times New Roman"/>
                <a:cs typeface="Times New Roman"/>
              </a:rPr>
              <a:t>prediction,</a:t>
            </a:r>
            <a:r>
              <a:rPr sz="1200" spc="25" dirty="0">
                <a:latin typeface="Times New Roman"/>
                <a:cs typeface="Times New Roman"/>
              </a:rPr>
              <a:t> </a:t>
            </a:r>
            <a:r>
              <a:rPr sz="1200" spc="-10" dirty="0">
                <a:latin typeface="Times New Roman"/>
                <a:cs typeface="Times New Roman"/>
              </a:rPr>
              <a:t>WebSocket’s </a:t>
            </a:r>
            <a:r>
              <a:rPr sz="1200" dirty="0">
                <a:latin typeface="Times New Roman"/>
                <a:cs typeface="Times New Roman"/>
              </a:rPr>
              <a:t>for</a:t>
            </a:r>
            <a:r>
              <a:rPr sz="1200" spc="31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15" dirty="0">
                <a:latin typeface="Times New Roman"/>
                <a:cs typeface="Times New Roman"/>
              </a:rPr>
              <a:t> </a:t>
            </a:r>
            <a:r>
              <a:rPr sz="1200" dirty="0">
                <a:latin typeface="Times New Roman"/>
                <a:cs typeface="Times New Roman"/>
              </a:rPr>
              <a:t>bidding</a:t>
            </a:r>
            <a:r>
              <a:rPr sz="1200" spc="320" dirty="0">
                <a:latin typeface="Times New Roman"/>
                <a:cs typeface="Times New Roman"/>
              </a:rPr>
              <a:t> </a:t>
            </a:r>
            <a:r>
              <a:rPr sz="1200" dirty="0">
                <a:latin typeface="Times New Roman"/>
                <a:cs typeface="Times New Roman"/>
              </a:rPr>
              <a:t>synchronization,</a:t>
            </a:r>
            <a:r>
              <a:rPr sz="1200" spc="320" dirty="0">
                <a:latin typeface="Times New Roman"/>
                <a:cs typeface="Times New Roman"/>
              </a:rPr>
              <a:t> </a:t>
            </a:r>
            <a:r>
              <a:rPr sz="1200" dirty="0">
                <a:latin typeface="Times New Roman"/>
                <a:cs typeface="Times New Roman"/>
              </a:rPr>
              <a:t>and</a:t>
            </a:r>
            <a:r>
              <a:rPr sz="1200" spc="320" dirty="0">
                <a:latin typeface="Times New Roman"/>
                <a:cs typeface="Times New Roman"/>
              </a:rPr>
              <a:t> </a:t>
            </a:r>
            <a:r>
              <a:rPr sz="1200" dirty="0">
                <a:latin typeface="Times New Roman"/>
                <a:cs typeface="Times New Roman"/>
              </a:rPr>
              <a:t>AI-driven</a:t>
            </a:r>
            <a:r>
              <a:rPr sz="1200" spc="320" dirty="0">
                <a:latin typeface="Times New Roman"/>
                <a:cs typeface="Times New Roman"/>
              </a:rPr>
              <a:t> </a:t>
            </a:r>
            <a:r>
              <a:rPr sz="1200" dirty="0">
                <a:latin typeface="Times New Roman"/>
                <a:cs typeface="Times New Roman"/>
              </a:rPr>
              <a:t>fraud</a:t>
            </a:r>
            <a:r>
              <a:rPr sz="1200" spc="320" dirty="0">
                <a:latin typeface="Times New Roman"/>
                <a:cs typeface="Times New Roman"/>
              </a:rPr>
              <a:t> </a:t>
            </a:r>
            <a:r>
              <a:rPr sz="1200" dirty="0">
                <a:latin typeface="Times New Roman"/>
                <a:cs typeface="Times New Roman"/>
              </a:rPr>
              <a:t>detection</a:t>
            </a:r>
            <a:r>
              <a:rPr sz="1200" spc="320" dirty="0">
                <a:latin typeface="Times New Roman"/>
                <a:cs typeface="Times New Roman"/>
              </a:rPr>
              <a:t> </a:t>
            </a:r>
            <a:r>
              <a:rPr sz="1200" dirty="0">
                <a:latin typeface="Times New Roman"/>
                <a:cs typeface="Times New Roman"/>
              </a:rPr>
              <a:t>in</a:t>
            </a:r>
            <a:r>
              <a:rPr sz="1200" spc="325" dirty="0">
                <a:latin typeface="Times New Roman"/>
                <a:cs typeface="Times New Roman"/>
              </a:rPr>
              <a:t> </a:t>
            </a:r>
            <a:r>
              <a:rPr sz="1200" dirty="0">
                <a:latin typeface="Times New Roman"/>
                <a:cs typeface="Times New Roman"/>
              </a:rPr>
              <a:t>enhancing</a:t>
            </a:r>
            <a:r>
              <a:rPr sz="1200" spc="325" dirty="0">
                <a:latin typeface="Times New Roman"/>
                <a:cs typeface="Times New Roman"/>
              </a:rPr>
              <a:t> </a:t>
            </a:r>
            <a:r>
              <a:rPr sz="1200" spc="-25" dirty="0">
                <a:latin typeface="Times New Roman"/>
                <a:cs typeface="Times New Roman"/>
              </a:rPr>
              <a:t>the </a:t>
            </a:r>
            <a:r>
              <a:rPr sz="1200" dirty="0">
                <a:latin typeface="Times New Roman"/>
                <a:cs typeface="Times New Roman"/>
              </a:rPr>
              <a:t>transparency</a:t>
            </a:r>
            <a:r>
              <a:rPr sz="1200" spc="310" dirty="0">
                <a:latin typeface="Times New Roman"/>
                <a:cs typeface="Times New Roman"/>
              </a:rPr>
              <a:t> </a:t>
            </a:r>
            <a:r>
              <a:rPr sz="1200" dirty="0">
                <a:latin typeface="Times New Roman"/>
                <a:cs typeface="Times New Roman"/>
              </a:rPr>
              <a:t>and</a:t>
            </a:r>
            <a:r>
              <a:rPr sz="1200" spc="315" dirty="0">
                <a:latin typeface="Times New Roman"/>
                <a:cs typeface="Times New Roman"/>
              </a:rPr>
              <a:t> </a:t>
            </a:r>
            <a:r>
              <a:rPr sz="1200" dirty="0">
                <a:latin typeface="Times New Roman"/>
                <a:cs typeface="Times New Roman"/>
              </a:rPr>
              <a:t>efficiency</a:t>
            </a:r>
            <a:r>
              <a:rPr sz="1200" spc="315" dirty="0">
                <a:latin typeface="Times New Roman"/>
                <a:cs typeface="Times New Roman"/>
              </a:rPr>
              <a:t> </a:t>
            </a:r>
            <a:r>
              <a:rPr sz="1200" dirty="0">
                <a:latin typeface="Times New Roman"/>
                <a:cs typeface="Times New Roman"/>
              </a:rPr>
              <a:t>of</a:t>
            </a:r>
            <a:r>
              <a:rPr sz="1200" spc="315" dirty="0">
                <a:latin typeface="Times New Roman"/>
                <a:cs typeface="Times New Roman"/>
              </a:rPr>
              <a:t> </a:t>
            </a:r>
            <a:r>
              <a:rPr sz="1200" dirty="0">
                <a:latin typeface="Times New Roman"/>
                <a:cs typeface="Times New Roman"/>
              </a:rPr>
              <a:t>auction</a:t>
            </a:r>
            <a:r>
              <a:rPr sz="1200" spc="315" dirty="0">
                <a:latin typeface="Times New Roman"/>
                <a:cs typeface="Times New Roman"/>
              </a:rPr>
              <a:t> </a:t>
            </a:r>
            <a:r>
              <a:rPr sz="1200" dirty="0">
                <a:latin typeface="Times New Roman"/>
                <a:cs typeface="Times New Roman"/>
              </a:rPr>
              <a:t>platforms.</a:t>
            </a:r>
            <a:r>
              <a:rPr sz="1200" spc="320" dirty="0">
                <a:latin typeface="Times New Roman"/>
                <a:cs typeface="Times New Roman"/>
              </a:rPr>
              <a:t> </a:t>
            </a:r>
            <a:r>
              <a:rPr sz="1200" dirty="0">
                <a:latin typeface="Times New Roman"/>
                <a:cs typeface="Times New Roman"/>
              </a:rPr>
              <a:t>Similarly,</a:t>
            </a:r>
            <a:r>
              <a:rPr sz="1200" spc="315" dirty="0">
                <a:latin typeface="Times New Roman"/>
                <a:cs typeface="Times New Roman"/>
              </a:rPr>
              <a:t> </a:t>
            </a:r>
            <a:r>
              <a:rPr sz="1200" dirty="0">
                <a:latin typeface="Times New Roman"/>
                <a:cs typeface="Times New Roman"/>
              </a:rPr>
              <a:t>our</a:t>
            </a:r>
            <a:r>
              <a:rPr sz="1200" spc="315" dirty="0">
                <a:latin typeface="Times New Roman"/>
                <a:cs typeface="Times New Roman"/>
              </a:rPr>
              <a:t> </a:t>
            </a:r>
            <a:r>
              <a:rPr sz="1200" dirty="0">
                <a:latin typeface="Times New Roman"/>
                <a:cs typeface="Times New Roman"/>
              </a:rPr>
              <a:t>project</a:t>
            </a:r>
            <a:r>
              <a:rPr sz="1200" spc="320" dirty="0">
                <a:latin typeface="Times New Roman"/>
                <a:cs typeface="Times New Roman"/>
              </a:rPr>
              <a:t> </a:t>
            </a:r>
            <a:r>
              <a:rPr sz="1200" dirty="0">
                <a:latin typeface="Times New Roman"/>
                <a:cs typeface="Times New Roman"/>
              </a:rPr>
              <a:t>reinforces</a:t>
            </a:r>
            <a:r>
              <a:rPr sz="1200" spc="32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importance</a:t>
            </a:r>
            <a:r>
              <a:rPr sz="1200" spc="-4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instant</a:t>
            </a:r>
            <a:r>
              <a:rPr sz="1200" spc="-35" dirty="0">
                <a:latin typeface="Times New Roman"/>
                <a:cs typeface="Times New Roman"/>
              </a:rPr>
              <a:t> </a:t>
            </a:r>
            <a:r>
              <a:rPr sz="1200" dirty="0">
                <a:latin typeface="Times New Roman"/>
                <a:cs typeface="Times New Roman"/>
              </a:rPr>
              <a:t>bid</a:t>
            </a:r>
            <a:r>
              <a:rPr sz="1200" spc="-20" dirty="0">
                <a:latin typeface="Times New Roman"/>
                <a:cs typeface="Times New Roman"/>
              </a:rPr>
              <a:t> </a:t>
            </a:r>
            <a:r>
              <a:rPr sz="1200" dirty="0">
                <a:latin typeface="Times New Roman"/>
                <a:cs typeface="Times New Roman"/>
              </a:rPr>
              <a:t>updates,</a:t>
            </a:r>
            <a:r>
              <a:rPr sz="1200" spc="-40"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35" dirty="0">
                <a:latin typeface="Times New Roman"/>
                <a:cs typeface="Times New Roman"/>
              </a:rPr>
              <a:t> </a:t>
            </a:r>
            <a:r>
              <a:rPr sz="1200" dirty="0">
                <a:latin typeface="Times New Roman"/>
                <a:cs typeface="Times New Roman"/>
              </a:rPr>
              <a:t>price</a:t>
            </a:r>
            <a:r>
              <a:rPr sz="1200" spc="-40" dirty="0">
                <a:latin typeface="Times New Roman"/>
                <a:cs typeface="Times New Roman"/>
              </a:rPr>
              <a:t> </a:t>
            </a:r>
            <a:r>
              <a:rPr sz="1200" spc="-10" dirty="0">
                <a:latin typeface="Times New Roman"/>
                <a:cs typeface="Times New Roman"/>
              </a:rPr>
              <a:t>estimation,</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robust</a:t>
            </a:r>
            <a:r>
              <a:rPr sz="1200" spc="-30"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spc="-10" dirty="0">
                <a:latin typeface="Times New Roman"/>
                <a:cs typeface="Times New Roman"/>
              </a:rPr>
              <a:t>measures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fostering</a:t>
            </a:r>
            <a:r>
              <a:rPr sz="1200" spc="-25" dirty="0">
                <a:latin typeface="Times New Roman"/>
                <a:cs typeface="Times New Roman"/>
              </a:rPr>
              <a:t> </a:t>
            </a:r>
            <a:r>
              <a:rPr sz="1200" dirty="0">
                <a:latin typeface="Times New Roman"/>
                <a:cs typeface="Times New Roman"/>
              </a:rPr>
              <a:t>trust</a:t>
            </a:r>
            <a:r>
              <a:rPr sz="1200" spc="-25" dirty="0">
                <a:latin typeface="Times New Roman"/>
                <a:cs typeface="Times New Roman"/>
              </a:rPr>
              <a:t> </a:t>
            </a:r>
            <a:r>
              <a:rPr sz="1200" dirty="0">
                <a:latin typeface="Times New Roman"/>
                <a:cs typeface="Times New Roman"/>
              </a:rPr>
              <a:t>among</a:t>
            </a:r>
            <a:r>
              <a:rPr sz="1200" spc="-30" dirty="0">
                <a:latin typeface="Times New Roman"/>
                <a:cs typeface="Times New Roman"/>
              </a:rPr>
              <a:t> </a:t>
            </a:r>
            <a:r>
              <a:rPr sz="1200" spc="-10" dirty="0">
                <a:latin typeface="Times New Roman"/>
                <a:cs typeface="Times New Roman"/>
              </a:rPr>
              <a:t>users.</a:t>
            </a:r>
            <a:endParaRPr sz="1200">
              <a:latin typeface="Times New Roman"/>
              <a:cs typeface="Times New Roman"/>
            </a:endParaRPr>
          </a:p>
          <a:p>
            <a:pPr>
              <a:lnSpc>
                <a:spcPct val="100000"/>
              </a:lnSpc>
              <a:spcBef>
                <a:spcPts val="15"/>
              </a:spcBef>
            </a:pPr>
            <a:endParaRPr sz="1200">
              <a:latin typeface="Times New Roman"/>
              <a:cs typeface="Times New Roman"/>
            </a:endParaRPr>
          </a:p>
          <a:p>
            <a:pPr marL="12700" marR="5080" algn="just">
              <a:lnSpc>
                <a:spcPct val="143700"/>
              </a:lnSpc>
              <a:spcBef>
                <a:spcPts val="5"/>
              </a:spcBef>
            </a:pPr>
            <a:r>
              <a:rPr sz="1200" dirty="0">
                <a:latin typeface="Times New Roman"/>
                <a:cs typeface="Times New Roman"/>
              </a:rPr>
              <a:t>Additionally,</a:t>
            </a:r>
            <a:r>
              <a:rPr sz="1200" spc="145" dirty="0">
                <a:latin typeface="Times New Roman"/>
                <a:cs typeface="Times New Roman"/>
              </a:rPr>
              <a:t> </a:t>
            </a:r>
            <a:r>
              <a:rPr sz="1200" dirty="0">
                <a:latin typeface="Times New Roman"/>
                <a:cs typeface="Times New Roman"/>
              </a:rPr>
              <a:t>our</a:t>
            </a:r>
            <a:r>
              <a:rPr sz="1200" spc="150" dirty="0">
                <a:latin typeface="Times New Roman"/>
                <a:cs typeface="Times New Roman"/>
              </a:rPr>
              <a:t> </a:t>
            </a:r>
            <a:r>
              <a:rPr sz="1200" dirty="0">
                <a:latin typeface="Times New Roman"/>
                <a:cs typeface="Times New Roman"/>
              </a:rPr>
              <a:t>work</a:t>
            </a:r>
            <a:r>
              <a:rPr sz="1200" spc="135" dirty="0">
                <a:latin typeface="Times New Roman"/>
                <a:cs typeface="Times New Roman"/>
              </a:rPr>
              <a:t> </a:t>
            </a:r>
            <a:r>
              <a:rPr sz="1200" dirty="0">
                <a:latin typeface="Times New Roman"/>
                <a:cs typeface="Times New Roman"/>
              </a:rPr>
              <a:t>highlights</a:t>
            </a:r>
            <a:r>
              <a:rPr sz="1200" spc="140"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critical</a:t>
            </a:r>
            <a:r>
              <a:rPr sz="1200" spc="150" dirty="0">
                <a:latin typeface="Times New Roman"/>
                <a:cs typeface="Times New Roman"/>
              </a:rPr>
              <a:t> </a:t>
            </a:r>
            <a:r>
              <a:rPr sz="1200" dirty="0">
                <a:latin typeface="Times New Roman"/>
                <a:cs typeface="Times New Roman"/>
              </a:rPr>
              <a:t>role</a:t>
            </a:r>
            <a:r>
              <a:rPr sz="1200" spc="14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spc="-10" dirty="0">
                <a:latin typeface="Times New Roman"/>
                <a:cs typeface="Times New Roman"/>
              </a:rPr>
              <a:t>cloud-</a:t>
            </a:r>
            <a:r>
              <a:rPr sz="1200" dirty="0">
                <a:latin typeface="Times New Roman"/>
                <a:cs typeface="Times New Roman"/>
              </a:rPr>
              <a:t>based</a:t>
            </a:r>
            <a:r>
              <a:rPr sz="1200" spc="145" dirty="0">
                <a:latin typeface="Times New Roman"/>
                <a:cs typeface="Times New Roman"/>
              </a:rPr>
              <a:t> </a:t>
            </a:r>
            <a:r>
              <a:rPr sz="1200" dirty="0">
                <a:latin typeface="Times New Roman"/>
                <a:cs typeface="Times New Roman"/>
              </a:rPr>
              <a:t>architecture</a:t>
            </a:r>
            <a:r>
              <a:rPr sz="1200" spc="155" dirty="0">
                <a:latin typeface="Times New Roman"/>
                <a:cs typeface="Times New Roman"/>
              </a:rPr>
              <a:t> </a:t>
            </a:r>
            <a:r>
              <a:rPr sz="1200" dirty="0">
                <a:latin typeface="Times New Roman"/>
                <a:cs typeface="Times New Roman"/>
              </a:rPr>
              <a:t>in</a:t>
            </a:r>
            <a:r>
              <a:rPr sz="1200" spc="150" dirty="0">
                <a:latin typeface="Times New Roman"/>
                <a:cs typeface="Times New Roman"/>
              </a:rPr>
              <a:t> </a:t>
            </a:r>
            <a:r>
              <a:rPr sz="1200" spc="-10" dirty="0">
                <a:latin typeface="Times New Roman"/>
                <a:cs typeface="Times New Roman"/>
              </a:rPr>
              <a:t>ensuring </a:t>
            </a:r>
            <a:r>
              <a:rPr sz="1200" dirty="0">
                <a:latin typeface="Times New Roman"/>
                <a:cs typeface="Times New Roman"/>
              </a:rPr>
              <a:t>scalability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accessibility,</a:t>
            </a:r>
            <a:r>
              <a:rPr sz="1200" spc="-20" dirty="0">
                <a:latin typeface="Times New Roman"/>
                <a:cs typeface="Times New Roman"/>
              </a:rPr>
              <a:t> </a:t>
            </a:r>
            <a:r>
              <a:rPr sz="1200" dirty="0">
                <a:latin typeface="Times New Roman"/>
                <a:cs typeface="Times New Roman"/>
              </a:rPr>
              <a:t>echoing</a:t>
            </a:r>
            <a:r>
              <a:rPr sz="1200" spc="-20" dirty="0">
                <a:latin typeface="Times New Roman"/>
                <a:cs typeface="Times New Roman"/>
              </a:rPr>
              <a:t> </a:t>
            </a:r>
            <a:r>
              <a:rPr sz="1200" dirty="0">
                <a:latin typeface="Times New Roman"/>
                <a:cs typeface="Times New Roman"/>
              </a:rPr>
              <a:t>recommendations</a:t>
            </a:r>
            <a:r>
              <a:rPr sz="1200" spc="-20" dirty="0">
                <a:latin typeface="Times New Roman"/>
                <a:cs typeface="Times New Roman"/>
              </a:rPr>
              <a:t> </a:t>
            </a:r>
            <a:r>
              <a:rPr sz="1200" dirty="0">
                <a:latin typeface="Times New Roman"/>
                <a:cs typeface="Times New Roman"/>
              </a:rPr>
              <a:t>from</a:t>
            </a:r>
            <a:r>
              <a:rPr sz="1200" spc="-15" dirty="0">
                <a:latin typeface="Times New Roman"/>
                <a:cs typeface="Times New Roman"/>
              </a:rPr>
              <a:t> </a:t>
            </a:r>
            <a:r>
              <a:rPr sz="1200" dirty="0">
                <a:latin typeface="Times New Roman"/>
                <a:cs typeface="Times New Roman"/>
              </a:rPr>
              <a:t>prior</a:t>
            </a:r>
            <a:r>
              <a:rPr sz="1200" spc="-25" dirty="0">
                <a:latin typeface="Times New Roman"/>
                <a:cs typeface="Times New Roman"/>
              </a:rPr>
              <a:t> </a:t>
            </a:r>
            <a:r>
              <a:rPr sz="1200" dirty="0">
                <a:latin typeface="Times New Roman"/>
                <a:cs typeface="Times New Roman"/>
              </a:rPr>
              <a:t>studies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deploying</a:t>
            </a:r>
            <a:r>
              <a:rPr sz="1200" spc="-20" dirty="0">
                <a:latin typeface="Times New Roman"/>
                <a:cs typeface="Times New Roman"/>
              </a:rPr>
              <a:t> </a:t>
            </a:r>
            <a:r>
              <a:rPr sz="1200" spc="-10" dirty="0">
                <a:latin typeface="Times New Roman"/>
                <a:cs typeface="Times New Roman"/>
              </a:rPr>
              <a:t>real-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platforms.</a:t>
            </a:r>
            <a:r>
              <a:rPr sz="1200" spc="-35" dirty="0">
                <a:latin typeface="Times New Roman"/>
                <a:cs typeface="Times New Roman"/>
              </a:rPr>
              <a:t> </a:t>
            </a:r>
            <a:r>
              <a:rPr sz="1200" dirty="0">
                <a:latin typeface="Times New Roman"/>
                <a:cs typeface="Times New Roman"/>
              </a:rPr>
              <a:t>Furthermore,</a:t>
            </a:r>
            <a:r>
              <a:rPr sz="1200" spc="-30"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Abode</a:t>
            </a:r>
            <a:r>
              <a:rPr sz="1200" spc="-45" dirty="0">
                <a:latin typeface="Times New Roman"/>
                <a:cs typeface="Times New Roman"/>
              </a:rPr>
              <a:t> </a:t>
            </a:r>
            <a:r>
              <a:rPr sz="1200" dirty="0">
                <a:latin typeface="Times New Roman"/>
                <a:cs typeface="Times New Roman"/>
              </a:rPr>
              <a:t>extends</a:t>
            </a:r>
            <a:r>
              <a:rPr sz="1200" spc="-30" dirty="0">
                <a:latin typeface="Times New Roman"/>
                <a:cs typeface="Times New Roman"/>
              </a:rPr>
              <a:t> </a:t>
            </a:r>
            <a:r>
              <a:rPr sz="1200" dirty="0">
                <a:latin typeface="Times New Roman"/>
                <a:cs typeface="Times New Roman"/>
              </a:rPr>
              <a:t>these</a:t>
            </a:r>
            <a:r>
              <a:rPr sz="1200" spc="-40" dirty="0">
                <a:latin typeface="Times New Roman"/>
                <a:cs typeface="Times New Roman"/>
              </a:rPr>
              <a:t> </a:t>
            </a:r>
            <a:r>
              <a:rPr sz="1200" dirty="0">
                <a:latin typeface="Times New Roman"/>
                <a:cs typeface="Times New Roman"/>
              </a:rPr>
              <a:t>findings</a:t>
            </a:r>
            <a:r>
              <a:rPr sz="1200" spc="-2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spc="-10" dirty="0">
                <a:latin typeface="Times New Roman"/>
                <a:cs typeface="Times New Roman"/>
              </a:rPr>
              <a:t>incorporating</a:t>
            </a:r>
            <a:endParaRPr sz="12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6</a:t>
            </a:r>
          </a:p>
        </p:txBody>
      </p:sp>
      <p:sp>
        <p:nvSpPr>
          <p:cNvPr id="2" name="object 2"/>
          <p:cNvSpPr txBox="1"/>
          <p:nvPr/>
        </p:nvSpPr>
        <p:spPr>
          <a:xfrm>
            <a:off x="1176324" y="812037"/>
            <a:ext cx="5696585" cy="2780120"/>
          </a:xfrm>
          <a:prstGeom prst="rect">
            <a:avLst/>
          </a:prstGeom>
        </p:spPr>
        <p:txBody>
          <a:bodyPr vert="horz" wrap="square" lIns="0" tIns="12700" rIns="0" bIns="0" rtlCol="0">
            <a:spAutoFit/>
          </a:bodyPr>
          <a:lstStyle/>
          <a:p>
            <a:pPr marL="12700" marR="7620" algn="just">
              <a:lnSpc>
                <a:spcPct val="143300"/>
              </a:lnSpc>
              <a:spcBef>
                <a:spcPts val="100"/>
              </a:spcBef>
            </a:pPr>
            <a:r>
              <a:rPr sz="1200" spc="-10" dirty="0">
                <a:latin typeface="Times New Roman"/>
                <a:cs typeface="Times New Roman"/>
              </a:rPr>
              <a:t>AI-</a:t>
            </a:r>
            <a:r>
              <a:rPr sz="1200" dirty="0">
                <a:latin typeface="Times New Roman"/>
                <a:cs typeface="Times New Roman"/>
              </a:rPr>
              <a:t>powered</a:t>
            </a:r>
            <a:r>
              <a:rPr sz="1200" spc="140" dirty="0">
                <a:latin typeface="Times New Roman"/>
                <a:cs typeface="Times New Roman"/>
              </a:rPr>
              <a:t> </a:t>
            </a:r>
            <a:r>
              <a:rPr sz="1200" dirty="0">
                <a:latin typeface="Times New Roman"/>
                <a:cs typeface="Times New Roman"/>
              </a:rPr>
              <a:t>verification</a:t>
            </a:r>
            <a:r>
              <a:rPr sz="1200" spc="145" dirty="0">
                <a:latin typeface="Times New Roman"/>
                <a:cs typeface="Times New Roman"/>
              </a:rPr>
              <a:t> </a:t>
            </a:r>
            <a:r>
              <a:rPr sz="1200" dirty="0">
                <a:latin typeface="Times New Roman"/>
                <a:cs typeface="Times New Roman"/>
              </a:rPr>
              <a:t>mechanisms,</a:t>
            </a:r>
            <a:r>
              <a:rPr sz="1200" spc="145" dirty="0">
                <a:latin typeface="Times New Roman"/>
                <a:cs typeface="Times New Roman"/>
              </a:rPr>
              <a:t> </a:t>
            </a:r>
            <a:r>
              <a:rPr sz="1200" dirty="0">
                <a:latin typeface="Times New Roman"/>
                <a:cs typeface="Times New Roman"/>
              </a:rPr>
              <a:t>which</a:t>
            </a:r>
            <a:r>
              <a:rPr sz="1200" spc="155" dirty="0">
                <a:latin typeface="Times New Roman"/>
                <a:cs typeface="Times New Roman"/>
              </a:rPr>
              <a:t> </a:t>
            </a:r>
            <a:r>
              <a:rPr sz="1200" dirty="0">
                <a:latin typeface="Times New Roman"/>
                <a:cs typeface="Times New Roman"/>
              </a:rPr>
              <a:t>automate</a:t>
            </a:r>
            <a:r>
              <a:rPr sz="1200" spc="140" dirty="0">
                <a:latin typeface="Times New Roman"/>
                <a:cs typeface="Times New Roman"/>
              </a:rPr>
              <a:t> </a:t>
            </a:r>
            <a:r>
              <a:rPr sz="1200" dirty="0">
                <a:latin typeface="Times New Roman"/>
                <a:cs typeface="Times New Roman"/>
              </a:rPr>
              <a:t>document</a:t>
            </a:r>
            <a:r>
              <a:rPr sz="1200" spc="175" dirty="0">
                <a:latin typeface="Times New Roman"/>
                <a:cs typeface="Times New Roman"/>
              </a:rPr>
              <a:t> </a:t>
            </a:r>
            <a:r>
              <a:rPr sz="1200" dirty="0">
                <a:latin typeface="Times New Roman"/>
                <a:cs typeface="Times New Roman"/>
              </a:rPr>
              <a:t>authentication</a:t>
            </a:r>
            <a:r>
              <a:rPr sz="1200" spc="140" dirty="0">
                <a:latin typeface="Times New Roman"/>
                <a:cs typeface="Times New Roman"/>
              </a:rPr>
              <a:t> </a:t>
            </a:r>
            <a:r>
              <a:rPr sz="1200" dirty="0">
                <a:latin typeface="Times New Roman"/>
                <a:cs typeface="Times New Roman"/>
              </a:rPr>
              <a:t>and</a:t>
            </a:r>
            <a:r>
              <a:rPr sz="1200" spc="145" dirty="0">
                <a:latin typeface="Times New Roman"/>
                <a:cs typeface="Times New Roman"/>
              </a:rPr>
              <a:t> </a:t>
            </a:r>
            <a:r>
              <a:rPr sz="1200" spc="-10" dirty="0">
                <a:latin typeface="Times New Roman"/>
                <a:cs typeface="Times New Roman"/>
              </a:rPr>
              <a:t>fraud </a:t>
            </a:r>
            <a:r>
              <a:rPr sz="1200" dirty="0">
                <a:latin typeface="Times New Roman"/>
                <a:cs typeface="Times New Roman"/>
              </a:rPr>
              <a:t>detection,</a:t>
            </a:r>
            <a:r>
              <a:rPr sz="1200" spc="-40" dirty="0">
                <a:latin typeface="Times New Roman"/>
                <a:cs typeface="Times New Roman"/>
              </a:rPr>
              <a:t> </a:t>
            </a:r>
            <a:r>
              <a:rPr sz="1200" dirty="0">
                <a:latin typeface="Times New Roman"/>
                <a:cs typeface="Times New Roman"/>
              </a:rPr>
              <a:t>significantly</a:t>
            </a:r>
            <a:r>
              <a:rPr sz="1200" spc="-35" dirty="0">
                <a:latin typeface="Times New Roman"/>
                <a:cs typeface="Times New Roman"/>
              </a:rPr>
              <a:t> </a:t>
            </a:r>
            <a:r>
              <a:rPr sz="1200" dirty="0">
                <a:latin typeface="Times New Roman"/>
                <a:cs typeface="Times New Roman"/>
              </a:rPr>
              <a:t>improving</a:t>
            </a:r>
            <a:r>
              <a:rPr sz="1200" spc="-40" dirty="0">
                <a:latin typeface="Times New Roman"/>
                <a:cs typeface="Times New Roman"/>
              </a:rPr>
              <a:t> </a:t>
            </a:r>
            <a:r>
              <a:rPr sz="1200" dirty="0">
                <a:latin typeface="Times New Roman"/>
                <a:cs typeface="Times New Roman"/>
              </a:rPr>
              <a:t>trust</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real</a:t>
            </a:r>
            <a:r>
              <a:rPr sz="1200" spc="-35" dirty="0">
                <a:latin typeface="Times New Roman"/>
                <a:cs typeface="Times New Roman"/>
              </a:rPr>
              <a:t> </a:t>
            </a:r>
            <a:r>
              <a:rPr sz="1200" dirty="0">
                <a:latin typeface="Times New Roman"/>
                <a:cs typeface="Times New Roman"/>
              </a:rPr>
              <a:t>estate</a:t>
            </a:r>
            <a:r>
              <a:rPr sz="1200" spc="-40" dirty="0">
                <a:latin typeface="Times New Roman"/>
                <a:cs typeface="Times New Roman"/>
              </a:rPr>
              <a:t> </a:t>
            </a:r>
            <a:r>
              <a:rPr sz="1200" spc="-10" dirty="0">
                <a:latin typeface="Times New Roman"/>
                <a:cs typeface="Times New Roman"/>
              </a:rPr>
              <a:t>transactions.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12700" marR="5080" algn="just">
              <a:lnSpc>
                <a:spcPct val="143700"/>
              </a:lnSpc>
            </a:pPr>
            <a:r>
              <a:rPr sz="1200" dirty="0">
                <a:latin typeface="Times New Roman"/>
                <a:cs typeface="Times New Roman"/>
              </a:rPr>
              <a:t>Our</a:t>
            </a:r>
            <a:r>
              <a:rPr sz="1200" spc="-40"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contributes</a:t>
            </a:r>
            <a:r>
              <a:rPr sz="1200" spc="-35" dirty="0">
                <a:latin typeface="Times New Roman"/>
                <a:cs typeface="Times New Roman"/>
              </a:rPr>
              <a:t> </a:t>
            </a:r>
            <a:r>
              <a:rPr sz="1200" dirty="0">
                <a:latin typeface="Times New Roman"/>
                <a:cs typeface="Times New Roman"/>
              </a:rPr>
              <a:t>novel</a:t>
            </a:r>
            <a:r>
              <a:rPr sz="1200" spc="-30" dirty="0">
                <a:latin typeface="Times New Roman"/>
                <a:cs typeface="Times New Roman"/>
              </a:rPr>
              <a:t> </a:t>
            </a:r>
            <a:r>
              <a:rPr sz="1200" dirty="0">
                <a:latin typeface="Times New Roman"/>
                <a:cs typeface="Times New Roman"/>
              </a:rPr>
              <a:t>insights</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integrating</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data-</a:t>
            </a:r>
            <a:r>
              <a:rPr sz="1200" dirty="0">
                <a:latin typeface="Times New Roman"/>
                <a:cs typeface="Times New Roman"/>
              </a:rPr>
              <a:t>driven,</a:t>
            </a:r>
            <a:r>
              <a:rPr sz="1200" spc="-30" dirty="0">
                <a:latin typeface="Times New Roman"/>
                <a:cs typeface="Times New Roman"/>
              </a:rPr>
              <a:t> </a:t>
            </a:r>
            <a:r>
              <a:rPr sz="1200" spc="-10" dirty="0">
                <a:latin typeface="Times New Roman"/>
                <a:cs typeface="Times New Roman"/>
              </a:rPr>
              <a:t>AI-</a:t>
            </a:r>
            <a:r>
              <a:rPr sz="1200" dirty="0">
                <a:latin typeface="Times New Roman"/>
                <a:cs typeface="Times New Roman"/>
              </a:rPr>
              <a:t>enhanced</a:t>
            </a:r>
            <a:r>
              <a:rPr sz="1200" spc="-35" dirty="0">
                <a:latin typeface="Times New Roman"/>
                <a:cs typeface="Times New Roman"/>
              </a:rPr>
              <a:t> </a:t>
            </a:r>
            <a:r>
              <a:rPr sz="1200" spc="-10" dirty="0">
                <a:latin typeface="Times New Roman"/>
                <a:cs typeface="Times New Roman"/>
              </a:rPr>
              <a:t>bidding system</a:t>
            </a:r>
            <a:r>
              <a:rPr sz="1200" spc="-40" dirty="0">
                <a:latin typeface="Times New Roman"/>
                <a:cs typeface="Times New Roman"/>
              </a:rPr>
              <a:t> </a:t>
            </a:r>
            <a:r>
              <a:rPr sz="1200" spc="-10" dirty="0">
                <a:latin typeface="Times New Roman"/>
                <a:cs typeface="Times New Roman"/>
              </a:rPr>
              <a:t>tailored</a:t>
            </a:r>
            <a:r>
              <a:rPr sz="1200" spc="-45" dirty="0">
                <a:latin typeface="Times New Roman"/>
                <a:cs typeface="Times New Roman"/>
              </a:rPr>
              <a:t> </a:t>
            </a:r>
            <a:r>
              <a:rPr sz="1200" spc="-10" dirty="0">
                <a:latin typeface="Times New Roman"/>
                <a:cs typeface="Times New Roman"/>
              </a:rPr>
              <a:t>specifically</a:t>
            </a:r>
            <a:r>
              <a:rPr sz="1200" spc="-40" dirty="0">
                <a:latin typeface="Times New Roman"/>
                <a:cs typeface="Times New Roman"/>
              </a:rPr>
              <a:t> </a:t>
            </a:r>
            <a:r>
              <a:rPr sz="1200" spc="-10" dirty="0">
                <a:latin typeface="Times New Roman"/>
                <a:cs typeface="Times New Roman"/>
              </a:rPr>
              <a:t>for</a:t>
            </a:r>
            <a:r>
              <a:rPr sz="1200" spc="-50" dirty="0">
                <a:latin typeface="Times New Roman"/>
                <a:cs typeface="Times New Roman"/>
              </a:rPr>
              <a:t> </a:t>
            </a:r>
            <a:r>
              <a:rPr sz="1200" spc="-10" dirty="0">
                <a:latin typeface="Times New Roman"/>
                <a:cs typeface="Times New Roman"/>
              </a:rPr>
              <a:t>large-scale</a:t>
            </a:r>
            <a:r>
              <a:rPr sz="1200" spc="-40" dirty="0">
                <a:latin typeface="Times New Roman"/>
                <a:cs typeface="Times New Roman"/>
              </a:rPr>
              <a:t> </a:t>
            </a:r>
            <a:r>
              <a:rPr sz="1200" spc="-10" dirty="0">
                <a:latin typeface="Times New Roman"/>
                <a:cs typeface="Times New Roman"/>
              </a:rPr>
              <a:t>property</a:t>
            </a:r>
            <a:r>
              <a:rPr sz="1200" spc="-30" dirty="0">
                <a:latin typeface="Times New Roman"/>
                <a:cs typeface="Times New Roman"/>
              </a:rPr>
              <a:t> </a:t>
            </a:r>
            <a:r>
              <a:rPr sz="1200" spc="-10" dirty="0">
                <a:latin typeface="Times New Roman"/>
                <a:cs typeface="Times New Roman"/>
              </a:rPr>
              <a:t>auctions.</a:t>
            </a:r>
            <a:r>
              <a:rPr sz="1200" spc="-45" dirty="0">
                <a:latin typeface="Times New Roman"/>
                <a:cs typeface="Times New Roman"/>
              </a:rPr>
              <a:t> </a:t>
            </a:r>
            <a:r>
              <a:rPr sz="1200" spc="-1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approach</a:t>
            </a:r>
            <a:r>
              <a:rPr sz="1200" spc="-30" dirty="0">
                <a:latin typeface="Times New Roman"/>
                <a:cs typeface="Times New Roman"/>
              </a:rPr>
              <a:t> </a:t>
            </a:r>
            <a:r>
              <a:rPr sz="1200" spc="-10" dirty="0">
                <a:latin typeface="Times New Roman"/>
                <a:cs typeface="Times New Roman"/>
              </a:rPr>
              <a:t>not</a:t>
            </a:r>
            <a:r>
              <a:rPr sz="1200" spc="-35" dirty="0">
                <a:latin typeface="Times New Roman"/>
                <a:cs typeface="Times New Roman"/>
              </a:rPr>
              <a:t> </a:t>
            </a:r>
            <a:r>
              <a:rPr sz="1200" spc="-10" dirty="0">
                <a:latin typeface="Times New Roman"/>
                <a:cs typeface="Times New Roman"/>
              </a:rPr>
              <a:t>only</a:t>
            </a:r>
            <a:r>
              <a:rPr sz="1200" spc="-40" dirty="0">
                <a:latin typeface="Times New Roman"/>
                <a:cs typeface="Times New Roman"/>
              </a:rPr>
              <a:t> </a:t>
            </a:r>
            <a:r>
              <a:rPr sz="1200" spc="-10" dirty="0">
                <a:latin typeface="Times New Roman"/>
                <a:cs typeface="Times New Roman"/>
              </a:rPr>
              <a:t>improves </a:t>
            </a:r>
            <a:r>
              <a:rPr sz="1200" dirty="0">
                <a:latin typeface="Times New Roman"/>
                <a:cs typeface="Times New Roman"/>
              </a:rPr>
              <a:t>bid</a:t>
            </a:r>
            <a:r>
              <a:rPr sz="1200" spc="245" dirty="0">
                <a:latin typeface="Times New Roman"/>
                <a:cs typeface="Times New Roman"/>
              </a:rPr>
              <a:t> </a:t>
            </a:r>
            <a:r>
              <a:rPr sz="1200" dirty="0">
                <a:latin typeface="Times New Roman"/>
                <a:cs typeface="Times New Roman"/>
              </a:rPr>
              <a:t>accuracy</a:t>
            </a:r>
            <a:r>
              <a:rPr sz="1200" spc="254" dirty="0">
                <a:latin typeface="Times New Roman"/>
                <a:cs typeface="Times New Roman"/>
              </a:rPr>
              <a:t> </a:t>
            </a:r>
            <a:r>
              <a:rPr sz="1200" dirty="0">
                <a:latin typeface="Times New Roman"/>
                <a:cs typeface="Times New Roman"/>
              </a:rPr>
              <a:t>and</a:t>
            </a:r>
            <a:r>
              <a:rPr sz="1200" spc="254" dirty="0">
                <a:latin typeface="Times New Roman"/>
                <a:cs typeface="Times New Roman"/>
              </a:rPr>
              <a:t> </a:t>
            </a:r>
            <a:r>
              <a:rPr sz="1200" dirty="0">
                <a:latin typeface="Times New Roman"/>
                <a:cs typeface="Times New Roman"/>
              </a:rPr>
              <a:t>transaction</a:t>
            </a:r>
            <a:r>
              <a:rPr sz="1200" spc="240" dirty="0">
                <a:latin typeface="Times New Roman"/>
                <a:cs typeface="Times New Roman"/>
              </a:rPr>
              <a:t> </a:t>
            </a:r>
            <a:r>
              <a:rPr sz="1200" dirty="0">
                <a:latin typeface="Times New Roman"/>
                <a:cs typeface="Times New Roman"/>
              </a:rPr>
              <a:t>efficiency</a:t>
            </a:r>
            <a:r>
              <a:rPr sz="1200" spc="254" dirty="0">
                <a:latin typeface="Times New Roman"/>
                <a:cs typeface="Times New Roman"/>
              </a:rPr>
              <a:t> </a:t>
            </a:r>
            <a:r>
              <a:rPr sz="1200" dirty="0">
                <a:latin typeface="Times New Roman"/>
                <a:cs typeface="Times New Roman"/>
              </a:rPr>
              <a:t>but</a:t>
            </a:r>
            <a:r>
              <a:rPr sz="1200" spc="245" dirty="0">
                <a:latin typeface="Times New Roman"/>
                <a:cs typeface="Times New Roman"/>
              </a:rPr>
              <a:t> </a:t>
            </a:r>
            <a:r>
              <a:rPr sz="1200" dirty="0">
                <a:latin typeface="Times New Roman"/>
                <a:cs typeface="Times New Roman"/>
              </a:rPr>
              <a:t>also</a:t>
            </a:r>
            <a:r>
              <a:rPr sz="1200" spc="240" dirty="0">
                <a:latin typeface="Times New Roman"/>
                <a:cs typeface="Times New Roman"/>
              </a:rPr>
              <a:t> </a:t>
            </a:r>
            <a:r>
              <a:rPr sz="1200" dirty="0">
                <a:latin typeface="Times New Roman"/>
                <a:cs typeface="Times New Roman"/>
              </a:rPr>
              <a:t>addresses</a:t>
            </a:r>
            <a:r>
              <a:rPr sz="1200" spc="240" dirty="0">
                <a:latin typeface="Times New Roman"/>
                <a:cs typeface="Times New Roman"/>
              </a:rPr>
              <a:t> </a:t>
            </a:r>
            <a:r>
              <a:rPr sz="1200" dirty="0">
                <a:latin typeface="Times New Roman"/>
                <a:cs typeface="Times New Roman"/>
              </a:rPr>
              <a:t>challenges</a:t>
            </a:r>
            <a:r>
              <a:rPr sz="1200" spc="265" dirty="0">
                <a:latin typeface="Times New Roman"/>
                <a:cs typeface="Times New Roman"/>
              </a:rPr>
              <a:t> </a:t>
            </a:r>
            <a:r>
              <a:rPr sz="1200" dirty="0">
                <a:latin typeface="Times New Roman"/>
                <a:cs typeface="Times New Roman"/>
              </a:rPr>
              <a:t>such</a:t>
            </a:r>
            <a:r>
              <a:rPr sz="1200" spc="240" dirty="0">
                <a:latin typeface="Times New Roman"/>
                <a:cs typeface="Times New Roman"/>
              </a:rPr>
              <a:t> </a:t>
            </a:r>
            <a:r>
              <a:rPr sz="1200" dirty="0">
                <a:latin typeface="Times New Roman"/>
                <a:cs typeface="Times New Roman"/>
              </a:rPr>
              <a:t>as</a:t>
            </a:r>
            <a:r>
              <a:rPr sz="1200" spc="254" dirty="0">
                <a:latin typeface="Times New Roman"/>
                <a:cs typeface="Times New Roman"/>
              </a:rPr>
              <a:t> </a:t>
            </a:r>
            <a:r>
              <a:rPr sz="1200" dirty="0">
                <a:latin typeface="Times New Roman"/>
                <a:cs typeface="Times New Roman"/>
              </a:rPr>
              <a:t>real-</a:t>
            </a:r>
            <a:r>
              <a:rPr sz="1200" spc="-20" dirty="0">
                <a:latin typeface="Times New Roman"/>
                <a:cs typeface="Times New Roman"/>
              </a:rPr>
              <a:t>time </a:t>
            </a:r>
            <a:r>
              <a:rPr sz="1200" dirty="0">
                <a:latin typeface="Times New Roman"/>
                <a:cs typeface="Times New Roman"/>
              </a:rPr>
              <a:t>scalability,</a:t>
            </a:r>
            <a:r>
              <a:rPr sz="1200" spc="440" dirty="0">
                <a:latin typeface="Times New Roman"/>
                <a:cs typeface="Times New Roman"/>
              </a:rPr>
              <a:t> </a:t>
            </a:r>
            <a:r>
              <a:rPr sz="1200" dirty="0">
                <a:latin typeface="Times New Roman"/>
                <a:cs typeface="Times New Roman"/>
              </a:rPr>
              <a:t>bid</a:t>
            </a:r>
            <a:r>
              <a:rPr sz="1200" spc="445" dirty="0">
                <a:latin typeface="Times New Roman"/>
                <a:cs typeface="Times New Roman"/>
              </a:rPr>
              <a:t> </a:t>
            </a:r>
            <a:r>
              <a:rPr sz="1200" dirty="0">
                <a:latin typeface="Times New Roman"/>
                <a:cs typeface="Times New Roman"/>
              </a:rPr>
              <a:t>manipulation</a:t>
            </a:r>
            <a:r>
              <a:rPr sz="1200" spc="440" dirty="0">
                <a:latin typeface="Times New Roman"/>
                <a:cs typeface="Times New Roman"/>
              </a:rPr>
              <a:t> </a:t>
            </a:r>
            <a:r>
              <a:rPr sz="1200" dirty="0">
                <a:latin typeface="Times New Roman"/>
                <a:cs typeface="Times New Roman"/>
              </a:rPr>
              <a:t>prevention,</a:t>
            </a:r>
            <a:r>
              <a:rPr sz="1200" spc="440" dirty="0">
                <a:latin typeface="Times New Roman"/>
                <a:cs typeface="Times New Roman"/>
              </a:rPr>
              <a:t> </a:t>
            </a:r>
            <a:r>
              <a:rPr sz="1200" dirty="0">
                <a:latin typeface="Times New Roman"/>
                <a:cs typeface="Times New Roman"/>
              </a:rPr>
              <a:t>and</a:t>
            </a:r>
            <a:r>
              <a:rPr sz="1200" spc="440" dirty="0">
                <a:latin typeface="Times New Roman"/>
                <a:cs typeface="Times New Roman"/>
              </a:rPr>
              <a:t> </a:t>
            </a:r>
            <a:r>
              <a:rPr sz="1200" dirty="0">
                <a:latin typeface="Times New Roman"/>
                <a:cs typeface="Times New Roman"/>
              </a:rPr>
              <a:t>market</a:t>
            </a:r>
            <a:r>
              <a:rPr sz="1200" spc="445" dirty="0">
                <a:latin typeface="Times New Roman"/>
                <a:cs typeface="Times New Roman"/>
              </a:rPr>
              <a:t> </a:t>
            </a:r>
            <a:r>
              <a:rPr sz="1200" dirty="0">
                <a:latin typeface="Times New Roman"/>
                <a:cs typeface="Times New Roman"/>
              </a:rPr>
              <a:t>fairness.</a:t>
            </a:r>
            <a:r>
              <a:rPr sz="1200" spc="445" dirty="0">
                <a:latin typeface="Times New Roman"/>
                <a:cs typeface="Times New Roman"/>
              </a:rPr>
              <a:t> </a:t>
            </a:r>
            <a:r>
              <a:rPr sz="1200" dirty="0">
                <a:latin typeface="Times New Roman"/>
                <a:cs typeface="Times New Roman"/>
              </a:rPr>
              <a:t>By</a:t>
            </a:r>
            <a:r>
              <a:rPr sz="1200" spc="434" dirty="0">
                <a:latin typeface="Times New Roman"/>
                <a:cs typeface="Times New Roman"/>
              </a:rPr>
              <a:t> </a:t>
            </a:r>
            <a:r>
              <a:rPr sz="1200" dirty="0">
                <a:latin typeface="Times New Roman"/>
                <a:cs typeface="Times New Roman"/>
              </a:rPr>
              <a:t>building</a:t>
            </a:r>
            <a:r>
              <a:rPr sz="1200" spc="445" dirty="0">
                <a:latin typeface="Times New Roman"/>
                <a:cs typeface="Times New Roman"/>
              </a:rPr>
              <a:t> </a:t>
            </a:r>
            <a:r>
              <a:rPr sz="1200" dirty="0">
                <a:latin typeface="Times New Roman"/>
                <a:cs typeface="Times New Roman"/>
              </a:rPr>
              <a:t>upon</a:t>
            </a:r>
            <a:r>
              <a:rPr sz="1200" spc="43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advancements</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gaps</a:t>
            </a:r>
            <a:r>
              <a:rPr sz="1200" spc="-35" dirty="0">
                <a:latin typeface="Times New Roman"/>
                <a:cs typeface="Times New Roman"/>
              </a:rPr>
              <a:t> </a:t>
            </a:r>
            <a:r>
              <a:rPr sz="1200" dirty="0">
                <a:latin typeface="Times New Roman"/>
                <a:cs typeface="Times New Roman"/>
              </a:rPr>
              <a:t>identified</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existing</a:t>
            </a:r>
            <a:r>
              <a:rPr sz="1200" spc="-35" dirty="0">
                <a:latin typeface="Times New Roman"/>
                <a:cs typeface="Times New Roman"/>
              </a:rPr>
              <a:t> </a:t>
            </a:r>
            <a:r>
              <a:rPr sz="1200" dirty="0">
                <a:latin typeface="Times New Roman"/>
                <a:cs typeface="Times New Roman"/>
              </a:rPr>
              <a:t>research,</a:t>
            </a:r>
            <a:r>
              <a:rPr sz="1200" spc="-25"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Abode</a:t>
            </a:r>
            <a:r>
              <a:rPr sz="1200" spc="-35" dirty="0">
                <a:latin typeface="Times New Roman"/>
                <a:cs typeface="Times New Roman"/>
              </a:rPr>
              <a:t> </a:t>
            </a:r>
            <a:r>
              <a:rPr sz="1200" dirty="0">
                <a:latin typeface="Times New Roman"/>
                <a:cs typeface="Times New Roman"/>
              </a:rPr>
              <a:t>establishes</a:t>
            </a:r>
            <a:r>
              <a:rPr sz="1200" spc="-35" dirty="0">
                <a:latin typeface="Times New Roman"/>
                <a:cs typeface="Times New Roman"/>
              </a:rPr>
              <a:t> </a:t>
            </a:r>
            <a:r>
              <a:rPr sz="1200" dirty="0">
                <a:latin typeface="Times New Roman"/>
                <a:cs typeface="Times New Roman"/>
              </a:rPr>
              <a:t>itself</a:t>
            </a:r>
            <a:r>
              <a:rPr sz="1200" spc="-35" dirty="0">
                <a:latin typeface="Times New Roman"/>
                <a:cs typeface="Times New Roman"/>
              </a:rPr>
              <a:t> </a:t>
            </a:r>
            <a:r>
              <a:rPr sz="1200" dirty="0">
                <a:latin typeface="Times New Roman"/>
                <a:cs typeface="Times New Roman"/>
              </a:rPr>
              <a:t>as</a:t>
            </a:r>
            <a:r>
              <a:rPr sz="1200" spc="-40" dirty="0">
                <a:latin typeface="Times New Roman"/>
                <a:cs typeface="Times New Roman"/>
              </a:rPr>
              <a:t> </a:t>
            </a:r>
            <a:r>
              <a:rPr sz="1200" spc="-25" dirty="0">
                <a:latin typeface="Times New Roman"/>
                <a:cs typeface="Times New Roman"/>
              </a:rPr>
              <a:t>an </a:t>
            </a:r>
            <a:r>
              <a:rPr sz="1200" dirty="0">
                <a:latin typeface="Times New Roman"/>
                <a:cs typeface="Times New Roman"/>
              </a:rPr>
              <a:t>innovative,</a:t>
            </a:r>
            <a:r>
              <a:rPr sz="1200" spc="-20"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20" dirty="0">
                <a:latin typeface="Times New Roman"/>
                <a:cs typeface="Times New Roman"/>
              </a:rPr>
              <a:t> </a:t>
            </a:r>
            <a:r>
              <a:rPr sz="1200" dirty="0">
                <a:latin typeface="Times New Roman"/>
                <a:cs typeface="Times New Roman"/>
              </a:rPr>
              <a:t>solution</a:t>
            </a:r>
            <a:r>
              <a:rPr sz="1200" spc="-15" dirty="0">
                <a:latin typeface="Times New Roman"/>
                <a:cs typeface="Times New Roman"/>
              </a:rPr>
              <a:t> </a:t>
            </a:r>
            <a:r>
              <a:rPr sz="1200" dirty="0">
                <a:latin typeface="Times New Roman"/>
                <a:cs typeface="Times New Roman"/>
              </a:rPr>
              <a:t>poised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revolutionize</a:t>
            </a:r>
            <a:r>
              <a:rPr sz="1200" spc="-25" dirty="0">
                <a:latin typeface="Times New Roman"/>
                <a:cs typeface="Times New Roman"/>
              </a:rPr>
              <a:t> </a:t>
            </a:r>
            <a:r>
              <a:rPr sz="1200" dirty="0">
                <a:latin typeface="Times New Roman"/>
                <a:cs typeface="Times New Roman"/>
              </a:rPr>
              <a:t>digital</a:t>
            </a:r>
            <a:r>
              <a:rPr sz="1200" spc="-15" dirty="0">
                <a:latin typeface="Times New Roman"/>
                <a:cs typeface="Times New Roman"/>
              </a:rPr>
              <a:t> </a:t>
            </a:r>
            <a:r>
              <a:rPr sz="1200" dirty="0">
                <a:latin typeface="Times New Roman"/>
                <a:cs typeface="Times New Roman"/>
              </a:rPr>
              <a:t>real</a:t>
            </a:r>
            <a:r>
              <a:rPr sz="1200" spc="-20" dirty="0">
                <a:latin typeface="Times New Roman"/>
                <a:cs typeface="Times New Roman"/>
              </a:rPr>
              <a:t> </a:t>
            </a:r>
            <a:r>
              <a:rPr sz="1200" dirty="0">
                <a:latin typeface="Times New Roman"/>
                <a:cs typeface="Times New Roman"/>
              </a:rPr>
              <a:t>estate</a:t>
            </a:r>
            <a:r>
              <a:rPr sz="1200" spc="-20" dirty="0">
                <a:latin typeface="Times New Roman"/>
                <a:cs typeface="Times New Roman"/>
              </a:rPr>
              <a:t> </a:t>
            </a:r>
            <a:r>
              <a:rPr sz="1200" spc="-10" dirty="0">
                <a:latin typeface="Times New Roman"/>
                <a:cs typeface="Times New Roman"/>
              </a:rPr>
              <a:t>auctions.</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12700" algn="ctr">
              <a:lnSpc>
                <a:spcPct val="100000"/>
              </a:lnSpc>
            </a:pPr>
            <a:r>
              <a:rPr sz="1200" b="1" dirty="0">
                <a:latin typeface="Times New Roman"/>
                <a:cs typeface="Times New Roman"/>
              </a:rPr>
              <a:t>Table</a:t>
            </a:r>
            <a:r>
              <a:rPr sz="1200" b="1" spc="-35" dirty="0">
                <a:latin typeface="Times New Roman"/>
                <a:cs typeface="Times New Roman"/>
              </a:rPr>
              <a:t> </a:t>
            </a:r>
            <a:r>
              <a:rPr sz="1200" b="1" dirty="0">
                <a:latin typeface="Times New Roman"/>
                <a:cs typeface="Times New Roman"/>
              </a:rPr>
              <a:t>1.1:</a:t>
            </a:r>
            <a:r>
              <a:rPr sz="1200" b="1" spc="-40" dirty="0">
                <a:latin typeface="Times New Roman"/>
                <a:cs typeface="Times New Roman"/>
              </a:rPr>
              <a:t> </a:t>
            </a:r>
            <a:r>
              <a:rPr sz="1200" b="1" dirty="0">
                <a:latin typeface="Times New Roman"/>
                <a:cs typeface="Times New Roman"/>
              </a:rPr>
              <a:t>Literature</a:t>
            </a:r>
            <a:r>
              <a:rPr sz="1200" b="1" spc="-45" dirty="0">
                <a:latin typeface="Times New Roman"/>
                <a:cs typeface="Times New Roman"/>
              </a:rPr>
              <a:t> </a:t>
            </a:r>
            <a:r>
              <a:rPr sz="1200" b="1" spc="-10" dirty="0">
                <a:latin typeface="Times New Roman"/>
                <a:cs typeface="Times New Roman"/>
              </a:rPr>
              <a:t>Review</a:t>
            </a:r>
            <a:endParaRPr sz="1200" dirty="0">
              <a:latin typeface="Times New Roman"/>
              <a:cs typeface="Times New Roman"/>
            </a:endParaRPr>
          </a:p>
        </p:txBody>
      </p:sp>
      <p:graphicFrame>
        <p:nvGraphicFramePr>
          <p:cNvPr id="3" name="object 3"/>
          <p:cNvGraphicFramePr>
            <a:graphicFrameLocks noGrp="1"/>
          </p:cNvGraphicFramePr>
          <p:nvPr/>
        </p:nvGraphicFramePr>
        <p:xfrm>
          <a:off x="1189024" y="3813682"/>
          <a:ext cx="5664833" cy="4622165"/>
        </p:xfrm>
        <a:graphic>
          <a:graphicData uri="http://schemas.openxmlformats.org/drawingml/2006/table">
            <a:tbl>
              <a:tblPr firstRow="1" bandRow="1">
                <a:tableStyleId>{2D5ABB26-0587-4C30-8999-92F81FD0307C}</a:tableStyleId>
              </a:tblPr>
              <a:tblGrid>
                <a:gridCol w="1567180">
                  <a:extLst>
                    <a:ext uri="{9D8B030D-6E8A-4147-A177-3AD203B41FA5}">
                      <a16:colId xmlns:a16="http://schemas.microsoft.com/office/drawing/2014/main" val="20000"/>
                    </a:ext>
                  </a:extLst>
                </a:gridCol>
                <a:gridCol w="2178049">
                  <a:extLst>
                    <a:ext uri="{9D8B030D-6E8A-4147-A177-3AD203B41FA5}">
                      <a16:colId xmlns:a16="http://schemas.microsoft.com/office/drawing/2014/main" val="20001"/>
                    </a:ext>
                  </a:extLst>
                </a:gridCol>
                <a:gridCol w="1919604">
                  <a:extLst>
                    <a:ext uri="{9D8B030D-6E8A-4147-A177-3AD203B41FA5}">
                      <a16:colId xmlns:a16="http://schemas.microsoft.com/office/drawing/2014/main" val="20002"/>
                    </a:ext>
                  </a:extLst>
                </a:gridCol>
              </a:tblGrid>
              <a:tr h="358140">
                <a:tc>
                  <a:txBody>
                    <a:bodyPr/>
                    <a:lstStyle/>
                    <a:p>
                      <a:pPr marL="67945">
                        <a:lnSpc>
                          <a:spcPts val="1390"/>
                        </a:lnSpc>
                      </a:pPr>
                      <a:r>
                        <a:rPr sz="1200" b="1" spc="-10" dirty="0">
                          <a:latin typeface="Times New Roman"/>
                          <a:cs typeface="Times New Roman"/>
                        </a:rPr>
                        <a:t>Title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nSpc>
                          <a:spcPts val="1380"/>
                        </a:lnSpc>
                        <a:tabLst>
                          <a:tab pos="786765" algn="l"/>
                          <a:tab pos="1540510" algn="l"/>
                        </a:tabLst>
                      </a:pPr>
                      <a:r>
                        <a:rPr sz="1200" b="1" spc="-10" dirty="0">
                          <a:latin typeface="Times New Roman"/>
                          <a:cs typeface="Times New Roman"/>
                        </a:rPr>
                        <a:t>Machine</a:t>
                      </a:r>
                      <a:r>
                        <a:rPr sz="1200" b="1" dirty="0">
                          <a:latin typeface="Times New Roman"/>
                          <a:cs typeface="Times New Roman"/>
                        </a:rPr>
                        <a:t>	</a:t>
                      </a:r>
                      <a:r>
                        <a:rPr sz="1200" b="1" spc="-10" dirty="0">
                          <a:latin typeface="Times New Roman"/>
                          <a:cs typeface="Times New Roman"/>
                        </a:rPr>
                        <a:t>Learning</a:t>
                      </a:r>
                      <a:r>
                        <a:rPr sz="1200" b="1" dirty="0">
                          <a:latin typeface="Times New Roman"/>
                          <a:cs typeface="Times New Roman"/>
                        </a:rPr>
                        <a:t>	</a:t>
                      </a:r>
                      <a:r>
                        <a:rPr sz="1200" b="1" spc="-10" dirty="0">
                          <a:latin typeface="Times New Roman"/>
                          <a:cs typeface="Times New Roman"/>
                        </a:rPr>
                        <a:t>Methods </a:t>
                      </a:r>
                      <a:r>
                        <a:rPr sz="1200" b="1" dirty="0">
                          <a:latin typeface="Times New Roman"/>
                          <a:cs typeface="Times New Roman"/>
                        </a:rPr>
                        <a:t>and</a:t>
                      </a:r>
                      <a:r>
                        <a:rPr sz="1200" b="1" spc="-10" dirty="0">
                          <a:latin typeface="Times New Roman"/>
                          <a:cs typeface="Times New Roman"/>
                        </a:rPr>
                        <a:t> Findings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90"/>
                        </a:lnSpc>
                      </a:pPr>
                      <a:r>
                        <a:rPr sz="1200" b="1" dirty="0">
                          <a:latin typeface="Times New Roman"/>
                          <a:cs typeface="Times New Roman"/>
                        </a:rPr>
                        <a:t>Shortcomings</a:t>
                      </a:r>
                      <a:r>
                        <a:rPr sz="1200" b="1" spc="-3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spc="-10" dirty="0">
                          <a:latin typeface="Times New Roman"/>
                          <a:cs typeface="Times New Roman"/>
                        </a:rPr>
                        <a:t>Pitfalls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706755">
                <a:tc>
                  <a:txBody>
                    <a:bodyPr/>
                    <a:lstStyle/>
                    <a:p>
                      <a:pPr marL="67945" marR="62230" algn="just">
                        <a:lnSpc>
                          <a:spcPts val="1380"/>
                        </a:lnSpc>
                        <a:spcBef>
                          <a:spcPts val="35"/>
                        </a:spcBef>
                      </a:pPr>
                      <a:r>
                        <a:rPr sz="1200" spc="-10" dirty="0">
                          <a:latin typeface="Times New Roman"/>
                          <a:cs typeface="Times New Roman"/>
                        </a:rPr>
                        <a:t>AI-</a:t>
                      </a:r>
                      <a:r>
                        <a:rPr sz="1200" dirty="0">
                          <a:latin typeface="Times New Roman"/>
                          <a:cs typeface="Times New Roman"/>
                        </a:rPr>
                        <a:t>Powered</a:t>
                      </a:r>
                      <a:r>
                        <a:rPr sz="1200" spc="415" dirty="0">
                          <a:latin typeface="Times New Roman"/>
                          <a:cs typeface="Times New Roman"/>
                        </a:rPr>
                        <a:t>    </a:t>
                      </a:r>
                      <a:r>
                        <a:rPr sz="1200" spc="-20" dirty="0">
                          <a:latin typeface="Times New Roman"/>
                          <a:cs typeface="Times New Roman"/>
                        </a:rPr>
                        <a:t>Price </a:t>
                      </a:r>
                      <a:r>
                        <a:rPr sz="1200" dirty="0">
                          <a:latin typeface="Times New Roman"/>
                          <a:cs typeface="Times New Roman"/>
                        </a:rPr>
                        <a:t>Prediction</a:t>
                      </a:r>
                      <a:r>
                        <a:rPr sz="1200" spc="480" dirty="0">
                          <a:latin typeface="Times New Roman"/>
                          <a:cs typeface="Times New Roman"/>
                        </a:rPr>
                        <a:t>  </a:t>
                      </a:r>
                      <a:r>
                        <a:rPr sz="1200" dirty="0">
                          <a:latin typeface="Times New Roman"/>
                          <a:cs typeface="Times New Roman"/>
                        </a:rPr>
                        <a:t>in</a:t>
                      </a:r>
                      <a:r>
                        <a:rPr sz="1200" spc="484" dirty="0">
                          <a:latin typeface="Times New Roman"/>
                          <a:cs typeface="Times New Roman"/>
                        </a:rPr>
                        <a:t>  </a:t>
                      </a:r>
                      <a:r>
                        <a:rPr sz="1200" spc="-20" dirty="0">
                          <a:latin typeface="Times New Roman"/>
                          <a:cs typeface="Times New Roman"/>
                        </a:rPr>
                        <a:t>Real </a:t>
                      </a:r>
                      <a:r>
                        <a:rPr sz="1200" dirty="0">
                          <a:latin typeface="Times New Roman"/>
                          <a:cs typeface="Times New Roman"/>
                        </a:rPr>
                        <a:t>Estate</a:t>
                      </a:r>
                      <a:r>
                        <a:rPr sz="1200" spc="-35" dirty="0">
                          <a:latin typeface="Times New Roman"/>
                          <a:cs typeface="Times New Roman"/>
                        </a:rPr>
                        <a:t> </a:t>
                      </a:r>
                      <a:r>
                        <a:rPr sz="1200" spc="-10" dirty="0">
                          <a:latin typeface="Times New Roman"/>
                          <a:cs typeface="Times New Roman"/>
                        </a:rPr>
                        <a:t>Auctions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960" algn="just">
                        <a:lnSpc>
                          <a:spcPts val="1380"/>
                        </a:lnSpc>
                      </a:pPr>
                      <a:r>
                        <a:rPr sz="1200" dirty="0">
                          <a:latin typeface="Times New Roman"/>
                          <a:cs typeface="Times New Roman"/>
                        </a:rPr>
                        <a:t>Regression</a:t>
                      </a:r>
                      <a:r>
                        <a:rPr sz="1200" spc="110" dirty="0">
                          <a:latin typeface="Times New Roman"/>
                          <a:cs typeface="Times New Roman"/>
                        </a:rPr>
                        <a:t>  </a:t>
                      </a:r>
                      <a:r>
                        <a:rPr sz="1200" dirty="0">
                          <a:latin typeface="Times New Roman"/>
                          <a:cs typeface="Times New Roman"/>
                        </a:rPr>
                        <a:t>models</a:t>
                      </a:r>
                      <a:r>
                        <a:rPr sz="1200" spc="110"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spc="-10" dirty="0">
                          <a:latin typeface="Times New Roman"/>
                          <a:cs typeface="Times New Roman"/>
                        </a:rPr>
                        <a:t>neural </a:t>
                      </a:r>
                      <a:r>
                        <a:rPr sz="1200" dirty="0">
                          <a:latin typeface="Times New Roman"/>
                          <a:cs typeface="Times New Roman"/>
                        </a:rPr>
                        <a:t>networks</a:t>
                      </a:r>
                      <a:r>
                        <a:rPr sz="1200" spc="409" dirty="0">
                          <a:latin typeface="Times New Roman"/>
                          <a:cs typeface="Times New Roman"/>
                        </a:rPr>
                        <a:t>  </a:t>
                      </a:r>
                      <a:r>
                        <a:rPr sz="1200" dirty="0">
                          <a:latin typeface="Times New Roman"/>
                          <a:cs typeface="Times New Roman"/>
                        </a:rPr>
                        <a:t>analyzed</a:t>
                      </a:r>
                      <a:r>
                        <a:rPr sz="1200" spc="409" dirty="0">
                          <a:latin typeface="Times New Roman"/>
                          <a:cs typeface="Times New Roman"/>
                        </a:rPr>
                        <a:t>  </a:t>
                      </a:r>
                      <a:r>
                        <a:rPr sz="1200" spc="-10" dirty="0">
                          <a:latin typeface="Times New Roman"/>
                          <a:cs typeface="Times New Roman"/>
                        </a:rPr>
                        <a:t>historical </a:t>
                      </a:r>
                      <a:r>
                        <a:rPr sz="1200" dirty="0">
                          <a:latin typeface="Times New Roman"/>
                          <a:cs typeface="Times New Roman"/>
                        </a:rPr>
                        <a:t>auction</a:t>
                      </a:r>
                      <a:r>
                        <a:rPr sz="1200" spc="254" dirty="0">
                          <a:latin typeface="Times New Roman"/>
                          <a:cs typeface="Times New Roman"/>
                        </a:rPr>
                        <a:t>  </a:t>
                      </a:r>
                      <a:r>
                        <a:rPr sz="1200" dirty="0">
                          <a:latin typeface="Times New Roman"/>
                          <a:cs typeface="Times New Roman"/>
                        </a:rPr>
                        <a:t>data,</a:t>
                      </a:r>
                      <a:r>
                        <a:rPr sz="1200" spc="254" dirty="0">
                          <a:latin typeface="Times New Roman"/>
                          <a:cs typeface="Times New Roman"/>
                        </a:rPr>
                        <a:t>  </a:t>
                      </a:r>
                      <a:r>
                        <a:rPr sz="1200" dirty="0">
                          <a:latin typeface="Times New Roman"/>
                          <a:cs typeface="Times New Roman"/>
                        </a:rPr>
                        <a:t>achieving</a:t>
                      </a:r>
                      <a:r>
                        <a:rPr sz="1200" spc="254" dirty="0">
                          <a:latin typeface="Times New Roman"/>
                          <a:cs typeface="Times New Roman"/>
                        </a:rPr>
                        <a:t>  </a:t>
                      </a:r>
                      <a:r>
                        <a:rPr sz="1200" spc="-20" dirty="0">
                          <a:latin typeface="Times New Roman"/>
                          <a:cs typeface="Times New Roman"/>
                        </a:rPr>
                        <a:t>high </a:t>
                      </a:r>
                      <a:r>
                        <a:rPr sz="1200" dirty="0">
                          <a:latin typeface="Times New Roman"/>
                          <a:cs typeface="Times New Roman"/>
                        </a:rPr>
                        <a:t>accuracy</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price</a:t>
                      </a:r>
                      <a:r>
                        <a:rPr sz="1200" spc="-35" dirty="0">
                          <a:latin typeface="Times New Roman"/>
                          <a:cs typeface="Times New Roman"/>
                        </a:rPr>
                        <a:t> </a:t>
                      </a:r>
                      <a:r>
                        <a:rPr sz="1200" spc="-10" dirty="0">
                          <a:latin typeface="Times New Roman"/>
                          <a:cs typeface="Times New Roman"/>
                        </a:rPr>
                        <a:t>estimation.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gn="just">
                        <a:lnSpc>
                          <a:spcPts val="1380"/>
                        </a:lnSpc>
                        <a:spcBef>
                          <a:spcPts val="35"/>
                        </a:spcBef>
                      </a:pPr>
                      <a:r>
                        <a:rPr sz="1200" dirty="0">
                          <a:latin typeface="Times New Roman"/>
                          <a:cs typeface="Times New Roman"/>
                        </a:rPr>
                        <a:t>Struggled</a:t>
                      </a:r>
                      <a:r>
                        <a:rPr sz="1200" spc="330" dirty="0">
                          <a:latin typeface="Times New Roman"/>
                          <a:cs typeface="Times New Roman"/>
                        </a:rPr>
                        <a:t>   </a:t>
                      </a:r>
                      <a:r>
                        <a:rPr sz="1200" dirty="0">
                          <a:latin typeface="Times New Roman"/>
                          <a:cs typeface="Times New Roman"/>
                        </a:rPr>
                        <a:t>with</a:t>
                      </a:r>
                      <a:r>
                        <a:rPr sz="1200" spc="340" dirty="0">
                          <a:latin typeface="Times New Roman"/>
                          <a:cs typeface="Times New Roman"/>
                        </a:rPr>
                        <a:t>   </a:t>
                      </a:r>
                      <a:r>
                        <a:rPr sz="1200" spc="-10" dirty="0">
                          <a:latin typeface="Times New Roman"/>
                          <a:cs typeface="Times New Roman"/>
                        </a:rPr>
                        <a:t>market </a:t>
                      </a:r>
                      <a:r>
                        <a:rPr sz="1200" dirty="0">
                          <a:latin typeface="Times New Roman"/>
                          <a:cs typeface="Times New Roman"/>
                        </a:rPr>
                        <a:t>volatility,</a:t>
                      </a:r>
                      <a:r>
                        <a:rPr sz="1200" spc="150" dirty="0">
                          <a:latin typeface="Times New Roman"/>
                          <a:cs typeface="Times New Roman"/>
                        </a:rPr>
                        <a:t> </a:t>
                      </a:r>
                      <a:r>
                        <a:rPr sz="1200" dirty="0">
                          <a:latin typeface="Times New Roman"/>
                          <a:cs typeface="Times New Roman"/>
                        </a:rPr>
                        <a:t>requiring</a:t>
                      </a:r>
                      <a:r>
                        <a:rPr sz="1200" spc="150" dirty="0">
                          <a:latin typeface="Times New Roman"/>
                          <a:cs typeface="Times New Roman"/>
                        </a:rPr>
                        <a:t> </a:t>
                      </a:r>
                      <a:r>
                        <a:rPr sz="1200" spc="-10" dirty="0">
                          <a:latin typeface="Times New Roman"/>
                          <a:cs typeface="Times New Roman"/>
                        </a:rPr>
                        <a:t>frequent </a:t>
                      </a:r>
                      <a:r>
                        <a:rPr sz="1200" dirty="0">
                          <a:latin typeface="Times New Roman"/>
                          <a:cs typeface="Times New Roman"/>
                        </a:rPr>
                        <a:t>retraining</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remain</a:t>
                      </a:r>
                      <a:r>
                        <a:rPr sz="1200" spc="-25" dirty="0">
                          <a:latin typeface="Times New Roman"/>
                          <a:cs typeface="Times New Roman"/>
                        </a:rPr>
                        <a:t> </a:t>
                      </a:r>
                      <a:r>
                        <a:rPr sz="1200" spc="-10" dirty="0">
                          <a:latin typeface="Times New Roman"/>
                          <a:cs typeface="Times New Roman"/>
                        </a:rPr>
                        <a:t>relevant.</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707390">
                <a:tc>
                  <a:txBody>
                    <a:bodyPr/>
                    <a:lstStyle/>
                    <a:p>
                      <a:pPr marL="67945" marR="61594" algn="just">
                        <a:lnSpc>
                          <a:spcPct val="95900"/>
                        </a:lnSpc>
                        <a:tabLst>
                          <a:tab pos="1133475" algn="l"/>
                        </a:tabLst>
                      </a:pPr>
                      <a:r>
                        <a:rPr sz="1200" spc="-10" dirty="0">
                          <a:latin typeface="Times New Roman"/>
                          <a:cs typeface="Times New Roman"/>
                        </a:rPr>
                        <a:t>Real-</a:t>
                      </a:r>
                      <a:r>
                        <a:rPr sz="1200" dirty="0">
                          <a:latin typeface="Times New Roman"/>
                          <a:cs typeface="Times New Roman"/>
                        </a:rPr>
                        <a:t>Time</a:t>
                      </a:r>
                      <a:r>
                        <a:rPr sz="1200" spc="445" dirty="0">
                          <a:latin typeface="Times New Roman"/>
                          <a:cs typeface="Times New Roman"/>
                        </a:rPr>
                        <a:t>   </a:t>
                      </a:r>
                      <a:r>
                        <a:rPr sz="1200" spc="-10" dirty="0">
                          <a:latin typeface="Times New Roman"/>
                          <a:cs typeface="Times New Roman"/>
                        </a:rPr>
                        <a:t>Bidding Systems</a:t>
                      </a:r>
                      <a:r>
                        <a:rPr sz="1200" dirty="0">
                          <a:latin typeface="Times New Roman"/>
                          <a:cs typeface="Times New Roman"/>
                        </a:rPr>
                        <a:t>	</a:t>
                      </a:r>
                      <a:r>
                        <a:rPr sz="1200" spc="-10" dirty="0">
                          <a:latin typeface="Times New Roman"/>
                          <a:cs typeface="Times New Roman"/>
                        </a:rPr>
                        <a:t>Using WebSockets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gn="just">
                        <a:lnSpc>
                          <a:spcPct val="95900"/>
                        </a:lnSpc>
                      </a:pPr>
                      <a:r>
                        <a:rPr sz="1200" dirty="0">
                          <a:latin typeface="Times New Roman"/>
                          <a:cs typeface="Times New Roman"/>
                        </a:rPr>
                        <a:t>WebSocket</a:t>
                      </a:r>
                      <a:r>
                        <a:rPr sz="1200" spc="365" dirty="0">
                          <a:latin typeface="Times New Roman"/>
                          <a:cs typeface="Times New Roman"/>
                        </a:rPr>
                        <a:t> </a:t>
                      </a:r>
                      <a:r>
                        <a:rPr sz="1200" dirty="0">
                          <a:latin typeface="Times New Roman"/>
                          <a:cs typeface="Times New Roman"/>
                        </a:rPr>
                        <a:t>technology</a:t>
                      </a:r>
                      <a:r>
                        <a:rPr sz="1200" spc="380" dirty="0">
                          <a:latin typeface="Times New Roman"/>
                          <a:cs typeface="Times New Roman"/>
                        </a:rPr>
                        <a:t> </a:t>
                      </a:r>
                      <a:r>
                        <a:rPr sz="1200" spc="-10" dirty="0">
                          <a:latin typeface="Times New Roman"/>
                          <a:cs typeface="Times New Roman"/>
                        </a:rPr>
                        <a:t>ensured </a:t>
                      </a:r>
                      <a:r>
                        <a:rPr sz="1200" dirty="0">
                          <a:latin typeface="Times New Roman"/>
                          <a:cs typeface="Times New Roman"/>
                        </a:rPr>
                        <a:t>instant</a:t>
                      </a:r>
                      <a:r>
                        <a:rPr sz="1200" spc="-30" dirty="0">
                          <a:latin typeface="Times New Roman"/>
                          <a:cs typeface="Times New Roman"/>
                        </a:rPr>
                        <a:t> </a:t>
                      </a: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prevented </a:t>
                      </a:r>
                      <a:r>
                        <a:rPr sz="1200" dirty="0">
                          <a:latin typeface="Times New Roman"/>
                          <a:cs typeface="Times New Roman"/>
                        </a:rPr>
                        <a:t>delayed</a:t>
                      </a:r>
                      <a:r>
                        <a:rPr sz="1200" spc="110" dirty="0">
                          <a:latin typeface="Times New Roman"/>
                          <a:cs typeface="Times New Roman"/>
                        </a:rPr>
                        <a:t>  </a:t>
                      </a:r>
                      <a:r>
                        <a:rPr sz="1200" dirty="0">
                          <a:latin typeface="Times New Roman"/>
                          <a:cs typeface="Times New Roman"/>
                        </a:rPr>
                        <a:t>transactions</a:t>
                      </a:r>
                      <a:r>
                        <a:rPr sz="1200" spc="114" dirty="0">
                          <a:latin typeface="Times New Roman"/>
                          <a:cs typeface="Times New Roman"/>
                        </a:rPr>
                        <a:t>  </a:t>
                      </a:r>
                      <a:r>
                        <a:rPr sz="1200" dirty="0">
                          <a:latin typeface="Times New Roman"/>
                          <a:cs typeface="Times New Roman"/>
                        </a:rPr>
                        <a:t>in</a:t>
                      </a:r>
                      <a:r>
                        <a:rPr sz="1200" spc="114" dirty="0">
                          <a:latin typeface="Times New Roman"/>
                          <a:cs typeface="Times New Roman"/>
                        </a:rPr>
                        <a:t>  </a:t>
                      </a:r>
                      <a:r>
                        <a:rPr sz="1200" spc="-10" dirty="0">
                          <a:latin typeface="Times New Roman"/>
                          <a:cs typeface="Times New Roman"/>
                        </a:rPr>
                        <a:t>digital auctions.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3500" algn="just">
                        <a:lnSpc>
                          <a:spcPct val="95900"/>
                        </a:lnSpc>
                      </a:pPr>
                      <a:r>
                        <a:rPr sz="1200" dirty="0">
                          <a:latin typeface="Times New Roman"/>
                          <a:cs typeface="Times New Roman"/>
                        </a:rPr>
                        <a:t>High</a:t>
                      </a:r>
                      <a:r>
                        <a:rPr sz="1200" spc="-15" dirty="0">
                          <a:latin typeface="Times New Roman"/>
                          <a:cs typeface="Times New Roman"/>
                        </a:rPr>
                        <a:t> </a:t>
                      </a:r>
                      <a:r>
                        <a:rPr sz="1200" dirty="0">
                          <a:latin typeface="Times New Roman"/>
                          <a:cs typeface="Times New Roman"/>
                        </a:rPr>
                        <a:t>server</a:t>
                      </a:r>
                      <a:r>
                        <a:rPr sz="1200" spc="-20" dirty="0">
                          <a:latin typeface="Times New Roman"/>
                          <a:cs typeface="Times New Roman"/>
                        </a:rPr>
                        <a:t> </a:t>
                      </a:r>
                      <a:r>
                        <a:rPr sz="1200" dirty="0">
                          <a:latin typeface="Times New Roman"/>
                          <a:cs typeface="Times New Roman"/>
                        </a:rPr>
                        <a:t>load</a:t>
                      </a:r>
                      <a:r>
                        <a:rPr sz="1200" spc="-20" dirty="0">
                          <a:latin typeface="Times New Roman"/>
                          <a:cs typeface="Times New Roman"/>
                        </a:rPr>
                        <a:t> </a:t>
                      </a:r>
                      <a:r>
                        <a:rPr sz="1200" dirty="0">
                          <a:latin typeface="Times New Roman"/>
                          <a:cs typeface="Times New Roman"/>
                        </a:rPr>
                        <a:t>during</a:t>
                      </a:r>
                      <a:r>
                        <a:rPr sz="1200" spc="-20" dirty="0">
                          <a:latin typeface="Times New Roman"/>
                          <a:cs typeface="Times New Roman"/>
                        </a:rPr>
                        <a:t> peak </a:t>
                      </a:r>
                      <a:r>
                        <a:rPr sz="1200" dirty="0">
                          <a:latin typeface="Times New Roman"/>
                          <a:cs typeface="Times New Roman"/>
                        </a:rPr>
                        <a:t>bidding</a:t>
                      </a:r>
                      <a:r>
                        <a:rPr sz="1200" spc="35" dirty="0">
                          <a:latin typeface="Times New Roman"/>
                          <a:cs typeface="Times New Roman"/>
                        </a:rPr>
                        <a:t> </a:t>
                      </a:r>
                      <a:r>
                        <a:rPr sz="1200" dirty="0">
                          <a:latin typeface="Times New Roman"/>
                          <a:cs typeface="Times New Roman"/>
                        </a:rPr>
                        <a:t>events</a:t>
                      </a:r>
                      <a:r>
                        <a:rPr sz="1200" spc="40" dirty="0">
                          <a:latin typeface="Times New Roman"/>
                          <a:cs typeface="Times New Roman"/>
                        </a:rPr>
                        <a:t> </a:t>
                      </a:r>
                      <a:r>
                        <a:rPr sz="1200" dirty="0">
                          <a:latin typeface="Times New Roman"/>
                          <a:cs typeface="Times New Roman"/>
                        </a:rPr>
                        <a:t>led</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latency issues.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706755">
                <a:tc>
                  <a:txBody>
                    <a:bodyPr/>
                    <a:lstStyle/>
                    <a:p>
                      <a:pPr marL="67945" marR="62865" algn="just">
                        <a:lnSpc>
                          <a:spcPts val="1380"/>
                        </a:lnSpc>
                        <a:spcBef>
                          <a:spcPts val="35"/>
                        </a:spcBef>
                        <a:tabLst>
                          <a:tab pos="1140460" algn="l"/>
                        </a:tabLst>
                      </a:pPr>
                      <a:r>
                        <a:rPr sz="1200" spc="-10" dirty="0">
                          <a:latin typeface="Times New Roman"/>
                          <a:cs typeface="Times New Roman"/>
                        </a:rPr>
                        <a:t>AI-Driven</a:t>
                      </a:r>
                      <a:r>
                        <a:rPr sz="1200" dirty="0">
                          <a:latin typeface="Times New Roman"/>
                          <a:cs typeface="Times New Roman"/>
                        </a:rPr>
                        <a:t>	</a:t>
                      </a:r>
                      <a:r>
                        <a:rPr sz="1200" spc="-20" dirty="0">
                          <a:latin typeface="Times New Roman"/>
                          <a:cs typeface="Times New Roman"/>
                        </a:rPr>
                        <a:t>Fraud </a:t>
                      </a:r>
                      <a:r>
                        <a:rPr sz="1200" dirty="0">
                          <a:latin typeface="Times New Roman"/>
                          <a:cs typeface="Times New Roman"/>
                        </a:rPr>
                        <a:t>Detection</a:t>
                      </a:r>
                      <a:r>
                        <a:rPr sz="1200" spc="270" dirty="0">
                          <a:latin typeface="Times New Roman"/>
                          <a:cs typeface="Times New Roman"/>
                        </a:rPr>
                        <a:t>  </a:t>
                      </a:r>
                      <a:r>
                        <a:rPr sz="1200" dirty="0">
                          <a:latin typeface="Times New Roman"/>
                          <a:cs typeface="Times New Roman"/>
                        </a:rPr>
                        <a:t>in</a:t>
                      </a:r>
                      <a:r>
                        <a:rPr sz="1200" spc="285" dirty="0">
                          <a:latin typeface="Times New Roman"/>
                          <a:cs typeface="Times New Roman"/>
                        </a:rPr>
                        <a:t>  </a:t>
                      </a:r>
                      <a:r>
                        <a:rPr sz="1200" spc="-10" dirty="0">
                          <a:latin typeface="Times New Roman"/>
                          <a:cs typeface="Times New Roman"/>
                        </a:rPr>
                        <a:t>Online Marketplaces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gn="just">
                        <a:lnSpc>
                          <a:spcPts val="1380"/>
                        </a:lnSpc>
                      </a:pPr>
                      <a:r>
                        <a:rPr sz="1200" dirty="0">
                          <a:latin typeface="Times New Roman"/>
                          <a:cs typeface="Times New Roman"/>
                        </a:rPr>
                        <a:t>NLP</a:t>
                      </a:r>
                      <a:r>
                        <a:rPr sz="1200" spc="275" dirty="0">
                          <a:latin typeface="Times New Roman"/>
                          <a:cs typeface="Times New Roman"/>
                        </a:rPr>
                        <a:t>  </a:t>
                      </a:r>
                      <a:r>
                        <a:rPr sz="1200" dirty="0">
                          <a:latin typeface="Times New Roman"/>
                          <a:cs typeface="Times New Roman"/>
                        </a:rPr>
                        <a:t>and</a:t>
                      </a:r>
                      <a:r>
                        <a:rPr sz="1200" spc="270" dirty="0">
                          <a:latin typeface="Times New Roman"/>
                          <a:cs typeface="Times New Roman"/>
                        </a:rPr>
                        <a:t>  </a:t>
                      </a:r>
                      <a:r>
                        <a:rPr sz="1200" dirty="0">
                          <a:latin typeface="Times New Roman"/>
                          <a:cs typeface="Times New Roman"/>
                        </a:rPr>
                        <a:t>anomaly</a:t>
                      </a:r>
                      <a:r>
                        <a:rPr sz="1200" spc="275" dirty="0">
                          <a:latin typeface="Times New Roman"/>
                          <a:cs typeface="Times New Roman"/>
                        </a:rPr>
                        <a:t>  </a:t>
                      </a:r>
                      <a:r>
                        <a:rPr sz="1200" spc="-10" dirty="0">
                          <a:latin typeface="Times New Roman"/>
                          <a:cs typeface="Times New Roman"/>
                        </a:rPr>
                        <a:t>detection </a:t>
                      </a:r>
                      <a:r>
                        <a:rPr sz="1200" dirty="0">
                          <a:latin typeface="Times New Roman"/>
                          <a:cs typeface="Times New Roman"/>
                        </a:rPr>
                        <a:t>identified</a:t>
                      </a:r>
                      <a:r>
                        <a:rPr sz="1200" spc="285" dirty="0">
                          <a:latin typeface="Times New Roman"/>
                          <a:cs typeface="Times New Roman"/>
                        </a:rPr>
                        <a:t>  </a:t>
                      </a:r>
                      <a:r>
                        <a:rPr sz="1200" dirty="0">
                          <a:latin typeface="Times New Roman"/>
                          <a:cs typeface="Times New Roman"/>
                        </a:rPr>
                        <a:t>fraudulent</a:t>
                      </a:r>
                      <a:r>
                        <a:rPr sz="1200" spc="295" dirty="0">
                          <a:latin typeface="Times New Roman"/>
                          <a:cs typeface="Times New Roman"/>
                        </a:rPr>
                        <a:t>  </a:t>
                      </a:r>
                      <a:r>
                        <a:rPr sz="1200" spc="-10" dirty="0">
                          <a:latin typeface="Times New Roman"/>
                          <a:cs typeface="Times New Roman"/>
                        </a:rPr>
                        <a:t>property </a:t>
                      </a:r>
                      <a:r>
                        <a:rPr sz="1200" dirty="0">
                          <a:latin typeface="Times New Roman"/>
                          <a:cs typeface="Times New Roman"/>
                        </a:rPr>
                        <a:t>listings</a:t>
                      </a:r>
                      <a:r>
                        <a:rPr sz="1200" spc="409" dirty="0">
                          <a:latin typeface="Times New Roman"/>
                          <a:cs typeface="Times New Roman"/>
                        </a:rPr>
                        <a:t> </a:t>
                      </a:r>
                      <a:r>
                        <a:rPr sz="1200" dirty="0">
                          <a:latin typeface="Times New Roman"/>
                          <a:cs typeface="Times New Roman"/>
                        </a:rPr>
                        <a:t>and</a:t>
                      </a:r>
                      <a:r>
                        <a:rPr sz="1200" spc="415" dirty="0">
                          <a:latin typeface="Times New Roman"/>
                          <a:cs typeface="Times New Roman"/>
                        </a:rPr>
                        <a:t> </a:t>
                      </a:r>
                      <a:r>
                        <a:rPr sz="1200" dirty="0">
                          <a:latin typeface="Times New Roman"/>
                          <a:cs typeface="Times New Roman"/>
                        </a:rPr>
                        <a:t>suspicious</a:t>
                      </a:r>
                      <a:r>
                        <a:rPr sz="1200" spc="405" dirty="0">
                          <a:latin typeface="Times New Roman"/>
                          <a:cs typeface="Times New Roman"/>
                        </a:rPr>
                        <a:t> </a:t>
                      </a:r>
                      <a:r>
                        <a:rPr sz="1200" spc="-10" dirty="0">
                          <a:latin typeface="Times New Roman"/>
                          <a:cs typeface="Times New Roman"/>
                        </a:rPr>
                        <a:t>bidding behaviors.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gn="just">
                        <a:lnSpc>
                          <a:spcPts val="1380"/>
                        </a:lnSpc>
                      </a:pPr>
                      <a:r>
                        <a:rPr sz="1200" dirty="0">
                          <a:latin typeface="Times New Roman"/>
                          <a:cs typeface="Times New Roman"/>
                        </a:rPr>
                        <a:t>False</a:t>
                      </a:r>
                      <a:r>
                        <a:rPr sz="1200" spc="409" dirty="0">
                          <a:latin typeface="Times New Roman"/>
                          <a:cs typeface="Times New Roman"/>
                        </a:rPr>
                        <a:t>  </a:t>
                      </a:r>
                      <a:r>
                        <a:rPr sz="1200" dirty="0">
                          <a:latin typeface="Times New Roman"/>
                          <a:cs typeface="Times New Roman"/>
                        </a:rPr>
                        <a:t>positives</a:t>
                      </a:r>
                      <a:r>
                        <a:rPr sz="1200" spc="409" dirty="0">
                          <a:latin typeface="Times New Roman"/>
                          <a:cs typeface="Times New Roman"/>
                        </a:rPr>
                        <a:t>  </a:t>
                      </a:r>
                      <a:r>
                        <a:rPr sz="1200" dirty="0">
                          <a:latin typeface="Times New Roman"/>
                          <a:cs typeface="Times New Roman"/>
                        </a:rPr>
                        <a:t>were</a:t>
                      </a:r>
                      <a:r>
                        <a:rPr sz="1200" spc="415" dirty="0">
                          <a:latin typeface="Times New Roman"/>
                          <a:cs typeface="Times New Roman"/>
                        </a:rPr>
                        <a:t>  </a:t>
                      </a:r>
                      <a:r>
                        <a:rPr sz="1200" spc="-50" dirty="0">
                          <a:latin typeface="Times New Roman"/>
                          <a:cs typeface="Times New Roman"/>
                        </a:rPr>
                        <a:t>a </a:t>
                      </a:r>
                      <a:r>
                        <a:rPr sz="1200" dirty="0">
                          <a:latin typeface="Times New Roman"/>
                          <a:cs typeface="Times New Roman"/>
                        </a:rPr>
                        <a:t>challenge,</a:t>
                      </a:r>
                      <a:r>
                        <a:rPr sz="1200" spc="455" dirty="0">
                          <a:latin typeface="Times New Roman"/>
                          <a:cs typeface="Times New Roman"/>
                        </a:rPr>
                        <a:t>   </a:t>
                      </a:r>
                      <a:r>
                        <a:rPr sz="1200" dirty="0">
                          <a:latin typeface="Times New Roman"/>
                          <a:cs typeface="Times New Roman"/>
                        </a:rPr>
                        <a:t>leading</a:t>
                      </a:r>
                      <a:r>
                        <a:rPr sz="1200" spc="459" dirty="0">
                          <a:latin typeface="Times New Roman"/>
                          <a:cs typeface="Times New Roman"/>
                        </a:rPr>
                        <a:t>   </a:t>
                      </a:r>
                      <a:r>
                        <a:rPr sz="1200" spc="-25" dirty="0">
                          <a:latin typeface="Times New Roman"/>
                          <a:cs typeface="Times New Roman"/>
                        </a:rPr>
                        <a:t>to </a:t>
                      </a:r>
                      <a:r>
                        <a:rPr sz="1200" dirty="0">
                          <a:latin typeface="Times New Roman"/>
                          <a:cs typeface="Times New Roman"/>
                        </a:rPr>
                        <a:t>legitimate</a:t>
                      </a:r>
                      <a:r>
                        <a:rPr sz="1200" spc="450" dirty="0">
                          <a:latin typeface="Times New Roman"/>
                          <a:cs typeface="Times New Roman"/>
                        </a:rPr>
                        <a:t>  </a:t>
                      </a:r>
                      <a:r>
                        <a:rPr sz="1200" dirty="0">
                          <a:latin typeface="Times New Roman"/>
                          <a:cs typeface="Times New Roman"/>
                        </a:rPr>
                        <a:t>listings</a:t>
                      </a:r>
                      <a:r>
                        <a:rPr sz="1200" spc="455" dirty="0">
                          <a:latin typeface="Times New Roman"/>
                          <a:cs typeface="Times New Roman"/>
                        </a:rPr>
                        <a:t>  </a:t>
                      </a:r>
                      <a:r>
                        <a:rPr sz="1200" spc="-10" dirty="0">
                          <a:latin typeface="Times New Roman"/>
                          <a:cs typeface="Times New Roman"/>
                        </a:rPr>
                        <a:t>being </a:t>
                      </a:r>
                      <a:r>
                        <a:rPr sz="1200" dirty="0">
                          <a:latin typeface="Times New Roman"/>
                          <a:cs typeface="Times New Roman"/>
                        </a:rPr>
                        <a:t>flagged</a:t>
                      </a:r>
                      <a:r>
                        <a:rPr sz="1200" spc="-50" dirty="0">
                          <a:latin typeface="Times New Roman"/>
                          <a:cs typeface="Times New Roman"/>
                        </a:rPr>
                        <a:t> </a:t>
                      </a:r>
                      <a:r>
                        <a:rPr sz="1200" spc="-10" dirty="0">
                          <a:latin typeface="Times New Roman"/>
                          <a:cs typeface="Times New Roman"/>
                        </a:rPr>
                        <a:t>incorrectly.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706755">
                <a:tc>
                  <a:txBody>
                    <a:bodyPr/>
                    <a:lstStyle/>
                    <a:p>
                      <a:pPr marL="67945" marR="62230">
                        <a:lnSpc>
                          <a:spcPts val="1380"/>
                        </a:lnSpc>
                        <a:spcBef>
                          <a:spcPts val="35"/>
                        </a:spcBef>
                        <a:tabLst>
                          <a:tab pos="1005205" algn="l"/>
                          <a:tab pos="1318895" algn="l"/>
                        </a:tabLst>
                      </a:pPr>
                      <a:r>
                        <a:rPr sz="1200" spc="-10" dirty="0">
                          <a:latin typeface="Times New Roman"/>
                          <a:cs typeface="Times New Roman"/>
                        </a:rPr>
                        <a:t>Cloud-Based</a:t>
                      </a:r>
                      <a:r>
                        <a:rPr sz="1200" dirty="0">
                          <a:latin typeface="Times New Roman"/>
                          <a:cs typeface="Times New Roman"/>
                        </a:rPr>
                        <a:t>	</a:t>
                      </a:r>
                      <a:r>
                        <a:rPr sz="1200" spc="-10" dirty="0">
                          <a:latin typeface="Times New Roman"/>
                          <a:cs typeface="Times New Roman"/>
                        </a:rPr>
                        <a:t>Auction Platforms</a:t>
                      </a:r>
                      <a:r>
                        <a:rPr sz="1200" dirty="0">
                          <a:latin typeface="Times New Roman"/>
                          <a:cs typeface="Times New Roman"/>
                        </a:rPr>
                        <a:t>		</a:t>
                      </a:r>
                      <a:r>
                        <a:rPr sz="1200" spc="-25" dirty="0">
                          <a:latin typeface="Times New Roman"/>
                          <a:cs typeface="Times New Roman"/>
                        </a:rPr>
                        <a:t>for</a:t>
                      </a:r>
                      <a:endParaRPr sz="1200">
                        <a:latin typeface="Times New Roman"/>
                        <a:cs typeface="Times New Roman"/>
                      </a:endParaRPr>
                    </a:p>
                    <a:p>
                      <a:pPr marL="67945" marR="62865">
                        <a:lnSpc>
                          <a:spcPts val="1380"/>
                        </a:lnSpc>
                        <a:tabLst>
                          <a:tab pos="1276350" algn="l"/>
                        </a:tabLst>
                      </a:pPr>
                      <a:r>
                        <a:rPr sz="1200" spc="-10" dirty="0">
                          <a:latin typeface="Times New Roman"/>
                          <a:cs typeface="Times New Roman"/>
                        </a:rPr>
                        <a:t>Scalability</a:t>
                      </a:r>
                      <a:r>
                        <a:rPr sz="120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Accessibility</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1594" algn="just">
                        <a:lnSpc>
                          <a:spcPts val="1380"/>
                        </a:lnSpc>
                      </a:pPr>
                      <a:r>
                        <a:rPr sz="1200" dirty="0">
                          <a:latin typeface="Times New Roman"/>
                          <a:cs typeface="Times New Roman"/>
                        </a:rPr>
                        <a:t>Cloud</a:t>
                      </a:r>
                      <a:r>
                        <a:rPr sz="1200" spc="395" dirty="0">
                          <a:latin typeface="Times New Roman"/>
                          <a:cs typeface="Times New Roman"/>
                        </a:rPr>
                        <a:t>   </a:t>
                      </a:r>
                      <a:r>
                        <a:rPr sz="1200" dirty="0">
                          <a:latin typeface="Times New Roman"/>
                          <a:cs typeface="Times New Roman"/>
                        </a:rPr>
                        <a:t>computing</a:t>
                      </a:r>
                      <a:r>
                        <a:rPr sz="1200" spc="395" dirty="0">
                          <a:latin typeface="Times New Roman"/>
                          <a:cs typeface="Times New Roman"/>
                        </a:rPr>
                        <a:t>   </a:t>
                      </a:r>
                      <a:r>
                        <a:rPr sz="1200" spc="-10" dirty="0">
                          <a:latin typeface="Times New Roman"/>
                          <a:cs typeface="Times New Roman"/>
                        </a:rPr>
                        <a:t>enabled seamless</a:t>
                      </a:r>
                      <a:r>
                        <a:rPr sz="1200" spc="-45" dirty="0">
                          <a:latin typeface="Times New Roman"/>
                          <a:cs typeface="Times New Roman"/>
                        </a:rPr>
                        <a:t> </a:t>
                      </a:r>
                      <a:r>
                        <a:rPr sz="1200" dirty="0">
                          <a:latin typeface="Times New Roman"/>
                          <a:cs typeface="Times New Roman"/>
                        </a:rPr>
                        <a:t>auction</a:t>
                      </a:r>
                      <a:r>
                        <a:rPr sz="1200" spc="-50" dirty="0">
                          <a:latin typeface="Times New Roman"/>
                          <a:cs typeface="Times New Roman"/>
                        </a:rPr>
                        <a:t> </a:t>
                      </a:r>
                      <a:r>
                        <a:rPr sz="1200" dirty="0">
                          <a:latin typeface="Times New Roman"/>
                          <a:cs typeface="Times New Roman"/>
                        </a:rPr>
                        <a:t>transactions</a:t>
                      </a:r>
                      <a:r>
                        <a:rPr sz="1200" spc="-40" dirty="0">
                          <a:latin typeface="Times New Roman"/>
                          <a:cs typeface="Times New Roman"/>
                        </a:rPr>
                        <a:t> </a:t>
                      </a:r>
                      <a:r>
                        <a:rPr sz="1200" spc="-25" dirty="0">
                          <a:latin typeface="Times New Roman"/>
                          <a:cs typeface="Times New Roman"/>
                        </a:rPr>
                        <a:t>and </a:t>
                      </a:r>
                      <a:r>
                        <a:rPr sz="1200" dirty="0">
                          <a:latin typeface="Times New Roman"/>
                          <a:cs typeface="Times New Roman"/>
                        </a:rPr>
                        <a:t>bidder</a:t>
                      </a:r>
                      <a:r>
                        <a:rPr sz="1200" spc="150" dirty="0">
                          <a:latin typeface="Times New Roman"/>
                          <a:cs typeface="Times New Roman"/>
                        </a:rPr>
                        <a:t>  </a:t>
                      </a:r>
                      <a:r>
                        <a:rPr sz="1200" dirty="0">
                          <a:latin typeface="Times New Roman"/>
                          <a:cs typeface="Times New Roman"/>
                        </a:rPr>
                        <a:t>participation</a:t>
                      </a:r>
                      <a:r>
                        <a:rPr sz="1200" spc="160" dirty="0">
                          <a:latin typeface="Times New Roman"/>
                          <a:cs typeface="Times New Roman"/>
                        </a:rPr>
                        <a:t>  </a:t>
                      </a:r>
                      <a:r>
                        <a:rPr sz="1200" dirty="0">
                          <a:latin typeface="Times New Roman"/>
                          <a:cs typeface="Times New Roman"/>
                        </a:rPr>
                        <a:t>from</a:t>
                      </a:r>
                      <a:r>
                        <a:rPr sz="1200" spc="160" dirty="0">
                          <a:latin typeface="Times New Roman"/>
                          <a:cs typeface="Times New Roman"/>
                        </a:rPr>
                        <a:t>  </a:t>
                      </a:r>
                      <a:r>
                        <a:rPr sz="1200" spc="-25" dirty="0">
                          <a:latin typeface="Times New Roman"/>
                          <a:cs typeface="Times New Roman"/>
                        </a:rPr>
                        <a:t>any </a:t>
                      </a:r>
                      <a:r>
                        <a:rPr sz="1200" spc="-10" dirty="0">
                          <a:latin typeface="Times New Roman"/>
                          <a:cs typeface="Times New Roman"/>
                        </a:rPr>
                        <a:t>location.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1594" algn="just">
                        <a:lnSpc>
                          <a:spcPts val="1380"/>
                        </a:lnSpc>
                      </a:pPr>
                      <a:r>
                        <a:rPr sz="1200" dirty="0">
                          <a:latin typeface="Times New Roman"/>
                          <a:cs typeface="Times New Roman"/>
                        </a:rPr>
                        <a:t>Security</a:t>
                      </a:r>
                      <a:r>
                        <a:rPr sz="1200" spc="220" dirty="0">
                          <a:latin typeface="Times New Roman"/>
                          <a:cs typeface="Times New Roman"/>
                        </a:rPr>
                        <a:t>  </a:t>
                      </a:r>
                      <a:r>
                        <a:rPr sz="1200" dirty="0">
                          <a:latin typeface="Times New Roman"/>
                          <a:cs typeface="Times New Roman"/>
                        </a:rPr>
                        <a:t>vulnerabilities</a:t>
                      </a:r>
                      <a:r>
                        <a:rPr sz="1200" spc="225" dirty="0">
                          <a:latin typeface="Times New Roman"/>
                          <a:cs typeface="Times New Roman"/>
                        </a:rPr>
                        <a:t>  </a:t>
                      </a:r>
                      <a:r>
                        <a:rPr sz="1200" spc="-25" dirty="0">
                          <a:latin typeface="Times New Roman"/>
                          <a:cs typeface="Times New Roman"/>
                        </a:rPr>
                        <a:t>in </a:t>
                      </a:r>
                      <a:r>
                        <a:rPr sz="1200" dirty="0">
                          <a:latin typeface="Times New Roman"/>
                          <a:cs typeface="Times New Roman"/>
                        </a:rPr>
                        <a:t>cloud</a:t>
                      </a:r>
                      <a:r>
                        <a:rPr sz="1200" spc="335" dirty="0">
                          <a:latin typeface="Times New Roman"/>
                          <a:cs typeface="Times New Roman"/>
                        </a:rPr>
                        <a:t>   </a:t>
                      </a:r>
                      <a:r>
                        <a:rPr sz="1200" dirty="0">
                          <a:latin typeface="Times New Roman"/>
                          <a:cs typeface="Times New Roman"/>
                        </a:rPr>
                        <a:t>storage</a:t>
                      </a:r>
                      <a:r>
                        <a:rPr sz="1200" spc="340" dirty="0">
                          <a:latin typeface="Times New Roman"/>
                          <a:cs typeface="Times New Roman"/>
                        </a:rPr>
                        <a:t>   </a:t>
                      </a:r>
                      <a:r>
                        <a:rPr sz="1200" spc="-10" dirty="0">
                          <a:latin typeface="Times New Roman"/>
                          <a:cs typeface="Times New Roman"/>
                        </a:rPr>
                        <a:t>required </a:t>
                      </a:r>
                      <a:r>
                        <a:rPr sz="1200" dirty="0">
                          <a:latin typeface="Times New Roman"/>
                          <a:cs typeface="Times New Roman"/>
                        </a:rPr>
                        <a:t>stronger</a:t>
                      </a:r>
                      <a:r>
                        <a:rPr sz="1200" spc="480" dirty="0">
                          <a:latin typeface="Times New Roman"/>
                          <a:cs typeface="Times New Roman"/>
                        </a:rPr>
                        <a:t>  </a:t>
                      </a:r>
                      <a:r>
                        <a:rPr sz="1200" dirty="0">
                          <a:latin typeface="Times New Roman"/>
                          <a:cs typeface="Times New Roman"/>
                        </a:rPr>
                        <a:t>encryption</a:t>
                      </a:r>
                      <a:r>
                        <a:rPr sz="1200" spc="484" dirty="0">
                          <a:latin typeface="Times New Roman"/>
                          <a:cs typeface="Times New Roman"/>
                        </a:rPr>
                        <a:t>  </a:t>
                      </a:r>
                      <a:r>
                        <a:rPr sz="1200" spc="-25" dirty="0">
                          <a:latin typeface="Times New Roman"/>
                          <a:cs typeface="Times New Roman"/>
                        </a:rPr>
                        <a:t>and </a:t>
                      </a:r>
                      <a:r>
                        <a:rPr sz="1200" dirty="0">
                          <a:latin typeface="Times New Roman"/>
                          <a:cs typeface="Times New Roman"/>
                        </a:rPr>
                        <a:t>access</a:t>
                      </a:r>
                      <a:r>
                        <a:rPr sz="1200" spc="-35" dirty="0">
                          <a:latin typeface="Times New Roman"/>
                          <a:cs typeface="Times New Roman"/>
                        </a:rPr>
                        <a:t> </a:t>
                      </a:r>
                      <a:r>
                        <a:rPr sz="1200" spc="-10" dirty="0">
                          <a:latin typeface="Times New Roman"/>
                          <a:cs typeface="Times New Roman"/>
                        </a:rPr>
                        <a:t>controls.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707390">
                <a:tc>
                  <a:txBody>
                    <a:bodyPr/>
                    <a:lstStyle/>
                    <a:p>
                      <a:pPr marL="67945" marR="63500" algn="just">
                        <a:lnSpc>
                          <a:spcPct val="95900"/>
                        </a:lnSpc>
                      </a:pPr>
                      <a:r>
                        <a:rPr sz="1200" dirty="0">
                          <a:latin typeface="Times New Roman"/>
                          <a:cs typeface="Times New Roman"/>
                        </a:rPr>
                        <a:t>User</a:t>
                      </a:r>
                      <a:r>
                        <a:rPr sz="1200" spc="135" dirty="0">
                          <a:latin typeface="Times New Roman"/>
                          <a:cs typeface="Times New Roman"/>
                        </a:rPr>
                        <a:t>  </a:t>
                      </a:r>
                      <a:r>
                        <a:rPr sz="1200" dirty="0">
                          <a:latin typeface="Times New Roman"/>
                          <a:cs typeface="Times New Roman"/>
                        </a:rPr>
                        <a:t>Experience</a:t>
                      </a:r>
                      <a:r>
                        <a:rPr sz="1200" spc="150" dirty="0">
                          <a:latin typeface="Times New Roman"/>
                          <a:cs typeface="Times New Roman"/>
                        </a:rPr>
                        <a:t>  </a:t>
                      </a:r>
                      <a:r>
                        <a:rPr sz="1200" spc="-25" dirty="0">
                          <a:latin typeface="Times New Roman"/>
                          <a:cs typeface="Times New Roman"/>
                        </a:rPr>
                        <a:t>and </a:t>
                      </a:r>
                      <a:r>
                        <a:rPr sz="1200" dirty="0">
                          <a:latin typeface="Times New Roman"/>
                          <a:cs typeface="Times New Roman"/>
                        </a:rPr>
                        <a:t>UI</a:t>
                      </a:r>
                      <a:r>
                        <a:rPr sz="1200" spc="445" dirty="0">
                          <a:latin typeface="Times New Roman"/>
                          <a:cs typeface="Times New Roman"/>
                        </a:rPr>
                        <a:t> </a:t>
                      </a:r>
                      <a:r>
                        <a:rPr sz="1200" dirty="0">
                          <a:latin typeface="Times New Roman"/>
                          <a:cs typeface="Times New Roman"/>
                        </a:rPr>
                        <a:t>Design</a:t>
                      </a:r>
                      <a:r>
                        <a:rPr sz="1200" spc="465" dirty="0">
                          <a:latin typeface="Times New Roman"/>
                          <a:cs typeface="Times New Roman"/>
                        </a:rPr>
                        <a:t> </a:t>
                      </a:r>
                      <a:r>
                        <a:rPr sz="1200" dirty="0">
                          <a:latin typeface="Times New Roman"/>
                          <a:cs typeface="Times New Roman"/>
                        </a:rPr>
                        <a:t>in</a:t>
                      </a:r>
                      <a:r>
                        <a:rPr sz="1200" spc="459" dirty="0">
                          <a:latin typeface="Times New Roman"/>
                          <a:cs typeface="Times New Roman"/>
                        </a:rPr>
                        <a:t> </a:t>
                      </a:r>
                      <a:r>
                        <a:rPr sz="1200" spc="-10" dirty="0">
                          <a:latin typeface="Times New Roman"/>
                          <a:cs typeface="Times New Roman"/>
                        </a:rPr>
                        <a:t>Digital Auctions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2230" algn="just">
                        <a:lnSpc>
                          <a:spcPct val="95900"/>
                        </a:lnSpc>
                      </a:pPr>
                      <a:r>
                        <a:rPr sz="1200" dirty="0">
                          <a:latin typeface="Times New Roman"/>
                          <a:cs typeface="Times New Roman"/>
                        </a:rPr>
                        <a:t>Intuitive</a:t>
                      </a:r>
                      <a:r>
                        <a:rPr sz="1200" spc="320" dirty="0">
                          <a:latin typeface="Times New Roman"/>
                          <a:cs typeface="Times New Roman"/>
                        </a:rPr>
                        <a:t>    </a:t>
                      </a:r>
                      <a:r>
                        <a:rPr sz="1200" dirty="0">
                          <a:latin typeface="Times New Roman"/>
                          <a:cs typeface="Times New Roman"/>
                        </a:rPr>
                        <a:t>UI/UX</a:t>
                      </a:r>
                      <a:r>
                        <a:rPr sz="1200" spc="320" dirty="0">
                          <a:latin typeface="Times New Roman"/>
                          <a:cs typeface="Times New Roman"/>
                        </a:rPr>
                        <a:t>    </a:t>
                      </a:r>
                      <a:r>
                        <a:rPr sz="1200" spc="-10" dirty="0">
                          <a:latin typeface="Times New Roman"/>
                          <a:cs typeface="Times New Roman"/>
                        </a:rPr>
                        <a:t>designs </a:t>
                      </a:r>
                      <a:r>
                        <a:rPr sz="1200" dirty="0">
                          <a:latin typeface="Times New Roman"/>
                          <a:cs typeface="Times New Roman"/>
                        </a:rPr>
                        <a:t>improved</a:t>
                      </a:r>
                      <a:r>
                        <a:rPr sz="1200" spc="300" dirty="0">
                          <a:latin typeface="Times New Roman"/>
                          <a:cs typeface="Times New Roman"/>
                        </a:rPr>
                        <a:t> </a:t>
                      </a:r>
                      <a:r>
                        <a:rPr sz="1200" dirty="0">
                          <a:latin typeface="Times New Roman"/>
                          <a:cs typeface="Times New Roman"/>
                        </a:rPr>
                        <a:t>user</a:t>
                      </a:r>
                      <a:r>
                        <a:rPr sz="1200" spc="300" dirty="0">
                          <a:latin typeface="Times New Roman"/>
                          <a:cs typeface="Times New Roman"/>
                        </a:rPr>
                        <a:t> </a:t>
                      </a:r>
                      <a:r>
                        <a:rPr sz="1200" dirty="0">
                          <a:latin typeface="Times New Roman"/>
                          <a:cs typeface="Times New Roman"/>
                        </a:rPr>
                        <a:t>engagement</a:t>
                      </a:r>
                      <a:r>
                        <a:rPr sz="1200" spc="305" dirty="0">
                          <a:latin typeface="Times New Roman"/>
                          <a:cs typeface="Times New Roman"/>
                        </a:rPr>
                        <a:t> </a:t>
                      </a:r>
                      <a:r>
                        <a:rPr sz="1200" spc="-25" dirty="0">
                          <a:latin typeface="Times New Roman"/>
                          <a:cs typeface="Times New Roman"/>
                        </a:rPr>
                        <a:t>and </a:t>
                      </a:r>
                      <a:r>
                        <a:rPr sz="1200" dirty="0">
                          <a:latin typeface="Times New Roman"/>
                          <a:cs typeface="Times New Roman"/>
                        </a:rPr>
                        <a:t>bid</a:t>
                      </a:r>
                      <a:r>
                        <a:rPr sz="1200" spc="-20" dirty="0">
                          <a:latin typeface="Times New Roman"/>
                          <a:cs typeface="Times New Roman"/>
                        </a:rPr>
                        <a:t> </a:t>
                      </a:r>
                      <a:r>
                        <a:rPr sz="1200" spc="-10" dirty="0">
                          <a:latin typeface="Times New Roman"/>
                          <a:cs typeface="Times New Roman"/>
                        </a:rPr>
                        <a:t>participation.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325" algn="just">
                        <a:lnSpc>
                          <a:spcPct val="95900"/>
                        </a:lnSpc>
                        <a:tabLst>
                          <a:tab pos="1329055" algn="l"/>
                        </a:tabLst>
                      </a:pPr>
                      <a:r>
                        <a:rPr sz="1200" dirty="0">
                          <a:latin typeface="Times New Roman"/>
                          <a:cs typeface="Times New Roman"/>
                        </a:rPr>
                        <a:t>Some</a:t>
                      </a:r>
                      <a:r>
                        <a:rPr sz="1200" spc="285" dirty="0">
                          <a:latin typeface="Times New Roman"/>
                          <a:cs typeface="Times New Roman"/>
                        </a:rPr>
                        <a:t>   </a:t>
                      </a:r>
                      <a:r>
                        <a:rPr sz="1200" dirty="0">
                          <a:latin typeface="Times New Roman"/>
                          <a:cs typeface="Times New Roman"/>
                        </a:rPr>
                        <a:t>platforms</a:t>
                      </a:r>
                      <a:r>
                        <a:rPr sz="1200" spc="285" dirty="0">
                          <a:latin typeface="Times New Roman"/>
                          <a:cs typeface="Times New Roman"/>
                        </a:rPr>
                        <a:t>   </a:t>
                      </a:r>
                      <a:r>
                        <a:rPr sz="1200" spc="-10" dirty="0">
                          <a:latin typeface="Times New Roman"/>
                          <a:cs typeface="Times New Roman"/>
                        </a:rPr>
                        <a:t>lacked accessibility</a:t>
                      </a:r>
                      <a:r>
                        <a:rPr sz="1200" dirty="0">
                          <a:latin typeface="Times New Roman"/>
                          <a:cs typeface="Times New Roman"/>
                        </a:rPr>
                        <a:t>	</a:t>
                      </a:r>
                      <a:r>
                        <a:rPr sz="1200" spc="-10" dirty="0">
                          <a:latin typeface="Times New Roman"/>
                          <a:cs typeface="Times New Roman"/>
                        </a:rPr>
                        <a:t>features, </a:t>
                      </a:r>
                      <a:r>
                        <a:rPr sz="1200" dirty="0">
                          <a:latin typeface="Times New Roman"/>
                          <a:cs typeface="Times New Roman"/>
                        </a:rPr>
                        <a:t>limiting</a:t>
                      </a:r>
                      <a:r>
                        <a:rPr sz="1200" spc="490" dirty="0">
                          <a:latin typeface="Times New Roman"/>
                          <a:cs typeface="Times New Roman"/>
                        </a:rPr>
                        <a:t> </a:t>
                      </a:r>
                      <a:r>
                        <a:rPr sz="1200" dirty="0">
                          <a:latin typeface="Times New Roman"/>
                          <a:cs typeface="Times New Roman"/>
                        </a:rPr>
                        <a:t>usability</a:t>
                      </a:r>
                      <a:r>
                        <a:rPr sz="1200" spc="490" dirty="0">
                          <a:latin typeface="Times New Roman"/>
                          <a:cs typeface="Times New Roman"/>
                        </a:rPr>
                        <a:t> </a:t>
                      </a:r>
                      <a:r>
                        <a:rPr sz="1200" dirty="0">
                          <a:latin typeface="Times New Roman"/>
                          <a:cs typeface="Times New Roman"/>
                        </a:rPr>
                        <a:t>for</a:t>
                      </a:r>
                      <a:r>
                        <a:rPr sz="1200" spc="480" dirty="0">
                          <a:latin typeface="Times New Roman"/>
                          <a:cs typeface="Times New Roman"/>
                        </a:rPr>
                        <a:t> </a:t>
                      </a:r>
                      <a:r>
                        <a:rPr sz="1200" spc="-20" dirty="0">
                          <a:latin typeface="Times New Roman"/>
                          <a:cs typeface="Times New Roman"/>
                        </a:rPr>
                        <a:t>non- </a:t>
                      </a:r>
                      <a:r>
                        <a:rPr sz="1200" spc="-10" dirty="0">
                          <a:latin typeface="Times New Roman"/>
                          <a:cs typeface="Times New Roman"/>
                        </a:rPr>
                        <a:t>tech-</a:t>
                      </a:r>
                      <a:r>
                        <a:rPr sz="1200" dirty="0">
                          <a:latin typeface="Times New Roman"/>
                          <a:cs typeface="Times New Roman"/>
                        </a:rPr>
                        <a:t>savvy </a:t>
                      </a:r>
                      <a:r>
                        <a:rPr sz="1200" spc="-10" dirty="0">
                          <a:latin typeface="Times New Roman"/>
                          <a:cs typeface="Times New Roman"/>
                        </a:rPr>
                        <a:t>users.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706755">
                <a:tc>
                  <a:txBody>
                    <a:bodyPr/>
                    <a:lstStyle/>
                    <a:p>
                      <a:pPr marL="67945" marR="61594">
                        <a:lnSpc>
                          <a:spcPts val="1380"/>
                        </a:lnSpc>
                        <a:spcBef>
                          <a:spcPts val="35"/>
                        </a:spcBef>
                      </a:pPr>
                      <a:r>
                        <a:rPr sz="1200" spc="-10" dirty="0">
                          <a:latin typeface="Times New Roman"/>
                          <a:cs typeface="Times New Roman"/>
                        </a:rPr>
                        <a:t>Continuous</a:t>
                      </a:r>
                      <a:r>
                        <a:rPr sz="1200" spc="-25" dirty="0">
                          <a:latin typeface="Times New Roman"/>
                          <a:cs typeface="Times New Roman"/>
                        </a:rPr>
                        <a:t> </a:t>
                      </a:r>
                      <a:r>
                        <a:rPr sz="1200" spc="-10" dirty="0">
                          <a:latin typeface="Times New Roman"/>
                          <a:cs typeface="Times New Roman"/>
                        </a:rPr>
                        <a:t>Learning</a:t>
                      </a:r>
                      <a:r>
                        <a:rPr sz="1200" spc="-25" dirty="0">
                          <a:latin typeface="Times New Roman"/>
                          <a:cs typeface="Times New Roman"/>
                        </a:rPr>
                        <a:t> in </a:t>
                      </a:r>
                      <a:r>
                        <a:rPr sz="1200" spc="-10" dirty="0">
                          <a:latin typeface="Times New Roman"/>
                          <a:cs typeface="Times New Roman"/>
                        </a:rPr>
                        <a:t>AI-</a:t>
                      </a:r>
                      <a:r>
                        <a:rPr sz="1200" dirty="0">
                          <a:latin typeface="Times New Roman"/>
                          <a:cs typeface="Times New Roman"/>
                        </a:rPr>
                        <a:t>Enhanced</a:t>
                      </a:r>
                      <a:r>
                        <a:rPr sz="1200" spc="-40" dirty="0">
                          <a:latin typeface="Times New Roman"/>
                          <a:cs typeface="Times New Roman"/>
                        </a:rPr>
                        <a:t> </a:t>
                      </a:r>
                      <a:r>
                        <a:rPr sz="1200" spc="-10" dirty="0">
                          <a:latin typeface="Times New Roman"/>
                          <a:cs typeface="Times New Roman"/>
                        </a:rPr>
                        <a:t>Auctions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960" algn="just">
                        <a:lnSpc>
                          <a:spcPts val="1380"/>
                        </a:lnSpc>
                      </a:pPr>
                      <a:r>
                        <a:rPr sz="1200" dirty="0">
                          <a:latin typeface="Times New Roman"/>
                          <a:cs typeface="Times New Roman"/>
                        </a:rPr>
                        <a:t>Feedback</a:t>
                      </a:r>
                      <a:r>
                        <a:rPr sz="1200" spc="330" dirty="0">
                          <a:latin typeface="Times New Roman"/>
                          <a:cs typeface="Times New Roman"/>
                        </a:rPr>
                        <a:t>  </a:t>
                      </a:r>
                      <a:r>
                        <a:rPr sz="1200" dirty="0">
                          <a:latin typeface="Times New Roman"/>
                          <a:cs typeface="Times New Roman"/>
                        </a:rPr>
                        <a:t>loops</a:t>
                      </a:r>
                      <a:r>
                        <a:rPr sz="1200" spc="335" dirty="0">
                          <a:latin typeface="Times New Roman"/>
                          <a:cs typeface="Times New Roman"/>
                        </a:rPr>
                        <a:t>  </a:t>
                      </a:r>
                      <a:r>
                        <a:rPr sz="1200" dirty="0">
                          <a:latin typeface="Times New Roman"/>
                          <a:cs typeface="Times New Roman"/>
                        </a:rPr>
                        <a:t>enabled</a:t>
                      </a:r>
                      <a:r>
                        <a:rPr sz="1200" spc="335" dirty="0">
                          <a:latin typeface="Times New Roman"/>
                          <a:cs typeface="Times New Roman"/>
                        </a:rPr>
                        <a:t>  </a:t>
                      </a:r>
                      <a:r>
                        <a:rPr sz="1200" spc="-25" dirty="0">
                          <a:latin typeface="Times New Roman"/>
                          <a:cs typeface="Times New Roman"/>
                        </a:rPr>
                        <a:t>AI </a:t>
                      </a:r>
                      <a:r>
                        <a:rPr sz="1200" dirty="0">
                          <a:latin typeface="Times New Roman"/>
                          <a:cs typeface="Times New Roman"/>
                        </a:rPr>
                        <a:t>models</a:t>
                      </a:r>
                      <a:r>
                        <a:rPr sz="1200" spc="295" dirty="0">
                          <a:latin typeface="Times New Roman"/>
                          <a:cs typeface="Times New Roman"/>
                        </a:rPr>
                        <a:t>   </a:t>
                      </a:r>
                      <a:r>
                        <a:rPr sz="1200" dirty="0">
                          <a:latin typeface="Times New Roman"/>
                          <a:cs typeface="Times New Roman"/>
                        </a:rPr>
                        <a:t>to</a:t>
                      </a:r>
                      <a:r>
                        <a:rPr sz="1200" spc="300" dirty="0">
                          <a:latin typeface="Times New Roman"/>
                          <a:cs typeface="Times New Roman"/>
                        </a:rPr>
                        <a:t>   </a:t>
                      </a:r>
                      <a:r>
                        <a:rPr sz="1200" dirty="0">
                          <a:latin typeface="Times New Roman"/>
                          <a:cs typeface="Times New Roman"/>
                        </a:rPr>
                        <a:t>refine</a:t>
                      </a:r>
                      <a:r>
                        <a:rPr sz="1200" spc="300" dirty="0">
                          <a:latin typeface="Times New Roman"/>
                          <a:cs typeface="Times New Roman"/>
                        </a:rPr>
                        <a:t>   </a:t>
                      </a:r>
                      <a:r>
                        <a:rPr sz="1200" spc="-10" dirty="0">
                          <a:latin typeface="Times New Roman"/>
                          <a:cs typeface="Times New Roman"/>
                        </a:rPr>
                        <a:t>pricing </a:t>
                      </a:r>
                      <a:r>
                        <a:rPr sz="1200" dirty="0">
                          <a:latin typeface="Times New Roman"/>
                          <a:cs typeface="Times New Roman"/>
                        </a:rPr>
                        <a:t>predictions</a:t>
                      </a:r>
                      <a:r>
                        <a:rPr sz="1200" spc="195" dirty="0">
                          <a:latin typeface="Times New Roman"/>
                          <a:cs typeface="Times New Roman"/>
                        </a:rPr>
                        <a:t> </a:t>
                      </a:r>
                      <a:r>
                        <a:rPr sz="1200" dirty="0">
                          <a:latin typeface="Times New Roman"/>
                          <a:cs typeface="Times New Roman"/>
                        </a:rPr>
                        <a:t>and</a:t>
                      </a:r>
                      <a:r>
                        <a:rPr sz="1200" spc="195" dirty="0">
                          <a:latin typeface="Times New Roman"/>
                          <a:cs typeface="Times New Roman"/>
                        </a:rPr>
                        <a:t> </a:t>
                      </a:r>
                      <a:r>
                        <a:rPr sz="1200" dirty="0">
                          <a:latin typeface="Times New Roman"/>
                          <a:cs typeface="Times New Roman"/>
                        </a:rPr>
                        <a:t>detect</a:t>
                      </a:r>
                      <a:r>
                        <a:rPr sz="1200" spc="200" dirty="0">
                          <a:latin typeface="Times New Roman"/>
                          <a:cs typeface="Times New Roman"/>
                        </a:rPr>
                        <a:t> </a:t>
                      </a:r>
                      <a:r>
                        <a:rPr sz="1200" spc="-10" dirty="0">
                          <a:latin typeface="Times New Roman"/>
                          <a:cs typeface="Times New Roman"/>
                        </a:rPr>
                        <a:t>emerging </a:t>
                      </a:r>
                      <a:r>
                        <a:rPr sz="1200" dirty="0">
                          <a:latin typeface="Times New Roman"/>
                          <a:cs typeface="Times New Roman"/>
                        </a:rPr>
                        <a:t>fraud</a:t>
                      </a:r>
                      <a:r>
                        <a:rPr sz="1200" spc="-30" dirty="0">
                          <a:latin typeface="Times New Roman"/>
                          <a:cs typeface="Times New Roman"/>
                        </a:rPr>
                        <a:t> </a:t>
                      </a:r>
                      <a:r>
                        <a:rPr sz="1200" spc="-10" dirty="0">
                          <a:latin typeface="Times New Roman"/>
                          <a:cs typeface="Times New Roman"/>
                        </a:rPr>
                        <a:t>trends.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1594" algn="just">
                        <a:lnSpc>
                          <a:spcPts val="1380"/>
                        </a:lnSpc>
                      </a:pPr>
                      <a:r>
                        <a:rPr sz="1200" dirty="0">
                          <a:latin typeface="Times New Roman"/>
                          <a:cs typeface="Times New Roman"/>
                        </a:rPr>
                        <a:t>Data</a:t>
                      </a:r>
                      <a:r>
                        <a:rPr sz="1200" spc="114" dirty="0">
                          <a:latin typeface="Times New Roman"/>
                          <a:cs typeface="Times New Roman"/>
                        </a:rPr>
                        <a:t> </a:t>
                      </a:r>
                      <a:r>
                        <a:rPr sz="1200" dirty="0">
                          <a:latin typeface="Times New Roman"/>
                          <a:cs typeface="Times New Roman"/>
                        </a:rPr>
                        <a:t>privacy</a:t>
                      </a:r>
                      <a:r>
                        <a:rPr sz="1200" spc="120" dirty="0">
                          <a:latin typeface="Times New Roman"/>
                          <a:cs typeface="Times New Roman"/>
                        </a:rPr>
                        <a:t> </a:t>
                      </a:r>
                      <a:r>
                        <a:rPr sz="1200" dirty="0">
                          <a:latin typeface="Times New Roman"/>
                          <a:cs typeface="Times New Roman"/>
                        </a:rPr>
                        <a:t>concerns</a:t>
                      </a:r>
                      <a:r>
                        <a:rPr sz="1200" spc="125" dirty="0">
                          <a:latin typeface="Times New Roman"/>
                          <a:cs typeface="Times New Roman"/>
                        </a:rPr>
                        <a:t> </a:t>
                      </a:r>
                      <a:r>
                        <a:rPr sz="1200" spc="-10" dirty="0">
                          <a:latin typeface="Times New Roman"/>
                          <a:cs typeface="Times New Roman"/>
                        </a:rPr>
                        <a:t>arose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bidder</a:t>
                      </a:r>
                      <a:r>
                        <a:rPr sz="1200" spc="-20" dirty="0">
                          <a:latin typeface="Times New Roman"/>
                          <a:cs typeface="Times New Roman"/>
                        </a:rPr>
                        <a:t> </a:t>
                      </a:r>
                      <a:r>
                        <a:rPr sz="1200" dirty="0">
                          <a:latin typeface="Times New Roman"/>
                          <a:cs typeface="Times New Roman"/>
                        </a:rPr>
                        <a:t>behavior</a:t>
                      </a:r>
                      <a:r>
                        <a:rPr sz="1200" spc="-20" dirty="0">
                          <a:latin typeface="Times New Roman"/>
                          <a:cs typeface="Times New Roman"/>
                        </a:rPr>
                        <a:t> data </a:t>
                      </a:r>
                      <a:r>
                        <a:rPr sz="1200" dirty="0">
                          <a:latin typeface="Times New Roman"/>
                          <a:cs typeface="Times New Roman"/>
                        </a:rPr>
                        <a:t>for</a:t>
                      </a:r>
                      <a:r>
                        <a:rPr sz="1200" spc="415" dirty="0">
                          <a:latin typeface="Times New Roman"/>
                          <a:cs typeface="Times New Roman"/>
                        </a:rPr>
                        <a:t>   </a:t>
                      </a:r>
                      <a:r>
                        <a:rPr sz="1200" dirty="0">
                          <a:latin typeface="Times New Roman"/>
                          <a:cs typeface="Times New Roman"/>
                        </a:rPr>
                        <a:t>continuous</a:t>
                      </a:r>
                      <a:r>
                        <a:rPr sz="1200" spc="420" dirty="0">
                          <a:latin typeface="Times New Roman"/>
                          <a:cs typeface="Times New Roman"/>
                        </a:rPr>
                        <a:t>   </a:t>
                      </a:r>
                      <a:r>
                        <a:rPr sz="1200" spc="-10" dirty="0">
                          <a:latin typeface="Times New Roman"/>
                          <a:cs typeface="Times New Roman"/>
                        </a:rPr>
                        <a:t>model training.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7</a:t>
            </a:r>
          </a:p>
        </p:txBody>
      </p:sp>
      <p:sp>
        <p:nvSpPr>
          <p:cNvPr id="2" name="object 2"/>
          <p:cNvSpPr txBox="1"/>
          <p:nvPr/>
        </p:nvSpPr>
        <p:spPr>
          <a:xfrm>
            <a:off x="1176324" y="889762"/>
            <a:ext cx="5695315" cy="8203656"/>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1.6.</a:t>
            </a:r>
            <a:r>
              <a:rPr sz="1600" b="1" spc="-45" dirty="0">
                <a:latin typeface="Times New Roman"/>
                <a:cs typeface="Times New Roman"/>
              </a:rPr>
              <a:t> </a:t>
            </a:r>
            <a:r>
              <a:rPr sz="1200" b="1" dirty="0">
                <a:latin typeface="Times New Roman"/>
                <a:cs typeface="Times New Roman"/>
              </a:rPr>
              <a:t>Methodology</a:t>
            </a:r>
            <a:r>
              <a:rPr sz="1200" b="1" spc="-25" dirty="0">
                <a:latin typeface="Times New Roman"/>
                <a:cs typeface="Times New Roman"/>
              </a:rPr>
              <a:t> </a:t>
            </a:r>
            <a:r>
              <a:rPr sz="1200" b="1" dirty="0">
                <a:latin typeface="Times New Roman"/>
                <a:cs typeface="Times New Roman"/>
              </a:rPr>
              <a:t>and</a:t>
            </a:r>
            <a:r>
              <a:rPr sz="1200" b="1" spc="-30" dirty="0">
                <a:latin typeface="Times New Roman"/>
                <a:cs typeface="Times New Roman"/>
              </a:rPr>
              <a:t> </a:t>
            </a:r>
            <a:r>
              <a:rPr sz="1200" b="1"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Lifecycle</a:t>
            </a:r>
            <a:r>
              <a:rPr sz="1200" b="1" spc="-20" dirty="0">
                <a:latin typeface="Times New Roman"/>
                <a:cs typeface="Times New Roman"/>
              </a:rPr>
              <a:t> </a:t>
            </a:r>
            <a:r>
              <a:rPr sz="1200" b="1" dirty="0">
                <a:latin typeface="Times New Roman"/>
                <a:cs typeface="Times New Roman"/>
              </a:rPr>
              <a:t>for</a:t>
            </a:r>
            <a:r>
              <a:rPr sz="1200" b="1" spc="-30" dirty="0">
                <a:latin typeface="Times New Roman"/>
                <a:cs typeface="Times New Roman"/>
              </a:rPr>
              <a:t> </a:t>
            </a:r>
            <a:r>
              <a:rPr sz="1200" b="1" dirty="0">
                <a:latin typeface="Times New Roman"/>
                <a:cs typeface="Times New Roman"/>
              </a:rPr>
              <a:t>This</a:t>
            </a:r>
            <a:r>
              <a:rPr sz="1200" b="1" spc="-25" dirty="0">
                <a:latin typeface="Times New Roman"/>
                <a:cs typeface="Times New Roman"/>
              </a:rPr>
              <a:t> </a:t>
            </a:r>
            <a:r>
              <a:rPr sz="1200" b="1" spc="-10" dirty="0">
                <a:latin typeface="Times New Roman"/>
                <a:cs typeface="Times New Roman"/>
              </a:rPr>
              <a:t>Project</a:t>
            </a:r>
            <a:endParaRPr sz="1200" dirty="0">
              <a:latin typeface="Times New Roman"/>
              <a:cs typeface="Times New Roman"/>
            </a:endParaRPr>
          </a:p>
          <a:p>
            <a:pPr>
              <a:lnSpc>
                <a:spcPct val="100000"/>
              </a:lnSpc>
              <a:spcBef>
                <a:spcPts val="250"/>
              </a:spcBef>
            </a:pPr>
            <a:endParaRPr sz="1200" dirty="0">
              <a:latin typeface="Times New Roman"/>
              <a:cs typeface="Times New Roman"/>
            </a:endParaRPr>
          </a:p>
          <a:p>
            <a:pPr marL="12700" marR="6985" algn="just">
              <a:lnSpc>
                <a:spcPct val="143600"/>
              </a:lnSpc>
            </a:pPr>
            <a:r>
              <a:rPr sz="1200" dirty="0">
                <a:latin typeface="Times New Roman"/>
                <a:cs typeface="Times New Roman"/>
              </a:rPr>
              <a:t>We</a:t>
            </a:r>
            <a:r>
              <a:rPr sz="1200" spc="270" dirty="0">
                <a:latin typeface="Times New Roman"/>
                <a:cs typeface="Times New Roman"/>
              </a:rPr>
              <a:t> </a:t>
            </a:r>
            <a:r>
              <a:rPr sz="1200" dirty="0">
                <a:latin typeface="Times New Roman"/>
                <a:cs typeface="Times New Roman"/>
              </a:rPr>
              <a:t>are</a:t>
            </a:r>
            <a:r>
              <a:rPr sz="1200" spc="270" dirty="0">
                <a:latin typeface="Times New Roman"/>
                <a:cs typeface="Times New Roman"/>
              </a:rPr>
              <a:t> </a:t>
            </a:r>
            <a:r>
              <a:rPr sz="1200" dirty="0">
                <a:latin typeface="Times New Roman"/>
                <a:cs typeface="Times New Roman"/>
              </a:rPr>
              <a:t>adopting</a:t>
            </a:r>
            <a:r>
              <a:rPr sz="1200" spc="280" dirty="0">
                <a:latin typeface="Times New Roman"/>
                <a:cs typeface="Times New Roman"/>
              </a:rPr>
              <a:t> </a:t>
            </a:r>
            <a:r>
              <a:rPr sz="1200" dirty="0">
                <a:latin typeface="Times New Roman"/>
                <a:cs typeface="Times New Roman"/>
              </a:rPr>
              <a:t>the</a:t>
            </a:r>
            <a:r>
              <a:rPr sz="1200" spc="275" dirty="0">
                <a:latin typeface="Times New Roman"/>
                <a:cs typeface="Times New Roman"/>
              </a:rPr>
              <a:t> </a:t>
            </a:r>
            <a:r>
              <a:rPr sz="1200" dirty="0">
                <a:latin typeface="Times New Roman"/>
                <a:cs typeface="Times New Roman"/>
              </a:rPr>
              <a:t>Agile</a:t>
            </a:r>
            <a:r>
              <a:rPr sz="1200" spc="275" dirty="0">
                <a:latin typeface="Times New Roman"/>
                <a:cs typeface="Times New Roman"/>
              </a:rPr>
              <a:t> </a:t>
            </a:r>
            <a:r>
              <a:rPr sz="1200" dirty="0">
                <a:latin typeface="Times New Roman"/>
                <a:cs typeface="Times New Roman"/>
              </a:rPr>
              <a:t>methodology</a:t>
            </a:r>
            <a:r>
              <a:rPr sz="1200" spc="275" dirty="0">
                <a:latin typeface="Times New Roman"/>
                <a:cs typeface="Times New Roman"/>
              </a:rPr>
              <a:t> </a:t>
            </a:r>
            <a:r>
              <a:rPr sz="1200" dirty="0">
                <a:latin typeface="Times New Roman"/>
                <a:cs typeface="Times New Roman"/>
              </a:rPr>
              <a:t>for</a:t>
            </a:r>
            <a:r>
              <a:rPr sz="1200" spc="270" dirty="0">
                <a:latin typeface="Times New Roman"/>
                <a:cs typeface="Times New Roman"/>
              </a:rPr>
              <a:t> </a:t>
            </a:r>
            <a:r>
              <a:rPr sz="1200" dirty="0">
                <a:latin typeface="Times New Roman"/>
                <a:cs typeface="Times New Roman"/>
              </a:rPr>
              <a:t>the</a:t>
            </a:r>
            <a:r>
              <a:rPr sz="1200" spc="275" dirty="0">
                <a:latin typeface="Times New Roman"/>
                <a:cs typeface="Times New Roman"/>
              </a:rPr>
              <a:t> </a:t>
            </a:r>
            <a:r>
              <a:rPr sz="1200" dirty="0">
                <a:latin typeface="Times New Roman"/>
                <a:cs typeface="Times New Roman"/>
              </a:rPr>
              <a:t>development</a:t>
            </a:r>
            <a:r>
              <a:rPr sz="1200" spc="280" dirty="0">
                <a:latin typeface="Times New Roman"/>
                <a:cs typeface="Times New Roman"/>
              </a:rPr>
              <a:t> </a:t>
            </a:r>
            <a:r>
              <a:rPr sz="1200" dirty="0">
                <a:latin typeface="Times New Roman"/>
                <a:cs typeface="Times New Roman"/>
              </a:rPr>
              <a:t>of</a:t>
            </a:r>
            <a:r>
              <a:rPr sz="1200" spc="270" dirty="0">
                <a:latin typeface="Times New Roman"/>
                <a:cs typeface="Times New Roman"/>
              </a:rPr>
              <a:t> </a:t>
            </a:r>
            <a:r>
              <a:rPr sz="1200" dirty="0">
                <a:latin typeface="Times New Roman"/>
                <a:cs typeface="Times New Roman"/>
              </a:rPr>
              <a:t>Auction</a:t>
            </a:r>
            <a:r>
              <a:rPr sz="1200" spc="280" dirty="0">
                <a:latin typeface="Times New Roman"/>
                <a:cs typeface="Times New Roman"/>
              </a:rPr>
              <a:t> </a:t>
            </a:r>
            <a:r>
              <a:rPr sz="1200" dirty="0">
                <a:latin typeface="Times New Roman"/>
                <a:cs typeface="Times New Roman"/>
              </a:rPr>
              <a:t>Abode.</a:t>
            </a:r>
            <a:r>
              <a:rPr sz="1200" spc="280" dirty="0">
                <a:latin typeface="Times New Roman"/>
                <a:cs typeface="Times New Roman"/>
              </a:rPr>
              <a:t> </a:t>
            </a:r>
            <a:r>
              <a:rPr sz="1200" spc="-20" dirty="0">
                <a:latin typeface="Times New Roman"/>
                <a:cs typeface="Times New Roman"/>
              </a:rPr>
              <a:t>This </a:t>
            </a:r>
            <a:r>
              <a:rPr sz="1200" dirty="0">
                <a:latin typeface="Times New Roman"/>
                <a:cs typeface="Times New Roman"/>
              </a:rPr>
              <a:t>approach</a:t>
            </a:r>
            <a:r>
              <a:rPr sz="1200" spc="-20" dirty="0">
                <a:latin typeface="Times New Roman"/>
                <a:cs typeface="Times New Roman"/>
              </a:rPr>
              <a:t> </a:t>
            </a:r>
            <a:r>
              <a:rPr sz="1200" dirty="0">
                <a:latin typeface="Times New Roman"/>
                <a:cs typeface="Times New Roman"/>
              </a:rPr>
              <a:t>aligns</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project's</a:t>
            </a:r>
            <a:r>
              <a:rPr sz="1200" spc="-25" dirty="0">
                <a:latin typeface="Times New Roman"/>
                <a:cs typeface="Times New Roman"/>
              </a:rPr>
              <a:t> </a:t>
            </a:r>
            <a:r>
              <a:rPr sz="1200" dirty="0">
                <a:latin typeface="Times New Roman"/>
                <a:cs typeface="Times New Roman"/>
              </a:rPr>
              <a:t>dynamic</a:t>
            </a:r>
            <a:r>
              <a:rPr sz="1200" spc="-25" dirty="0">
                <a:latin typeface="Times New Roman"/>
                <a:cs typeface="Times New Roman"/>
              </a:rPr>
              <a:t> </a:t>
            </a:r>
            <a:r>
              <a:rPr sz="1200" dirty="0">
                <a:latin typeface="Times New Roman"/>
                <a:cs typeface="Times New Roman"/>
              </a:rPr>
              <a:t>nature</a:t>
            </a:r>
            <a:r>
              <a:rPr sz="1200"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need</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continuous</a:t>
            </a:r>
            <a:r>
              <a:rPr sz="1200" spc="-25" dirty="0">
                <a:latin typeface="Times New Roman"/>
                <a:cs typeface="Times New Roman"/>
              </a:rPr>
              <a:t> </a:t>
            </a:r>
            <a:r>
              <a:rPr sz="1200" spc="-10" dirty="0">
                <a:latin typeface="Times New Roman"/>
                <a:cs typeface="Times New Roman"/>
              </a:rPr>
              <a:t>improvements </a:t>
            </a:r>
            <a:r>
              <a:rPr sz="1200" dirty="0">
                <a:latin typeface="Times New Roman"/>
                <a:cs typeface="Times New Roman"/>
              </a:rPr>
              <a:t>based</a:t>
            </a:r>
            <a:r>
              <a:rPr sz="1200" spc="240" dirty="0">
                <a:latin typeface="Times New Roman"/>
                <a:cs typeface="Times New Roman"/>
              </a:rPr>
              <a:t> </a:t>
            </a:r>
            <a:r>
              <a:rPr sz="1200" dirty="0">
                <a:latin typeface="Times New Roman"/>
                <a:cs typeface="Times New Roman"/>
              </a:rPr>
              <a:t>on</a:t>
            </a:r>
            <a:r>
              <a:rPr sz="1200" spc="240" dirty="0">
                <a:latin typeface="Times New Roman"/>
                <a:cs typeface="Times New Roman"/>
              </a:rPr>
              <a:t> </a:t>
            </a:r>
            <a:r>
              <a:rPr sz="1200" dirty="0">
                <a:latin typeface="Times New Roman"/>
                <a:cs typeface="Times New Roman"/>
              </a:rPr>
              <a:t>stakeholder</a:t>
            </a:r>
            <a:r>
              <a:rPr sz="1200" spc="240" dirty="0">
                <a:latin typeface="Times New Roman"/>
                <a:cs typeface="Times New Roman"/>
              </a:rPr>
              <a:t> </a:t>
            </a:r>
            <a:r>
              <a:rPr sz="1200" dirty="0">
                <a:latin typeface="Times New Roman"/>
                <a:cs typeface="Times New Roman"/>
              </a:rPr>
              <a:t>feedback.</a:t>
            </a:r>
            <a:r>
              <a:rPr sz="1200" spc="254" dirty="0">
                <a:latin typeface="Times New Roman"/>
                <a:cs typeface="Times New Roman"/>
              </a:rPr>
              <a:t> </a:t>
            </a:r>
            <a:r>
              <a:rPr sz="1200" dirty="0">
                <a:latin typeface="Times New Roman"/>
                <a:cs typeface="Times New Roman"/>
              </a:rPr>
              <a:t>Agile</a:t>
            </a:r>
            <a:r>
              <a:rPr sz="1200" spc="240" dirty="0">
                <a:latin typeface="Times New Roman"/>
                <a:cs typeface="Times New Roman"/>
              </a:rPr>
              <a:t> </a:t>
            </a:r>
            <a:r>
              <a:rPr sz="1200" dirty="0">
                <a:latin typeface="Times New Roman"/>
                <a:cs typeface="Times New Roman"/>
              </a:rPr>
              <a:t>allows</a:t>
            </a:r>
            <a:r>
              <a:rPr sz="1200" spc="240" dirty="0">
                <a:latin typeface="Times New Roman"/>
                <a:cs typeface="Times New Roman"/>
              </a:rPr>
              <a:t> </a:t>
            </a:r>
            <a:r>
              <a:rPr sz="1200" dirty="0">
                <a:latin typeface="Times New Roman"/>
                <a:cs typeface="Times New Roman"/>
              </a:rPr>
              <a:t>the</a:t>
            </a:r>
            <a:r>
              <a:rPr sz="1200" spc="245" dirty="0">
                <a:latin typeface="Times New Roman"/>
                <a:cs typeface="Times New Roman"/>
              </a:rPr>
              <a:t> </a:t>
            </a:r>
            <a:r>
              <a:rPr sz="1200" dirty="0">
                <a:latin typeface="Times New Roman"/>
                <a:cs typeface="Times New Roman"/>
              </a:rPr>
              <a:t>team</a:t>
            </a:r>
            <a:r>
              <a:rPr sz="1200" spc="245" dirty="0">
                <a:latin typeface="Times New Roman"/>
                <a:cs typeface="Times New Roman"/>
              </a:rPr>
              <a:t> </a:t>
            </a:r>
            <a:r>
              <a:rPr sz="1200" dirty="0">
                <a:latin typeface="Times New Roman"/>
                <a:cs typeface="Times New Roman"/>
              </a:rPr>
              <a:t>to</a:t>
            </a:r>
            <a:r>
              <a:rPr sz="1200" spc="245" dirty="0">
                <a:latin typeface="Times New Roman"/>
                <a:cs typeface="Times New Roman"/>
              </a:rPr>
              <a:t> </a:t>
            </a:r>
            <a:r>
              <a:rPr sz="1200" dirty="0">
                <a:latin typeface="Times New Roman"/>
                <a:cs typeface="Times New Roman"/>
              </a:rPr>
              <a:t>manage</a:t>
            </a:r>
            <a:r>
              <a:rPr sz="1200" spc="240" dirty="0">
                <a:latin typeface="Times New Roman"/>
                <a:cs typeface="Times New Roman"/>
              </a:rPr>
              <a:t> </a:t>
            </a:r>
            <a:r>
              <a:rPr sz="1200" dirty="0">
                <a:latin typeface="Times New Roman"/>
                <a:cs typeface="Times New Roman"/>
              </a:rPr>
              <a:t>development</a:t>
            </a:r>
            <a:r>
              <a:rPr sz="1200" spc="245" dirty="0">
                <a:latin typeface="Times New Roman"/>
                <a:cs typeface="Times New Roman"/>
              </a:rPr>
              <a:t> </a:t>
            </a:r>
            <a:r>
              <a:rPr sz="1200" spc="-10" dirty="0">
                <a:latin typeface="Times New Roman"/>
                <a:cs typeface="Times New Roman"/>
              </a:rPr>
              <a:t>through </a:t>
            </a:r>
            <a:r>
              <a:rPr sz="1200" dirty="0">
                <a:latin typeface="Times New Roman"/>
                <a:cs typeface="Times New Roman"/>
              </a:rPr>
              <a:t>iterative</a:t>
            </a:r>
            <a:r>
              <a:rPr sz="1200" spc="-35" dirty="0">
                <a:latin typeface="Times New Roman"/>
                <a:cs typeface="Times New Roman"/>
              </a:rPr>
              <a:t> </a:t>
            </a:r>
            <a:r>
              <a:rPr sz="1200" dirty="0">
                <a:latin typeface="Times New Roman"/>
                <a:cs typeface="Times New Roman"/>
              </a:rPr>
              <a:t>phases,</a:t>
            </a:r>
            <a:r>
              <a:rPr sz="1200" spc="-15" dirty="0">
                <a:latin typeface="Times New Roman"/>
                <a:cs typeface="Times New Roman"/>
              </a:rPr>
              <a:t> </a:t>
            </a:r>
            <a:r>
              <a:rPr sz="1200" dirty="0">
                <a:latin typeface="Times New Roman"/>
                <a:cs typeface="Times New Roman"/>
              </a:rPr>
              <a:t>ensuring</a:t>
            </a:r>
            <a:r>
              <a:rPr sz="1200" spc="-20" dirty="0">
                <a:latin typeface="Times New Roman"/>
                <a:cs typeface="Times New Roman"/>
              </a:rPr>
              <a:t> </a:t>
            </a:r>
            <a:r>
              <a:rPr sz="1200" dirty="0">
                <a:latin typeface="Times New Roman"/>
                <a:cs typeface="Times New Roman"/>
              </a:rPr>
              <a:t>timely</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incremental</a:t>
            </a:r>
            <a:r>
              <a:rPr sz="1200" spc="-25" dirty="0">
                <a:latin typeface="Times New Roman"/>
                <a:cs typeface="Times New Roman"/>
              </a:rPr>
              <a:t> </a:t>
            </a:r>
            <a:r>
              <a:rPr sz="1200" dirty="0">
                <a:latin typeface="Times New Roman"/>
                <a:cs typeface="Times New Roman"/>
              </a:rPr>
              <a:t>delivery</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functional</a:t>
            </a:r>
            <a:r>
              <a:rPr sz="1200" spc="-30" dirty="0">
                <a:latin typeface="Times New Roman"/>
                <a:cs typeface="Times New Roman"/>
              </a:rPr>
              <a:t> </a:t>
            </a:r>
            <a:r>
              <a:rPr sz="1200" spc="-10" dirty="0">
                <a:latin typeface="Times New Roman"/>
                <a:cs typeface="Times New Roman"/>
              </a:rPr>
              <a:t>components.</a:t>
            </a: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12700" marR="5080" algn="just">
              <a:lnSpc>
                <a:spcPct val="144000"/>
              </a:lnSpc>
            </a:pPr>
            <a:r>
              <a:rPr sz="1200" spc="-10" dirty="0">
                <a:latin typeface="Times New Roman"/>
                <a:cs typeface="Times New Roman"/>
              </a:rPr>
              <a:t>Face-to-</a:t>
            </a:r>
            <a:r>
              <a:rPr sz="1200" dirty="0">
                <a:latin typeface="Times New Roman"/>
                <a:cs typeface="Times New Roman"/>
              </a:rPr>
              <a:t>face</a:t>
            </a:r>
            <a:r>
              <a:rPr sz="1200" spc="415" dirty="0">
                <a:latin typeface="Times New Roman"/>
                <a:cs typeface="Times New Roman"/>
              </a:rPr>
              <a:t> </a:t>
            </a:r>
            <a:r>
              <a:rPr sz="1200" dirty="0">
                <a:latin typeface="Times New Roman"/>
                <a:cs typeface="Times New Roman"/>
              </a:rPr>
              <a:t>communication</a:t>
            </a:r>
            <a:r>
              <a:rPr sz="1200" spc="415" dirty="0">
                <a:latin typeface="Times New Roman"/>
                <a:cs typeface="Times New Roman"/>
              </a:rPr>
              <a:t> </a:t>
            </a:r>
            <a:r>
              <a:rPr sz="1200" dirty="0">
                <a:latin typeface="Times New Roman"/>
                <a:cs typeface="Times New Roman"/>
              </a:rPr>
              <a:t>and</a:t>
            </a:r>
            <a:r>
              <a:rPr sz="1200" spc="415" dirty="0">
                <a:latin typeface="Times New Roman"/>
                <a:cs typeface="Times New Roman"/>
              </a:rPr>
              <a:t> </a:t>
            </a:r>
            <a:r>
              <a:rPr sz="1200" dirty="0">
                <a:latin typeface="Times New Roman"/>
                <a:cs typeface="Times New Roman"/>
              </a:rPr>
              <a:t>ongoing</a:t>
            </a:r>
            <a:r>
              <a:rPr sz="1200" spc="420" dirty="0">
                <a:latin typeface="Times New Roman"/>
                <a:cs typeface="Times New Roman"/>
              </a:rPr>
              <a:t> </a:t>
            </a:r>
            <a:r>
              <a:rPr sz="1200" dirty="0">
                <a:latin typeface="Times New Roman"/>
                <a:cs typeface="Times New Roman"/>
              </a:rPr>
              <a:t>stakeholder</a:t>
            </a:r>
            <a:r>
              <a:rPr sz="1200" spc="415" dirty="0">
                <a:latin typeface="Times New Roman"/>
                <a:cs typeface="Times New Roman"/>
              </a:rPr>
              <a:t> </a:t>
            </a:r>
            <a:r>
              <a:rPr sz="1200" dirty="0">
                <a:latin typeface="Times New Roman"/>
                <a:cs typeface="Times New Roman"/>
              </a:rPr>
              <a:t>engagement</a:t>
            </a:r>
            <a:r>
              <a:rPr sz="1200" spc="415" dirty="0">
                <a:latin typeface="Times New Roman"/>
                <a:cs typeface="Times New Roman"/>
              </a:rPr>
              <a:t> </a:t>
            </a:r>
            <a:r>
              <a:rPr sz="1200" dirty="0">
                <a:latin typeface="Times New Roman"/>
                <a:cs typeface="Times New Roman"/>
              </a:rPr>
              <a:t>are</a:t>
            </a:r>
            <a:r>
              <a:rPr sz="1200" spc="415" dirty="0">
                <a:latin typeface="Times New Roman"/>
                <a:cs typeface="Times New Roman"/>
              </a:rPr>
              <a:t> </a:t>
            </a:r>
            <a:r>
              <a:rPr sz="1200" dirty="0">
                <a:latin typeface="Times New Roman"/>
                <a:cs typeface="Times New Roman"/>
              </a:rPr>
              <a:t>central</a:t>
            </a:r>
            <a:r>
              <a:rPr sz="1200" spc="420" dirty="0">
                <a:latin typeface="Times New Roman"/>
                <a:cs typeface="Times New Roman"/>
              </a:rPr>
              <a:t> </a:t>
            </a:r>
            <a:r>
              <a:rPr sz="1200" dirty="0">
                <a:latin typeface="Times New Roman"/>
                <a:cs typeface="Times New Roman"/>
              </a:rPr>
              <a:t>to</a:t>
            </a:r>
            <a:r>
              <a:rPr sz="1200" spc="420" dirty="0">
                <a:latin typeface="Times New Roman"/>
                <a:cs typeface="Times New Roman"/>
              </a:rPr>
              <a:t> </a:t>
            </a:r>
            <a:r>
              <a:rPr sz="1200" spc="-20" dirty="0">
                <a:latin typeface="Times New Roman"/>
                <a:cs typeface="Times New Roman"/>
              </a:rPr>
              <a:t>this </a:t>
            </a:r>
            <a:r>
              <a:rPr sz="1200" dirty="0">
                <a:latin typeface="Times New Roman"/>
                <a:cs typeface="Times New Roman"/>
              </a:rPr>
              <a:t>methodology,</a:t>
            </a:r>
            <a:r>
              <a:rPr sz="1200" spc="15" dirty="0">
                <a:latin typeface="Times New Roman"/>
                <a:cs typeface="Times New Roman"/>
              </a:rPr>
              <a:t> </a:t>
            </a:r>
            <a:r>
              <a:rPr sz="1200" dirty="0">
                <a:latin typeface="Times New Roman"/>
                <a:cs typeface="Times New Roman"/>
              </a:rPr>
              <a:t>fostering</a:t>
            </a:r>
            <a:r>
              <a:rPr sz="1200" spc="10"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adaptability</a:t>
            </a:r>
            <a:r>
              <a:rPr sz="1200" spc="10"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every</a:t>
            </a:r>
            <a:r>
              <a:rPr sz="1200" spc="10" dirty="0">
                <a:latin typeface="Times New Roman"/>
                <a:cs typeface="Times New Roman"/>
              </a:rPr>
              <a:t> </a:t>
            </a:r>
            <a:r>
              <a:rPr sz="1200" dirty="0">
                <a:latin typeface="Times New Roman"/>
                <a:cs typeface="Times New Roman"/>
              </a:rPr>
              <a:t>stage.</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iterative</a:t>
            </a:r>
            <a:r>
              <a:rPr sz="1200" spc="5" dirty="0">
                <a:latin typeface="Times New Roman"/>
                <a:cs typeface="Times New Roman"/>
              </a:rPr>
              <a:t> </a:t>
            </a:r>
            <a:r>
              <a:rPr sz="1200" dirty="0">
                <a:latin typeface="Times New Roman"/>
                <a:cs typeface="Times New Roman"/>
              </a:rPr>
              <a:t>nature</a:t>
            </a:r>
            <a:r>
              <a:rPr sz="1200" spc="45" dirty="0">
                <a:latin typeface="Times New Roman"/>
                <a:cs typeface="Times New Roman"/>
              </a:rPr>
              <a:t> </a:t>
            </a:r>
            <a:r>
              <a:rPr sz="1200" spc="-25" dirty="0">
                <a:latin typeface="Times New Roman"/>
                <a:cs typeface="Times New Roman"/>
              </a:rPr>
              <a:t>of </a:t>
            </a:r>
            <a:r>
              <a:rPr sz="1200" dirty="0">
                <a:latin typeface="Times New Roman"/>
                <a:cs typeface="Times New Roman"/>
              </a:rPr>
              <a:t>Agile</a:t>
            </a:r>
            <a:r>
              <a:rPr sz="1200" spc="225" dirty="0">
                <a:latin typeface="Times New Roman"/>
                <a:cs typeface="Times New Roman"/>
              </a:rPr>
              <a:t> </a:t>
            </a:r>
            <a:r>
              <a:rPr sz="1200" dirty="0">
                <a:latin typeface="Times New Roman"/>
                <a:cs typeface="Times New Roman"/>
              </a:rPr>
              <a:t>promotes</a:t>
            </a:r>
            <a:r>
              <a:rPr sz="1200" spc="229" dirty="0">
                <a:latin typeface="Times New Roman"/>
                <a:cs typeface="Times New Roman"/>
              </a:rPr>
              <a:t> </a:t>
            </a:r>
            <a:r>
              <a:rPr sz="1200" dirty="0">
                <a:latin typeface="Times New Roman"/>
                <a:cs typeface="Times New Roman"/>
              </a:rPr>
              <a:t>sustainable</a:t>
            </a:r>
            <a:r>
              <a:rPr sz="1200" spc="229" dirty="0">
                <a:latin typeface="Times New Roman"/>
                <a:cs typeface="Times New Roman"/>
              </a:rPr>
              <a:t> </a:t>
            </a:r>
            <a:r>
              <a:rPr sz="1200" dirty="0">
                <a:latin typeface="Times New Roman"/>
                <a:cs typeface="Times New Roman"/>
              </a:rPr>
              <a:t>development</a:t>
            </a:r>
            <a:r>
              <a:rPr sz="1200" spc="240" dirty="0">
                <a:latin typeface="Times New Roman"/>
                <a:cs typeface="Times New Roman"/>
              </a:rPr>
              <a:t> </a:t>
            </a:r>
            <a:r>
              <a:rPr sz="1200" dirty="0">
                <a:latin typeface="Times New Roman"/>
                <a:cs typeface="Times New Roman"/>
              </a:rPr>
              <a:t>and</a:t>
            </a:r>
            <a:r>
              <a:rPr sz="1200" spc="240" dirty="0">
                <a:latin typeface="Times New Roman"/>
                <a:cs typeface="Times New Roman"/>
              </a:rPr>
              <a:t> </a:t>
            </a:r>
            <a:r>
              <a:rPr sz="1200" dirty="0">
                <a:latin typeface="Times New Roman"/>
                <a:cs typeface="Times New Roman"/>
              </a:rPr>
              <a:t>enables</a:t>
            </a:r>
            <a:r>
              <a:rPr sz="1200" spc="229"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dirty="0">
                <a:latin typeface="Times New Roman"/>
                <a:cs typeface="Times New Roman"/>
              </a:rPr>
              <a:t>team</a:t>
            </a:r>
            <a:r>
              <a:rPr sz="1200" spc="235" dirty="0">
                <a:latin typeface="Times New Roman"/>
                <a:cs typeface="Times New Roman"/>
              </a:rPr>
              <a:t> </a:t>
            </a:r>
            <a:r>
              <a:rPr sz="1200" dirty="0">
                <a:latin typeface="Times New Roman"/>
                <a:cs typeface="Times New Roman"/>
              </a:rPr>
              <a:t>to</a:t>
            </a:r>
            <a:r>
              <a:rPr sz="1200" spc="245" dirty="0">
                <a:latin typeface="Times New Roman"/>
                <a:cs typeface="Times New Roman"/>
              </a:rPr>
              <a:t> </a:t>
            </a:r>
            <a:r>
              <a:rPr sz="1200" dirty="0">
                <a:latin typeface="Times New Roman"/>
                <a:cs typeface="Times New Roman"/>
              </a:rPr>
              <a:t>respond</a:t>
            </a:r>
            <a:r>
              <a:rPr sz="1200" spc="225" dirty="0">
                <a:latin typeface="Times New Roman"/>
                <a:cs typeface="Times New Roman"/>
              </a:rPr>
              <a:t> </a:t>
            </a:r>
            <a:r>
              <a:rPr sz="1200" dirty="0">
                <a:latin typeface="Times New Roman"/>
                <a:cs typeface="Times New Roman"/>
              </a:rPr>
              <a:t>efficiently</a:t>
            </a:r>
            <a:r>
              <a:rPr sz="1200" spc="235" dirty="0">
                <a:latin typeface="Times New Roman"/>
                <a:cs typeface="Times New Roman"/>
              </a:rPr>
              <a:t> </a:t>
            </a:r>
            <a:r>
              <a:rPr sz="1200" spc="-25" dirty="0">
                <a:latin typeface="Times New Roman"/>
                <a:cs typeface="Times New Roman"/>
              </a:rPr>
              <a:t>to </a:t>
            </a:r>
            <a:r>
              <a:rPr sz="1200" dirty="0">
                <a:latin typeface="Times New Roman"/>
                <a:cs typeface="Times New Roman"/>
              </a:rPr>
              <a:t>evolving</a:t>
            </a:r>
            <a:r>
              <a:rPr sz="1200" spc="-40"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50800" algn="just">
              <a:lnSpc>
                <a:spcPct val="100000"/>
              </a:lnSpc>
            </a:pPr>
            <a:r>
              <a:rPr sz="1200" b="1" dirty="0">
                <a:latin typeface="Times New Roman"/>
                <a:cs typeface="Times New Roman"/>
              </a:rPr>
              <a:t>Agile</a:t>
            </a:r>
            <a:r>
              <a:rPr sz="1200" b="1" spc="-25" dirty="0">
                <a:latin typeface="Times New Roman"/>
                <a:cs typeface="Times New Roman"/>
              </a:rPr>
              <a:t> </a:t>
            </a:r>
            <a:r>
              <a:rPr sz="1200" b="1" dirty="0">
                <a:latin typeface="Times New Roman"/>
                <a:cs typeface="Times New Roman"/>
              </a:rPr>
              <a:t>Process</a:t>
            </a:r>
            <a:r>
              <a:rPr sz="1200" b="1" spc="-10" dirty="0">
                <a:latin typeface="Times New Roman"/>
                <a:cs typeface="Times New Roman"/>
              </a:rPr>
              <a:t> </a:t>
            </a:r>
            <a:r>
              <a:rPr sz="1200" b="1" dirty="0">
                <a:latin typeface="Times New Roman"/>
                <a:cs typeface="Times New Roman"/>
              </a:rPr>
              <a:t>for</a:t>
            </a:r>
            <a:r>
              <a:rPr sz="1200" b="1" spc="-30" dirty="0">
                <a:latin typeface="Times New Roman"/>
                <a:cs typeface="Times New Roman"/>
              </a:rPr>
              <a:t> </a:t>
            </a:r>
            <a:r>
              <a:rPr sz="1200" b="1" dirty="0">
                <a:latin typeface="Times New Roman"/>
                <a:cs typeface="Times New Roman"/>
              </a:rPr>
              <a:t>Auction</a:t>
            </a:r>
            <a:r>
              <a:rPr sz="1200" b="1" spc="-25" dirty="0">
                <a:latin typeface="Times New Roman"/>
                <a:cs typeface="Times New Roman"/>
              </a:rPr>
              <a:t> </a:t>
            </a:r>
            <a:r>
              <a:rPr sz="1200" b="1" spc="-10" dirty="0">
                <a:latin typeface="Times New Roman"/>
                <a:cs typeface="Times New Roman"/>
              </a:rPr>
              <a:t>Abode:</a:t>
            </a:r>
            <a:endParaRPr sz="1200" dirty="0">
              <a:latin typeface="Times New Roman"/>
              <a:cs typeface="Times New Roman"/>
            </a:endParaRPr>
          </a:p>
          <a:p>
            <a:pPr>
              <a:lnSpc>
                <a:spcPct val="100000"/>
              </a:lnSpc>
              <a:spcBef>
                <a:spcPts val="10"/>
              </a:spcBef>
            </a:pPr>
            <a:endParaRPr sz="1200" dirty="0">
              <a:latin typeface="Times New Roman"/>
              <a:cs typeface="Times New Roman"/>
            </a:endParaRPr>
          </a:p>
          <a:p>
            <a:pPr marL="469265" marR="5715" indent="-228600">
              <a:lnSpc>
                <a:spcPct val="144200"/>
              </a:lnSpc>
              <a:buSzPct val="83333"/>
              <a:buFont typeface="Symbol"/>
              <a:buChar char=""/>
              <a:tabLst>
                <a:tab pos="469265" algn="l"/>
              </a:tabLst>
            </a:pPr>
            <a:r>
              <a:rPr sz="1200" b="1" dirty="0">
                <a:latin typeface="Times New Roman"/>
                <a:cs typeface="Times New Roman"/>
              </a:rPr>
              <a:t>Requirements</a:t>
            </a:r>
            <a:r>
              <a:rPr sz="1200" b="1" spc="175" dirty="0">
                <a:latin typeface="Times New Roman"/>
                <a:cs typeface="Times New Roman"/>
              </a:rPr>
              <a:t> </a:t>
            </a:r>
            <a:r>
              <a:rPr sz="1200" b="1" dirty="0">
                <a:latin typeface="Times New Roman"/>
                <a:cs typeface="Times New Roman"/>
              </a:rPr>
              <a:t>Elicitation:</a:t>
            </a:r>
            <a:r>
              <a:rPr sz="1200" b="1" spc="190" dirty="0">
                <a:latin typeface="Times New Roman"/>
                <a:cs typeface="Times New Roman"/>
              </a:rPr>
              <a:t> </a:t>
            </a:r>
            <a:r>
              <a:rPr sz="1200" dirty="0">
                <a:latin typeface="Times New Roman"/>
                <a:cs typeface="Times New Roman"/>
              </a:rPr>
              <a:t>Identifying</a:t>
            </a:r>
            <a:r>
              <a:rPr sz="1200" spc="180" dirty="0">
                <a:latin typeface="Times New Roman"/>
                <a:cs typeface="Times New Roman"/>
              </a:rPr>
              <a:t> </a:t>
            </a:r>
            <a:r>
              <a:rPr sz="1200" dirty="0">
                <a:latin typeface="Times New Roman"/>
                <a:cs typeface="Times New Roman"/>
              </a:rPr>
              <a:t>and</a:t>
            </a:r>
            <a:r>
              <a:rPr sz="1200" spc="180" dirty="0">
                <a:latin typeface="Times New Roman"/>
                <a:cs typeface="Times New Roman"/>
              </a:rPr>
              <a:t> </a:t>
            </a:r>
            <a:r>
              <a:rPr sz="1200" dirty="0">
                <a:latin typeface="Times New Roman"/>
                <a:cs typeface="Times New Roman"/>
              </a:rPr>
              <a:t>analyzing</a:t>
            </a:r>
            <a:r>
              <a:rPr sz="1200" spc="180" dirty="0">
                <a:latin typeface="Times New Roman"/>
                <a:cs typeface="Times New Roman"/>
              </a:rPr>
              <a:t> </a:t>
            </a:r>
            <a:r>
              <a:rPr sz="1200" dirty="0">
                <a:latin typeface="Times New Roman"/>
                <a:cs typeface="Times New Roman"/>
              </a:rPr>
              <a:t>stakeholder</a:t>
            </a:r>
            <a:r>
              <a:rPr sz="1200" spc="175" dirty="0">
                <a:latin typeface="Times New Roman"/>
                <a:cs typeface="Times New Roman"/>
              </a:rPr>
              <a:t> </a:t>
            </a:r>
            <a:r>
              <a:rPr sz="1200" dirty="0">
                <a:latin typeface="Times New Roman"/>
                <a:cs typeface="Times New Roman"/>
              </a:rPr>
              <a:t>needs</a:t>
            </a:r>
            <a:r>
              <a:rPr sz="1200" spc="180" dirty="0">
                <a:latin typeface="Times New Roman"/>
                <a:cs typeface="Times New Roman"/>
              </a:rPr>
              <a:t> </a:t>
            </a:r>
            <a:r>
              <a:rPr sz="1200" dirty="0">
                <a:latin typeface="Times New Roman"/>
                <a:cs typeface="Times New Roman"/>
              </a:rPr>
              <a:t>to</a:t>
            </a:r>
            <a:r>
              <a:rPr sz="1200" spc="180" dirty="0">
                <a:latin typeface="Times New Roman"/>
                <a:cs typeface="Times New Roman"/>
              </a:rPr>
              <a:t> </a:t>
            </a:r>
            <a:r>
              <a:rPr sz="1200" spc="-10" dirty="0">
                <a:latin typeface="Times New Roman"/>
                <a:cs typeface="Times New Roman"/>
              </a:rPr>
              <a:t>define </a:t>
            </a:r>
            <a:r>
              <a:rPr sz="1200" dirty="0">
                <a:latin typeface="Times New Roman"/>
                <a:cs typeface="Times New Roman"/>
              </a:rPr>
              <a:t>clear</a:t>
            </a:r>
            <a:r>
              <a:rPr sz="1200" spc="-40" dirty="0">
                <a:latin typeface="Times New Roman"/>
                <a:cs typeface="Times New Roman"/>
              </a:rPr>
              <a:t> </a:t>
            </a:r>
            <a:r>
              <a:rPr sz="1200" dirty="0">
                <a:latin typeface="Times New Roman"/>
                <a:cs typeface="Times New Roman"/>
              </a:rPr>
              <a:t>project</a:t>
            </a:r>
            <a:r>
              <a:rPr sz="1200" spc="-40" dirty="0">
                <a:latin typeface="Times New Roman"/>
                <a:cs typeface="Times New Roman"/>
              </a:rPr>
              <a:t> </a:t>
            </a:r>
            <a:r>
              <a:rPr sz="1200" spc="-10" dirty="0">
                <a:latin typeface="Times New Roman"/>
                <a:cs typeface="Times New Roman"/>
              </a:rPr>
              <a:t>goals.</a:t>
            </a:r>
            <a:endParaRPr sz="1200" dirty="0">
              <a:latin typeface="Times New Roman"/>
              <a:cs typeface="Times New Roman"/>
            </a:endParaRPr>
          </a:p>
          <a:p>
            <a:pPr marL="469265" marR="7620" indent="-228600">
              <a:lnSpc>
                <a:spcPts val="2070"/>
              </a:lnSpc>
              <a:spcBef>
                <a:spcPts val="170"/>
              </a:spcBef>
              <a:buSzPct val="83333"/>
              <a:buFont typeface="Symbol"/>
              <a:buChar char=""/>
              <a:tabLst>
                <a:tab pos="469265" algn="l"/>
              </a:tabLst>
            </a:pPr>
            <a:r>
              <a:rPr sz="1200" b="1" dirty="0">
                <a:latin typeface="Times New Roman"/>
                <a:cs typeface="Times New Roman"/>
              </a:rPr>
              <a:t>Design</a:t>
            </a:r>
            <a:r>
              <a:rPr sz="1200" b="1" spc="165" dirty="0">
                <a:latin typeface="Times New Roman"/>
                <a:cs typeface="Times New Roman"/>
              </a:rPr>
              <a:t> </a:t>
            </a:r>
            <a:r>
              <a:rPr sz="1200" b="1" dirty="0">
                <a:latin typeface="Times New Roman"/>
                <a:cs typeface="Times New Roman"/>
              </a:rPr>
              <a:t>Requirements:</a:t>
            </a:r>
            <a:r>
              <a:rPr sz="1200" b="1" spc="160" dirty="0">
                <a:latin typeface="Times New Roman"/>
                <a:cs typeface="Times New Roman"/>
              </a:rPr>
              <a:t> </a:t>
            </a:r>
            <a:r>
              <a:rPr sz="1200" dirty="0">
                <a:latin typeface="Times New Roman"/>
                <a:cs typeface="Times New Roman"/>
              </a:rPr>
              <a:t>Converting</a:t>
            </a:r>
            <a:r>
              <a:rPr sz="1200" spc="155" dirty="0">
                <a:latin typeface="Times New Roman"/>
                <a:cs typeface="Times New Roman"/>
              </a:rPr>
              <a:t> </a:t>
            </a:r>
            <a:r>
              <a:rPr sz="1200" dirty="0">
                <a:latin typeface="Times New Roman"/>
                <a:cs typeface="Times New Roman"/>
              </a:rPr>
              <a:t>stakeholder</a:t>
            </a:r>
            <a:r>
              <a:rPr sz="1200" spc="160" dirty="0">
                <a:latin typeface="Times New Roman"/>
                <a:cs typeface="Times New Roman"/>
              </a:rPr>
              <a:t> </a:t>
            </a:r>
            <a:r>
              <a:rPr sz="1200" dirty="0">
                <a:latin typeface="Times New Roman"/>
                <a:cs typeface="Times New Roman"/>
              </a:rPr>
              <a:t>needs</a:t>
            </a:r>
            <a:r>
              <a:rPr sz="1200" spc="155" dirty="0">
                <a:latin typeface="Times New Roman"/>
                <a:cs typeface="Times New Roman"/>
              </a:rPr>
              <a:t> </a:t>
            </a:r>
            <a:r>
              <a:rPr sz="1200" dirty="0">
                <a:latin typeface="Times New Roman"/>
                <a:cs typeface="Times New Roman"/>
              </a:rPr>
              <a:t>into</a:t>
            </a:r>
            <a:r>
              <a:rPr sz="1200" spc="155" dirty="0">
                <a:latin typeface="Times New Roman"/>
                <a:cs typeface="Times New Roman"/>
              </a:rPr>
              <a:t> </a:t>
            </a:r>
            <a:r>
              <a:rPr sz="1200" dirty="0">
                <a:latin typeface="Times New Roman"/>
                <a:cs typeface="Times New Roman"/>
              </a:rPr>
              <a:t>technical</a:t>
            </a:r>
            <a:r>
              <a:rPr sz="1200" spc="160" dirty="0">
                <a:latin typeface="Times New Roman"/>
                <a:cs typeface="Times New Roman"/>
              </a:rPr>
              <a:t> </a:t>
            </a:r>
            <a:r>
              <a:rPr sz="1200" spc="-10" dirty="0">
                <a:latin typeface="Times New Roman"/>
                <a:cs typeface="Times New Roman"/>
              </a:rPr>
              <a:t>specifications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spc="-10" dirty="0">
                <a:latin typeface="Times New Roman"/>
                <a:cs typeface="Times New Roman"/>
              </a:rPr>
              <a:t>models.</a:t>
            </a:r>
            <a:endParaRPr sz="1200" dirty="0">
              <a:latin typeface="Times New Roman"/>
              <a:cs typeface="Times New Roman"/>
            </a:endParaRPr>
          </a:p>
          <a:p>
            <a:pPr marL="469265" marR="6350" indent="-228600">
              <a:lnSpc>
                <a:spcPts val="2060"/>
              </a:lnSpc>
              <a:spcBef>
                <a:spcPts val="10"/>
              </a:spcBef>
              <a:buSzPct val="83333"/>
              <a:buFont typeface="Symbol"/>
              <a:buChar char=""/>
              <a:tabLst>
                <a:tab pos="469265" algn="l"/>
              </a:tabLst>
            </a:pPr>
            <a:r>
              <a:rPr sz="1200" b="1" dirty="0">
                <a:latin typeface="Times New Roman"/>
                <a:cs typeface="Times New Roman"/>
              </a:rPr>
              <a:t>Construction/Iteration:</a:t>
            </a:r>
            <a:r>
              <a:rPr sz="1200" b="1" spc="320" dirty="0">
                <a:latin typeface="Times New Roman"/>
                <a:cs typeface="Times New Roman"/>
              </a:rPr>
              <a:t> </a:t>
            </a:r>
            <a:r>
              <a:rPr sz="1200" dirty="0">
                <a:latin typeface="Times New Roman"/>
                <a:cs typeface="Times New Roman"/>
              </a:rPr>
              <a:t>Developing</a:t>
            </a:r>
            <a:r>
              <a:rPr sz="1200" spc="305" dirty="0">
                <a:latin typeface="Times New Roman"/>
                <a:cs typeface="Times New Roman"/>
              </a:rPr>
              <a:t> </a:t>
            </a:r>
            <a:r>
              <a:rPr sz="1200" dirty="0">
                <a:latin typeface="Times New Roman"/>
                <a:cs typeface="Times New Roman"/>
              </a:rPr>
              <a:t>functional</a:t>
            </a:r>
            <a:r>
              <a:rPr sz="1200" spc="310" dirty="0">
                <a:latin typeface="Times New Roman"/>
                <a:cs typeface="Times New Roman"/>
              </a:rPr>
              <a:t> </a:t>
            </a:r>
            <a:r>
              <a:rPr sz="1200" dirty="0">
                <a:latin typeface="Times New Roman"/>
                <a:cs typeface="Times New Roman"/>
              </a:rPr>
              <a:t>increments</a:t>
            </a:r>
            <a:r>
              <a:rPr sz="1200" spc="305" dirty="0">
                <a:latin typeface="Times New Roman"/>
                <a:cs typeface="Times New Roman"/>
              </a:rPr>
              <a:t> </a:t>
            </a:r>
            <a:r>
              <a:rPr sz="1200" dirty="0">
                <a:latin typeface="Times New Roman"/>
                <a:cs typeface="Times New Roman"/>
              </a:rPr>
              <a:t>of</a:t>
            </a:r>
            <a:r>
              <a:rPr sz="1200" spc="305" dirty="0">
                <a:latin typeface="Times New Roman"/>
                <a:cs typeface="Times New Roman"/>
              </a:rPr>
              <a:t> </a:t>
            </a:r>
            <a:r>
              <a:rPr sz="1200" dirty="0">
                <a:latin typeface="Times New Roman"/>
                <a:cs typeface="Times New Roman"/>
              </a:rPr>
              <a:t>the</a:t>
            </a:r>
            <a:r>
              <a:rPr sz="1200" spc="305" dirty="0">
                <a:latin typeface="Times New Roman"/>
                <a:cs typeface="Times New Roman"/>
              </a:rPr>
              <a:t> </a:t>
            </a:r>
            <a:r>
              <a:rPr sz="1200" dirty="0">
                <a:latin typeface="Times New Roman"/>
                <a:cs typeface="Times New Roman"/>
              </a:rPr>
              <a:t>platform</a:t>
            </a:r>
            <a:r>
              <a:rPr sz="1200" spc="310" dirty="0">
                <a:latin typeface="Times New Roman"/>
                <a:cs typeface="Times New Roman"/>
              </a:rPr>
              <a:t> </a:t>
            </a:r>
            <a:r>
              <a:rPr sz="1200" spc="-20" dirty="0">
                <a:latin typeface="Times New Roman"/>
                <a:cs typeface="Times New Roman"/>
              </a:rPr>
              <a:t>with </a:t>
            </a:r>
            <a:r>
              <a:rPr sz="1200" dirty="0">
                <a:latin typeface="Times New Roman"/>
                <a:cs typeface="Times New Roman"/>
              </a:rPr>
              <a:t>frequent</a:t>
            </a:r>
            <a:r>
              <a:rPr sz="1200" spc="-30" dirty="0">
                <a:latin typeface="Times New Roman"/>
                <a:cs typeface="Times New Roman"/>
              </a:rPr>
              <a:t> </a:t>
            </a:r>
            <a:r>
              <a:rPr sz="1200" dirty="0">
                <a:latin typeface="Times New Roman"/>
                <a:cs typeface="Times New Roman"/>
              </a:rPr>
              <a:t>coding</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testing</a:t>
            </a:r>
            <a:r>
              <a:rPr sz="1200" spc="-35" dirty="0">
                <a:latin typeface="Times New Roman"/>
                <a:cs typeface="Times New Roman"/>
              </a:rPr>
              <a:t> </a:t>
            </a:r>
            <a:r>
              <a:rPr sz="1200" spc="-10" dirty="0">
                <a:latin typeface="Times New Roman"/>
                <a:cs typeface="Times New Roman"/>
              </a:rPr>
              <a:t>cycles.</a:t>
            </a:r>
            <a:endParaRPr sz="1200" dirty="0">
              <a:latin typeface="Times New Roman"/>
              <a:cs typeface="Times New Roman"/>
            </a:endParaRPr>
          </a:p>
          <a:p>
            <a:pPr marL="469265" marR="8255" indent="-228600">
              <a:lnSpc>
                <a:spcPts val="2060"/>
              </a:lnSpc>
              <a:spcBef>
                <a:spcPts val="20"/>
              </a:spcBef>
              <a:buSzPct val="83333"/>
              <a:buFont typeface="Symbol"/>
              <a:buChar char=""/>
              <a:tabLst>
                <a:tab pos="469265" algn="l"/>
              </a:tabLst>
            </a:pPr>
            <a:r>
              <a:rPr sz="1200" b="1" dirty="0">
                <a:latin typeface="Times New Roman"/>
                <a:cs typeface="Times New Roman"/>
              </a:rPr>
              <a:t>Testing/Quality</a:t>
            </a:r>
            <a:r>
              <a:rPr sz="1200" b="1" spc="420" dirty="0">
                <a:latin typeface="Times New Roman"/>
                <a:cs typeface="Times New Roman"/>
              </a:rPr>
              <a:t> </a:t>
            </a:r>
            <a:r>
              <a:rPr sz="1200" b="1" dirty="0">
                <a:latin typeface="Times New Roman"/>
                <a:cs typeface="Times New Roman"/>
              </a:rPr>
              <a:t>Assurance:</a:t>
            </a:r>
            <a:r>
              <a:rPr sz="1200" b="1" spc="425" dirty="0">
                <a:latin typeface="Times New Roman"/>
                <a:cs typeface="Times New Roman"/>
              </a:rPr>
              <a:t> </a:t>
            </a:r>
            <a:r>
              <a:rPr sz="1200" dirty="0">
                <a:latin typeface="Times New Roman"/>
                <a:cs typeface="Times New Roman"/>
              </a:rPr>
              <a:t>Ensuring</a:t>
            </a:r>
            <a:r>
              <a:rPr sz="1200" spc="425" dirty="0">
                <a:latin typeface="Times New Roman"/>
                <a:cs typeface="Times New Roman"/>
              </a:rPr>
              <a:t> </a:t>
            </a:r>
            <a:r>
              <a:rPr sz="1200" dirty="0">
                <a:latin typeface="Times New Roman"/>
                <a:cs typeface="Times New Roman"/>
              </a:rPr>
              <a:t>each</a:t>
            </a:r>
            <a:r>
              <a:rPr sz="1200" spc="420" dirty="0">
                <a:latin typeface="Times New Roman"/>
                <a:cs typeface="Times New Roman"/>
              </a:rPr>
              <a:t> </a:t>
            </a:r>
            <a:r>
              <a:rPr sz="1200" dirty="0">
                <a:latin typeface="Times New Roman"/>
                <a:cs typeface="Times New Roman"/>
              </a:rPr>
              <a:t>increment</a:t>
            </a:r>
            <a:r>
              <a:rPr sz="1200" spc="420" dirty="0">
                <a:latin typeface="Times New Roman"/>
                <a:cs typeface="Times New Roman"/>
              </a:rPr>
              <a:t> </a:t>
            </a:r>
            <a:r>
              <a:rPr sz="1200" dirty="0">
                <a:latin typeface="Times New Roman"/>
                <a:cs typeface="Times New Roman"/>
              </a:rPr>
              <a:t>meets</a:t>
            </a:r>
            <a:r>
              <a:rPr sz="1200" spc="425" dirty="0">
                <a:latin typeface="Times New Roman"/>
                <a:cs typeface="Times New Roman"/>
              </a:rPr>
              <a:t> </a:t>
            </a:r>
            <a:r>
              <a:rPr sz="1200" dirty="0">
                <a:latin typeface="Times New Roman"/>
                <a:cs typeface="Times New Roman"/>
              </a:rPr>
              <a:t>performance</a:t>
            </a:r>
            <a:r>
              <a:rPr sz="1200" spc="415" dirty="0">
                <a:latin typeface="Times New Roman"/>
                <a:cs typeface="Times New Roman"/>
              </a:rPr>
              <a:t> </a:t>
            </a:r>
            <a:r>
              <a:rPr sz="1200" spc="-25" dirty="0">
                <a:latin typeface="Times New Roman"/>
                <a:cs typeface="Times New Roman"/>
              </a:rPr>
              <a:t>and </a:t>
            </a:r>
            <a:r>
              <a:rPr sz="1200" dirty="0">
                <a:latin typeface="Times New Roman"/>
                <a:cs typeface="Times New Roman"/>
              </a:rPr>
              <a:t>security</a:t>
            </a:r>
            <a:r>
              <a:rPr sz="1200" spc="-30" dirty="0">
                <a:latin typeface="Times New Roman"/>
                <a:cs typeface="Times New Roman"/>
              </a:rPr>
              <a:t> </a:t>
            </a:r>
            <a:r>
              <a:rPr sz="1200" dirty="0">
                <a:latin typeface="Times New Roman"/>
                <a:cs typeface="Times New Roman"/>
              </a:rPr>
              <a:t>standards</a:t>
            </a:r>
            <a:r>
              <a:rPr sz="1200" spc="-30" dirty="0">
                <a:latin typeface="Times New Roman"/>
                <a:cs typeface="Times New Roman"/>
              </a:rPr>
              <a:t> </a:t>
            </a:r>
            <a:r>
              <a:rPr sz="1200" dirty="0">
                <a:latin typeface="Times New Roman"/>
                <a:cs typeface="Times New Roman"/>
              </a:rPr>
              <a:t>through</a:t>
            </a:r>
            <a:r>
              <a:rPr sz="1200" spc="-30" dirty="0">
                <a:latin typeface="Times New Roman"/>
                <a:cs typeface="Times New Roman"/>
              </a:rPr>
              <a:t> </a:t>
            </a:r>
            <a:r>
              <a:rPr sz="1200" dirty="0">
                <a:latin typeface="Times New Roman"/>
                <a:cs typeface="Times New Roman"/>
              </a:rPr>
              <a:t>rigorous</a:t>
            </a:r>
            <a:r>
              <a:rPr sz="1200" spc="-3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marR="7620" indent="-228600">
              <a:lnSpc>
                <a:spcPts val="2060"/>
              </a:lnSpc>
              <a:spcBef>
                <a:spcPts val="20"/>
              </a:spcBef>
              <a:buSzPct val="83333"/>
              <a:buFont typeface="Symbol"/>
              <a:buChar char=""/>
              <a:tabLst>
                <a:tab pos="469265" algn="l"/>
              </a:tabLst>
            </a:pPr>
            <a:r>
              <a:rPr sz="1200" b="1" dirty="0">
                <a:latin typeface="Times New Roman"/>
                <a:cs typeface="Times New Roman"/>
              </a:rPr>
              <a:t>Deployment:</a:t>
            </a:r>
            <a:r>
              <a:rPr sz="1200" b="1" spc="355" dirty="0">
                <a:latin typeface="Times New Roman"/>
                <a:cs typeface="Times New Roman"/>
              </a:rPr>
              <a:t> </a:t>
            </a:r>
            <a:r>
              <a:rPr sz="1200" dirty="0">
                <a:latin typeface="Times New Roman"/>
                <a:cs typeface="Times New Roman"/>
              </a:rPr>
              <a:t>Delivering</a:t>
            </a:r>
            <a:r>
              <a:rPr sz="1200" spc="360" dirty="0">
                <a:latin typeface="Times New Roman"/>
                <a:cs typeface="Times New Roman"/>
              </a:rPr>
              <a:t> </a:t>
            </a:r>
            <a:r>
              <a:rPr sz="1200" dirty="0">
                <a:latin typeface="Times New Roman"/>
                <a:cs typeface="Times New Roman"/>
              </a:rPr>
              <a:t>usable</a:t>
            </a:r>
            <a:r>
              <a:rPr sz="1200" spc="350" dirty="0">
                <a:latin typeface="Times New Roman"/>
                <a:cs typeface="Times New Roman"/>
              </a:rPr>
              <a:t> </a:t>
            </a:r>
            <a:r>
              <a:rPr sz="1200" dirty="0">
                <a:latin typeface="Times New Roman"/>
                <a:cs typeface="Times New Roman"/>
              </a:rPr>
              <a:t>software</a:t>
            </a:r>
            <a:r>
              <a:rPr sz="1200" spc="355" dirty="0">
                <a:latin typeface="Times New Roman"/>
                <a:cs typeface="Times New Roman"/>
              </a:rPr>
              <a:t> </a:t>
            </a:r>
            <a:r>
              <a:rPr sz="1200" dirty="0">
                <a:latin typeface="Times New Roman"/>
                <a:cs typeface="Times New Roman"/>
              </a:rPr>
              <a:t>increments</a:t>
            </a:r>
            <a:r>
              <a:rPr sz="1200" spc="355" dirty="0">
                <a:latin typeface="Times New Roman"/>
                <a:cs typeface="Times New Roman"/>
              </a:rPr>
              <a:t> </a:t>
            </a:r>
            <a:r>
              <a:rPr sz="1200" dirty="0">
                <a:latin typeface="Times New Roman"/>
                <a:cs typeface="Times New Roman"/>
              </a:rPr>
              <a:t>to</a:t>
            </a:r>
            <a:r>
              <a:rPr sz="1200" spc="360" dirty="0">
                <a:latin typeface="Times New Roman"/>
                <a:cs typeface="Times New Roman"/>
              </a:rPr>
              <a:t> </a:t>
            </a:r>
            <a:r>
              <a:rPr sz="1200" dirty="0">
                <a:latin typeface="Times New Roman"/>
                <a:cs typeface="Times New Roman"/>
              </a:rPr>
              <a:t>stakeholders</a:t>
            </a:r>
            <a:r>
              <a:rPr sz="1200" spc="365" dirty="0">
                <a:latin typeface="Times New Roman"/>
                <a:cs typeface="Times New Roman"/>
              </a:rPr>
              <a:t> </a:t>
            </a:r>
            <a:r>
              <a:rPr sz="1200" dirty="0">
                <a:latin typeface="Times New Roman"/>
                <a:cs typeface="Times New Roman"/>
              </a:rPr>
              <a:t>at</a:t>
            </a:r>
            <a:r>
              <a:rPr sz="1200" spc="360" dirty="0">
                <a:latin typeface="Times New Roman"/>
                <a:cs typeface="Times New Roman"/>
              </a:rPr>
              <a:t> </a:t>
            </a:r>
            <a:r>
              <a:rPr sz="1200" spc="-10" dirty="0">
                <a:latin typeface="Times New Roman"/>
                <a:cs typeface="Times New Roman"/>
              </a:rPr>
              <a:t>regular intervals.</a:t>
            </a:r>
            <a:endParaRPr sz="1200" dirty="0">
              <a:latin typeface="Times New Roman"/>
              <a:cs typeface="Times New Roman"/>
            </a:endParaRPr>
          </a:p>
          <a:p>
            <a:pPr marL="469265" indent="-228600">
              <a:lnSpc>
                <a:spcPct val="100000"/>
              </a:lnSpc>
              <a:spcBef>
                <a:spcPts val="465"/>
              </a:spcBef>
              <a:buSzPct val="83333"/>
              <a:buFont typeface="Symbol"/>
              <a:buChar char=""/>
              <a:tabLst>
                <a:tab pos="469265" algn="l"/>
              </a:tabLst>
            </a:pPr>
            <a:r>
              <a:rPr sz="1200" b="1" dirty="0">
                <a:latin typeface="Times New Roman"/>
                <a:cs typeface="Times New Roman"/>
              </a:rPr>
              <a:t>Feedback:</a:t>
            </a:r>
            <a:r>
              <a:rPr sz="1200" b="1" spc="-30" dirty="0">
                <a:latin typeface="Times New Roman"/>
                <a:cs typeface="Times New Roman"/>
              </a:rPr>
              <a:t> </a:t>
            </a:r>
            <a:r>
              <a:rPr sz="1200" dirty="0">
                <a:latin typeface="Times New Roman"/>
                <a:cs typeface="Times New Roman"/>
              </a:rPr>
              <a:t>Collecting</a:t>
            </a:r>
            <a:r>
              <a:rPr sz="1200" spc="-3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stakeholder</a:t>
            </a:r>
            <a:r>
              <a:rPr sz="1200" spc="-40" dirty="0">
                <a:latin typeface="Times New Roman"/>
                <a:cs typeface="Times New Roman"/>
              </a:rPr>
              <a:t> </a:t>
            </a:r>
            <a:r>
              <a:rPr sz="1200" dirty="0">
                <a:latin typeface="Times New Roman"/>
                <a:cs typeface="Times New Roman"/>
              </a:rPr>
              <a:t>input</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refine</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enhance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platform</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12700" algn="just">
              <a:lnSpc>
                <a:spcPct val="100000"/>
              </a:lnSpc>
              <a:spcBef>
                <a:spcPts val="5"/>
              </a:spcBef>
            </a:pPr>
            <a:r>
              <a:rPr sz="1200" b="1" dirty="0">
                <a:latin typeface="Times New Roman"/>
                <a:cs typeface="Times New Roman"/>
              </a:rPr>
              <a:t>Key</a:t>
            </a:r>
            <a:r>
              <a:rPr sz="1200" b="1" spc="-20" dirty="0">
                <a:latin typeface="Times New Roman"/>
                <a:cs typeface="Times New Roman"/>
              </a:rPr>
              <a:t> </a:t>
            </a:r>
            <a:r>
              <a:rPr sz="1200" b="1" dirty="0">
                <a:latin typeface="Times New Roman"/>
                <a:cs typeface="Times New Roman"/>
              </a:rPr>
              <a:t>Ideas</a:t>
            </a:r>
            <a:r>
              <a:rPr sz="1200" b="1" spc="-15"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dirty="0">
                <a:latin typeface="Times New Roman"/>
                <a:cs typeface="Times New Roman"/>
              </a:rPr>
              <a:t>Guidelines</a:t>
            </a:r>
            <a:r>
              <a:rPr sz="1200" b="1" spc="-20"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Agile</a:t>
            </a:r>
            <a:r>
              <a:rPr sz="1200" b="1" spc="-20" dirty="0">
                <a:latin typeface="Times New Roman"/>
                <a:cs typeface="Times New Roman"/>
              </a:rPr>
              <a:t> </a:t>
            </a:r>
            <a:r>
              <a:rPr sz="1200" b="1" spc="-10" dirty="0">
                <a:latin typeface="Times New Roman"/>
                <a:cs typeface="Times New Roman"/>
              </a:rPr>
              <a:t>Methodology</a:t>
            </a:r>
            <a:endParaRPr sz="1200" dirty="0">
              <a:latin typeface="Times New Roman"/>
              <a:cs typeface="Times New Roman"/>
            </a:endParaRPr>
          </a:p>
          <a:p>
            <a:pPr marL="240665">
              <a:lnSpc>
                <a:spcPct val="100000"/>
              </a:lnSpc>
              <a:spcBef>
                <a:spcPts val="1340"/>
              </a:spcBef>
            </a:pPr>
            <a:r>
              <a:rPr sz="1200" dirty="0">
                <a:latin typeface="Times New Roman"/>
                <a:cs typeface="Times New Roman"/>
              </a:rPr>
              <a:t>1.</a:t>
            </a:r>
            <a:r>
              <a:rPr sz="1200" spc="125" dirty="0">
                <a:latin typeface="Times New Roman"/>
                <a:cs typeface="Times New Roman"/>
              </a:rPr>
              <a:t>  </a:t>
            </a:r>
            <a:r>
              <a:rPr sz="1200" b="1" dirty="0">
                <a:latin typeface="Times New Roman"/>
                <a:cs typeface="Times New Roman"/>
              </a:rPr>
              <a:t>Iterative</a:t>
            </a:r>
            <a:r>
              <a:rPr sz="1200" b="1" spc="-10" dirty="0">
                <a:latin typeface="Times New Roman"/>
                <a:cs typeface="Times New Roman"/>
              </a:rPr>
              <a:t> Development</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469265" marR="5080" algn="just">
              <a:lnSpc>
                <a:spcPct val="150000"/>
              </a:lnSpc>
            </a:pPr>
            <a:r>
              <a:rPr sz="1200" dirty="0">
                <a:latin typeface="Times New Roman"/>
                <a:cs typeface="Times New Roman"/>
              </a:rPr>
              <a:t>Agile</a:t>
            </a:r>
            <a:r>
              <a:rPr sz="1200" spc="85" dirty="0">
                <a:latin typeface="Times New Roman"/>
                <a:cs typeface="Times New Roman"/>
              </a:rPr>
              <a:t> </a:t>
            </a:r>
            <a:r>
              <a:rPr sz="1200" dirty="0">
                <a:latin typeface="Times New Roman"/>
                <a:cs typeface="Times New Roman"/>
              </a:rPr>
              <a:t>divides</a:t>
            </a:r>
            <a:r>
              <a:rPr sz="1200" spc="95"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project</a:t>
            </a:r>
            <a:r>
              <a:rPr sz="1200" spc="95" dirty="0">
                <a:latin typeface="Times New Roman"/>
                <a:cs typeface="Times New Roman"/>
              </a:rPr>
              <a:t> </a:t>
            </a:r>
            <a:r>
              <a:rPr sz="1200" dirty="0">
                <a:latin typeface="Times New Roman"/>
                <a:cs typeface="Times New Roman"/>
              </a:rPr>
              <a:t>into</a:t>
            </a:r>
            <a:r>
              <a:rPr sz="1200" spc="90" dirty="0">
                <a:latin typeface="Times New Roman"/>
                <a:cs typeface="Times New Roman"/>
              </a:rPr>
              <a:t> </a:t>
            </a:r>
            <a:r>
              <a:rPr sz="1200" dirty="0">
                <a:latin typeface="Times New Roman"/>
                <a:cs typeface="Times New Roman"/>
              </a:rPr>
              <a:t>manageable</a:t>
            </a:r>
            <a:r>
              <a:rPr sz="1200" spc="90" dirty="0">
                <a:latin typeface="Times New Roman"/>
                <a:cs typeface="Times New Roman"/>
              </a:rPr>
              <a:t> </a:t>
            </a:r>
            <a:r>
              <a:rPr sz="1200" dirty="0">
                <a:latin typeface="Times New Roman"/>
                <a:cs typeface="Times New Roman"/>
              </a:rPr>
              <a:t>iterations</a:t>
            </a:r>
            <a:r>
              <a:rPr sz="1200" spc="90" dirty="0">
                <a:latin typeface="Times New Roman"/>
                <a:cs typeface="Times New Roman"/>
              </a:rPr>
              <a:t> </a:t>
            </a:r>
            <a:r>
              <a:rPr sz="1200" dirty="0">
                <a:latin typeface="Times New Roman"/>
                <a:cs typeface="Times New Roman"/>
              </a:rPr>
              <a:t>called</a:t>
            </a:r>
            <a:r>
              <a:rPr sz="1200" spc="95" dirty="0">
                <a:latin typeface="Times New Roman"/>
                <a:cs typeface="Times New Roman"/>
              </a:rPr>
              <a:t> </a:t>
            </a:r>
            <a:r>
              <a:rPr sz="1200" dirty="0">
                <a:latin typeface="Times New Roman"/>
                <a:cs typeface="Times New Roman"/>
              </a:rPr>
              <a:t>sprints,</a:t>
            </a:r>
            <a:r>
              <a:rPr sz="1200" spc="90" dirty="0">
                <a:latin typeface="Times New Roman"/>
                <a:cs typeface="Times New Roman"/>
              </a:rPr>
              <a:t> </a:t>
            </a:r>
            <a:r>
              <a:rPr sz="1200" dirty="0">
                <a:latin typeface="Times New Roman"/>
                <a:cs typeface="Times New Roman"/>
              </a:rPr>
              <a:t>typically</a:t>
            </a:r>
            <a:r>
              <a:rPr sz="1200" spc="95" dirty="0">
                <a:latin typeface="Times New Roman"/>
                <a:cs typeface="Times New Roman"/>
              </a:rPr>
              <a:t> </a:t>
            </a:r>
            <a:r>
              <a:rPr sz="1200" spc="-10" dirty="0">
                <a:latin typeface="Times New Roman"/>
                <a:cs typeface="Times New Roman"/>
              </a:rPr>
              <a:t>lasting </a:t>
            </a:r>
            <a:r>
              <a:rPr sz="1200" dirty="0">
                <a:latin typeface="Times New Roman"/>
                <a:cs typeface="Times New Roman"/>
              </a:rPr>
              <a:t>two</a:t>
            </a:r>
            <a:r>
              <a:rPr sz="1200" spc="50" dirty="0">
                <a:latin typeface="Times New Roman"/>
                <a:cs typeface="Times New Roman"/>
              </a:rPr>
              <a:t> </a:t>
            </a:r>
            <a:r>
              <a:rPr sz="1200" dirty="0">
                <a:latin typeface="Times New Roman"/>
                <a:cs typeface="Times New Roman"/>
              </a:rPr>
              <a:t>to</a:t>
            </a:r>
            <a:r>
              <a:rPr sz="1200" spc="55" dirty="0">
                <a:latin typeface="Times New Roman"/>
                <a:cs typeface="Times New Roman"/>
              </a:rPr>
              <a:t> </a:t>
            </a:r>
            <a:r>
              <a:rPr sz="1200" dirty="0">
                <a:latin typeface="Times New Roman"/>
                <a:cs typeface="Times New Roman"/>
              </a:rPr>
              <a:t>four</a:t>
            </a:r>
            <a:r>
              <a:rPr sz="1200" spc="45" dirty="0">
                <a:latin typeface="Times New Roman"/>
                <a:cs typeface="Times New Roman"/>
              </a:rPr>
              <a:t> </a:t>
            </a:r>
            <a:r>
              <a:rPr sz="1200" dirty="0">
                <a:latin typeface="Times New Roman"/>
                <a:cs typeface="Times New Roman"/>
              </a:rPr>
              <a:t>weeks.</a:t>
            </a:r>
            <a:r>
              <a:rPr sz="1200" spc="50" dirty="0">
                <a:latin typeface="Times New Roman"/>
                <a:cs typeface="Times New Roman"/>
              </a:rPr>
              <a:t> </a:t>
            </a:r>
            <a:r>
              <a:rPr sz="1200" dirty="0">
                <a:latin typeface="Times New Roman"/>
                <a:cs typeface="Times New Roman"/>
              </a:rPr>
              <a:t>Each</a:t>
            </a:r>
            <a:r>
              <a:rPr sz="1200" spc="70" dirty="0">
                <a:latin typeface="Times New Roman"/>
                <a:cs typeface="Times New Roman"/>
              </a:rPr>
              <a:t> </a:t>
            </a:r>
            <a:r>
              <a:rPr sz="1200" dirty="0">
                <a:latin typeface="Times New Roman"/>
                <a:cs typeface="Times New Roman"/>
              </a:rPr>
              <a:t>sprint</a:t>
            </a:r>
            <a:r>
              <a:rPr sz="1200" spc="55" dirty="0">
                <a:latin typeface="Times New Roman"/>
                <a:cs typeface="Times New Roman"/>
              </a:rPr>
              <a:t> </a:t>
            </a:r>
            <a:r>
              <a:rPr sz="1200" dirty="0">
                <a:latin typeface="Times New Roman"/>
                <a:cs typeface="Times New Roman"/>
              </a:rPr>
              <a:t>delivers</a:t>
            </a:r>
            <a:r>
              <a:rPr sz="1200" spc="5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functional</a:t>
            </a:r>
            <a:r>
              <a:rPr sz="1200" spc="55" dirty="0">
                <a:latin typeface="Times New Roman"/>
                <a:cs typeface="Times New Roman"/>
              </a:rPr>
              <a:t> </a:t>
            </a:r>
            <a:r>
              <a:rPr sz="1200" dirty="0">
                <a:latin typeface="Times New Roman"/>
                <a:cs typeface="Times New Roman"/>
              </a:rPr>
              <a:t>increment,</a:t>
            </a:r>
            <a:r>
              <a:rPr sz="1200" spc="50" dirty="0">
                <a:latin typeface="Times New Roman"/>
                <a:cs typeface="Times New Roman"/>
              </a:rPr>
              <a:t> </a:t>
            </a:r>
            <a:r>
              <a:rPr sz="1200" dirty="0">
                <a:latin typeface="Times New Roman"/>
                <a:cs typeface="Times New Roman"/>
              </a:rPr>
              <a:t>ensuring</a:t>
            </a:r>
            <a:r>
              <a:rPr sz="1200" spc="60" dirty="0">
                <a:latin typeface="Times New Roman"/>
                <a:cs typeface="Times New Roman"/>
              </a:rPr>
              <a:t> </a:t>
            </a:r>
            <a:r>
              <a:rPr sz="1200" spc="-10" dirty="0">
                <a:latin typeface="Times New Roman"/>
                <a:cs typeface="Times New Roman"/>
              </a:rPr>
              <a:t>continuous </a:t>
            </a:r>
            <a:r>
              <a:rPr sz="1200" dirty="0">
                <a:latin typeface="Times New Roman"/>
                <a:cs typeface="Times New Roman"/>
              </a:rPr>
              <a:t>progress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integration</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early</a:t>
            </a:r>
            <a:r>
              <a:rPr sz="1200" spc="-25" dirty="0">
                <a:latin typeface="Times New Roman"/>
                <a:cs typeface="Times New Roman"/>
              </a:rPr>
              <a:t> </a:t>
            </a:r>
            <a:r>
              <a:rPr sz="1200" spc="-10" dirty="0">
                <a:latin typeface="Times New Roman"/>
                <a:cs typeface="Times New Roman"/>
              </a:rPr>
              <a:t>feedback.</a:t>
            </a:r>
            <a:endParaRPr sz="12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8</a:t>
            </a:r>
          </a:p>
        </p:txBody>
      </p:sp>
      <p:sp>
        <p:nvSpPr>
          <p:cNvPr id="2" name="object 2"/>
          <p:cNvSpPr txBox="1"/>
          <p:nvPr/>
        </p:nvSpPr>
        <p:spPr>
          <a:xfrm>
            <a:off x="1176324" y="891285"/>
            <a:ext cx="5695315" cy="7425174"/>
          </a:xfrm>
          <a:prstGeom prst="rect">
            <a:avLst/>
          </a:prstGeom>
        </p:spPr>
        <p:txBody>
          <a:bodyPr vert="horz" wrap="square" lIns="0" tIns="12700" rIns="0" bIns="0" rtlCol="0">
            <a:spAutoFit/>
          </a:bodyPr>
          <a:lstStyle/>
          <a:p>
            <a:pPr marL="469265" indent="-228600">
              <a:spcBef>
                <a:spcPts val="100"/>
              </a:spcBef>
              <a:buFont typeface="Times New Roman"/>
              <a:buAutoNum type="arabicPeriod" startAt="2"/>
              <a:tabLst>
                <a:tab pos="469265" algn="l"/>
              </a:tabLst>
            </a:pPr>
            <a:r>
              <a:rPr sz="1200" b="1" spc="-10" dirty="0">
                <a:latin typeface="Times New Roman"/>
                <a:cs typeface="Times New Roman"/>
              </a:rPr>
              <a:t>Cross-</a:t>
            </a:r>
            <a:r>
              <a:rPr sz="1200" b="1" dirty="0">
                <a:latin typeface="Times New Roman"/>
                <a:cs typeface="Times New Roman"/>
              </a:rPr>
              <a:t>Functional</a:t>
            </a:r>
            <a:r>
              <a:rPr sz="1200" b="1" spc="5" dirty="0">
                <a:latin typeface="Times New Roman"/>
                <a:cs typeface="Times New Roman"/>
              </a:rPr>
              <a:t> </a:t>
            </a:r>
            <a:r>
              <a:rPr sz="1200" b="1" spc="-20" dirty="0">
                <a:latin typeface="Times New Roman"/>
                <a:cs typeface="Times New Roman"/>
              </a:rPr>
              <a:t>Team</a:t>
            </a:r>
            <a:endParaRPr sz="1200" dirty="0">
              <a:latin typeface="Times New Roman"/>
              <a:cs typeface="Times New Roman"/>
            </a:endParaRPr>
          </a:p>
          <a:p>
            <a:pPr>
              <a:spcBef>
                <a:spcPts val="60"/>
              </a:spcBef>
            </a:pPr>
            <a:endParaRPr sz="1200" dirty="0">
              <a:latin typeface="Times New Roman"/>
              <a:cs typeface="Times New Roman"/>
            </a:endParaRPr>
          </a:p>
          <a:p>
            <a:pPr marL="469265" marR="5715" algn="just"/>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development</a:t>
            </a:r>
            <a:r>
              <a:rPr sz="1200" spc="-15" dirty="0">
                <a:latin typeface="Times New Roman"/>
                <a:cs typeface="Times New Roman"/>
              </a:rPr>
              <a:t> </a:t>
            </a:r>
            <a:r>
              <a:rPr sz="1200" dirty="0">
                <a:latin typeface="Times New Roman"/>
                <a:cs typeface="Times New Roman"/>
              </a:rPr>
              <a:t>team</a:t>
            </a:r>
            <a:r>
              <a:rPr sz="1200" spc="-2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composed</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skilled</a:t>
            </a:r>
            <a:r>
              <a:rPr sz="1200" spc="-20" dirty="0">
                <a:latin typeface="Times New Roman"/>
                <a:cs typeface="Times New Roman"/>
              </a:rPr>
              <a:t> </a:t>
            </a:r>
            <a:r>
              <a:rPr sz="1200" dirty="0">
                <a:latin typeface="Times New Roman"/>
                <a:cs typeface="Times New Roman"/>
              </a:rPr>
              <a:t>professionals</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AI,</a:t>
            </a:r>
            <a:r>
              <a:rPr sz="1200" spc="-15" dirty="0">
                <a:latin typeface="Times New Roman"/>
                <a:cs typeface="Times New Roman"/>
              </a:rPr>
              <a:t> </a:t>
            </a:r>
            <a:r>
              <a:rPr sz="1200" dirty="0">
                <a:latin typeface="Times New Roman"/>
                <a:cs typeface="Times New Roman"/>
              </a:rPr>
              <a:t>web</a:t>
            </a:r>
            <a:r>
              <a:rPr sz="1200" spc="-15" dirty="0">
                <a:latin typeface="Times New Roman"/>
                <a:cs typeface="Times New Roman"/>
              </a:rPr>
              <a:t> </a:t>
            </a:r>
            <a:r>
              <a:rPr sz="1200" spc="-10" dirty="0">
                <a:latin typeface="Times New Roman"/>
                <a:cs typeface="Times New Roman"/>
              </a:rPr>
              <a:t>development, database</a:t>
            </a:r>
            <a:r>
              <a:rPr sz="1200" spc="-50"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security.</a:t>
            </a:r>
            <a:r>
              <a:rPr sz="1200" spc="-4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structure</a:t>
            </a:r>
            <a:r>
              <a:rPr sz="1200" spc="-35" dirty="0">
                <a:latin typeface="Times New Roman"/>
                <a:cs typeface="Times New Roman"/>
              </a:rPr>
              <a:t> </a:t>
            </a:r>
            <a:r>
              <a:rPr sz="1200" dirty="0">
                <a:latin typeface="Times New Roman"/>
                <a:cs typeface="Times New Roman"/>
              </a:rPr>
              <a:t>encourages</a:t>
            </a:r>
            <a:r>
              <a:rPr sz="1200" spc="-45" dirty="0">
                <a:latin typeface="Times New Roman"/>
                <a:cs typeface="Times New Roman"/>
              </a:rPr>
              <a:t> </a:t>
            </a:r>
            <a:r>
              <a:rPr sz="1200" dirty="0">
                <a:latin typeface="Times New Roman"/>
                <a:cs typeface="Times New Roman"/>
              </a:rPr>
              <a:t>seamless</a:t>
            </a:r>
            <a:r>
              <a:rPr sz="1200" spc="-40" dirty="0">
                <a:latin typeface="Times New Roman"/>
                <a:cs typeface="Times New Roman"/>
              </a:rPr>
              <a:t> </a:t>
            </a:r>
            <a:r>
              <a:rPr sz="1200" spc="-10" dirty="0">
                <a:latin typeface="Times New Roman"/>
                <a:cs typeface="Times New Roman"/>
              </a:rPr>
              <a:t>collaboration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team</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adapt</a:t>
            </a:r>
            <a:r>
              <a:rPr sz="1200" spc="-25" dirty="0">
                <a:latin typeface="Times New Roman"/>
                <a:cs typeface="Times New Roman"/>
              </a:rPr>
              <a:t> </a:t>
            </a:r>
            <a:r>
              <a:rPr sz="1200" dirty="0">
                <a:latin typeface="Times New Roman"/>
                <a:cs typeface="Times New Roman"/>
              </a:rPr>
              <a:t>quickly</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changing</a:t>
            </a:r>
            <a:r>
              <a:rPr sz="1200" spc="-25" dirty="0">
                <a:latin typeface="Times New Roman"/>
                <a:cs typeface="Times New Roman"/>
              </a:rPr>
              <a:t> </a:t>
            </a:r>
            <a:r>
              <a:rPr sz="1200" spc="-10" dirty="0">
                <a:latin typeface="Times New Roman"/>
                <a:cs typeface="Times New Roman"/>
              </a:rPr>
              <a:t>requirements.</a:t>
            </a:r>
            <a:endParaRPr sz="1200" dirty="0">
              <a:latin typeface="Times New Roman"/>
              <a:cs typeface="Times New Roman"/>
            </a:endParaRPr>
          </a:p>
          <a:p>
            <a:pPr marL="469265" indent="-228600">
              <a:spcBef>
                <a:spcPts val="1295"/>
              </a:spcBef>
              <a:buFont typeface="Times New Roman"/>
              <a:buAutoNum type="arabicPeriod" startAt="3"/>
              <a:tabLst>
                <a:tab pos="469265" algn="l"/>
              </a:tabLst>
            </a:pPr>
            <a:r>
              <a:rPr sz="1200" b="1" dirty="0">
                <a:latin typeface="Times New Roman"/>
                <a:cs typeface="Times New Roman"/>
              </a:rPr>
              <a:t>Product</a:t>
            </a:r>
            <a:r>
              <a:rPr sz="1200" b="1" spc="-40" dirty="0">
                <a:latin typeface="Times New Roman"/>
                <a:cs typeface="Times New Roman"/>
              </a:rPr>
              <a:t> </a:t>
            </a:r>
            <a:r>
              <a:rPr sz="1200" b="1" spc="-10" dirty="0">
                <a:latin typeface="Times New Roman"/>
                <a:cs typeface="Times New Roman"/>
              </a:rPr>
              <a:t>Backlog</a:t>
            </a:r>
            <a:endParaRPr sz="1200" dirty="0">
              <a:latin typeface="Times New Roman"/>
              <a:cs typeface="Times New Roman"/>
            </a:endParaRPr>
          </a:p>
          <a:p>
            <a:pPr>
              <a:spcBef>
                <a:spcPts val="20"/>
              </a:spcBef>
              <a:buFont typeface="Times New Roman"/>
              <a:buAutoNum type="arabicPeriod" startAt="3"/>
            </a:pPr>
            <a:endParaRPr sz="1200" dirty="0">
              <a:latin typeface="Times New Roman"/>
              <a:cs typeface="Times New Roman"/>
            </a:endParaRPr>
          </a:p>
          <a:p>
            <a:pPr marL="469265" marR="6985" algn="just">
              <a:spcBef>
                <a:spcPts val="5"/>
              </a:spcBef>
            </a:pP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product</a:t>
            </a:r>
            <a:r>
              <a:rPr sz="1200" spc="-30" dirty="0">
                <a:latin typeface="Times New Roman"/>
                <a:cs typeface="Times New Roman"/>
              </a:rPr>
              <a:t> </a:t>
            </a:r>
            <a:r>
              <a:rPr sz="1200" dirty="0">
                <a:latin typeface="Times New Roman"/>
                <a:cs typeface="Times New Roman"/>
              </a:rPr>
              <a:t>backlog</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prioritized</a:t>
            </a:r>
            <a:r>
              <a:rPr sz="1200" spc="-35" dirty="0">
                <a:latin typeface="Times New Roman"/>
                <a:cs typeface="Times New Roman"/>
              </a:rPr>
              <a:t> </a:t>
            </a:r>
            <a:r>
              <a:rPr sz="1200" dirty="0">
                <a:latin typeface="Times New Roman"/>
                <a:cs typeface="Times New Roman"/>
              </a:rPr>
              <a:t>list</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tasks,</a:t>
            </a:r>
            <a:r>
              <a:rPr sz="1200" spc="-35" dirty="0">
                <a:latin typeface="Times New Roman"/>
                <a:cs typeface="Times New Roman"/>
              </a:rPr>
              <a:t> </a:t>
            </a:r>
            <a:r>
              <a:rPr sz="1200" spc="-10" dirty="0">
                <a:latin typeface="Times New Roman"/>
                <a:cs typeface="Times New Roman"/>
              </a:rPr>
              <a:t>features,</a:t>
            </a:r>
            <a:r>
              <a:rPr sz="1200" spc="-3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stories</a:t>
            </a:r>
            <a:r>
              <a:rPr sz="1200" spc="-35" dirty="0">
                <a:latin typeface="Times New Roman"/>
                <a:cs typeface="Times New Roman"/>
              </a:rPr>
              <a:t> </a:t>
            </a:r>
            <a:r>
              <a:rPr sz="1200" spc="-10" dirty="0">
                <a:latin typeface="Times New Roman"/>
                <a:cs typeface="Times New Roman"/>
              </a:rPr>
              <a:t>maintained</a:t>
            </a:r>
            <a:r>
              <a:rPr sz="1200" spc="-35" dirty="0">
                <a:latin typeface="Times New Roman"/>
                <a:cs typeface="Times New Roman"/>
              </a:rPr>
              <a:t> </a:t>
            </a:r>
            <a:r>
              <a:rPr sz="1200" spc="-25" dirty="0">
                <a:latin typeface="Times New Roman"/>
                <a:cs typeface="Times New Roman"/>
              </a:rPr>
              <a:t>by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product owner. It serves</a:t>
            </a:r>
            <a:r>
              <a:rPr sz="1200" spc="-5" dirty="0">
                <a:latin typeface="Times New Roman"/>
                <a:cs typeface="Times New Roman"/>
              </a:rPr>
              <a:t> </a:t>
            </a:r>
            <a:r>
              <a:rPr sz="1200" dirty="0">
                <a:latin typeface="Times New Roman"/>
                <a:cs typeface="Times New Roman"/>
              </a:rPr>
              <a:t>as the central</a:t>
            </a:r>
            <a:r>
              <a:rPr sz="1200" spc="20" dirty="0">
                <a:latin typeface="Times New Roman"/>
                <a:cs typeface="Times New Roman"/>
              </a:rPr>
              <a:t> </a:t>
            </a:r>
            <a:r>
              <a:rPr sz="1200" dirty="0">
                <a:latin typeface="Times New Roman"/>
                <a:cs typeface="Times New Roman"/>
              </a:rPr>
              <a:t>source</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work</a:t>
            </a:r>
            <a:r>
              <a:rPr sz="1200" spc="-5" dirty="0">
                <a:latin typeface="Times New Roman"/>
                <a:cs typeface="Times New Roman"/>
              </a:rPr>
              <a:t> </a:t>
            </a:r>
            <a:r>
              <a:rPr sz="1200" dirty="0">
                <a:latin typeface="Times New Roman"/>
                <a:cs typeface="Times New Roman"/>
              </a:rPr>
              <a:t>items and</a:t>
            </a:r>
            <a:r>
              <a:rPr sz="1200" spc="5" dirty="0">
                <a:latin typeface="Times New Roman"/>
                <a:cs typeface="Times New Roman"/>
              </a:rPr>
              <a:t> </a:t>
            </a:r>
            <a:r>
              <a:rPr sz="1200" dirty="0">
                <a:latin typeface="Times New Roman"/>
                <a:cs typeface="Times New Roman"/>
              </a:rPr>
              <a:t>requirements</a:t>
            </a:r>
            <a:r>
              <a:rPr sz="1200" spc="-5" dirty="0">
                <a:latin typeface="Times New Roman"/>
                <a:cs typeface="Times New Roman"/>
              </a:rPr>
              <a:t> </a:t>
            </a:r>
            <a:r>
              <a:rPr sz="1200" spc="-25" dirty="0">
                <a:latin typeface="Times New Roman"/>
                <a:cs typeface="Times New Roman"/>
              </a:rPr>
              <a:t>for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development</a:t>
            </a:r>
            <a:r>
              <a:rPr sz="1200" spc="5" dirty="0">
                <a:latin typeface="Times New Roman"/>
                <a:cs typeface="Times New Roman"/>
              </a:rPr>
              <a:t> </a:t>
            </a:r>
            <a:r>
              <a:rPr sz="1200" spc="-10" dirty="0">
                <a:latin typeface="Times New Roman"/>
                <a:cs typeface="Times New Roman"/>
              </a:rPr>
              <a:t>team.</a:t>
            </a:r>
            <a:endParaRPr sz="1200" dirty="0">
              <a:latin typeface="Times New Roman"/>
              <a:cs typeface="Times New Roman"/>
            </a:endParaRPr>
          </a:p>
          <a:p>
            <a:pPr marL="469265" indent="-228600">
              <a:spcBef>
                <a:spcPts val="1340"/>
              </a:spcBef>
              <a:buFont typeface="Times New Roman"/>
              <a:buAutoNum type="arabicPeriod" startAt="4"/>
              <a:tabLst>
                <a:tab pos="469265" algn="l"/>
              </a:tabLst>
            </a:pPr>
            <a:r>
              <a:rPr sz="1200" b="1" dirty="0">
                <a:latin typeface="Times New Roman"/>
                <a:cs typeface="Times New Roman"/>
              </a:rPr>
              <a:t>User</a:t>
            </a:r>
            <a:r>
              <a:rPr sz="1200" b="1" spc="-25" dirty="0">
                <a:latin typeface="Times New Roman"/>
                <a:cs typeface="Times New Roman"/>
              </a:rPr>
              <a:t> </a:t>
            </a:r>
            <a:r>
              <a:rPr sz="1200" b="1" spc="-10" dirty="0">
                <a:latin typeface="Times New Roman"/>
                <a:cs typeface="Times New Roman"/>
              </a:rPr>
              <a:t>Stories</a:t>
            </a:r>
            <a:endParaRPr lang="en-US" sz="1200" dirty="0">
              <a:latin typeface="Times New Roman"/>
              <a:cs typeface="Times New Roman"/>
            </a:endParaRPr>
          </a:p>
          <a:p>
            <a:pPr>
              <a:spcBef>
                <a:spcPts val="50"/>
              </a:spcBef>
            </a:pPr>
            <a:endParaRPr lang="en-US" sz="1200" dirty="0">
              <a:latin typeface="Times New Roman"/>
              <a:cs typeface="Times New Roman"/>
            </a:endParaRPr>
          </a:p>
          <a:p>
            <a:pPr marL="469265" marR="6985" algn="just"/>
            <a:r>
              <a:rPr sz="1200" dirty="0">
                <a:latin typeface="Times New Roman"/>
                <a:cs typeface="Times New Roman"/>
              </a:rPr>
              <a:t>User</a:t>
            </a:r>
            <a:r>
              <a:rPr sz="1200" spc="70" dirty="0">
                <a:latin typeface="Times New Roman"/>
                <a:cs typeface="Times New Roman"/>
              </a:rPr>
              <a:t> </a:t>
            </a:r>
            <a:r>
              <a:rPr sz="1200" dirty="0">
                <a:latin typeface="Times New Roman"/>
                <a:cs typeface="Times New Roman"/>
              </a:rPr>
              <a:t>stories</a:t>
            </a:r>
            <a:r>
              <a:rPr sz="1200" spc="90" dirty="0">
                <a:latin typeface="Times New Roman"/>
                <a:cs typeface="Times New Roman"/>
              </a:rPr>
              <a:t> </a:t>
            </a:r>
            <a:r>
              <a:rPr sz="1200" dirty="0">
                <a:latin typeface="Times New Roman"/>
                <a:cs typeface="Times New Roman"/>
              </a:rPr>
              <a:t>are</a:t>
            </a:r>
            <a:r>
              <a:rPr sz="1200" spc="75" dirty="0">
                <a:latin typeface="Times New Roman"/>
                <a:cs typeface="Times New Roman"/>
              </a:rPr>
              <a:t> </a:t>
            </a:r>
            <a:r>
              <a:rPr sz="1200" dirty="0">
                <a:latin typeface="Times New Roman"/>
                <a:cs typeface="Times New Roman"/>
              </a:rPr>
              <a:t>short,</a:t>
            </a:r>
            <a:r>
              <a:rPr sz="1200" spc="75" dirty="0">
                <a:latin typeface="Times New Roman"/>
                <a:cs typeface="Times New Roman"/>
              </a:rPr>
              <a:t> </a:t>
            </a:r>
            <a:r>
              <a:rPr sz="1200" spc="-10" dirty="0">
                <a:latin typeface="Times New Roman"/>
                <a:cs typeface="Times New Roman"/>
              </a:rPr>
              <a:t>user-</a:t>
            </a:r>
            <a:r>
              <a:rPr sz="1200" dirty="0">
                <a:latin typeface="Times New Roman"/>
                <a:cs typeface="Times New Roman"/>
              </a:rPr>
              <a:t>focused</a:t>
            </a:r>
            <a:r>
              <a:rPr sz="1200" spc="80" dirty="0">
                <a:latin typeface="Times New Roman"/>
                <a:cs typeface="Times New Roman"/>
              </a:rPr>
              <a:t> </a:t>
            </a:r>
            <a:r>
              <a:rPr sz="1200" dirty="0">
                <a:latin typeface="Times New Roman"/>
                <a:cs typeface="Times New Roman"/>
              </a:rPr>
              <a:t>descriptions</a:t>
            </a:r>
            <a:r>
              <a:rPr sz="1200" spc="95"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desired</a:t>
            </a:r>
            <a:r>
              <a:rPr sz="1200" spc="90" dirty="0">
                <a:latin typeface="Times New Roman"/>
                <a:cs typeface="Times New Roman"/>
              </a:rPr>
              <a:t> </a:t>
            </a:r>
            <a:r>
              <a:rPr sz="1200" dirty="0">
                <a:latin typeface="Times New Roman"/>
                <a:cs typeface="Times New Roman"/>
              </a:rPr>
              <a:t>functionality.</a:t>
            </a:r>
            <a:r>
              <a:rPr sz="1200" spc="90" dirty="0">
                <a:latin typeface="Times New Roman"/>
                <a:cs typeface="Times New Roman"/>
              </a:rPr>
              <a:t> </a:t>
            </a:r>
            <a:r>
              <a:rPr sz="1200" dirty="0">
                <a:latin typeface="Times New Roman"/>
                <a:cs typeface="Times New Roman"/>
              </a:rPr>
              <a:t>They</a:t>
            </a:r>
            <a:r>
              <a:rPr sz="1200" spc="80" dirty="0">
                <a:latin typeface="Times New Roman"/>
                <a:cs typeface="Times New Roman"/>
              </a:rPr>
              <a:t> </a:t>
            </a:r>
            <a:r>
              <a:rPr sz="1200" spc="-20" dirty="0">
                <a:latin typeface="Times New Roman"/>
                <a:cs typeface="Times New Roman"/>
              </a:rPr>
              <a:t>help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team</a:t>
            </a:r>
            <a:r>
              <a:rPr sz="1200" spc="90" dirty="0">
                <a:latin typeface="Times New Roman"/>
                <a:cs typeface="Times New Roman"/>
              </a:rPr>
              <a:t> </a:t>
            </a:r>
            <a:r>
              <a:rPr sz="1200" dirty="0">
                <a:latin typeface="Times New Roman"/>
                <a:cs typeface="Times New Roman"/>
              </a:rPr>
              <a:t>stay</a:t>
            </a:r>
            <a:r>
              <a:rPr sz="1200" spc="85" dirty="0">
                <a:latin typeface="Times New Roman"/>
                <a:cs typeface="Times New Roman"/>
              </a:rPr>
              <a:t> </a:t>
            </a:r>
            <a:r>
              <a:rPr sz="1200" dirty="0">
                <a:latin typeface="Times New Roman"/>
                <a:cs typeface="Times New Roman"/>
              </a:rPr>
              <a:t>aligned</a:t>
            </a:r>
            <a:r>
              <a:rPr sz="1200" spc="85" dirty="0">
                <a:latin typeface="Times New Roman"/>
                <a:cs typeface="Times New Roman"/>
              </a:rPr>
              <a:t> </a:t>
            </a:r>
            <a:r>
              <a:rPr sz="1200" dirty="0">
                <a:latin typeface="Times New Roman"/>
                <a:cs typeface="Times New Roman"/>
              </a:rPr>
              <a:t>with</a:t>
            </a:r>
            <a:r>
              <a:rPr sz="1200" spc="90" dirty="0">
                <a:latin typeface="Times New Roman"/>
                <a:cs typeface="Times New Roman"/>
              </a:rPr>
              <a:t> </a:t>
            </a:r>
            <a:r>
              <a:rPr sz="1200" dirty="0">
                <a:latin typeface="Times New Roman"/>
                <a:cs typeface="Times New Roman"/>
              </a:rPr>
              <a:t>user</a:t>
            </a:r>
            <a:r>
              <a:rPr sz="1200" spc="85" dirty="0">
                <a:latin typeface="Times New Roman"/>
                <a:cs typeface="Times New Roman"/>
              </a:rPr>
              <a:t> </a:t>
            </a:r>
            <a:r>
              <a:rPr sz="1200" dirty="0">
                <a:latin typeface="Times New Roman"/>
                <a:cs typeface="Times New Roman"/>
              </a:rPr>
              <a:t>needs</a:t>
            </a:r>
            <a:r>
              <a:rPr sz="1200" spc="90"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dirty="0">
                <a:latin typeface="Times New Roman"/>
                <a:cs typeface="Times New Roman"/>
              </a:rPr>
              <a:t>ensure</a:t>
            </a:r>
            <a:r>
              <a:rPr sz="1200" spc="90"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development</a:t>
            </a:r>
            <a:r>
              <a:rPr sz="1200" spc="90" dirty="0">
                <a:latin typeface="Times New Roman"/>
                <a:cs typeface="Times New Roman"/>
              </a:rPr>
              <a:t> </a:t>
            </a:r>
            <a:r>
              <a:rPr sz="1200" dirty="0">
                <a:latin typeface="Times New Roman"/>
                <a:cs typeface="Times New Roman"/>
              </a:rPr>
              <a:t>process</a:t>
            </a:r>
            <a:r>
              <a:rPr sz="1200" spc="90" dirty="0">
                <a:latin typeface="Times New Roman"/>
                <a:cs typeface="Times New Roman"/>
              </a:rPr>
              <a:t> </a:t>
            </a:r>
            <a:r>
              <a:rPr sz="1200" spc="-10" dirty="0">
                <a:latin typeface="Times New Roman"/>
                <a:cs typeface="Times New Roman"/>
              </a:rPr>
              <a:t>remains value-</a:t>
            </a:r>
            <a:r>
              <a:rPr sz="1200" dirty="0">
                <a:latin typeface="Times New Roman"/>
                <a:cs typeface="Times New Roman"/>
              </a:rPr>
              <a:t>driven</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efficient.</a:t>
            </a:r>
            <a:endParaRPr sz="1200" dirty="0">
              <a:latin typeface="Times New Roman"/>
              <a:cs typeface="Times New Roman"/>
            </a:endParaRPr>
          </a:p>
          <a:p>
            <a:pPr marL="469265" indent="-228600">
              <a:spcBef>
                <a:spcPts val="1310"/>
              </a:spcBef>
              <a:buFont typeface="Times New Roman"/>
              <a:buAutoNum type="arabicPeriod" startAt="5"/>
              <a:tabLst>
                <a:tab pos="469265" algn="l"/>
              </a:tabLst>
            </a:pPr>
            <a:r>
              <a:rPr sz="1200" b="1" dirty="0">
                <a:latin typeface="Times New Roman"/>
                <a:cs typeface="Times New Roman"/>
              </a:rPr>
              <a:t>Continuous</a:t>
            </a:r>
            <a:r>
              <a:rPr sz="1200" b="1" spc="-20" dirty="0">
                <a:latin typeface="Times New Roman"/>
                <a:cs typeface="Times New Roman"/>
              </a:rPr>
              <a:t> </a:t>
            </a:r>
            <a:r>
              <a:rPr sz="1200" b="1" dirty="0">
                <a:latin typeface="Times New Roman"/>
                <a:cs typeface="Times New Roman"/>
              </a:rPr>
              <a:t>Integration</a:t>
            </a:r>
            <a:r>
              <a:rPr sz="1200" b="1" spc="-15"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Delivery</a:t>
            </a:r>
            <a:endParaRPr sz="1200" dirty="0">
              <a:latin typeface="Times New Roman"/>
              <a:cs typeface="Times New Roman"/>
            </a:endParaRPr>
          </a:p>
          <a:p>
            <a:pPr>
              <a:spcBef>
                <a:spcPts val="50"/>
              </a:spcBef>
            </a:pPr>
            <a:endParaRPr sz="1200" dirty="0">
              <a:latin typeface="Times New Roman"/>
              <a:cs typeface="Times New Roman"/>
            </a:endParaRPr>
          </a:p>
          <a:p>
            <a:pPr marL="469265" marR="10160" algn="just"/>
            <a:r>
              <a:rPr sz="1200" dirty="0">
                <a:latin typeface="Times New Roman"/>
                <a:cs typeface="Times New Roman"/>
              </a:rPr>
              <a:t>New</a:t>
            </a:r>
            <a:r>
              <a:rPr sz="1200" spc="60" dirty="0">
                <a:latin typeface="Times New Roman"/>
                <a:cs typeface="Times New Roman"/>
              </a:rPr>
              <a:t> </a:t>
            </a:r>
            <a:r>
              <a:rPr sz="1200" dirty="0">
                <a:latin typeface="Times New Roman"/>
                <a:cs typeface="Times New Roman"/>
              </a:rPr>
              <a:t>code</a:t>
            </a:r>
            <a:r>
              <a:rPr sz="1200" spc="65" dirty="0">
                <a:latin typeface="Times New Roman"/>
                <a:cs typeface="Times New Roman"/>
              </a:rPr>
              <a:t> </a:t>
            </a:r>
            <a:r>
              <a:rPr sz="1200" dirty="0">
                <a:latin typeface="Times New Roman"/>
                <a:cs typeface="Times New Roman"/>
              </a:rPr>
              <a:t>is</a:t>
            </a:r>
            <a:r>
              <a:rPr sz="1200" spc="70" dirty="0">
                <a:latin typeface="Times New Roman"/>
                <a:cs typeface="Times New Roman"/>
              </a:rPr>
              <a:t> </a:t>
            </a:r>
            <a:r>
              <a:rPr sz="1200" dirty="0">
                <a:latin typeface="Times New Roman"/>
                <a:cs typeface="Times New Roman"/>
              </a:rPr>
              <a:t>integrated</a:t>
            </a:r>
            <a:r>
              <a:rPr sz="1200" spc="60"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deployed</a:t>
            </a:r>
            <a:r>
              <a:rPr sz="1200" spc="65" dirty="0">
                <a:latin typeface="Times New Roman"/>
                <a:cs typeface="Times New Roman"/>
              </a:rPr>
              <a:t> </a:t>
            </a:r>
            <a:r>
              <a:rPr sz="1200" dirty="0">
                <a:latin typeface="Times New Roman"/>
                <a:cs typeface="Times New Roman"/>
              </a:rPr>
              <a:t>frequently,</a:t>
            </a:r>
            <a:r>
              <a:rPr sz="1200" spc="75" dirty="0">
                <a:latin typeface="Times New Roman"/>
                <a:cs typeface="Times New Roman"/>
              </a:rPr>
              <a:t> </a:t>
            </a:r>
            <a:r>
              <a:rPr sz="1200" dirty="0">
                <a:latin typeface="Times New Roman"/>
                <a:cs typeface="Times New Roman"/>
              </a:rPr>
              <a:t>allowing</a:t>
            </a:r>
            <a:r>
              <a:rPr sz="1200" spc="65" dirty="0">
                <a:latin typeface="Times New Roman"/>
                <a:cs typeface="Times New Roman"/>
              </a:rPr>
              <a:t> </a:t>
            </a:r>
            <a:r>
              <a:rPr sz="1200" dirty="0">
                <a:latin typeface="Times New Roman"/>
                <a:cs typeface="Times New Roman"/>
              </a:rPr>
              <a:t>early</a:t>
            </a:r>
            <a:r>
              <a:rPr sz="1200" spc="65" dirty="0">
                <a:latin typeface="Times New Roman"/>
                <a:cs typeface="Times New Roman"/>
              </a:rPr>
              <a:t> </a:t>
            </a:r>
            <a:r>
              <a:rPr sz="1200" dirty="0">
                <a:latin typeface="Times New Roman"/>
                <a:cs typeface="Times New Roman"/>
              </a:rPr>
              <a:t>detection</a:t>
            </a:r>
            <a:r>
              <a:rPr sz="1200" spc="75" dirty="0">
                <a:latin typeface="Times New Roman"/>
                <a:cs typeface="Times New Roman"/>
              </a:rPr>
              <a:t> </a:t>
            </a:r>
            <a:r>
              <a:rPr sz="1200" dirty="0">
                <a:latin typeface="Times New Roman"/>
                <a:cs typeface="Times New Roman"/>
              </a:rPr>
              <a:t>of</a:t>
            </a:r>
            <a:r>
              <a:rPr sz="1200" spc="65" dirty="0">
                <a:latin typeface="Times New Roman"/>
                <a:cs typeface="Times New Roman"/>
              </a:rPr>
              <a:t> </a:t>
            </a:r>
            <a:r>
              <a:rPr sz="1200" spc="-10" dirty="0">
                <a:latin typeface="Times New Roman"/>
                <a:cs typeface="Times New Roman"/>
              </a:rPr>
              <a:t>issues. </a:t>
            </a:r>
            <a:r>
              <a:rPr sz="1200" dirty="0">
                <a:latin typeface="Times New Roman"/>
                <a:cs typeface="Times New Roman"/>
              </a:rPr>
              <a:t>This</a:t>
            </a:r>
            <a:r>
              <a:rPr sz="1200" spc="195" dirty="0">
                <a:latin typeface="Times New Roman"/>
                <a:cs typeface="Times New Roman"/>
              </a:rPr>
              <a:t> </a:t>
            </a:r>
            <a:r>
              <a:rPr sz="1200" dirty="0">
                <a:latin typeface="Times New Roman"/>
                <a:cs typeface="Times New Roman"/>
              </a:rPr>
              <a:t>practice</a:t>
            </a:r>
            <a:r>
              <a:rPr sz="1200" spc="195" dirty="0">
                <a:latin typeface="Times New Roman"/>
                <a:cs typeface="Times New Roman"/>
              </a:rPr>
              <a:t> </a:t>
            </a:r>
            <a:r>
              <a:rPr sz="1200" dirty="0">
                <a:latin typeface="Times New Roman"/>
                <a:cs typeface="Times New Roman"/>
              </a:rPr>
              <a:t>ensures</a:t>
            </a:r>
            <a:r>
              <a:rPr sz="1200" spc="210" dirty="0">
                <a:latin typeface="Times New Roman"/>
                <a:cs typeface="Times New Roman"/>
              </a:rPr>
              <a:t> </a:t>
            </a:r>
            <a:r>
              <a:rPr sz="1200" dirty="0">
                <a:latin typeface="Times New Roman"/>
                <a:cs typeface="Times New Roman"/>
              </a:rPr>
              <a:t>a</a:t>
            </a:r>
            <a:r>
              <a:rPr sz="1200" spc="200" dirty="0">
                <a:latin typeface="Times New Roman"/>
                <a:cs typeface="Times New Roman"/>
              </a:rPr>
              <a:t> </a:t>
            </a:r>
            <a:r>
              <a:rPr sz="1200" dirty="0">
                <a:latin typeface="Times New Roman"/>
                <a:cs typeface="Times New Roman"/>
              </a:rPr>
              <a:t>stable</a:t>
            </a:r>
            <a:r>
              <a:rPr sz="1200" spc="195" dirty="0">
                <a:latin typeface="Times New Roman"/>
                <a:cs typeface="Times New Roman"/>
              </a:rPr>
              <a:t> </a:t>
            </a:r>
            <a:r>
              <a:rPr sz="1200" dirty="0">
                <a:latin typeface="Times New Roman"/>
                <a:cs typeface="Times New Roman"/>
              </a:rPr>
              <a:t>development</a:t>
            </a:r>
            <a:r>
              <a:rPr sz="1200" spc="210" dirty="0">
                <a:latin typeface="Times New Roman"/>
                <a:cs typeface="Times New Roman"/>
              </a:rPr>
              <a:t> </a:t>
            </a:r>
            <a:r>
              <a:rPr sz="1200" dirty="0">
                <a:latin typeface="Times New Roman"/>
                <a:cs typeface="Times New Roman"/>
              </a:rPr>
              <a:t>process,</a:t>
            </a:r>
            <a:r>
              <a:rPr sz="1200" spc="200" dirty="0">
                <a:latin typeface="Times New Roman"/>
                <a:cs typeface="Times New Roman"/>
              </a:rPr>
              <a:t> </a:t>
            </a:r>
            <a:r>
              <a:rPr sz="1200" dirty="0">
                <a:latin typeface="Times New Roman"/>
                <a:cs typeface="Times New Roman"/>
              </a:rPr>
              <a:t>reduces</a:t>
            </a:r>
            <a:r>
              <a:rPr sz="1200" spc="210" dirty="0">
                <a:latin typeface="Times New Roman"/>
                <a:cs typeface="Times New Roman"/>
              </a:rPr>
              <a:t> </a:t>
            </a:r>
            <a:r>
              <a:rPr sz="1200" dirty="0">
                <a:latin typeface="Times New Roman"/>
                <a:cs typeface="Times New Roman"/>
              </a:rPr>
              <a:t>risk,</a:t>
            </a:r>
            <a:r>
              <a:rPr sz="1200" spc="195"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spc="-10" dirty="0">
                <a:latin typeface="Times New Roman"/>
                <a:cs typeface="Times New Roman"/>
              </a:rPr>
              <a:t>accelerates </a:t>
            </a:r>
            <a:r>
              <a:rPr sz="1200" dirty="0">
                <a:latin typeface="Times New Roman"/>
                <a:cs typeface="Times New Roman"/>
              </a:rPr>
              <a:t>product</a:t>
            </a:r>
            <a:r>
              <a:rPr sz="1200" spc="-55" dirty="0">
                <a:latin typeface="Times New Roman"/>
                <a:cs typeface="Times New Roman"/>
              </a:rPr>
              <a:t> </a:t>
            </a:r>
            <a:r>
              <a:rPr sz="1200" spc="-10" dirty="0">
                <a:latin typeface="Times New Roman"/>
                <a:cs typeface="Times New Roman"/>
              </a:rPr>
              <a:t>delivery.</a:t>
            </a:r>
            <a:endParaRPr sz="1200" dirty="0">
              <a:latin typeface="Times New Roman"/>
              <a:cs typeface="Times New Roman"/>
            </a:endParaRPr>
          </a:p>
          <a:p>
            <a:pPr marL="469265" indent="-228600">
              <a:spcBef>
                <a:spcPts val="1305"/>
              </a:spcBef>
              <a:buFont typeface="Times New Roman"/>
              <a:buAutoNum type="arabicPeriod" startAt="6"/>
              <a:tabLst>
                <a:tab pos="469265" algn="l"/>
              </a:tabLst>
            </a:pPr>
            <a:r>
              <a:rPr sz="1200" b="1" spc="-10" dirty="0">
                <a:latin typeface="Times New Roman"/>
                <a:cs typeface="Times New Roman"/>
              </a:rPr>
              <a:t>Retrospectives</a:t>
            </a:r>
            <a:endParaRPr lang="en-US" sz="1200" b="1" spc="-10" dirty="0">
              <a:latin typeface="Times New Roman"/>
              <a:cs typeface="Times New Roman"/>
            </a:endParaRPr>
          </a:p>
          <a:p>
            <a:pPr marL="469265" marR="6985" algn="just"/>
            <a:endParaRPr lang="en-US" sz="1200" dirty="0">
              <a:latin typeface="Times New Roman"/>
              <a:cs typeface="Times New Roman"/>
            </a:endParaRPr>
          </a:p>
          <a:p>
            <a:pPr marL="469265" marR="6985" algn="just"/>
            <a:r>
              <a:rPr sz="1200" dirty="0">
                <a:latin typeface="Times New Roman"/>
                <a:cs typeface="Times New Roman"/>
              </a:rPr>
              <a:t>At</a:t>
            </a:r>
            <a:r>
              <a:rPr sz="1200" spc="445" dirty="0">
                <a:latin typeface="Times New Roman"/>
                <a:cs typeface="Times New Roman"/>
              </a:rPr>
              <a:t> </a:t>
            </a:r>
            <a:r>
              <a:rPr sz="1200" dirty="0">
                <a:latin typeface="Times New Roman"/>
                <a:cs typeface="Times New Roman"/>
              </a:rPr>
              <a:t>the</a:t>
            </a:r>
            <a:r>
              <a:rPr sz="1200" spc="455" dirty="0">
                <a:latin typeface="Times New Roman"/>
                <a:cs typeface="Times New Roman"/>
              </a:rPr>
              <a:t> </a:t>
            </a:r>
            <a:r>
              <a:rPr sz="1200" dirty="0">
                <a:latin typeface="Times New Roman"/>
                <a:cs typeface="Times New Roman"/>
              </a:rPr>
              <a:t>end</a:t>
            </a:r>
            <a:r>
              <a:rPr sz="1200" spc="445" dirty="0">
                <a:latin typeface="Times New Roman"/>
                <a:cs typeface="Times New Roman"/>
              </a:rPr>
              <a:t> </a:t>
            </a:r>
            <a:r>
              <a:rPr sz="1200" dirty="0">
                <a:latin typeface="Times New Roman"/>
                <a:cs typeface="Times New Roman"/>
              </a:rPr>
              <a:t>of</a:t>
            </a:r>
            <a:r>
              <a:rPr sz="1200" spc="445" dirty="0">
                <a:latin typeface="Times New Roman"/>
                <a:cs typeface="Times New Roman"/>
              </a:rPr>
              <a:t> </a:t>
            </a:r>
            <a:r>
              <a:rPr sz="1200" dirty="0">
                <a:latin typeface="Times New Roman"/>
                <a:cs typeface="Times New Roman"/>
              </a:rPr>
              <a:t>each</a:t>
            </a:r>
            <a:r>
              <a:rPr sz="1200" spc="455" dirty="0">
                <a:latin typeface="Times New Roman"/>
                <a:cs typeface="Times New Roman"/>
              </a:rPr>
              <a:t> </a:t>
            </a:r>
            <a:r>
              <a:rPr sz="1200" dirty="0">
                <a:latin typeface="Times New Roman"/>
                <a:cs typeface="Times New Roman"/>
              </a:rPr>
              <a:t>sprint,</a:t>
            </a:r>
            <a:r>
              <a:rPr sz="1200" spc="445" dirty="0">
                <a:latin typeface="Times New Roman"/>
                <a:cs typeface="Times New Roman"/>
              </a:rPr>
              <a:t> </a:t>
            </a:r>
            <a:r>
              <a:rPr sz="1200" dirty="0">
                <a:latin typeface="Times New Roman"/>
                <a:cs typeface="Times New Roman"/>
              </a:rPr>
              <a:t>the</a:t>
            </a:r>
            <a:r>
              <a:rPr sz="1200" spc="434" dirty="0">
                <a:latin typeface="Times New Roman"/>
                <a:cs typeface="Times New Roman"/>
              </a:rPr>
              <a:t> </a:t>
            </a:r>
            <a:r>
              <a:rPr sz="1200" dirty="0">
                <a:latin typeface="Times New Roman"/>
                <a:cs typeface="Times New Roman"/>
              </a:rPr>
              <a:t>team</a:t>
            </a:r>
            <a:r>
              <a:rPr sz="1200" spc="445" dirty="0">
                <a:latin typeface="Times New Roman"/>
                <a:cs typeface="Times New Roman"/>
              </a:rPr>
              <a:t> </a:t>
            </a:r>
            <a:r>
              <a:rPr sz="1200" dirty="0">
                <a:latin typeface="Times New Roman"/>
                <a:cs typeface="Times New Roman"/>
              </a:rPr>
              <a:t>conducts</a:t>
            </a:r>
            <a:r>
              <a:rPr sz="1200" spc="450" dirty="0">
                <a:latin typeface="Times New Roman"/>
                <a:cs typeface="Times New Roman"/>
              </a:rPr>
              <a:t> </a:t>
            </a:r>
            <a:r>
              <a:rPr sz="1200" dirty="0">
                <a:latin typeface="Times New Roman"/>
                <a:cs typeface="Times New Roman"/>
              </a:rPr>
              <a:t>retrospectives</a:t>
            </a:r>
            <a:r>
              <a:rPr sz="1200" spc="440" dirty="0">
                <a:latin typeface="Times New Roman"/>
                <a:cs typeface="Times New Roman"/>
              </a:rPr>
              <a:t> </a:t>
            </a:r>
            <a:r>
              <a:rPr sz="1200" dirty="0">
                <a:latin typeface="Times New Roman"/>
                <a:cs typeface="Times New Roman"/>
              </a:rPr>
              <a:t>to</a:t>
            </a:r>
            <a:r>
              <a:rPr sz="1200" spc="459" dirty="0">
                <a:latin typeface="Times New Roman"/>
                <a:cs typeface="Times New Roman"/>
              </a:rPr>
              <a:t> </a:t>
            </a:r>
            <a:r>
              <a:rPr sz="1200" dirty="0">
                <a:latin typeface="Times New Roman"/>
                <a:cs typeface="Times New Roman"/>
              </a:rPr>
              <a:t>review</a:t>
            </a:r>
            <a:r>
              <a:rPr sz="1200" spc="440" dirty="0">
                <a:latin typeface="Times New Roman"/>
                <a:cs typeface="Times New Roman"/>
              </a:rPr>
              <a:t> </a:t>
            </a:r>
            <a:r>
              <a:rPr sz="1200" spc="-10" dirty="0">
                <a:latin typeface="Times New Roman"/>
                <a:cs typeface="Times New Roman"/>
              </a:rPr>
              <a:t>their performance,</a:t>
            </a:r>
            <a:r>
              <a:rPr sz="1200" spc="-15" dirty="0">
                <a:latin typeface="Times New Roman"/>
                <a:cs typeface="Times New Roman"/>
              </a:rPr>
              <a:t> </a:t>
            </a:r>
            <a:r>
              <a:rPr sz="1200" dirty="0">
                <a:latin typeface="Times New Roman"/>
                <a:cs typeface="Times New Roman"/>
              </a:rPr>
              <a:t>identify</a:t>
            </a:r>
            <a:r>
              <a:rPr sz="1200" spc="-15" dirty="0">
                <a:latin typeface="Times New Roman"/>
                <a:cs typeface="Times New Roman"/>
              </a:rPr>
              <a:t> </a:t>
            </a:r>
            <a:r>
              <a:rPr sz="1200" dirty="0">
                <a:latin typeface="Times New Roman"/>
                <a:cs typeface="Times New Roman"/>
              </a:rPr>
              <a:t>areas</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improvement,</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implement</a:t>
            </a:r>
            <a:r>
              <a:rPr sz="1200" spc="-15" dirty="0">
                <a:latin typeface="Times New Roman"/>
                <a:cs typeface="Times New Roman"/>
              </a:rPr>
              <a:t> </a:t>
            </a:r>
            <a:r>
              <a:rPr sz="1200" dirty="0">
                <a:latin typeface="Times New Roman"/>
                <a:cs typeface="Times New Roman"/>
              </a:rPr>
              <a:t>necessary</a:t>
            </a:r>
            <a:r>
              <a:rPr sz="1200" spc="-15" dirty="0">
                <a:latin typeface="Times New Roman"/>
                <a:cs typeface="Times New Roman"/>
              </a:rPr>
              <a:t> </a:t>
            </a:r>
            <a:r>
              <a:rPr sz="1200" dirty="0">
                <a:latin typeface="Times New Roman"/>
                <a:cs typeface="Times New Roman"/>
              </a:rPr>
              <a:t>changes</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25" dirty="0">
                <a:latin typeface="Times New Roman"/>
                <a:cs typeface="Times New Roman"/>
              </a:rPr>
              <a:t>the </a:t>
            </a:r>
            <a:r>
              <a:rPr sz="1200" dirty="0">
                <a:latin typeface="Times New Roman"/>
                <a:cs typeface="Times New Roman"/>
              </a:rPr>
              <a:t>next</a:t>
            </a:r>
            <a:r>
              <a:rPr sz="1200" spc="-30" dirty="0">
                <a:latin typeface="Times New Roman"/>
                <a:cs typeface="Times New Roman"/>
              </a:rPr>
              <a:t> </a:t>
            </a:r>
            <a:r>
              <a:rPr sz="1200" spc="-10" dirty="0">
                <a:latin typeface="Times New Roman"/>
                <a:cs typeface="Times New Roman"/>
              </a:rPr>
              <a:t>sprint.</a:t>
            </a:r>
            <a:endParaRPr sz="1200" dirty="0">
              <a:latin typeface="Times New Roman"/>
              <a:cs typeface="Times New Roman"/>
            </a:endParaRPr>
          </a:p>
          <a:p>
            <a:pPr marL="12700">
              <a:lnSpc>
                <a:spcPct val="100000"/>
              </a:lnSpc>
              <a:spcBef>
                <a:spcPts val="1300"/>
              </a:spcBef>
            </a:pPr>
            <a:r>
              <a:rPr sz="1200" b="1" dirty="0">
                <a:latin typeface="Times New Roman"/>
                <a:cs typeface="Times New Roman"/>
              </a:rPr>
              <a:t>Agile</a:t>
            </a:r>
            <a:r>
              <a:rPr sz="1200" b="1" spc="-15" dirty="0">
                <a:latin typeface="Times New Roman"/>
                <a:cs typeface="Times New Roman"/>
              </a:rPr>
              <a:t> </a:t>
            </a:r>
            <a:r>
              <a:rPr sz="1200" b="1" dirty="0">
                <a:latin typeface="Times New Roman"/>
                <a:cs typeface="Times New Roman"/>
              </a:rPr>
              <a:t>Roles</a:t>
            </a:r>
            <a:r>
              <a:rPr sz="1200" b="1" spc="-10" dirty="0">
                <a:latin typeface="Times New Roman"/>
                <a:cs typeface="Times New Roman"/>
              </a:rPr>
              <a:t> </a:t>
            </a:r>
            <a:r>
              <a:rPr sz="1200" b="1" dirty="0">
                <a:latin typeface="Times New Roman"/>
                <a:cs typeface="Times New Roman"/>
              </a:rPr>
              <a:t>in</a:t>
            </a:r>
            <a:r>
              <a:rPr sz="1200" b="1" spc="-15" dirty="0">
                <a:latin typeface="Times New Roman"/>
                <a:cs typeface="Times New Roman"/>
              </a:rPr>
              <a:t> </a:t>
            </a:r>
            <a:r>
              <a:rPr sz="1200" b="1" dirty="0">
                <a:latin typeface="Times New Roman"/>
                <a:cs typeface="Times New Roman"/>
              </a:rPr>
              <a:t>Auction</a:t>
            </a:r>
            <a:r>
              <a:rPr sz="1200" b="1" spc="-5" dirty="0">
                <a:latin typeface="Times New Roman"/>
                <a:cs typeface="Times New Roman"/>
              </a:rPr>
              <a:t> </a:t>
            </a:r>
            <a:r>
              <a:rPr sz="1200" b="1" dirty="0">
                <a:latin typeface="Times New Roman"/>
                <a:cs typeface="Times New Roman"/>
              </a:rPr>
              <a:t>Abode</a:t>
            </a:r>
            <a:r>
              <a:rPr sz="1200" b="1" spc="-20" dirty="0">
                <a:latin typeface="Times New Roman"/>
                <a:cs typeface="Times New Roman"/>
              </a:rPr>
              <a:t> </a:t>
            </a:r>
            <a:r>
              <a:rPr sz="1200" b="1" spc="-10" dirty="0">
                <a:latin typeface="Times New Roman"/>
                <a:cs typeface="Times New Roman"/>
              </a:rPr>
              <a:t>Development</a:t>
            </a:r>
            <a:endParaRPr sz="1200" dirty="0">
              <a:latin typeface="Times New Roman"/>
              <a:cs typeface="Times New Roman"/>
            </a:endParaRPr>
          </a:p>
          <a:p>
            <a:pPr>
              <a:lnSpc>
                <a:spcPct val="100000"/>
              </a:lnSpc>
              <a:spcBef>
                <a:spcPts val="35"/>
              </a:spcBef>
            </a:pPr>
            <a:endParaRPr sz="1200" dirty="0">
              <a:latin typeface="Times New Roman"/>
              <a:cs typeface="Times New Roman"/>
            </a:endParaRPr>
          </a:p>
          <a:p>
            <a:pPr marL="469265" marR="6985" lvl="1" indent="-228600">
              <a:lnSpc>
                <a:spcPct val="143300"/>
              </a:lnSpc>
              <a:buSzPct val="83333"/>
              <a:buFont typeface="Symbol"/>
              <a:buChar char=""/>
              <a:tabLst>
                <a:tab pos="469265" algn="l"/>
              </a:tabLst>
            </a:pPr>
            <a:r>
              <a:rPr sz="1200" b="1" spc="-10" dirty="0">
                <a:latin typeface="Times New Roman"/>
                <a:cs typeface="Times New Roman"/>
              </a:rPr>
              <a:t>Product</a:t>
            </a:r>
            <a:r>
              <a:rPr sz="1200" b="1" spc="-40" dirty="0">
                <a:latin typeface="Times New Roman"/>
                <a:cs typeface="Times New Roman"/>
              </a:rPr>
              <a:t> </a:t>
            </a:r>
            <a:r>
              <a:rPr sz="1200" b="1" dirty="0">
                <a:latin typeface="Times New Roman"/>
                <a:cs typeface="Times New Roman"/>
              </a:rPr>
              <a:t>Owner:</a:t>
            </a:r>
            <a:r>
              <a:rPr sz="1200" b="1" spc="-25" dirty="0">
                <a:latin typeface="Times New Roman"/>
                <a:cs typeface="Times New Roman"/>
              </a:rPr>
              <a:t> </a:t>
            </a:r>
            <a:r>
              <a:rPr sz="1200" dirty="0">
                <a:latin typeface="Times New Roman"/>
                <a:cs typeface="Times New Roman"/>
              </a:rPr>
              <a:t>Defines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prioritizes</a:t>
            </a:r>
            <a:r>
              <a:rPr sz="1200" spc="-35" dirty="0">
                <a:latin typeface="Times New Roman"/>
                <a:cs typeface="Times New Roman"/>
              </a:rPr>
              <a:t> </a:t>
            </a:r>
            <a:r>
              <a:rPr sz="1200" spc="-10" dirty="0">
                <a:latin typeface="Times New Roman"/>
                <a:cs typeface="Times New Roman"/>
              </a:rPr>
              <a:t>platform</a:t>
            </a:r>
            <a:r>
              <a:rPr sz="1200" spc="-20" dirty="0">
                <a:latin typeface="Times New Roman"/>
                <a:cs typeface="Times New Roman"/>
              </a:rPr>
              <a:t> </a:t>
            </a:r>
            <a:r>
              <a:rPr sz="1200" spc="-10" dirty="0">
                <a:latin typeface="Times New Roman"/>
                <a:cs typeface="Times New Roman"/>
              </a:rPr>
              <a:t>features</a:t>
            </a:r>
            <a:r>
              <a:rPr sz="1200" spc="-30" dirty="0">
                <a:latin typeface="Times New Roman"/>
                <a:cs typeface="Times New Roman"/>
              </a:rPr>
              <a:t> </a:t>
            </a:r>
            <a:r>
              <a:rPr sz="1200" spc="-1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10" dirty="0">
                <a:latin typeface="Times New Roman"/>
                <a:cs typeface="Times New Roman"/>
              </a:rPr>
              <a:t>stakeholder</a:t>
            </a:r>
            <a:r>
              <a:rPr sz="1200" spc="-40" dirty="0">
                <a:latin typeface="Times New Roman"/>
                <a:cs typeface="Times New Roman"/>
              </a:rPr>
              <a:t> </a:t>
            </a:r>
            <a:r>
              <a:rPr sz="1200" spc="-10" dirty="0">
                <a:latin typeface="Times New Roman"/>
                <a:cs typeface="Times New Roman"/>
              </a:rPr>
              <a:t>needs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real</a:t>
            </a:r>
            <a:r>
              <a:rPr sz="1200" spc="-20" dirty="0">
                <a:latin typeface="Times New Roman"/>
                <a:cs typeface="Times New Roman"/>
              </a:rPr>
              <a:t> </a:t>
            </a:r>
            <a:r>
              <a:rPr sz="1200" dirty="0">
                <a:latin typeface="Times New Roman"/>
                <a:cs typeface="Times New Roman"/>
              </a:rPr>
              <a:t>estate</a:t>
            </a:r>
            <a:r>
              <a:rPr sz="1200" spc="-35" dirty="0">
                <a:latin typeface="Times New Roman"/>
                <a:cs typeface="Times New Roman"/>
              </a:rPr>
              <a:t> </a:t>
            </a:r>
            <a:r>
              <a:rPr sz="1200" dirty="0">
                <a:latin typeface="Times New Roman"/>
                <a:cs typeface="Times New Roman"/>
              </a:rPr>
              <a:t>market</a:t>
            </a:r>
            <a:r>
              <a:rPr sz="1200" spc="-30" dirty="0">
                <a:latin typeface="Times New Roman"/>
                <a:cs typeface="Times New Roman"/>
              </a:rPr>
              <a:t> </a:t>
            </a:r>
            <a:r>
              <a:rPr sz="1200" spc="-10" dirty="0">
                <a:latin typeface="Times New Roman"/>
                <a:cs typeface="Times New Roman"/>
              </a:rPr>
              <a:t>trends.</a:t>
            </a:r>
            <a:endParaRPr sz="1200" dirty="0">
              <a:latin typeface="Times New Roman"/>
              <a:cs typeface="Times New Roman"/>
            </a:endParaRPr>
          </a:p>
          <a:p>
            <a:pPr marL="469265" marR="10160" lvl="1" indent="-228600">
              <a:lnSpc>
                <a:spcPct val="143300"/>
              </a:lnSpc>
              <a:spcBef>
                <a:spcPts val="15"/>
              </a:spcBef>
              <a:buSzPct val="83333"/>
              <a:buFont typeface="Symbol"/>
              <a:buChar char=""/>
              <a:tabLst>
                <a:tab pos="469265" algn="l"/>
              </a:tabLst>
            </a:pPr>
            <a:r>
              <a:rPr sz="1200" b="1" dirty="0">
                <a:latin typeface="Times New Roman"/>
                <a:cs typeface="Times New Roman"/>
              </a:rPr>
              <a:t>Agile</a:t>
            </a:r>
            <a:r>
              <a:rPr sz="1200" b="1" spc="-40" dirty="0">
                <a:latin typeface="Times New Roman"/>
                <a:cs typeface="Times New Roman"/>
              </a:rPr>
              <a:t> </a:t>
            </a:r>
            <a:r>
              <a:rPr sz="1200" b="1" dirty="0">
                <a:latin typeface="Times New Roman"/>
                <a:cs typeface="Times New Roman"/>
              </a:rPr>
              <a:t>Master:</a:t>
            </a:r>
            <a:r>
              <a:rPr sz="1200" b="1" spc="-20" dirty="0">
                <a:latin typeface="Times New Roman"/>
                <a:cs typeface="Times New Roman"/>
              </a:rPr>
              <a:t> </a:t>
            </a:r>
            <a:r>
              <a:rPr sz="1200" dirty="0">
                <a:latin typeface="Times New Roman"/>
                <a:cs typeface="Times New Roman"/>
              </a:rPr>
              <a:t>Ensures</a:t>
            </a:r>
            <a:r>
              <a:rPr sz="1200" spc="-25" dirty="0">
                <a:latin typeface="Times New Roman"/>
                <a:cs typeface="Times New Roman"/>
              </a:rPr>
              <a:t> </a:t>
            </a:r>
            <a:r>
              <a:rPr sz="1200" dirty="0">
                <a:latin typeface="Times New Roman"/>
                <a:cs typeface="Times New Roman"/>
              </a:rPr>
              <a:t>adherence</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Agile</a:t>
            </a:r>
            <a:r>
              <a:rPr sz="1200" spc="-40" dirty="0">
                <a:latin typeface="Times New Roman"/>
                <a:cs typeface="Times New Roman"/>
              </a:rPr>
              <a:t> </a:t>
            </a:r>
            <a:r>
              <a:rPr sz="1200" dirty="0">
                <a:latin typeface="Times New Roman"/>
                <a:cs typeface="Times New Roman"/>
              </a:rPr>
              <a:t>principles,</a:t>
            </a:r>
            <a:r>
              <a:rPr sz="1200" spc="-30" dirty="0">
                <a:latin typeface="Times New Roman"/>
                <a:cs typeface="Times New Roman"/>
              </a:rPr>
              <a:t> </a:t>
            </a:r>
            <a:r>
              <a:rPr sz="1200" dirty="0">
                <a:latin typeface="Times New Roman"/>
                <a:cs typeface="Times New Roman"/>
              </a:rPr>
              <a:t>facilitates</a:t>
            </a:r>
            <a:r>
              <a:rPr sz="1200" spc="-40" dirty="0">
                <a:latin typeface="Times New Roman"/>
                <a:cs typeface="Times New Roman"/>
              </a:rPr>
              <a:t> </a:t>
            </a:r>
            <a:r>
              <a:rPr sz="1200" dirty="0">
                <a:latin typeface="Times New Roman"/>
                <a:cs typeface="Times New Roman"/>
              </a:rPr>
              <a:t>communication,</a:t>
            </a:r>
            <a:r>
              <a:rPr sz="1200" spc="-30" dirty="0">
                <a:latin typeface="Times New Roman"/>
                <a:cs typeface="Times New Roman"/>
              </a:rPr>
              <a:t> </a:t>
            </a:r>
            <a:r>
              <a:rPr sz="1200" spc="-25" dirty="0">
                <a:latin typeface="Times New Roman"/>
                <a:cs typeface="Times New Roman"/>
              </a:rPr>
              <a:t>and </a:t>
            </a:r>
            <a:r>
              <a:rPr sz="1200" dirty="0">
                <a:latin typeface="Times New Roman"/>
                <a:cs typeface="Times New Roman"/>
              </a:rPr>
              <a:t>resolves</a:t>
            </a:r>
            <a:r>
              <a:rPr sz="1200" spc="-50" dirty="0">
                <a:latin typeface="Times New Roman"/>
                <a:cs typeface="Times New Roman"/>
              </a:rPr>
              <a:t> </a:t>
            </a:r>
            <a:r>
              <a:rPr sz="1200" dirty="0">
                <a:latin typeface="Times New Roman"/>
                <a:cs typeface="Times New Roman"/>
              </a:rPr>
              <a:t>development</a:t>
            </a:r>
            <a:r>
              <a:rPr sz="1200" spc="-40" dirty="0">
                <a:latin typeface="Times New Roman"/>
                <a:cs typeface="Times New Roman"/>
              </a:rPr>
              <a:t> </a:t>
            </a:r>
            <a:r>
              <a:rPr sz="1200" spc="-10" dirty="0">
                <a:latin typeface="Times New Roman"/>
                <a:cs typeface="Times New Roman"/>
              </a:rPr>
              <a:t>challenges.</a:t>
            </a:r>
            <a:endParaRPr sz="1200" dirty="0">
              <a:latin typeface="Times New Roman"/>
              <a:cs typeface="Times New Roman"/>
            </a:endParaRPr>
          </a:p>
          <a:p>
            <a:pPr marL="469265" marR="5080" lvl="1" indent="-228600">
              <a:lnSpc>
                <a:spcPct val="143300"/>
              </a:lnSpc>
              <a:spcBef>
                <a:spcPts val="10"/>
              </a:spcBef>
              <a:buSzPct val="83333"/>
              <a:buFont typeface="Symbol"/>
              <a:buChar char=""/>
              <a:tabLst>
                <a:tab pos="469265" algn="l"/>
                <a:tab pos="1473200" algn="l"/>
                <a:tab pos="2047239" algn="l"/>
                <a:tab pos="2306320" algn="l"/>
                <a:tab pos="3436620" algn="l"/>
                <a:tab pos="3881754" algn="l"/>
                <a:tab pos="4724400" algn="l"/>
                <a:tab pos="5051425" algn="l"/>
              </a:tabLst>
            </a:pPr>
            <a:r>
              <a:rPr sz="1200" b="1" spc="-10" dirty="0">
                <a:latin typeface="Times New Roman"/>
                <a:cs typeface="Times New Roman"/>
              </a:rPr>
              <a:t>Development</a:t>
            </a:r>
            <a:r>
              <a:rPr sz="1200" b="1" dirty="0">
                <a:latin typeface="Times New Roman"/>
                <a:cs typeface="Times New Roman"/>
              </a:rPr>
              <a:t>	</a:t>
            </a:r>
            <a:r>
              <a:rPr sz="1200" b="1" spc="-20" dirty="0">
                <a:latin typeface="Times New Roman"/>
                <a:cs typeface="Times New Roman"/>
              </a:rPr>
              <a:t>Team:</a:t>
            </a:r>
            <a:r>
              <a:rPr sz="1200" b="1" dirty="0">
                <a:latin typeface="Times New Roman"/>
                <a:cs typeface="Times New Roman"/>
              </a:rPr>
              <a:t>	</a:t>
            </a:r>
            <a:r>
              <a:rPr sz="1200" spc="-50" dirty="0">
                <a:latin typeface="Times New Roman"/>
                <a:cs typeface="Times New Roman"/>
              </a:rPr>
              <a:t>A</a:t>
            </a:r>
            <a:r>
              <a:rPr sz="1200" dirty="0">
                <a:latin typeface="Times New Roman"/>
                <a:cs typeface="Times New Roman"/>
              </a:rPr>
              <a:t>	</a:t>
            </a:r>
            <a:r>
              <a:rPr sz="1200" spc="-10" dirty="0">
                <a:latin typeface="Times New Roman"/>
                <a:cs typeface="Times New Roman"/>
              </a:rPr>
              <a:t>cross-functional</a:t>
            </a:r>
            <a:r>
              <a:rPr sz="1200" dirty="0">
                <a:latin typeface="Times New Roman"/>
                <a:cs typeface="Times New Roman"/>
              </a:rPr>
              <a:t>	</a:t>
            </a:r>
            <a:r>
              <a:rPr sz="1200" spc="-20" dirty="0">
                <a:latin typeface="Times New Roman"/>
                <a:cs typeface="Times New Roman"/>
              </a:rPr>
              <a:t>team</a:t>
            </a:r>
            <a:r>
              <a:rPr sz="1200" dirty="0">
                <a:latin typeface="Times New Roman"/>
                <a:cs typeface="Times New Roman"/>
              </a:rPr>
              <a:t>	</a:t>
            </a:r>
            <a:r>
              <a:rPr sz="1200" spc="-10" dirty="0">
                <a:latin typeface="Times New Roman"/>
                <a:cs typeface="Times New Roman"/>
              </a:rPr>
              <a:t>responsible</a:t>
            </a:r>
            <a:r>
              <a:rPr sz="1200" dirty="0">
                <a:latin typeface="Times New Roman"/>
                <a:cs typeface="Times New Roman"/>
              </a:rPr>
              <a:t>	</a:t>
            </a:r>
            <a:r>
              <a:rPr sz="1200" spc="-25" dirty="0">
                <a:latin typeface="Times New Roman"/>
                <a:cs typeface="Times New Roman"/>
              </a:rPr>
              <a:t>for</a:t>
            </a:r>
            <a:r>
              <a:rPr sz="1200" dirty="0">
                <a:latin typeface="Times New Roman"/>
                <a:cs typeface="Times New Roman"/>
              </a:rPr>
              <a:t>	</a:t>
            </a:r>
            <a:r>
              <a:rPr sz="1200" spc="-10" dirty="0">
                <a:latin typeface="Times New Roman"/>
                <a:cs typeface="Times New Roman"/>
              </a:rPr>
              <a:t>designing, </a:t>
            </a:r>
            <a:r>
              <a:rPr sz="1200" dirty="0">
                <a:latin typeface="Times New Roman"/>
                <a:cs typeface="Times New Roman"/>
              </a:rPr>
              <a:t>implementing,</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testing</a:t>
            </a:r>
            <a:r>
              <a:rPr sz="1200" spc="-35" dirty="0">
                <a:latin typeface="Times New Roman"/>
                <a:cs typeface="Times New Roman"/>
              </a:rPr>
              <a:t> </a:t>
            </a:r>
            <a:r>
              <a:rPr sz="1200" spc="-10" dirty="0">
                <a:latin typeface="Times New Roman"/>
                <a:cs typeface="Times New Roman"/>
              </a:rPr>
              <a:t>high-</a:t>
            </a:r>
            <a:r>
              <a:rPr sz="1200" dirty="0">
                <a:latin typeface="Times New Roman"/>
                <a:cs typeface="Times New Roman"/>
              </a:rPr>
              <a:t>quality,</a:t>
            </a:r>
            <a:r>
              <a:rPr sz="1200" spc="-35" dirty="0">
                <a:latin typeface="Times New Roman"/>
                <a:cs typeface="Times New Roman"/>
              </a:rPr>
              <a:t> </a:t>
            </a:r>
            <a:r>
              <a:rPr sz="1200" dirty="0">
                <a:latin typeface="Times New Roman"/>
                <a:cs typeface="Times New Roman"/>
              </a:rPr>
              <a:t>functional</a:t>
            </a:r>
            <a:r>
              <a:rPr sz="1200" spc="-35" dirty="0">
                <a:latin typeface="Times New Roman"/>
                <a:cs typeface="Times New Roman"/>
              </a:rPr>
              <a:t> </a:t>
            </a:r>
            <a:r>
              <a:rPr sz="1200" dirty="0">
                <a:latin typeface="Times New Roman"/>
                <a:cs typeface="Times New Roman"/>
              </a:rPr>
              <a:t>components</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Abode.</a:t>
            </a:r>
            <a:endParaRPr sz="1200" dirty="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9</a:t>
            </a:r>
          </a:p>
        </p:txBody>
      </p:sp>
      <p:sp>
        <p:nvSpPr>
          <p:cNvPr id="2" name="object 2"/>
          <p:cNvSpPr txBox="1"/>
          <p:nvPr/>
        </p:nvSpPr>
        <p:spPr>
          <a:xfrm>
            <a:off x="1176324" y="812037"/>
            <a:ext cx="5694680" cy="8213980"/>
          </a:xfrm>
          <a:prstGeom prst="rect">
            <a:avLst/>
          </a:prstGeom>
        </p:spPr>
        <p:txBody>
          <a:bodyPr vert="horz" wrap="square" lIns="0" tIns="11430" rIns="0" bIns="0" rtlCol="0">
            <a:spAutoFit/>
          </a:bodyPr>
          <a:lstStyle/>
          <a:p>
            <a:pPr marL="12700" marR="5080" algn="just">
              <a:lnSpc>
                <a:spcPct val="143800"/>
              </a:lnSpc>
              <a:spcBef>
                <a:spcPts val="90"/>
              </a:spcBef>
            </a:pP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flexibility</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iterative</a:t>
            </a:r>
            <a:r>
              <a:rPr sz="1200" spc="-40" dirty="0">
                <a:latin typeface="Times New Roman"/>
                <a:cs typeface="Times New Roman"/>
              </a:rPr>
              <a:t> </a:t>
            </a:r>
            <a:r>
              <a:rPr sz="1200" dirty="0">
                <a:latin typeface="Times New Roman"/>
                <a:cs typeface="Times New Roman"/>
              </a:rPr>
              <a:t>nature</a:t>
            </a:r>
            <a:r>
              <a:rPr sz="1200" spc="-4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Agile</a:t>
            </a:r>
            <a:r>
              <a:rPr sz="1200" spc="-40" dirty="0">
                <a:latin typeface="Times New Roman"/>
                <a:cs typeface="Times New Roman"/>
              </a:rPr>
              <a:t> </a:t>
            </a:r>
            <a:r>
              <a:rPr sz="1200" dirty="0">
                <a:latin typeface="Times New Roman"/>
                <a:cs typeface="Times New Roman"/>
              </a:rPr>
              <a:t>make</a:t>
            </a:r>
            <a:r>
              <a:rPr sz="1200" spc="-4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an</a:t>
            </a:r>
            <a:r>
              <a:rPr sz="1200" spc="-40" dirty="0">
                <a:latin typeface="Times New Roman"/>
                <a:cs typeface="Times New Roman"/>
              </a:rPr>
              <a:t> </a:t>
            </a:r>
            <a:r>
              <a:rPr sz="1200" dirty="0">
                <a:latin typeface="Times New Roman"/>
                <a:cs typeface="Times New Roman"/>
              </a:rPr>
              <a:t>ideal</a:t>
            </a:r>
            <a:r>
              <a:rPr sz="1200" spc="-35" dirty="0">
                <a:latin typeface="Times New Roman"/>
                <a:cs typeface="Times New Roman"/>
              </a:rPr>
              <a:t> </a:t>
            </a:r>
            <a:r>
              <a:rPr sz="1200" dirty="0">
                <a:latin typeface="Times New Roman"/>
                <a:cs typeface="Times New Roman"/>
              </a:rPr>
              <a:t>choice</a:t>
            </a:r>
            <a:r>
              <a:rPr sz="1200" spc="-4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developing</a:t>
            </a:r>
            <a:r>
              <a:rPr sz="1200" spc="-4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complex, </a:t>
            </a:r>
            <a:r>
              <a:rPr sz="1200" dirty="0">
                <a:latin typeface="Times New Roman"/>
                <a:cs typeface="Times New Roman"/>
              </a:rPr>
              <a:t>scalable,</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user-</a:t>
            </a:r>
            <a:r>
              <a:rPr sz="1200" dirty="0">
                <a:latin typeface="Times New Roman"/>
                <a:cs typeface="Times New Roman"/>
              </a:rPr>
              <a:t>focused</a:t>
            </a:r>
            <a:r>
              <a:rPr sz="1200" spc="15" dirty="0">
                <a:latin typeface="Times New Roman"/>
                <a:cs typeface="Times New Roman"/>
              </a:rPr>
              <a:t> </a:t>
            </a:r>
            <a:r>
              <a:rPr sz="1200" dirty="0">
                <a:latin typeface="Times New Roman"/>
                <a:cs typeface="Times New Roman"/>
              </a:rPr>
              <a:t>project</a:t>
            </a:r>
            <a:r>
              <a:rPr sz="1200" spc="20" dirty="0">
                <a:latin typeface="Times New Roman"/>
                <a:cs typeface="Times New Roman"/>
              </a:rPr>
              <a:t> </a:t>
            </a:r>
            <a:r>
              <a:rPr sz="1200" dirty="0">
                <a:latin typeface="Times New Roman"/>
                <a:cs typeface="Times New Roman"/>
              </a:rPr>
              <a:t>like</a:t>
            </a:r>
            <a:r>
              <a:rPr sz="1200" spc="15"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dirty="0">
                <a:latin typeface="Times New Roman"/>
                <a:cs typeface="Times New Roman"/>
              </a:rPr>
              <a:t>Abode,</a:t>
            </a:r>
            <a:r>
              <a:rPr sz="1200" spc="15" dirty="0">
                <a:latin typeface="Times New Roman"/>
                <a:cs typeface="Times New Roman"/>
              </a:rPr>
              <a:t> </a:t>
            </a:r>
            <a:r>
              <a:rPr sz="1200" dirty="0">
                <a:latin typeface="Times New Roman"/>
                <a:cs typeface="Times New Roman"/>
              </a:rPr>
              <a:t>ensuring</a:t>
            </a:r>
            <a:r>
              <a:rPr sz="1200" spc="20" dirty="0">
                <a:latin typeface="Times New Roman"/>
                <a:cs typeface="Times New Roman"/>
              </a:rPr>
              <a:t> </a:t>
            </a:r>
            <a:r>
              <a:rPr sz="1200" dirty="0">
                <a:latin typeface="Times New Roman"/>
                <a:cs typeface="Times New Roman"/>
              </a:rPr>
              <a:t>alignment</a:t>
            </a:r>
            <a:r>
              <a:rPr sz="1200"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stakeholder expectations</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delivering</a:t>
            </a:r>
            <a:r>
              <a:rPr sz="1200" spc="-10" dirty="0">
                <a:latin typeface="Times New Roman"/>
                <a:cs typeface="Times New Roman"/>
              </a:rPr>
              <a:t> </a:t>
            </a:r>
            <a:r>
              <a:rPr sz="1200" dirty="0">
                <a:latin typeface="Times New Roman"/>
                <a:cs typeface="Times New Roman"/>
              </a:rPr>
              <a:t>value</a:t>
            </a:r>
            <a:r>
              <a:rPr sz="1200" spc="-15"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every</a:t>
            </a:r>
            <a:r>
              <a:rPr sz="1200" spc="-10" dirty="0">
                <a:latin typeface="Times New Roman"/>
                <a:cs typeface="Times New Roman"/>
              </a:rPr>
              <a:t> stage.</a:t>
            </a:r>
            <a:endParaRPr sz="1200" dirty="0">
              <a:latin typeface="Times New Roman"/>
              <a:cs typeface="Times New Roman"/>
            </a:endParaRPr>
          </a:p>
          <a:p>
            <a:pPr>
              <a:lnSpc>
                <a:spcPct val="100000"/>
              </a:lnSpc>
            </a:pPr>
            <a:endParaRPr sz="1200" dirty="0">
              <a:latin typeface="Times New Roman"/>
              <a:cs typeface="Times New Roman"/>
            </a:endParaRPr>
          </a:p>
          <a:p>
            <a:pPr>
              <a:lnSpc>
                <a:spcPct val="150000"/>
              </a:lnSpc>
              <a:spcBef>
                <a:spcPts val="270"/>
              </a:spcBef>
            </a:pPr>
            <a:endParaRPr sz="1200" dirty="0">
              <a:latin typeface="Times New Roman"/>
              <a:cs typeface="Times New Roman"/>
            </a:endParaRPr>
          </a:p>
          <a:p>
            <a:pPr marL="449580" lvl="2" indent="-436880">
              <a:lnSpc>
                <a:spcPct val="150000"/>
              </a:lnSpc>
              <a:buSzPct val="116666"/>
              <a:buAutoNum type="arabicPeriod"/>
              <a:tabLst>
                <a:tab pos="449580" algn="l"/>
              </a:tabLst>
            </a:pPr>
            <a:r>
              <a:rPr sz="1200" b="1" dirty="0">
                <a:latin typeface="Times New Roman"/>
                <a:cs typeface="Times New Roman"/>
              </a:rPr>
              <a:t>Rationale</a:t>
            </a:r>
            <a:r>
              <a:rPr sz="1200" b="1" spc="-30" dirty="0">
                <a:latin typeface="Times New Roman"/>
                <a:cs typeface="Times New Roman"/>
              </a:rPr>
              <a:t> </a:t>
            </a:r>
            <a:r>
              <a:rPr sz="1200" b="1" dirty="0">
                <a:latin typeface="Times New Roman"/>
                <a:cs typeface="Times New Roman"/>
              </a:rPr>
              <a:t>behind</a:t>
            </a:r>
            <a:r>
              <a:rPr sz="1200" b="1" spc="-40" dirty="0">
                <a:latin typeface="Times New Roman"/>
                <a:cs typeface="Times New Roman"/>
              </a:rPr>
              <a:t> </a:t>
            </a:r>
            <a:r>
              <a:rPr sz="1200" b="1" dirty="0">
                <a:latin typeface="Times New Roman"/>
                <a:cs typeface="Times New Roman"/>
              </a:rPr>
              <a:t>Selected</a:t>
            </a:r>
            <a:r>
              <a:rPr sz="1200" b="1" spc="-25" dirty="0">
                <a:latin typeface="Times New Roman"/>
                <a:cs typeface="Times New Roman"/>
              </a:rPr>
              <a:t> </a:t>
            </a:r>
            <a:r>
              <a:rPr sz="1200" b="1" spc="-10" dirty="0">
                <a:latin typeface="Times New Roman"/>
                <a:cs typeface="Times New Roman"/>
              </a:rPr>
              <a:t>Methodology</a:t>
            </a:r>
            <a:endParaRPr lang="en-US" sz="1200" b="1" spc="-10" dirty="0">
              <a:latin typeface="Times New Roman"/>
              <a:cs typeface="Times New Roman"/>
            </a:endParaRPr>
          </a:p>
          <a:p>
            <a:pPr marL="449580" lvl="2" indent="-436880">
              <a:lnSpc>
                <a:spcPct val="150000"/>
              </a:lnSpc>
              <a:buSzPct val="116666"/>
              <a:buAutoNum type="arabicPeriod"/>
              <a:tabLst>
                <a:tab pos="449580" algn="l"/>
              </a:tabLst>
            </a:pPr>
            <a:endParaRPr sz="1200" dirty="0">
              <a:latin typeface="Times New Roman"/>
              <a:cs typeface="Times New Roman"/>
            </a:endParaRPr>
          </a:p>
          <a:p>
            <a:pPr marL="12700" marR="10160" algn="just">
              <a:lnSpc>
                <a:spcPct val="150000"/>
              </a:lnSpc>
              <a:spcBef>
                <a:spcPts val="5"/>
              </a:spcBef>
            </a:pPr>
            <a:r>
              <a:rPr sz="1200" dirty="0">
                <a:latin typeface="Times New Roman"/>
                <a:cs typeface="Times New Roman"/>
              </a:rPr>
              <a:t>The</a:t>
            </a:r>
            <a:r>
              <a:rPr sz="1200" spc="175" dirty="0">
                <a:latin typeface="Times New Roman"/>
                <a:cs typeface="Times New Roman"/>
              </a:rPr>
              <a:t> </a:t>
            </a:r>
            <a:r>
              <a:rPr sz="1200" dirty="0">
                <a:latin typeface="Times New Roman"/>
                <a:cs typeface="Times New Roman"/>
              </a:rPr>
              <a:t>Agile</a:t>
            </a:r>
            <a:r>
              <a:rPr sz="1200" spc="195" dirty="0">
                <a:latin typeface="Times New Roman"/>
                <a:cs typeface="Times New Roman"/>
              </a:rPr>
              <a:t> </a:t>
            </a:r>
            <a:r>
              <a:rPr sz="1200" dirty="0">
                <a:latin typeface="Times New Roman"/>
                <a:cs typeface="Times New Roman"/>
              </a:rPr>
              <a:t>methodology</a:t>
            </a:r>
            <a:r>
              <a:rPr sz="1200" spc="185" dirty="0">
                <a:latin typeface="Times New Roman"/>
                <a:cs typeface="Times New Roman"/>
              </a:rPr>
              <a:t> </a:t>
            </a:r>
            <a:r>
              <a:rPr sz="1200" dirty="0">
                <a:latin typeface="Times New Roman"/>
                <a:cs typeface="Times New Roman"/>
              </a:rPr>
              <a:t>was</a:t>
            </a:r>
            <a:r>
              <a:rPr sz="1200" spc="200" dirty="0">
                <a:latin typeface="Times New Roman"/>
                <a:cs typeface="Times New Roman"/>
              </a:rPr>
              <a:t> </a:t>
            </a:r>
            <a:r>
              <a:rPr sz="1200" dirty="0">
                <a:latin typeface="Times New Roman"/>
                <a:cs typeface="Times New Roman"/>
              </a:rPr>
              <a:t>selected</a:t>
            </a:r>
            <a:r>
              <a:rPr sz="1200" spc="180" dirty="0">
                <a:latin typeface="Times New Roman"/>
                <a:cs typeface="Times New Roman"/>
              </a:rPr>
              <a:t> </a:t>
            </a:r>
            <a:r>
              <a:rPr sz="1200" dirty="0">
                <a:latin typeface="Times New Roman"/>
                <a:cs typeface="Times New Roman"/>
              </a:rPr>
              <a:t>for</a:t>
            </a:r>
            <a:r>
              <a:rPr sz="1200" spc="185"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development</a:t>
            </a:r>
            <a:r>
              <a:rPr sz="1200" spc="190" dirty="0">
                <a:latin typeface="Times New Roman"/>
                <a:cs typeface="Times New Roman"/>
              </a:rPr>
              <a:t> </a:t>
            </a:r>
            <a:r>
              <a:rPr sz="1200" dirty="0">
                <a:latin typeface="Times New Roman"/>
                <a:cs typeface="Times New Roman"/>
              </a:rPr>
              <a:t>of</a:t>
            </a:r>
            <a:r>
              <a:rPr sz="1200" spc="190" dirty="0">
                <a:latin typeface="Times New Roman"/>
                <a:cs typeface="Times New Roman"/>
              </a:rPr>
              <a:t> </a:t>
            </a:r>
            <a:r>
              <a:rPr sz="1200" dirty="0">
                <a:latin typeface="Times New Roman"/>
                <a:cs typeface="Times New Roman"/>
              </a:rPr>
              <a:t>Auction</a:t>
            </a:r>
            <a:r>
              <a:rPr sz="1200" spc="210" dirty="0">
                <a:latin typeface="Times New Roman"/>
                <a:cs typeface="Times New Roman"/>
              </a:rPr>
              <a:t> </a:t>
            </a:r>
            <a:r>
              <a:rPr sz="1200" dirty="0">
                <a:latin typeface="Times New Roman"/>
                <a:cs typeface="Times New Roman"/>
              </a:rPr>
              <a:t>Abode</a:t>
            </a:r>
            <a:r>
              <a:rPr sz="1200" spc="175" dirty="0">
                <a:latin typeface="Times New Roman"/>
                <a:cs typeface="Times New Roman"/>
              </a:rPr>
              <a:t> </a:t>
            </a:r>
            <a:r>
              <a:rPr sz="1200" dirty="0">
                <a:latin typeface="Times New Roman"/>
                <a:cs typeface="Times New Roman"/>
              </a:rPr>
              <a:t>due</a:t>
            </a:r>
            <a:r>
              <a:rPr sz="1200" spc="185" dirty="0">
                <a:latin typeface="Times New Roman"/>
                <a:cs typeface="Times New Roman"/>
              </a:rPr>
              <a:t> </a:t>
            </a:r>
            <a:r>
              <a:rPr sz="1200" dirty="0">
                <a:latin typeface="Times New Roman"/>
                <a:cs typeface="Times New Roman"/>
              </a:rPr>
              <a:t>to</a:t>
            </a:r>
            <a:r>
              <a:rPr sz="1200" spc="190" dirty="0">
                <a:latin typeface="Times New Roman"/>
                <a:cs typeface="Times New Roman"/>
              </a:rPr>
              <a:t> </a:t>
            </a:r>
            <a:r>
              <a:rPr sz="1200" spc="-25" dirty="0">
                <a:latin typeface="Times New Roman"/>
                <a:cs typeface="Times New Roman"/>
              </a:rPr>
              <a:t>the </a:t>
            </a:r>
            <a:r>
              <a:rPr sz="1200" dirty="0">
                <a:latin typeface="Times New Roman"/>
                <a:cs typeface="Times New Roman"/>
              </a:rPr>
              <a:t>following</a:t>
            </a:r>
            <a:r>
              <a:rPr sz="1200" spc="-50" dirty="0">
                <a:latin typeface="Times New Roman"/>
                <a:cs typeface="Times New Roman"/>
              </a:rPr>
              <a:t> </a:t>
            </a:r>
            <a:r>
              <a:rPr sz="1200" spc="-10" dirty="0">
                <a:latin typeface="Times New Roman"/>
                <a:cs typeface="Times New Roman"/>
              </a:rPr>
              <a:t>reasons:</a:t>
            </a:r>
            <a:endParaRPr sz="1200" dirty="0">
              <a:latin typeface="Times New Roman"/>
              <a:cs typeface="Times New Roman"/>
            </a:endParaRPr>
          </a:p>
          <a:p>
            <a:pPr>
              <a:lnSpc>
                <a:spcPct val="150000"/>
              </a:lnSpc>
              <a:spcBef>
                <a:spcPts val="25"/>
              </a:spcBef>
            </a:pPr>
            <a:endParaRPr sz="1200" dirty="0">
              <a:latin typeface="Times New Roman"/>
              <a:cs typeface="Times New Roman"/>
            </a:endParaRPr>
          </a:p>
          <a:p>
            <a:pPr marL="469265" marR="320040" lvl="3" indent="-228600">
              <a:lnSpc>
                <a:spcPct val="150000"/>
              </a:lnSpc>
              <a:buFont typeface="Times New Roman"/>
              <a:buAutoNum type="arabicPeriod"/>
              <a:tabLst>
                <a:tab pos="469265" algn="l"/>
              </a:tabLst>
            </a:pPr>
            <a:r>
              <a:rPr sz="1200" b="1" dirty="0">
                <a:latin typeface="Times New Roman"/>
                <a:cs typeface="Times New Roman"/>
              </a:rPr>
              <a:t>Easily</a:t>
            </a:r>
            <a:r>
              <a:rPr sz="1200" b="1" spc="-25" dirty="0">
                <a:latin typeface="Times New Roman"/>
                <a:cs typeface="Times New Roman"/>
              </a:rPr>
              <a:t> </a:t>
            </a:r>
            <a:r>
              <a:rPr sz="1200" b="1" dirty="0">
                <a:latin typeface="Times New Roman"/>
                <a:cs typeface="Times New Roman"/>
              </a:rPr>
              <a:t>and</a:t>
            </a:r>
            <a:r>
              <a:rPr sz="1200" b="1" spc="-20" dirty="0">
                <a:latin typeface="Times New Roman"/>
                <a:cs typeface="Times New Roman"/>
              </a:rPr>
              <a:t> </a:t>
            </a:r>
            <a:r>
              <a:rPr sz="1200" b="1" dirty="0">
                <a:latin typeface="Times New Roman"/>
                <a:cs typeface="Times New Roman"/>
              </a:rPr>
              <a:t>Quickly</a:t>
            </a:r>
            <a:r>
              <a:rPr sz="1200" b="1" spc="-20" dirty="0">
                <a:latin typeface="Times New Roman"/>
                <a:cs typeface="Times New Roman"/>
              </a:rPr>
              <a:t> </a:t>
            </a:r>
            <a:r>
              <a:rPr sz="1200" b="1" dirty="0">
                <a:latin typeface="Times New Roman"/>
                <a:cs typeface="Times New Roman"/>
              </a:rPr>
              <a:t>Adapt</a:t>
            </a:r>
            <a:r>
              <a:rPr sz="1200" b="1" spc="-20" dirty="0">
                <a:latin typeface="Times New Roman"/>
                <a:cs typeface="Times New Roman"/>
              </a:rPr>
              <a:t> </a:t>
            </a:r>
            <a:r>
              <a:rPr sz="1200" b="1" dirty="0">
                <a:latin typeface="Times New Roman"/>
                <a:cs typeface="Times New Roman"/>
              </a:rPr>
              <a:t>to</a:t>
            </a:r>
            <a:r>
              <a:rPr sz="1200" b="1" spc="-15" dirty="0">
                <a:latin typeface="Times New Roman"/>
                <a:cs typeface="Times New Roman"/>
              </a:rPr>
              <a:t> </a:t>
            </a:r>
            <a:r>
              <a:rPr sz="1200" b="1" dirty="0">
                <a:latin typeface="Times New Roman"/>
                <a:cs typeface="Times New Roman"/>
              </a:rPr>
              <a:t>Change</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Agile</a:t>
            </a:r>
            <a:r>
              <a:rPr sz="1200" spc="-25" dirty="0">
                <a:latin typeface="Times New Roman"/>
                <a:cs typeface="Times New Roman"/>
              </a:rPr>
              <a:t> </a:t>
            </a:r>
            <a:r>
              <a:rPr sz="1200" dirty="0">
                <a:latin typeface="Times New Roman"/>
                <a:cs typeface="Times New Roman"/>
              </a:rPr>
              <a:t>enables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team</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accommodate </a:t>
            </a:r>
            <a:r>
              <a:rPr sz="1200" dirty="0">
                <a:latin typeface="Times New Roman"/>
                <a:cs typeface="Times New Roman"/>
              </a:rPr>
              <a:t>changing</a:t>
            </a:r>
            <a:r>
              <a:rPr sz="1200" spc="-35" dirty="0">
                <a:latin typeface="Times New Roman"/>
                <a:cs typeface="Times New Roman"/>
              </a:rPr>
              <a:t> </a:t>
            </a:r>
            <a:r>
              <a:rPr sz="1200" dirty="0">
                <a:latin typeface="Times New Roman"/>
                <a:cs typeface="Times New Roman"/>
              </a:rPr>
              <a:t>requirements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stakeholder</a:t>
            </a:r>
            <a:r>
              <a:rPr sz="1200" spc="-40"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spc="-10" dirty="0">
                <a:latin typeface="Times New Roman"/>
                <a:cs typeface="Times New Roman"/>
              </a:rPr>
              <a:t>efficiently.</a:t>
            </a:r>
            <a:r>
              <a:rPr sz="1200" spc="-3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flexibility</a:t>
            </a:r>
            <a:r>
              <a:rPr sz="1200" spc="-30" dirty="0">
                <a:latin typeface="Times New Roman"/>
                <a:cs typeface="Times New Roman"/>
              </a:rPr>
              <a:t> </a:t>
            </a:r>
            <a:r>
              <a:rPr sz="1200" spc="-25" dirty="0">
                <a:latin typeface="Times New Roman"/>
                <a:cs typeface="Times New Roman"/>
              </a:rPr>
              <a:t>is </a:t>
            </a:r>
            <a:r>
              <a:rPr sz="1200" dirty="0">
                <a:latin typeface="Times New Roman"/>
                <a:cs typeface="Times New Roman"/>
              </a:rPr>
              <a:t>crucial</a:t>
            </a:r>
            <a:r>
              <a:rPr sz="1200" spc="-3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dynamic</a:t>
            </a:r>
            <a:r>
              <a:rPr sz="1200" spc="-35"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dirty="0">
                <a:latin typeface="Times New Roman"/>
                <a:cs typeface="Times New Roman"/>
              </a:rPr>
              <a:t>like</a:t>
            </a:r>
            <a:r>
              <a:rPr sz="1200" spc="-30"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Abode,</a:t>
            </a:r>
            <a:r>
              <a:rPr sz="1200" spc="-25" dirty="0">
                <a:latin typeface="Times New Roman"/>
                <a:cs typeface="Times New Roman"/>
              </a:rPr>
              <a:t> </a:t>
            </a:r>
            <a:r>
              <a:rPr sz="1200" dirty="0">
                <a:latin typeface="Times New Roman"/>
                <a:cs typeface="Times New Roman"/>
              </a:rPr>
              <a:t>where</a:t>
            </a:r>
            <a:r>
              <a:rPr sz="1200" spc="-40" dirty="0">
                <a:latin typeface="Times New Roman"/>
                <a:cs typeface="Times New Roman"/>
              </a:rPr>
              <a:t> </a:t>
            </a:r>
            <a:r>
              <a:rPr sz="1200" dirty="0">
                <a:latin typeface="Times New Roman"/>
                <a:cs typeface="Times New Roman"/>
              </a:rPr>
              <a:t>market</a:t>
            </a:r>
            <a:r>
              <a:rPr sz="1200" spc="-30" dirty="0">
                <a:latin typeface="Times New Roman"/>
                <a:cs typeface="Times New Roman"/>
              </a:rPr>
              <a:t> </a:t>
            </a:r>
            <a:r>
              <a:rPr sz="1200" dirty="0">
                <a:latin typeface="Times New Roman"/>
                <a:cs typeface="Times New Roman"/>
              </a:rPr>
              <a:t>trends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user </a:t>
            </a:r>
            <a:r>
              <a:rPr sz="1200" dirty="0">
                <a:latin typeface="Times New Roman"/>
                <a:cs typeface="Times New Roman"/>
              </a:rPr>
              <a:t>needs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evolve</a:t>
            </a:r>
            <a:r>
              <a:rPr sz="1200" spc="-25" dirty="0">
                <a:latin typeface="Times New Roman"/>
                <a:cs typeface="Times New Roman"/>
              </a:rPr>
              <a:t> </a:t>
            </a:r>
            <a:r>
              <a:rPr sz="1200" spc="-10" dirty="0">
                <a:latin typeface="Times New Roman"/>
                <a:cs typeface="Times New Roman"/>
              </a:rPr>
              <a:t>rapidly.</a:t>
            </a:r>
            <a:endParaRPr sz="1200" dirty="0">
              <a:latin typeface="Times New Roman"/>
              <a:cs typeface="Times New Roman"/>
            </a:endParaRPr>
          </a:p>
          <a:p>
            <a:pPr marL="469265" marR="100330" lvl="3" indent="-228600">
              <a:lnSpc>
                <a:spcPct val="150000"/>
              </a:lnSpc>
              <a:buFont typeface="Times New Roman"/>
              <a:buAutoNum type="arabicPeriod"/>
              <a:tabLst>
                <a:tab pos="469265" algn="l"/>
              </a:tabLst>
            </a:pPr>
            <a:r>
              <a:rPr sz="1200" b="1" spc="-10" dirty="0">
                <a:latin typeface="Times New Roman"/>
                <a:cs typeface="Times New Roman"/>
              </a:rPr>
              <a:t>User-</a:t>
            </a:r>
            <a:r>
              <a:rPr sz="1200" b="1" dirty="0">
                <a:latin typeface="Times New Roman"/>
                <a:cs typeface="Times New Roman"/>
              </a:rPr>
              <a:t>Focused</a:t>
            </a:r>
            <a:r>
              <a:rPr sz="1200" b="1" spc="-20" dirty="0">
                <a:latin typeface="Times New Roman"/>
                <a:cs typeface="Times New Roman"/>
              </a:rPr>
              <a:t> </a:t>
            </a:r>
            <a:r>
              <a:rPr sz="1200" b="1" dirty="0">
                <a:latin typeface="Times New Roman"/>
                <a:cs typeface="Times New Roman"/>
              </a:rPr>
              <a:t>Testing</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continuous</a:t>
            </a:r>
            <a:r>
              <a:rPr sz="1200" spc="-25"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dirty="0">
                <a:latin typeface="Times New Roman"/>
                <a:cs typeface="Times New Roman"/>
              </a:rPr>
              <a:t>loops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iterative</a:t>
            </a:r>
            <a:r>
              <a:rPr sz="1200" spc="-30" dirty="0">
                <a:latin typeface="Times New Roman"/>
                <a:cs typeface="Times New Roman"/>
              </a:rPr>
              <a:t> </a:t>
            </a:r>
            <a:r>
              <a:rPr sz="1200" spc="-10" dirty="0">
                <a:latin typeface="Times New Roman"/>
                <a:cs typeface="Times New Roman"/>
              </a:rPr>
              <a:t>development,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platform</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consistently</a:t>
            </a:r>
            <a:r>
              <a:rPr sz="1200" spc="-20" dirty="0">
                <a:latin typeface="Times New Roman"/>
                <a:cs typeface="Times New Roman"/>
              </a:rPr>
              <a:t> </a:t>
            </a:r>
            <a:r>
              <a:rPr sz="1200" dirty="0">
                <a:latin typeface="Times New Roman"/>
                <a:cs typeface="Times New Roman"/>
              </a:rPr>
              <a:t>tested</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refined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ensure</a:t>
            </a:r>
            <a:r>
              <a:rPr sz="1200" spc="-30" dirty="0">
                <a:latin typeface="Times New Roman"/>
                <a:cs typeface="Times New Roman"/>
              </a:rPr>
              <a:t> </a:t>
            </a:r>
            <a:r>
              <a:rPr sz="1200" dirty="0">
                <a:latin typeface="Times New Roman"/>
                <a:cs typeface="Times New Roman"/>
              </a:rPr>
              <a:t>optimal</a:t>
            </a:r>
            <a:r>
              <a:rPr sz="1200" spc="-25" dirty="0">
                <a:latin typeface="Times New Roman"/>
                <a:cs typeface="Times New Roman"/>
              </a:rPr>
              <a:t> </a:t>
            </a:r>
            <a:r>
              <a:rPr sz="1200" spc="-10" dirty="0">
                <a:latin typeface="Times New Roman"/>
                <a:cs typeface="Times New Roman"/>
              </a:rPr>
              <a:t>functionality</a:t>
            </a:r>
            <a:r>
              <a:rPr sz="1200" spc="-20" dirty="0">
                <a:latin typeface="Times New Roman"/>
                <a:cs typeface="Times New Roman"/>
              </a:rPr>
              <a:t> </a:t>
            </a:r>
            <a:r>
              <a:rPr sz="1200" spc="-25" dirty="0">
                <a:latin typeface="Times New Roman"/>
                <a:cs typeface="Times New Roman"/>
              </a:rPr>
              <a:t>for </a:t>
            </a:r>
            <a:r>
              <a:rPr sz="1200" dirty="0">
                <a:latin typeface="Times New Roman"/>
                <a:cs typeface="Times New Roman"/>
              </a:rPr>
              <a:t>buyers,</a:t>
            </a:r>
            <a:r>
              <a:rPr sz="1200" spc="-30" dirty="0">
                <a:latin typeface="Times New Roman"/>
                <a:cs typeface="Times New Roman"/>
              </a:rPr>
              <a:t> </a:t>
            </a:r>
            <a:r>
              <a:rPr sz="1200" dirty="0">
                <a:latin typeface="Times New Roman"/>
                <a:cs typeface="Times New Roman"/>
              </a:rPr>
              <a:t>sellers,</a:t>
            </a:r>
            <a:r>
              <a:rPr sz="1200" spc="-2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10" dirty="0">
                <a:latin typeface="Times New Roman"/>
                <a:cs typeface="Times New Roman"/>
              </a:rPr>
              <a:t>administrators.</a:t>
            </a:r>
            <a:endParaRPr sz="1200" dirty="0">
              <a:latin typeface="Times New Roman"/>
              <a:cs typeface="Times New Roman"/>
            </a:endParaRPr>
          </a:p>
          <a:p>
            <a:pPr marL="469265" marR="330200" lvl="3" indent="-228600">
              <a:lnSpc>
                <a:spcPct val="150000"/>
              </a:lnSpc>
              <a:buFont typeface="Times New Roman"/>
              <a:buAutoNum type="arabicPeriod"/>
              <a:tabLst>
                <a:tab pos="469265" algn="l"/>
              </a:tabLst>
            </a:pPr>
            <a:r>
              <a:rPr sz="1200" b="1" dirty="0">
                <a:latin typeface="Times New Roman"/>
                <a:cs typeface="Times New Roman"/>
              </a:rPr>
              <a:t>Better</a:t>
            </a:r>
            <a:r>
              <a:rPr sz="1200" b="1" spc="-20" dirty="0">
                <a:latin typeface="Times New Roman"/>
                <a:cs typeface="Times New Roman"/>
              </a:rPr>
              <a:t> </a:t>
            </a:r>
            <a:r>
              <a:rPr sz="1200" b="1" dirty="0">
                <a:latin typeface="Times New Roman"/>
                <a:cs typeface="Times New Roman"/>
              </a:rPr>
              <a:t>Project</a:t>
            </a:r>
            <a:r>
              <a:rPr sz="1200" b="1" spc="-10" dirty="0">
                <a:latin typeface="Times New Roman"/>
                <a:cs typeface="Times New Roman"/>
              </a:rPr>
              <a:t> </a:t>
            </a:r>
            <a:r>
              <a:rPr sz="1200" b="1" dirty="0">
                <a:latin typeface="Times New Roman"/>
                <a:cs typeface="Times New Roman"/>
              </a:rPr>
              <a:t>Control</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Regular</a:t>
            </a:r>
            <a:r>
              <a:rPr sz="1200" spc="-25" dirty="0">
                <a:latin typeface="Times New Roman"/>
                <a:cs typeface="Times New Roman"/>
              </a:rPr>
              <a:t> </a:t>
            </a:r>
            <a:r>
              <a:rPr sz="1200" dirty="0">
                <a:latin typeface="Times New Roman"/>
                <a:cs typeface="Times New Roman"/>
              </a:rPr>
              <a:t>sprint</a:t>
            </a:r>
            <a:r>
              <a:rPr sz="1200" spc="-25" dirty="0">
                <a:latin typeface="Times New Roman"/>
                <a:cs typeface="Times New Roman"/>
              </a:rPr>
              <a:t> </a:t>
            </a:r>
            <a:r>
              <a:rPr sz="1200" dirty="0">
                <a:latin typeface="Times New Roman"/>
                <a:cs typeface="Times New Roman"/>
              </a:rPr>
              <a:t>reviews</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retrospectives</a:t>
            </a:r>
            <a:r>
              <a:rPr sz="1200" spc="-25" dirty="0">
                <a:latin typeface="Times New Roman"/>
                <a:cs typeface="Times New Roman"/>
              </a:rPr>
              <a:t> </a:t>
            </a:r>
            <a:r>
              <a:rPr sz="1200" spc="-10" dirty="0">
                <a:latin typeface="Times New Roman"/>
                <a:cs typeface="Times New Roman"/>
              </a:rPr>
              <a:t>provide </a:t>
            </a:r>
            <a:r>
              <a:rPr sz="1200" dirty="0">
                <a:latin typeface="Times New Roman"/>
                <a:cs typeface="Times New Roman"/>
              </a:rPr>
              <a:t>transparency</a:t>
            </a:r>
            <a:r>
              <a:rPr sz="1200" spc="-35" dirty="0">
                <a:latin typeface="Times New Roman"/>
                <a:cs typeface="Times New Roman"/>
              </a:rPr>
              <a:t> </a:t>
            </a:r>
            <a:r>
              <a:rPr sz="1200" dirty="0">
                <a:latin typeface="Times New Roman"/>
                <a:cs typeface="Times New Roman"/>
              </a:rPr>
              <a:t>into</a:t>
            </a:r>
            <a:r>
              <a:rPr sz="1200" spc="-35" dirty="0">
                <a:latin typeface="Times New Roman"/>
                <a:cs typeface="Times New Roman"/>
              </a:rPr>
              <a:t> </a:t>
            </a:r>
            <a:r>
              <a:rPr sz="1200" dirty="0">
                <a:latin typeface="Times New Roman"/>
                <a:cs typeface="Times New Roman"/>
              </a:rPr>
              <a:t>project</a:t>
            </a:r>
            <a:r>
              <a:rPr sz="1200" spc="-25" dirty="0">
                <a:latin typeface="Times New Roman"/>
                <a:cs typeface="Times New Roman"/>
              </a:rPr>
              <a:t> </a:t>
            </a:r>
            <a:r>
              <a:rPr sz="1200" dirty="0">
                <a:latin typeface="Times New Roman"/>
                <a:cs typeface="Times New Roman"/>
              </a:rPr>
              <a:t>progress.</a:t>
            </a:r>
            <a:r>
              <a:rPr sz="1200" spc="-3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approach</a:t>
            </a:r>
            <a:r>
              <a:rPr sz="1200" spc="-25" dirty="0">
                <a:latin typeface="Times New Roman"/>
                <a:cs typeface="Times New Roman"/>
              </a:rPr>
              <a:t> </a:t>
            </a:r>
            <a:r>
              <a:rPr sz="1200" dirty="0">
                <a:latin typeface="Times New Roman"/>
                <a:cs typeface="Times New Roman"/>
              </a:rPr>
              <a:t>helps</a:t>
            </a:r>
            <a:r>
              <a:rPr sz="1200" spc="-35" dirty="0">
                <a:latin typeface="Times New Roman"/>
                <a:cs typeface="Times New Roman"/>
              </a:rPr>
              <a:t> </a:t>
            </a:r>
            <a:r>
              <a:rPr sz="1200" dirty="0">
                <a:latin typeface="Times New Roman"/>
                <a:cs typeface="Times New Roman"/>
              </a:rPr>
              <a:t>identify</a:t>
            </a:r>
            <a:r>
              <a:rPr sz="1200" spc="-30" dirty="0">
                <a:latin typeface="Times New Roman"/>
                <a:cs typeface="Times New Roman"/>
              </a:rPr>
              <a:t> </a:t>
            </a:r>
            <a:r>
              <a:rPr sz="1200" dirty="0">
                <a:latin typeface="Times New Roman"/>
                <a:cs typeface="Times New Roman"/>
              </a:rPr>
              <a:t>issues</a:t>
            </a:r>
            <a:r>
              <a:rPr sz="1200" spc="-35" dirty="0">
                <a:latin typeface="Times New Roman"/>
                <a:cs typeface="Times New Roman"/>
              </a:rPr>
              <a:t> </a:t>
            </a:r>
            <a:r>
              <a:rPr sz="1200" dirty="0">
                <a:latin typeface="Times New Roman"/>
                <a:cs typeface="Times New Roman"/>
              </a:rPr>
              <a:t>early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allows</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timely</a:t>
            </a:r>
            <a:r>
              <a:rPr sz="1200" spc="-15" dirty="0">
                <a:latin typeface="Times New Roman"/>
                <a:cs typeface="Times New Roman"/>
              </a:rPr>
              <a:t> </a:t>
            </a:r>
            <a:r>
              <a:rPr sz="1200" dirty="0">
                <a:latin typeface="Times New Roman"/>
                <a:cs typeface="Times New Roman"/>
              </a:rPr>
              <a:t>adjustments,</a:t>
            </a:r>
            <a:r>
              <a:rPr sz="1200" spc="-20" dirty="0">
                <a:latin typeface="Times New Roman"/>
                <a:cs typeface="Times New Roman"/>
              </a:rPr>
              <a:t> </a:t>
            </a:r>
            <a:r>
              <a:rPr sz="1200" dirty="0">
                <a:latin typeface="Times New Roman"/>
                <a:cs typeface="Times New Roman"/>
              </a:rPr>
              <a:t>ensuring</a:t>
            </a:r>
            <a:r>
              <a:rPr sz="1200" spc="-1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smoother</a:t>
            </a:r>
            <a:r>
              <a:rPr sz="1200" spc="-25" dirty="0">
                <a:latin typeface="Times New Roman"/>
                <a:cs typeface="Times New Roman"/>
              </a:rPr>
              <a:t> </a:t>
            </a:r>
            <a:r>
              <a:rPr sz="1200" spc="-10" dirty="0">
                <a:latin typeface="Times New Roman"/>
                <a:cs typeface="Times New Roman"/>
              </a:rPr>
              <a:t>development</a:t>
            </a:r>
            <a:r>
              <a:rPr sz="1200" spc="-20" dirty="0">
                <a:latin typeface="Times New Roman"/>
                <a:cs typeface="Times New Roman"/>
              </a:rPr>
              <a:t> </a:t>
            </a:r>
            <a:r>
              <a:rPr sz="1200" spc="-10" dirty="0">
                <a:latin typeface="Times New Roman"/>
                <a:cs typeface="Times New Roman"/>
              </a:rPr>
              <a:t>process.</a:t>
            </a:r>
            <a:endParaRPr sz="1200" dirty="0">
              <a:latin typeface="Times New Roman"/>
              <a:cs typeface="Times New Roman"/>
            </a:endParaRPr>
          </a:p>
          <a:p>
            <a:pPr marL="469265" marR="20955" lvl="3" indent="-228600">
              <a:lnSpc>
                <a:spcPct val="150000"/>
              </a:lnSpc>
              <a:buFont typeface="Times New Roman"/>
              <a:buAutoNum type="arabicPeriod"/>
              <a:tabLst>
                <a:tab pos="469265" algn="l"/>
              </a:tabLst>
            </a:pPr>
            <a:r>
              <a:rPr sz="1200" b="1" dirty="0">
                <a:latin typeface="Times New Roman"/>
                <a:cs typeface="Times New Roman"/>
              </a:rPr>
              <a:t>Creativity</a:t>
            </a:r>
            <a:r>
              <a:rPr sz="1200" b="1" spc="-20" dirty="0">
                <a:latin typeface="Times New Roman"/>
                <a:cs typeface="Times New Roman"/>
              </a:rPr>
              <a:t> </a:t>
            </a:r>
            <a:r>
              <a:rPr sz="1200" b="1" dirty="0">
                <a:latin typeface="Times New Roman"/>
                <a:cs typeface="Times New Roman"/>
              </a:rPr>
              <a:t>and</a:t>
            </a:r>
            <a:r>
              <a:rPr sz="1200" b="1" spc="-5" dirty="0">
                <a:latin typeface="Times New Roman"/>
                <a:cs typeface="Times New Roman"/>
              </a:rPr>
              <a:t> </a:t>
            </a:r>
            <a:r>
              <a:rPr sz="1200" b="1" dirty="0">
                <a:latin typeface="Times New Roman"/>
                <a:cs typeface="Times New Roman"/>
              </a:rPr>
              <a:t>Innovation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Agile</a:t>
            </a:r>
            <a:r>
              <a:rPr sz="1200" spc="-20" dirty="0">
                <a:latin typeface="Times New Roman"/>
                <a:cs typeface="Times New Roman"/>
              </a:rPr>
              <a:t> </a:t>
            </a:r>
            <a:r>
              <a:rPr sz="1200" dirty="0">
                <a:latin typeface="Times New Roman"/>
                <a:cs typeface="Times New Roman"/>
              </a:rPr>
              <a:t>encourages</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collaborative</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adaptive </a:t>
            </a:r>
            <a:r>
              <a:rPr sz="1200" dirty="0">
                <a:latin typeface="Times New Roman"/>
                <a:cs typeface="Times New Roman"/>
              </a:rPr>
              <a:t>environment</a:t>
            </a:r>
            <a:r>
              <a:rPr sz="1200" spc="-35" dirty="0">
                <a:latin typeface="Times New Roman"/>
                <a:cs typeface="Times New Roman"/>
              </a:rPr>
              <a:t> </a:t>
            </a:r>
            <a:r>
              <a:rPr sz="1200" dirty="0">
                <a:latin typeface="Times New Roman"/>
                <a:cs typeface="Times New Roman"/>
              </a:rPr>
              <a:t>where</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team</a:t>
            </a:r>
            <a:r>
              <a:rPr sz="1200" spc="-3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implement</a:t>
            </a:r>
            <a:r>
              <a:rPr sz="1200" spc="-20" dirty="0">
                <a:latin typeface="Times New Roman"/>
                <a:cs typeface="Times New Roman"/>
              </a:rPr>
              <a:t> </a:t>
            </a:r>
            <a:r>
              <a:rPr sz="1200" dirty="0">
                <a:latin typeface="Times New Roman"/>
                <a:cs typeface="Times New Roman"/>
              </a:rPr>
              <a:t>innovative</a:t>
            </a:r>
            <a:r>
              <a:rPr sz="1200" spc="-35" dirty="0">
                <a:latin typeface="Times New Roman"/>
                <a:cs typeface="Times New Roman"/>
              </a:rPr>
              <a:t> </a:t>
            </a:r>
            <a:r>
              <a:rPr sz="1200" dirty="0">
                <a:latin typeface="Times New Roman"/>
                <a:cs typeface="Times New Roman"/>
              </a:rPr>
              <a:t>features</a:t>
            </a:r>
            <a:r>
              <a:rPr sz="1200" spc="-30" dirty="0">
                <a:latin typeface="Times New Roman"/>
                <a:cs typeface="Times New Roman"/>
              </a:rPr>
              <a:t> </a:t>
            </a:r>
            <a:r>
              <a:rPr sz="1200" dirty="0">
                <a:latin typeface="Times New Roman"/>
                <a:cs typeface="Times New Roman"/>
              </a:rPr>
              <a:t>such</a:t>
            </a:r>
            <a:r>
              <a:rPr sz="1200" spc="-3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10" dirty="0">
                <a:latin typeface="Times New Roman"/>
                <a:cs typeface="Times New Roman"/>
              </a:rPr>
              <a:t>real-</a:t>
            </a:r>
            <a:r>
              <a:rPr sz="1200" spc="-20" dirty="0">
                <a:latin typeface="Times New Roman"/>
                <a:cs typeface="Times New Roman"/>
              </a:rPr>
              <a:t>time </a:t>
            </a:r>
            <a:r>
              <a:rPr sz="1200" dirty="0">
                <a:latin typeface="Times New Roman"/>
                <a:cs typeface="Times New Roman"/>
              </a:rPr>
              <a:t>bidding</a:t>
            </a:r>
            <a:r>
              <a:rPr sz="1200" spc="-20" dirty="0">
                <a:latin typeface="Times New Roman"/>
                <a:cs typeface="Times New Roman"/>
              </a:rPr>
              <a:t> </a:t>
            </a:r>
            <a:r>
              <a:rPr sz="1200" spc="-10" dirty="0">
                <a:latin typeface="Times New Roman"/>
                <a:cs typeface="Times New Roman"/>
              </a:rPr>
              <a:t>synchronization,</a:t>
            </a:r>
            <a:r>
              <a:rPr sz="1200" spc="-20"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20" dirty="0">
                <a:latin typeface="Times New Roman"/>
                <a:cs typeface="Times New Roman"/>
              </a:rPr>
              <a:t> </a:t>
            </a:r>
            <a:r>
              <a:rPr sz="1200" dirty="0">
                <a:latin typeface="Times New Roman"/>
                <a:cs typeface="Times New Roman"/>
              </a:rPr>
              <a:t>price</a:t>
            </a:r>
            <a:r>
              <a:rPr sz="1200" spc="-20" dirty="0">
                <a:latin typeface="Times New Roman"/>
                <a:cs typeface="Times New Roman"/>
              </a:rPr>
              <a:t> </a:t>
            </a:r>
            <a:r>
              <a:rPr sz="1200" dirty="0">
                <a:latin typeface="Times New Roman"/>
                <a:cs typeface="Times New Roman"/>
              </a:rPr>
              <a:t>prediction,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intelligent</a:t>
            </a:r>
            <a:r>
              <a:rPr sz="1200" spc="-20" dirty="0">
                <a:latin typeface="Times New Roman"/>
                <a:cs typeface="Times New Roman"/>
              </a:rPr>
              <a:t> </a:t>
            </a:r>
            <a:r>
              <a:rPr sz="1200" dirty="0">
                <a:latin typeface="Times New Roman"/>
                <a:cs typeface="Times New Roman"/>
              </a:rPr>
              <a:t>fraud</a:t>
            </a:r>
            <a:r>
              <a:rPr sz="1200" spc="-10" dirty="0">
                <a:latin typeface="Times New Roman"/>
                <a:cs typeface="Times New Roman"/>
              </a:rPr>
              <a:t> detection</a:t>
            </a:r>
            <a:endParaRPr sz="1200" dirty="0">
              <a:latin typeface="Times New Roman"/>
              <a:cs typeface="Times New Roman"/>
            </a:endParaRPr>
          </a:p>
          <a:p>
            <a:pPr marL="469265">
              <a:lnSpc>
                <a:spcPct val="150000"/>
              </a:lnSpc>
            </a:pPr>
            <a:r>
              <a:rPr sz="1200" spc="-10" dirty="0">
                <a:latin typeface="Times New Roman"/>
                <a:cs typeface="Times New Roman"/>
              </a:rPr>
              <a:t>mechanisms.</a:t>
            </a:r>
            <a:endParaRPr sz="1200" dirty="0">
              <a:latin typeface="Times New Roman"/>
              <a:cs typeface="Times New Roman"/>
            </a:endParaRPr>
          </a:p>
          <a:p>
            <a:pPr marL="469265" marR="196850" lvl="3" indent="-228600">
              <a:lnSpc>
                <a:spcPct val="150000"/>
              </a:lnSpc>
              <a:spcBef>
                <a:spcPts val="65"/>
              </a:spcBef>
              <a:buFont typeface="Times New Roman"/>
              <a:buAutoNum type="arabicPeriod" startAt="5"/>
              <a:tabLst>
                <a:tab pos="469265" algn="l"/>
              </a:tabLst>
            </a:pPr>
            <a:r>
              <a:rPr sz="1200" b="1" dirty="0">
                <a:latin typeface="Times New Roman"/>
                <a:cs typeface="Times New Roman"/>
              </a:rPr>
              <a:t>Reduces</a:t>
            </a:r>
            <a:r>
              <a:rPr sz="1200" b="1" spc="-35" dirty="0">
                <a:latin typeface="Times New Roman"/>
                <a:cs typeface="Times New Roman"/>
              </a:rPr>
              <a:t> </a:t>
            </a:r>
            <a:r>
              <a:rPr sz="1200" b="1" dirty="0">
                <a:latin typeface="Times New Roman"/>
                <a:cs typeface="Times New Roman"/>
              </a:rPr>
              <a:t>Technical</a:t>
            </a:r>
            <a:r>
              <a:rPr sz="1200" b="1" spc="-30" dirty="0">
                <a:latin typeface="Times New Roman"/>
                <a:cs typeface="Times New Roman"/>
              </a:rPr>
              <a:t> </a:t>
            </a:r>
            <a:r>
              <a:rPr sz="1200" b="1" dirty="0">
                <a:latin typeface="Times New Roman"/>
                <a:cs typeface="Times New Roman"/>
              </a:rPr>
              <a:t>Debt</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Through</a:t>
            </a:r>
            <a:r>
              <a:rPr sz="1200" spc="-35" dirty="0">
                <a:latin typeface="Times New Roman"/>
                <a:cs typeface="Times New Roman"/>
              </a:rPr>
              <a:t> </a:t>
            </a:r>
            <a:r>
              <a:rPr sz="1200" dirty="0">
                <a:latin typeface="Times New Roman"/>
                <a:cs typeface="Times New Roman"/>
              </a:rPr>
              <a:t>continuous</a:t>
            </a:r>
            <a:r>
              <a:rPr sz="1200" spc="-35" dirty="0">
                <a:latin typeface="Times New Roman"/>
                <a:cs typeface="Times New Roman"/>
              </a:rPr>
              <a:t> </a:t>
            </a:r>
            <a:r>
              <a:rPr sz="1200" dirty="0">
                <a:latin typeface="Times New Roman"/>
                <a:cs typeface="Times New Roman"/>
              </a:rPr>
              <a:t>integration</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prompt</a:t>
            </a:r>
            <a:r>
              <a:rPr sz="1200" spc="-35" dirty="0">
                <a:latin typeface="Times New Roman"/>
                <a:cs typeface="Times New Roman"/>
              </a:rPr>
              <a:t> </a:t>
            </a:r>
            <a:r>
              <a:rPr sz="1200" dirty="0">
                <a:latin typeface="Times New Roman"/>
                <a:cs typeface="Times New Roman"/>
              </a:rPr>
              <a:t>bug</a:t>
            </a:r>
            <a:r>
              <a:rPr sz="1200" spc="-25" dirty="0">
                <a:latin typeface="Times New Roman"/>
                <a:cs typeface="Times New Roman"/>
              </a:rPr>
              <a:t> </a:t>
            </a:r>
            <a:r>
              <a:rPr sz="1200" spc="-10" dirty="0">
                <a:latin typeface="Times New Roman"/>
                <a:cs typeface="Times New Roman"/>
              </a:rPr>
              <a:t>fixing, </a:t>
            </a:r>
            <a:r>
              <a:rPr sz="1200" dirty="0">
                <a:latin typeface="Times New Roman"/>
                <a:cs typeface="Times New Roman"/>
              </a:rPr>
              <a:t>Agile</a:t>
            </a:r>
            <a:r>
              <a:rPr sz="1200" spc="-35" dirty="0">
                <a:latin typeface="Times New Roman"/>
                <a:cs typeface="Times New Roman"/>
              </a:rPr>
              <a:t> </a:t>
            </a:r>
            <a:r>
              <a:rPr sz="1200" dirty="0">
                <a:latin typeface="Times New Roman"/>
                <a:cs typeface="Times New Roman"/>
              </a:rPr>
              <a:t>helps</a:t>
            </a:r>
            <a:r>
              <a:rPr sz="1200" spc="-20" dirty="0">
                <a:latin typeface="Times New Roman"/>
                <a:cs typeface="Times New Roman"/>
              </a:rPr>
              <a:t> </a:t>
            </a:r>
            <a:r>
              <a:rPr sz="1200" dirty="0">
                <a:latin typeface="Times New Roman"/>
                <a:cs typeface="Times New Roman"/>
              </a:rPr>
              <a:t>prevent</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buildup</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unresolved</a:t>
            </a:r>
            <a:r>
              <a:rPr sz="1200" spc="-20" dirty="0">
                <a:latin typeface="Times New Roman"/>
                <a:cs typeface="Times New Roman"/>
              </a:rPr>
              <a:t> </a:t>
            </a:r>
            <a:r>
              <a:rPr sz="1200" dirty="0">
                <a:latin typeface="Times New Roman"/>
                <a:cs typeface="Times New Roman"/>
              </a:rPr>
              <a:t>issues,</a:t>
            </a:r>
            <a:r>
              <a:rPr sz="1200" spc="-25" dirty="0">
                <a:latin typeface="Times New Roman"/>
                <a:cs typeface="Times New Roman"/>
              </a:rPr>
              <a:t> </a:t>
            </a:r>
            <a:r>
              <a:rPr sz="1200" dirty="0">
                <a:latin typeface="Times New Roman"/>
                <a:cs typeface="Times New Roman"/>
              </a:rPr>
              <a:t>leading</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stable</a:t>
            </a:r>
            <a:r>
              <a:rPr sz="1200" spc="-15" dirty="0">
                <a:latin typeface="Times New Roman"/>
                <a:cs typeface="Times New Roman"/>
              </a:rPr>
              <a:t> </a:t>
            </a:r>
            <a:r>
              <a:rPr sz="1200" spc="-25" dirty="0">
                <a:latin typeface="Times New Roman"/>
                <a:cs typeface="Times New Roman"/>
              </a:rPr>
              <a:t>and </a:t>
            </a:r>
            <a:r>
              <a:rPr sz="1200" dirty="0">
                <a:latin typeface="Times New Roman"/>
                <a:cs typeface="Times New Roman"/>
              </a:rPr>
              <a:t>maintainable</a:t>
            </a:r>
            <a:r>
              <a:rPr sz="1200" spc="-45" dirty="0">
                <a:latin typeface="Times New Roman"/>
                <a:cs typeface="Times New Roman"/>
              </a:rPr>
              <a:t> </a:t>
            </a:r>
            <a:r>
              <a:rPr sz="1200" dirty="0">
                <a:latin typeface="Times New Roman"/>
                <a:cs typeface="Times New Roman"/>
              </a:rPr>
              <a:t>platform</a:t>
            </a:r>
            <a:r>
              <a:rPr sz="1200" spc="-40" dirty="0">
                <a:latin typeface="Times New Roman"/>
                <a:cs typeface="Times New Roman"/>
              </a:rPr>
              <a:t> </a:t>
            </a:r>
            <a:r>
              <a:rPr sz="1200" dirty="0">
                <a:latin typeface="Times New Roman"/>
                <a:cs typeface="Times New Roman"/>
              </a:rPr>
              <a:t>over</a:t>
            </a:r>
            <a:r>
              <a:rPr sz="1200" spc="-40" dirty="0">
                <a:latin typeface="Times New Roman"/>
                <a:cs typeface="Times New Roman"/>
              </a:rPr>
              <a:t> </a:t>
            </a:r>
            <a:r>
              <a:rPr sz="1200" spc="-10" dirty="0">
                <a:latin typeface="Times New Roman"/>
                <a:cs typeface="Times New Roman"/>
              </a:rPr>
              <a:t>time.</a:t>
            </a:r>
            <a:endParaRPr sz="1200" dirty="0">
              <a:latin typeface="Times New Roman"/>
              <a:cs typeface="Times New Roman"/>
            </a:endParaRPr>
          </a:p>
          <a:p>
            <a:pPr marL="469265" marR="92075" lvl="3" indent="-228600">
              <a:lnSpc>
                <a:spcPct val="150000"/>
              </a:lnSpc>
              <a:buFont typeface="Times New Roman"/>
              <a:buAutoNum type="arabicPeriod" startAt="5"/>
              <a:tabLst>
                <a:tab pos="469265" algn="l"/>
              </a:tabLst>
            </a:pPr>
            <a:r>
              <a:rPr sz="1200" b="1" dirty="0">
                <a:latin typeface="Times New Roman"/>
                <a:cs typeface="Times New Roman"/>
              </a:rPr>
              <a:t>Improved</a:t>
            </a:r>
            <a:r>
              <a:rPr sz="1200" b="1" spc="-30" dirty="0">
                <a:latin typeface="Times New Roman"/>
                <a:cs typeface="Times New Roman"/>
              </a:rPr>
              <a:t> </a:t>
            </a:r>
            <a:r>
              <a:rPr sz="1200" b="1" dirty="0">
                <a:latin typeface="Times New Roman"/>
                <a:cs typeface="Times New Roman"/>
              </a:rPr>
              <a:t>Quality</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Frequent</a:t>
            </a:r>
            <a:r>
              <a:rPr sz="1200" spc="-35" dirty="0">
                <a:latin typeface="Times New Roman"/>
                <a:cs typeface="Times New Roman"/>
              </a:rPr>
              <a:t> </a:t>
            </a:r>
            <a:r>
              <a:rPr sz="1200" dirty="0">
                <a:latin typeface="Times New Roman"/>
                <a:cs typeface="Times New Roman"/>
              </a:rPr>
              <a:t>iterations</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strong</a:t>
            </a:r>
            <a:r>
              <a:rPr sz="1200" spc="-30" dirty="0">
                <a:latin typeface="Times New Roman"/>
                <a:cs typeface="Times New Roman"/>
              </a:rPr>
              <a:t> </a:t>
            </a:r>
            <a:r>
              <a:rPr sz="1200" dirty="0">
                <a:latin typeface="Times New Roman"/>
                <a:cs typeface="Times New Roman"/>
              </a:rPr>
              <a:t>quality</a:t>
            </a:r>
            <a:r>
              <a:rPr sz="1200" spc="-35" dirty="0">
                <a:latin typeface="Times New Roman"/>
                <a:cs typeface="Times New Roman"/>
              </a:rPr>
              <a:t> </a:t>
            </a:r>
            <a:r>
              <a:rPr sz="1200" dirty="0">
                <a:latin typeface="Times New Roman"/>
                <a:cs typeface="Times New Roman"/>
              </a:rPr>
              <a:t>assurance</a:t>
            </a:r>
            <a:r>
              <a:rPr sz="1200" spc="-40" dirty="0">
                <a:latin typeface="Times New Roman"/>
                <a:cs typeface="Times New Roman"/>
              </a:rPr>
              <a:t> </a:t>
            </a:r>
            <a:r>
              <a:rPr sz="1200" dirty="0">
                <a:latin typeface="Times New Roman"/>
                <a:cs typeface="Times New Roman"/>
              </a:rPr>
              <a:t>practices</a:t>
            </a:r>
            <a:r>
              <a:rPr sz="1200" spc="-35" dirty="0">
                <a:latin typeface="Times New Roman"/>
                <a:cs typeface="Times New Roman"/>
              </a:rPr>
              <a:t> </a:t>
            </a:r>
            <a:r>
              <a:rPr sz="1200" spc="-10" dirty="0">
                <a:latin typeface="Times New Roman"/>
                <a:cs typeface="Times New Roman"/>
              </a:rPr>
              <a:t>result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reliable,</a:t>
            </a:r>
            <a:r>
              <a:rPr sz="1200" spc="-20" dirty="0">
                <a:latin typeface="Times New Roman"/>
                <a:cs typeface="Times New Roman"/>
              </a:rPr>
              <a:t> </a:t>
            </a:r>
            <a:r>
              <a:rPr sz="1200" dirty="0">
                <a:latin typeface="Times New Roman"/>
                <a:cs typeface="Times New Roman"/>
              </a:rPr>
              <a:t>secure,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efficient</a:t>
            </a:r>
            <a:r>
              <a:rPr sz="1200" spc="-20" dirty="0">
                <a:latin typeface="Times New Roman"/>
                <a:cs typeface="Times New Roman"/>
              </a:rPr>
              <a:t> </a:t>
            </a:r>
            <a:r>
              <a:rPr sz="1200" dirty="0">
                <a:latin typeface="Times New Roman"/>
                <a:cs typeface="Times New Roman"/>
              </a:rPr>
              <a:t>platform</a:t>
            </a:r>
            <a:r>
              <a:rPr sz="1200" spc="-2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meets</a:t>
            </a:r>
            <a:r>
              <a:rPr sz="1200" spc="-25" dirty="0">
                <a:latin typeface="Times New Roman"/>
                <a:cs typeface="Times New Roman"/>
              </a:rPr>
              <a:t> </a:t>
            </a:r>
            <a:r>
              <a:rPr sz="1200" dirty="0">
                <a:latin typeface="Times New Roman"/>
                <a:cs typeface="Times New Roman"/>
              </a:rPr>
              <a:t>high</a:t>
            </a:r>
            <a:r>
              <a:rPr sz="1200" spc="-20" dirty="0">
                <a:latin typeface="Times New Roman"/>
                <a:cs typeface="Times New Roman"/>
              </a:rPr>
              <a:t> </a:t>
            </a:r>
            <a:r>
              <a:rPr sz="1200" dirty="0">
                <a:latin typeface="Times New Roman"/>
                <a:cs typeface="Times New Roman"/>
              </a:rPr>
              <a:t>standards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usability, </a:t>
            </a:r>
            <a:r>
              <a:rPr sz="1200" dirty="0">
                <a:latin typeface="Times New Roman"/>
                <a:cs typeface="Times New Roman"/>
              </a:rPr>
              <a:t>performance,</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security.</a:t>
            </a:r>
            <a:endParaRPr sz="12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10</a:t>
            </a:r>
          </a:p>
        </p:txBody>
      </p:sp>
      <p:sp>
        <p:nvSpPr>
          <p:cNvPr id="2" name="object 2"/>
          <p:cNvSpPr txBox="1"/>
          <p:nvPr/>
        </p:nvSpPr>
        <p:spPr>
          <a:xfrm>
            <a:off x="1176324" y="888238"/>
            <a:ext cx="5696585" cy="6652462"/>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Chapter</a:t>
            </a:r>
            <a:r>
              <a:rPr sz="1600" b="1" spc="-70" dirty="0">
                <a:latin typeface="Times New Roman"/>
                <a:cs typeface="Times New Roman"/>
              </a:rPr>
              <a:t> </a:t>
            </a:r>
            <a:r>
              <a:rPr sz="1600" b="1" dirty="0">
                <a:latin typeface="Times New Roman"/>
                <a:cs typeface="Times New Roman"/>
              </a:rPr>
              <a:t>2:</a:t>
            </a:r>
            <a:r>
              <a:rPr sz="1600" b="1" spc="-35" dirty="0">
                <a:latin typeface="Times New Roman"/>
                <a:cs typeface="Times New Roman"/>
              </a:rPr>
              <a:t> </a:t>
            </a:r>
            <a:r>
              <a:rPr sz="1600" b="1" dirty="0">
                <a:latin typeface="Times New Roman"/>
                <a:cs typeface="Times New Roman"/>
              </a:rPr>
              <a:t>Problem</a:t>
            </a:r>
            <a:r>
              <a:rPr sz="1600" b="1" spc="-50" dirty="0">
                <a:latin typeface="Times New Roman"/>
                <a:cs typeface="Times New Roman"/>
              </a:rPr>
              <a:t> </a:t>
            </a:r>
            <a:r>
              <a:rPr sz="1600" b="1" spc="-10" dirty="0">
                <a:latin typeface="Times New Roman"/>
                <a:cs typeface="Times New Roman"/>
              </a:rPr>
              <a:t>Definition</a:t>
            </a:r>
            <a:endParaRPr sz="1600" dirty="0">
              <a:latin typeface="Times New Roman"/>
              <a:cs typeface="Times New Roman"/>
            </a:endParaRPr>
          </a:p>
          <a:p>
            <a:pPr marL="12700" marR="5715" algn="just">
              <a:lnSpc>
                <a:spcPct val="143600"/>
              </a:lnSpc>
              <a:spcBef>
                <a:spcPts val="1645"/>
              </a:spcBef>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chapter,</a:t>
            </a:r>
            <a:r>
              <a:rPr sz="1200" spc="-5" dirty="0">
                <a:latin typeface="Times New Roman"/>
                <a:cs typeface="Times New Roman"/>
              </a:rPr>
              <a:t> </a:t>
            </a:r>
            <a:r>
              <a:rPr sz="1200" dirty="0">
                <a:latin typeface="Times New Roman"/>
                <a:cs typeface="Times New Roman"/>
              </a:rPr>
              <a:t>we</a:t>
            </a:r>
            <a:r>
              <a:rPr sz="1200" spc="-10" dirty="0">
                <a:latin typeface="Times New Roman"/>
                <a:cs typeface="Times New Roman"/>
              </a:rPr>
              <a:t> </a:t>
            </a:r>
            <a:r>
              <a:rPr sz="1200" dirty="0">
                <a:latin typeface="Times New Roman"/>
                <a:cs typeface="Times New Roman"/>
              </a:rPr>
              <a:t>will discuss</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challenges</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project, "Auction</a:t>
            </a:r>
            <a:r>
              <a:rPr sz="1200" spc="-5" dirty="0">
                <a:latin typeface="Times New Roman"/>
                <a:cs typeface="Times New Roman"/>
              </a:rPr>
              <a:t> </a:t>
            </a:r>
            <a:r>
              <a:rPr sz="1200" dirty="0">
                <a:latin typeface="Times New Roman"/>
                <a:cs typeface="Times New Roman"/>
              </a:rPr>
              <a:t>Abode: AI-</a:t>
            </a:r>
            <a:r>
              <a:rPr sz="1200" spc="-10" dirty="0">
                <a:latin typeface="Times New Roman"/>
                <a:cs typeface="Times New Roman"/>
              </a:rPr>
              <a:t>Powered </a:t>
            </a:r>
            <a:r>
              <a:rPr sz="1200" dirty="0">
                <a:latin typeface="Times New Roman"/>
                <a:cs typeface="Times New Roman"/>
              </a:rPr>
              <a:t>Real</a:t>
            </a:r>
            <a:r>
              <a:rPr sz="1200" spc="30" dirty="0">
                <a:latin typeface="Times New Roman"/>
                <a:cs typeface="Times New Roman"/>
              </a:rPr>
              <a:t> </a:t>
            </a:r>
            <a:r>
              <a:rPr sz="1200" dirty="0">
                <a:latin typeface="Times New Roman"/>
                <a:cs typeface="Times New Roman"/>
              </a:rPr>
              <a:t>Estate</a:t>
            </a:r>
            <a:r>
              <a:rPr sz="1200" spc="25" dirty="0">
                <a:latin typeface="Times New Roman"/>
                <a:cs typeface="Times New Roman"/>
              </a:rPr>
              <a:t> </a:t>
            </a:r>
            <a:r>
              <a:rPr sz="1200" dirty="0">
                <a:latin typeface="Times New Roman"/>
                <a:cs typeface="Times New Roman"/>
              </a:rPr>
              <a:t>Bidding</a:t>
            </a:r>
            <a:r>
              <a:rPr sz="1200" spc="30" dirty="0">
                <a:latin typeface="Times New Roman"/>
                <a:cs typeface="Times New Roman"/>
              </a:rPr>
              <a:t> </a:t>
            </a:r>
            <a:r>
              <a:rPr sz="1200" dirty="0">
                <a:latin typeface="Times New Roman"/>
                <a:cs typeface="Times New Roman"/>
              </a:rPr>
              <a:t>Platform,"</a:t>
            </a:r>
            <a:r>
              <a:rPr sz="1200" spc="35" dirty="0">
                <a:latin typeface="Times New Roman"/>
                <a:cs typeface="Times New Roman"/>
              </a:rPr>
              <a:t> </a:t>
            </a:r>
            <a:r>
              <a:rPr sz="1200" dirty="0">
                <a:latin typeface="Times New Roman"/>
                <a:cs typeface="Times New Roman"/>
              </a:rPr>
              <a:t>aims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address.</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primary</a:t>
            </a:r>
            <a:r>
              <a:rPr sz="1200" spc="30" dirty="0">
                <a:latin typeface="Times New Roman"/>
                <a:cs typeface="Times New Roman"/>
              </a:rPr>
              <a:t> </a:t>
            </a:r>
            <a:r>
              <a:rPr sz="1200" dirty="0">
                <a:latin typeface="Times New Roman"/>
                <a:cs typeface="Times New Roman"/>
              </a:rPr>
              <a:t>problem</a:t>
            </a:r>
            <a:r>
              <a:rPr sz="1200" spc="35" dirty="0">
                <a:latin typeface="Times New Roman"/>
                <a:cs typeface="Times New Roman"/>
              </a:rPr>
              <a:t> </a:t>
            </a:r>
            <a:r>
              <a:rPr sz="1200" dirty="0">
                <a:latin typeface="Times New Roman"/>
                <a:cs typeface="Times New Roman"/>
              </a:rPr>
              <a:t>lies</a:t>
            </a:r>
            <a:r>
              <a:rPr sz="1200" spc="3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limitations </a:t>
            </a:r>
            <a:r>
              <a:rPr sz="1200" dirty="0">
                <a:latin typeface="Times New Roman"/>
                <a:cs typeface="Times New Roman"/>
              </a:rPr>
              <a:t>of</a:t>
            </a:r>
            <a:r>
              <a:rPr sz="1200" spc="175" dirty="0">
                <a:latin typeface="Times New Roman"/>
                <a:cs typeface="Times New Roman"/>
              </a:rPr>
              <a:t> </a:t>
            </a:r>
            <a:r>
              <a:rPr sz="1200" dirty="0">
                <a:latin typeface="Times New Roman"/>
                <a:cs typeface="Times New Roman"/>
              </a:rPr>
              <a:t>traditional</a:t>
            </a:r>
            <a:r>
              <a:rPr sz="1200" spc="200" dirty="0">
                <a:latin typeface="Times New Roman"/>
                <a:cs typeface="Times New Roman"/>
              </a:rPr>
              <a:t> </a:t>
            </a:r>
            <a:r>
              <a:rPr sz="1200" dirty="0">
                <a:latin typeface="Times New Roman"/>
                <a:cs typeface="Times New Roman"/>
              </a:rPr>
              <a:t>real</a:t>
            </a:r>
            <a:r>
              <a:rPr sz="1200" spc="190" dirty="0">
                <a:latin typeface="Times New Roman"/>
                <a:cs typeface="Times New Roman"/>
              </a:rPr>
              <a:t> </a:t>
            </a:r>
            <a:r>
              <a:rPr sz="1200" dirty="0">
                <a:latin typeface="Times New Roman"/>
                <a:cs typeface="Times New Roman"/>
              </a:rPr>
              <a:t>estate</a:t>
            </a:r>
            <a:r>
              <a:rPr sz="1200" spc="190" dirty="0">
                <a:latin typeface="Times New Roman"/>
                <a:cs typeface="Times New Roman"/>
              </a:rPr>
              <a:t> </a:t>
            </a:r>
            <a:r>
              <a:rPr sz="1200" dirty="0">
                <a:latin typeface="Times New Roman"/>
                <a:cs typeface="Times New Roman"/>
              </a:rPr>
              <a:t>auction</a:t>
            </a:r>
            <a:r>
              <a:rPr sz="1200" spc="180" dirty="0">
                <a:latin typeface="Times New Roman"/>
                <a:cs typeface="Times New Roman"/>
              </a:rPr>
              <a:t> </a:t>
            </a:r>
            <a:r>
              <a:rPr sz="1200" dirty="0">
                <a:latin typeface="Times New Roman"/>
                <a:cs typeface="Times New Roman"/>
              </a:rPr>
              <a:t>systems,</a:t>
            </a:r>
            <a:r>
              <a:rPr sz="1200" spc="195" dirty="0">
                <a:latin typeface="Times New Roman"/>
                <a:cs typeface="Times New Roman"/>
              </a:rPr>
              <a:t> </a:t>
            </a:r>
            <a:r>
              <a:rPr sz="1200" dirty="0">
                <a:latin typeface="Times New Roman"/>
                <a:cs typeface="Times New Roman"/>
              </a:rPr>
              <a:t>which</a:t>
            </a:r>
            <a:r>
              <a:rPr sz="1200" spc="195" dirty="0">
                <a:latin typeface="Times New Roman"/>
                <a:cs typeface="Times New Roman"/>
              </a:rPr>
              <a:t> </a:t>
            </a:r>
            <a:r>
              <a:rPr sz="1200" dirty="0">
                <a:latin typeface="Times New Roman"/>
                <a:cs typeface="Times New Roman"/>
              </a:rPr>
              <a:t>often</a:t>
            </a:r>
            <a:r>
              <a:rPr sz="1200" spc="175" dirty="0">
                <a:latin typeface="Times New Roman"/>
                <a:cs typeface="Times New Roman"/>
              </a:rPr>
              <a:t> </a:t>
            </a:r>
            <a:r>
              <a:rPr sz="1200" dirty="0">
                <a:latin typeface="Times New Roman"/>
                <a:cs typeface="Times New Roman"/>
              </a:rPr>
              <a:t>suffer</a:t>
            </a:r>
            <a:r>
              <a:rPr sz="1200" spc="180" dirty="0">
                <a:latin typeface="Times New Roman"/>
                <a:cs typeface="Times New Roman"/>
              </a:rPr>
              <a:t> </a:t>
            </a:r>
            <a:r>
              <a:rPr sz="1200" dirty="0">
                <a:latin typeface="Times New Roman"/>
                <a:cs typeface="Times New Roman"/>
              </a:rPr>
              <a:t>from</a:t>
            </a:r>
            <a:r>
              <a:rPr sz="1200" spc="180" dirty="0">
                <a:latin typeface="Times New Roman"/>
                <a:cs typeface="Times New Roman"/>
              </a:rPr>
              <a:t> </a:t>
            </a:r>
            <a:r>
              <a:rPr sz="1200" dirty="0">
                <a:latin typeface="Times New Roman"/>
                <a:cs typeface="Times New Roman"/>
              </a:rPr>
              <a:t>inefficiencies,</a:t>
            </a:r>
            <a:r>
              <a:rPr sz="1200" spc="175" dirty="0">
                <a:latin typeface="Times New Roman"/>
                <a:cs typeface="Times New Roman"/>
              </a:rPr>
              <a:t> </a:t>
            </a:r>
            <a:r>
              <a:rPr sz="1200" dirty="0">
                <a:latin typeface="Times New Roman"/>
                <a:cs typeface="Times New Roman"/>
              </a:rPr>
              <a:t>lack</a:t>
            </a:r>
            <a:r>
              <a:rPr sz="1200" spc="195" dirty="0">
                <a:latin typeface="Times New Roman"/>
                <a:cs typeface="Times New Roman"/>
              </a:rPr>
              <a:t> </a:t>
            </a:r>
            <a:r>
              <a:rPr sz="1200" spc="-25" dirty="0">
                <a:latin typeface="Times New Roman"/>
                <a:cs typeface="Times New Roman"/>
              </a:rPr>
              <a:t>of </a:t>
            </a:r>
            <a:r>
              <a:rPr sz="1200" dirty="0">
                <a:latin typeface="Times New Roman"/>
                <a:cs typeface="Times New Roman"/>
              </a:rPr>
              <a:t>transparency,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spc="-10" dirty="0">
                <a:latin typeface="Times New Roman"/>
                <a:cs typeface="Times New Roman"/>
              </a:rPr>
              <a:t>vulnerabilities.</a:t>
            </a: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12700" marR="6985" algn="just">
              <a:lnSpc>
                <a:spcPct val="143800"/>
              </a:lnSpc>
            </a:pPr>
            <a:r>
              <a:rPr sz="1200" dirty="0">
                <a:latin typeface="Times New Roman"/>
                <a:cs typeface="Times New Roman"/>
              </a:rPr>
              <a:t>Traditional</a:t>
            </a:r>
            <a:r>
              <a:rPr sz="1200" spc="190" dirty="0">
                <a:latin typeface="Times New Roman"/>
                <a:cs typeface="Times New Roman"/>
              </a:rPr>
              <a:t> </a:t>
            </a:r>
            <a:r>
              <a:rPr sz="1200" dirty="0">
                <a:latin typeface="Times New Roman"/>
                <a:cs typeface="Times New Roman"/>
              </a:rPr>
              <a:t>auction</a:t>
            </a:r>
            <a:r>
              <a:rPr sz="1200" spc="190" dirty="0">
                <a:latin typeface="Times New Roman"/>
                <a:cs typeface="Times New Roman"/>
              </a:rPr>
              <a:t> </a:t>
            </a:r>
            <a:r>
              <a:rPr sz="1200" dirty="0">
                <a:latin typeface="Times New Roman"/>
                <a:cs typeface="Times New Roman"/>
              </a:rPr>
              <a:t>platforms</a:t>
            </a:r>
            <a:r>
              <a:rPr sz="1200" spc="190" dirty="0">
                <a:latin typeface="Times New Roman"/>
                <a:cs typeface="Times New Roman"/>
              </a:rPr>
              <a:t> </a:t>
            </a:r>
            <a:r>
              <a:rPr sz="1200" dirty="0">
                <a:latin typeface="Times New Roman"/>
                <a:cs typeface="Times New Roman"/>
              </a:rPr>
              <a:t>frequently</a:t>
            </a:r>
            <a:r>
              <a:rPr sz="1200" spc="190" dirty="0">
                <a:latin typeface="Times New Roman"/>
                <a:cs typeface="Times New Roman"/>
              </a:rPr>
              <a:t> </a:t>
            </a:r>
            <a:r>
              <a:rPr sz="1200" dirty="0">
                <a:latin typeface="Times New Roman"/>
                <a:cs typeface="Times New Roman"/>
              </a:rPr>
              <a:t>fail</a:t>
            </a:r>
            <a:r>
              <a:rPr sz="1200" spc="195" dirty="0">
                <a:latin typeface="Times New Roman"/>
                <a:cs typeface="Times New Roman"/>
              </a:rPr>
              <a:t> </a:t>
            </a:r>
            <a:r>
              <a:rPr sz="1200" dirty="0">
                <a:latin typeface="Times New Roman"/>
                <a:cs typeface="Times New Roman"/>
              </a:rPr>
              <a:t>to</a:t>
            </a:r>
            <a:r>
              <a:rPr sz="1200" spc="180" dirty="0">
                <a:latin typeface="Times New Roman"/>
                <a:cs typeface="Times New Roman"/>
              </a:rPr>
              <a:t> </a:t>
            </a:r>
            <a:r>
              <a:rPr sz="1200" dirty="0">
                <a:latin typeface="Times New Roman"/>
                <a:cs typeface="Times New Roman"/>
              </a:rPr>
              <a:t>provide</a:t>
            </a:r>
            <a:r>
              <a:rPr sz="1200" spc="18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90" dirty="0">
                <a:latin typeface="Times New Roman"/>
                <a:cs typeface="Times New Roman"/>
              </a:rPr>
              <a:t> </a:t>
            </a:r>
            <a:r>
              <a:rPr sz="1200" dirty="0">
                <a:latin typeface="Times New Roman"/>
                <a:cs typeface="Times New Roman"/>
              </a:rPr>
              <a:t>bid</a:t>
            </a:r>
            <a:r>
              <a:rPr sz="1200" spc="190" dirty="0">
                <a:latin typeface="Times New Roman"/>
                <a:cs typeface="Times New Roman"/>
              </a:rPr>
              <a:t> </a:t>
            </a:r>
            <a:r>
              <a:rPr sz="1200" dirty="0">
                <a:latin typeface="Times New Roman"/>
                <a:cs typeface="Times New Roman"/>
              </a:rPr>
              <a:t>updates,</a:t>
            </a:r>
            <a:r>
              <a:rPr sz="1200" spc="190" dirty="0">
                <a:latin typeface="Times New Roman"/>
                <a:cs typeface="Times New Roman"/>
              </a:rPr>
              <a:t> </a:t>
            </a:r>
            <a:r>
              <a:rPr sz="1200" dirty="0">
                <a:latin typeface="Times New Roman"/>
                <a:cs typeface="Times New Roman"/>
              </a:rPr>
              <a:t>leading</a:t>
            </a:r>
            <a:r>
              <a:rPr sz="1200" spc="190" dirty="0">
                <a:latin typeface="Times New Roman"/>
                <a:cs typeface="Times New Roman"/>
              </a:rPr>
              <a:t> </a:t>
            </a:r>
            <a:r>
              <a:rPr sz="1200" spc="-25" dirty="0">
                <a:latin typeface="Times New Roman"/>
                <a:cs typeface="Times New Roman"/>
              </a:rPr>
              <a:t>to </a:t>
            </a:r>
            <a:r>
              <a:rPr sz="1200" dirty="0">
                <a:latin typeface="Times New Roman"/>
                <a:cs typeface="Times New Roman"/>
              </a:rPr>
              <a:t>delays,</a:t>
            </a:r>
            <a:r>
              <a:rPr sz="1200" spc="325" dirty="0">
                <a:latin typeface="Times New Roman"/>
                <a:cs typeface="Times New Roman"/>
              </a:rPr>
              <a:t> </a:t>
            </a:r>
            <a:r>
              <a:rPr sz="1200" dirty="0">
                <a:latin typeface="Times New Roman"/>
                <a:cs typeface="Times New Roman"/>
              </a:rPr>
              <a:t>bid</a:t>
            </a:r>
            <a:r>
              <a:rPr sz="1200" spc="335" dirty="0">
                <a:latin typeface="Times New Roman"/>
                <a:cs typeface="Times New Roman"/>
              </a:rPr>
              <a:t> </a:t>
            </a:r>
            <a:r>
              <a:rPr sz="1200" dirty="0">
                <a:latin typeface="Times New Roman"/>
                <a:cs typeface="Times New Roman"/>
              </a:rPr>
              <a:t>manipulation,</a:t>
            </a:r>
            <a:r>
              <a:rPr sz="1200" spc="330" dirty="0">
                <a:latin typeface="Times New Roman"/>
                <a:cs typeface="Times New Roman"/>
              </a:rPr>
              <a:t> </a:t>
            </a:r>
            <a:r>
              <a:rPr sz="1200" dirty="0">
                <a:latin typeface="Times New Roman"/>
                <a:cs typeface="Times New Roman"/>
              </a:rPr>
              <a:t>and</a:t>
            </a:r>
            <a:r>
              <a:rPr sz="1200" spc="335" dirty="0">
                <a:latin typeface="Times New Roman"/>
                <a:cs typeface="Times New Roman"/>
              </a:rPr>
              <a:t> </a:t>
            </a:r>
            <a:r>
              <a:rPr sz="1200" dirty="0">
                <a:latin typeface="Times New Roman"/>
                <a:cs typeface="Times New Roman"/>
              </a:rPr>
              <a:t>an</a:t>
            </a:r>
            <a:r>
              <a:rPr sz="1200" spc="335" dirty="0">
                <a:latin typeface="Times New Roman"/>
                <a:cs typeface="Times New Roman"/>
              </a:rPr>
              <a:t> </a:t>
            </a:r>
            <a:r>
              <a:rPr sz="1200" dirty="0">
                <a:latin typeface="Times New Roman"/>
                <a:cs typeface="Times New Roman"/>
              </a:rPr>
              <a:t>unfair</a:t>
            </a:r>
            <a:r>
              <a:rPr sz="1200" spc="325" dirty="0">
                <a:latin typeface="Times New Roman"/>
                <a:cs typeface="Times New Roman"/>
              </a:rPr>
              <a:t> </a:t>
            </a:r>
            <a:r>
              <a:rPr sz="1200" dirty="0">
                <a:latin typeface="Times New Roman"/>
                <a:cs typeface="Times New Roman"/>
              </a:rPr>
              <a:t>bidding</a:t>
            </a:r>
            <a:r>
              <a:rPr sz="1200" spc="335" dirty="0">
                <a:latin typeface="Times New Roman"/>
                <a:cs typeface="Times New Roman"/>
              </a:rPr>
              <a:t> </a:t>
            </a:r>
            <a:r>
              <a:rPr sz="1200" dirty="0">
                <a:latin typeface="Times New Roman"/>
                <a:cs typeface="Times New Roman"/>
              </a:rPr>
              <a:t>environment.</a:t>
            </a:r>
            <a:r>
              <a:rPr sz="1200" spc="330" dirty="0">
                <a:latin typeface="Times New Roman"/>
                <a:cs typeface="Times New Roman"/>
              </a:rPr>
              <a:t> </a:t>
            </a:r>
            <a:r>
              <a:rPr sz="1200" dirty="0">
                <a:latin typeface="Times New Roman"/>
                <a:cs typeface="Times New Roman"/>
              </a:rPr>
              <a:t>Additionally,</a:t>
            </a:r>
            <a:r>
              <a:rPr sz="1200" spc="335" dirty="0">
                <a:latin typeface="Times New Roman"/>
                <a:cs typeface="Times New Roman"/>
              </a:rPr>
              <a:t> </a:t>
            </a:r>
            <a:r>
              <a:rPr sz="1200" spc="-10" dirty="0">
                <a:latin typeface="Times New Roman"/>
                <a:cs typeface="Times New Roman"/>
              </a:rPr>
              <a:t>fraudulent property</a:t>
            </a:r>
            <a:r>
              <a:rPr sz="1200" spc="-30" dirty="0">
                <a:latin typeface="Times New Roman"/>
                <a:cs typeface="Times New Roman"/>
              </a:rPr>
              <a:t> </a:t>
            </a:r>
            <a:r>
              <a:rPr sz="1200" dirty="0">
                <a:latin typeface="Times New Roman"/>
                <a:cs typeface="Times New Roman"/>
              </a:rPr>
              <a:t>listings,</a:t>
            </a:r>
            <a:r>
              <a:rPr sz="1200" spc="-30" dirty="0">
                <a:latin typeface="Times New Roman"/>
                <a:cs typeface="Times New Roman"/>
              </a:rPr>
              <a:t> </a:t>
            </a:r>
            <a:r>
              <a:rPr sz="1200" dirty="0">
                <a:latin typeface="Times New Roman"/>
                <a:cs typeface="Times New Roman"/>
              </a:rPr>
              <a:t>lack</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AI-driven</a:t>
            </a:r>
            <a:r>
              <a:rPr sz="1200" spc="-30" dirty="0">
                <a:latin typeface="Times New Roman"/>
                <a:cs typeface="Times New Roman"/>
              </a:rPr>
              <a:t> </a:t>
            </a:r>
            <a:r>
              <a:rPr sz="1200" spc="-10" dirty="0">
                <a:latin typeface="Times New Roman"/>
                <a:cs typeface="Times New Roman"/>
              </a:rPr>
              <a:t>price</a:t>
            </a:r>
            <a:r>
              <a:rPr sz="1200" spc="-35" dirty="0">
                <a:latin typeface="Times New Roman"/>
                <a:cs typeface="Times New Roman"/>
              </a:rPr>
              <a:t> </a:t>
            </a:r>
            <a:r>
              <a:rPr sz="1200" spc="-1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outdated</a:t>
            </a:r>
            <a:r>
              <a:rPr sz="1200" spc="-30" dirty="0">
                <a:latin typeface="Times New Roman"/>
                <a:cs typeface="Times New Roman"/>
              </a:rPr>
              <a:t> </a:t>
            </a:r>
            <a:r>
              <a:rPr sz="1200" spc="-10" dirty="0">
                <a:latin typeface="Times New Roman"/>
                <a:cs typeface="Times New Roman"/>
              </a:rPr>
              <a:t>verification</a:t>
            </a:r>
            <a:r>
              <a:rPr sz="1200" spc="-25" dirty="0">
                <a:latin typeface="Times New Roman"/>
                <a:cs typeface="Times New Roman"/>
              </a:rPr>
              <a:t> </a:t>
            </a:r>
            <a:r>
              <a:rPr sz="1200" spc="-10" dirty="0">
                <a:latin typeface="Times New Roman"/>
                <a:cs typeface="Times New Roman"/>
              </a:rPr>
              <a:t>processes</a:t>
            </a:r>
            <a:r>
              <a:rPr sz="1200" spc="-30" dirty="0">
                <a:latin typeface="Times New Roman"/>
                <a:cs typeface="Times New Roman"/>
              </a:rPr>
              <a:t> </a:t>
            </a:r>
            <a:r>
              <a:rPr sz="1200" spc="-10" dirty="0">
                <a:latin typeface="Times New Roman"/>
                <a:cs typeface="Times New Roman"/>
              </a:rPr>
              <a:t>create </a:t>
            </a:r>
            <a:r>
              <a:rPr sz="1200" dirty="0">
                <a:latin typeface="Times New Roman"/>
                <a:cs typeface="Times New Roman"/>
              </a:rPr>
              <a:t>risks</a:t>
            </a:r>
            <a:r>
              <a:rPr sz="1200" spc="370" dirty="0">
                <a:latin typeface="Times New Roman"/>
                <a:cs typeface="Times New Roman"/>
              </a:rPr>
              <a:t> </a:t>
            </a:r>
            <a:r>
              <a:rPr sz="1200" dirty="0">
                <a:latin typeface="Times New Roman"/>
                <a:cs typeface="Times New Roman"/>
              </a:rPr>
              <a:t>for</a:t>
            </a:r>
            <a:r>
              <a:rPr sz="1200" spc="370" dirty="0">
                <a:latin typeface="Times New Roman"/>
                <a:cs typeface="Times New Roman"/>
              </a:rPr>
              <a:t> </a:t>
            </a:r>
            <a:r>
              <a:rPr sz="1200" dirty="0">
                <a:latin typeface="Times New Roman"/>
                <a:cs typeface="Times New Roman"/>
              </a:rPr>
              <a:t>both</a:t>
            </a:r>
            <a:r>
              <a:rPr sz="1200" spc="370" dirty="0">
                <a:latin typeface="Times New Roman"/>
                <a:cs typeface="Times New Roman"/>
              </a:rPr>
              <a:t> </a:t>
            </a:r>
            <a:r>
              <a:rPr sz="1200" dirty="0">
                <a:latin typeface="Times New Roman"/>
                <a:cs typeface="Times New Roman"/>
              </a:rPr>
              <a:t>buyers</a:t>
            </a:r>
            <a:r>
              <a:rPr sz="1200" spc="380" dirty="0">
                <a:latin typeface="Times New Roman"/>
                <a:cs typeface="Times New Roman"/>
              </a:rPr>
              <a:t> </a:t>
            </a:r>
            <a:r>
              <a:rPr sz="1200" dirty="0">
                <a:latin typeface="Times New Roman"/>
                <a:cs typeface="Times New Roman"/>
              </a:rPr>
              <a:t>and</a:t>
            </a:r>
            <a:r>
              <a:rPr sz="1200" spc="370" dirty="0">
                <a:latin typeface="Times New Roman"/>
                <a:cs typeface="Times New Roman"/>
              </a:rPr>
              <a:t> </a:t>
            </a:r>
            <a:r>
              <a:rPr sz="1200" dirty="0">
                <a:latin typeface="Times New Roman"/>
                <a:cs typeface="Times New Roman"/>
              </a:rPr>
              <a:t>sellers.</a:t>
            </a:r>
            <a:r>
              <a:rPr sz="1200" spc="370" dirty="0">
                <a:latin typeface="Times New Roman"/>
                <a:cs typeface="Times New Roman"/>
              </a:rPr>
              <a:t> </a:t>
            </a:r>
            <a:r>
              <a:rPr sz="1200" dirty="0">
                <a:latin typeface="Times New Roman"/>
                <a:cs typeface="Times New Roman"/>
              </a:rPr>
              <a:t>These</a:t>
            </a:r>
            <a:r>
              <a:rPr sz="1200" spc="370" dirty="0">
                <a:latin typeface="Times New Roman"/>
                <a:cs typeface="Times New Roman"/>
              </a:rPr>
              <a:t> </a:t>
            </a:r>
            <a:r>
              <a:rPr sz="1200" dirty="0">
                <a:latin typeface="Times New Roman"/>
                <a:cs typeface="Times New Roman"/>
              </a:rPr>
              <a:t>issues</a:t>
            </a:r>
            <a:r>
              <a:rPr sz="1200" spc="375" dirty="0">
                <a:latin typeface="Times New Roman"/>
                <a:cs typeface="Times New Roman"/>
              </a:rPr>
              <a:t> </a:t>
            </a:r>
            <a:r>
              <a:rPr sz="1200" dirty="0">
                <a:latin typeface="Times New Roman"/>
                <a:cs typeface="Times New Roman"/>
              </a:rPr>
              <a:t>undermine</a:t>
            </a:r>
            <a:r>
              <a:rPr sz="1200" spc="370" dirty="0">
                <a:latin typeface="Times New Roman"/>
                <a:cs typeface="Times New Roman"/>
              </a:rPr>
              <a:t> </a:t>
            </a:r>
            <a:r>
              <a:rPr sz="1200" dirty="0">
                <a:latin typeface="Times New Roman"/>
                <a:cs typeface="Times New Roman"/>
              </a:rPr>
              <a:t>trust</a:t>
            </a:r>
            <a:r>
              <a:rPr sz="1200" spc="370" dirty="0">
                <a:latin typeface="Times New Roman"/>
                <a:cs typeface="Times New Roman"/>
              </a:rPr>
              <a:t> </a:t>
            </a:r>
            <a:r>
              <a:rPr sz="1200" dirty="0">
                <a:latin typeface="Times New Roman"/>
                <a:cs typeface="Times New Roman"/>
              </a:rPr>
              <a:t>in</a:t>
            </a:r>
            <a:r>
              <a:rPr sz="1200" spc="375" dirty="0">
                <a:latin typeface="Times New Roman"/>
                <a:cs typeface="Times New Roman"/>
              </a:rPr>
              <a:t> </a:t>
            </a:r>
            <a:r>
              <a:rPr sz="1200" dirty="0">
                <a:latin typeface="Times New Roman"/>
                <a:cs typeface="Times New Roman"/>
              </a:rPr>
              <a:t>online</a:t>
            </a:r>
            <a:r>
              <a:rPr sz="1200" spc="370" dirty="0">
                <a:latin typeface="Times New Roman"/>
                <a:cs typeface="Times New Roman"/>
              </a:rPr>
              <a:t> </a:t>
            </a:r>
            <a:r>
              <a:rPr sz="1200" dirty="0">
                <a:latin typeface="Times New Roman"/>
                <a:cs typeface="Times New Roman"/>
              </a:rPr>
              <a:t>real</a:t>
            </a:r>
            <a:r>
              <a:rPr sz="1200" spc="385" dirty="0">
                <a:latin typeface="Times New Roman"/>
                <a:cs typeface="Times New Roman"/>
              </a:rPr>
              <a:t> </a:t>
            </a:r>
            <a:r>
              <a:rPr sz="1200" spc="-10" dirty="0">
                <a:latin typeface="Times New Roman"/>
                <a:cs typeface="Times New Roman"/>
              </a:rPr>
              <a:t>estate </a:t>
            </a:r>
            <a:r>
              <a:rPr sz="1200" dirty="0">
                <a:latin typeface="Times New Roman"/>
                <a:cs typeface="Times New Roman"/>
              </a:rPr>
              <a:t>transactions,</a:t>
            </a:r>
            <a:r>
              <a:rPr sz="1200" spc="-60" dirty="0">
                <a:latin typeface="Times New Roman"/>
                <a:cs typeface="Times New Roman"/>
              </a:rPr>
              <a:t> </a:t>
            </a:r>
            <a:r>
              <a:rPr sz="1200" dirty="0">
                <a:latin typeface="Times New Roman"/>
                <a:cs typeface="Times New Roman"/>
              </a:rPr>
              <a:t>discouraging</a:t>
            </a:r>
            <a:r>
              <a:rPr sz="1200" spc="-55" dirty="0">
                <a:latin typeface="Times New Roman"/>
                <a:cs typeface="Times New Roman"/>
              </a:rPr>
              <a:t> </a:t>
            </a:r>
            <a:r>
              <a:rPr sz="1200" dirty="0">
                <a:latin typeface="Times New Roman"/>
                <a:cs typeface="Times New Roman"/>
              </a:rPr>
              <a:t>broader</a:t>
            </a:r>
            <a:r>
              <a:rPr sz="1200" spc="-55" dirty="0">
                <a:latin typeface="Times New Roman"/>
                <a:cs typeface="Times New Roman"/>
              </a:rPr>
              <a:t> </a:t>
            </a:r>
            <a:r>
              <a:rPr sz="1200" dirty="0">
                <a:latin typeface="Times New Roman"/>
                <a:cs typeface="Times New Roman"/>
              </a:rPr>
              <a:t>market</a:t>
            </a:r>
            <a:r>
              <a:rPr sz="1200" spc="-55" dirty="0">
                <a:latin typeface="Times New Roman"/>
                <a:cs typeface="Times New Roman"/>
              </a:rPr>
              <a:t> </a:t>
            </a:r>
            <a:r>
              <a:rPr sz="1200" spc="-10" dirty="0">
                <a:latin typeface="Times New Roman"/>
                <a:cs typeface="Times New Roman"/>
              </a:rPr>
              <a:t>participation.</a:t>
            </a:r>
            <a:r>
              <a:rPr lang="en-US" sz="1200" spc="-10" dirty="0">
                <a:latin typeface="Times New Roman"/>
                <a:cs typeface="Times New Roman"/>
              </a:rPr>
              <a:t> </a:t>
            </a:r>
            <a:r>
              <a:rPr sz="1200" dirty="0">
                <a:latin typeface="Times New Roman"/>
                <a:cs typeface="Times New Roman"/>
              </a:rPr>
              <a:t>Another</a:t>
            </a:r>
            <a:r>
              <a:rPr sz="1200" spc="105" dirty="0">
                <a:latin typeface="Times New Roman"/>
                <a:cs typeface="Times New Roman"/>
              </a:rPr>
              <a:t> </a:t>
            </a:r>
            <a:r>
              <a:rPr sz="1200" dirty="0">
                <a:latin typeface="Times New Roman"/>
                <a:cs typeface="Times New Roman"/>
              </a:rPr>
              <a:t>critical</a:t>
            </a:r>
            <a:r>
              <a:rPr sz="1200" spc="120" dirty="0">
                <a:latin typeface="Times New Roman"/>
                <a:cs typeface="Times New Roman"/>
              </a:rPr>
              <a:t> </a:t>
            </a:r>
            <a:r>
              <a:rPr sz="1200" dirty="0">
                <a:latin typeface="Times New Roman"/>
                <a:cs typeface="Times New Roman"/>
              </a:rPr>
              <a:t>challenge</a:t>
            </a:r>
            <a:r>
              <a:rPr sz="1200" spc="110" dirty="0">
                <a:latin typeface="Times New Roman"/>
                <a:cs typeface="Times New Roman"/>
              </a:rPr>
              <a:t> </a:t>
            </a:r>
            <a:r>
              <a:rPr sz="1200" dirty="0">
                <a:latin typeface="Times New Roman"/>
                <a:cs typeface="Times New Roman"/>
              </a:rPr>
              <a:t>is</a:t>
            </a:r>
            <a:r>
              <a:rPr sz="1200" spc="120" dirty="0">
                <a:latin typeface="Times New Roman"/>
                <a:cs typeface="Times New Roman"/>
              </a:rPr>
              <a:t> </a:t>
            </a:r>
            <a:r>
              <a:rPr sz="1200" spc="-10" dirty="0">
                <a:latin typeface="Times New Roman"/>
                <a:cs typeface="Times New Roman"/>
              </a:rPr>
              <a:t>scalability—</a:t>
            </a:r>
            <a:r>
              <a:rPr sz="1200" dirty="0">
                <a:latin typeface="Times New Roman"/>
                <a:cs typeface="Times New Roman"/>
              </a:rPr>
              <a:t>existing</a:t>
            </a:r>
            <a:r>
              <a:rPr sz="1200" spc="105" dirty="0">
                <a:latin typeface="Times New Roman"/>
                <a:cs typeface="Times New Roman"/>
              </a:rPr>
              <a:t> </a:t>
            </a:r>
            <a:r>
              <a:rPr sz="1200" dirty="0">
                <a:latin typeface="Times New Roman"/>
                <a:cs typeface="Times New Roman"/>
              </a:rPr>
              <a:t>platforms</a:t>
            </a:r>
            <a:r>
              <a:rPr sz="1200" spc="114" dirty="0">
                <a:latin typeface="Times New Roman"/>
                <a:cs typeface="Times New Roman"/>
              </a:rPr>
              <a:t> </a:t>
            </a:r>
            <a:r>
              <a:rPr sz="1200" dirty="0">
                <a:latin typeface="Times New Roman"/>
                <a:cs typeface="Times New Roman"/>
              </a:rPr>
              <a:t>struggle</a:t>
            </a:r>
            <a:r>
              <a:rPr sz="1200" spc="114" dirty="0">
                <a:latin typeface="Times New Roman"/>
                <a:cs typeface="Times New Roman"/>
              </a:rPr>
              <a:t> </a:t>
            </a:r>
            <a:r>
              <a:rPr sz="1200" dirty="0">
                <a:latin typeface="Times New Roman"/>
                <a:cs typeface="Times New Roman"/>
              </a:rPr>
              <a:t>to</a:t>
            </a:r>
            <a:r>
              <a:rPr sz="1200" spc="105" dirty="0">
                <a:latin typeface="Times New Roman"/>
                <a:cs typeface="Times New Roman"/>
              </a:rPr>
              <a:t> </a:t>
            </a:r>
            <a:r>
              <a:rPr sz="1200" dirty="0">
                <a:latin typeface="Times New Roman"/>
                <a:cs typeface="Times New Roman"/>
              </a:rPr>
              <a:t>handle</a:t>
            </a:r>
            <a:r>
              <a:rPr sz="1200" spc="114" dirty="0">
                <a:latin typeface="Times New Roman"/>
                <a:cs typeface="Times New Roman"/>
              </a:rPr>
              <a:t> </a:t>
            </a:r>
            <a:r>
              <a:rPr sz="1200" dirty="0">
                <a:latin typeface="Times New Roman"/>
                <a:cs typeface="Times New Roman"/>
              </a:rPr>
              <a:t>high</a:t>
            </a:r>
            <a:r>
              <a:rPr sz="1200" spc="120" dirty="0">
                <a:latin typeface="Times New Roman"/>
                <a:cs typeface="Times New Roman"/>
              </a:rPr>
              <a:t> </a:t>
            </a:r>
            <a:r>
              <a:rPr sz="1200" spc="-10" dirty="0">
                <a:latin typeface="Times New Roman"/>
                <a:cs typeface="Times New Roman"/>
              </a:rPr>
              <a:t>traffic </a:t>
            </a:r>
            <a:r>
              <a:rPr sz="1200" dirty="0">
                <a:latin typeface="Times New Roman"/>
                <a:cs typeface="Times New Roman"/>
              </a:rPr>
              <a:t>during</a:t>
            </a:r>
            <a:r>
              <a:rPr sz="1200" spc="330" dirty="0">
                <a:latin typeface="Times New Roman"/>
                <a:cs typeface="Times New Roman"/>
              </a:rPr>
              <a:t> </a:t>
            </a:r>
            <a:r>
              <a:rPr sz="1200" dirty="0">
                <a:latin typeface="Times New Roman"/>
                <a:cs typeface="Times New Roman"/>
              </a:rPr>
              <a:t>peak</a:t>
            </a:r>
            <a:r>
              <a:rPr sz="1200" spc="330" dirty="0">
                <a:latin typeface="Times New Roman"/>
                <a:cs typeface="Times New Roman"/>
              </a:rPr>
              <a:t> </a:t>
            </a:r>
            <a:r>
              <a:rPr sz="1200" dirty="0">
                <a:latin typeface="Times New Roman"/>
                <a:cs typeface="Times New Roman"/>
              </a:rPr>
              <a:t>auction</a:t>
            </a:r>
            <a:r>
              <a:rPr sz="1200" spc="330" dirty="0">
                <a:latin typeface="Times New Roman"/>
                <a:cs typeface="Times New Roman"/>
              </a:rPr>
              <a:t> </a:t>
            </a:r>
            <a:r>
              <a:rPr sz="1200" dirty="0">
                <a:latin typeface="Times New Roman"/>
                <a:cs typeface="Times New Roman"/>
              </a:rPr>
              <a:t>times,</a:t>
            </a:r>
            <a:r>
              <a:rPr sz="1200" spc="330" dirty="0">
                <a:latin typeface="Times New Roman"/>
                <a:cs typeface="Times New Roman"/>
              </a:rPr>
              <a:t> </a:t>
            </a:r>
            <a:r>
              <a:rPr sz="1200" dirty="0">
                <a:latin typeface="Times New Roman"/>
                <a:cs typeface="Times New Roman"/>
              </a:rPr>
              <a:t>causing</a:t>
            </a:r>
            <a:r>
              <a:rPr sz="1200" spc="335" dirty="0">
                <a:latin typeface="Times New Roman"/>
                <a:cs typeface="Times New Roman"/>
              </a:rPr>
              <a:t> </a:t>
            </a:r>
            <a:r>
              <a:rPr sz="1200" dirty="0">
                <a:latin typeface="Times New Roman"/>
                <a:cs typeface="Times New Roman"/>
              </a:rPr>
              <a:t>performance</a:t>
            </a:r>
            <a:r>
              <a:rPr sz="1200" spc="325" dirty="0">
                <a:latin typeface="Times New Roman"/>
                <a:cs typeface="Times New Roman"/>
              </a:rPr>
              <a:t> </a:t>
            </a:r>
            <a:r>
              <a:rPr sz="1200" dirty="0">
                <a:latin typeface="Times New Roman"/>
                <a:cs typeface="Times New Roman"/>
              </a:rPr>
              <a:t>issues,</a:t>
            </a:r>
            <a:r>
              <a:rPr sz="1200" spc="335" dirty="0">
                <a:latin typeface="Times New Roman"/>
                <a:cs typeface="Times New Roman"/>
              </a:rPr>
              <a:t> </a:t>
            </a:r>
            <a:r>
              <a:rPr sz="1200" dirty="0">
                <a:latin typeface="Times New Roman"/>
                <a:cs typeface="Times New Roman"/>
              </a:rPr>
              <a:t>bid</a:t>
            </a:r>
            <a:r>
              <a:rPr sz="1200" spc="335" dirty="0">
                <a:latin typeface="Times New Roman"/>
                <a:cs typeface="Times New Roman"/>
              </a:rPr>
              <a:t> </a:t>
            </a:r>
            <a:r>
              <a:rPr sz="1200" dirty="0">
                <a:latin typeface="Times New Roman"/>
                <a:cs typeface="Times New Roman"/>
              </a:rPr>
              <a:t>lags,</a:t>
            </a:r>
            <a:r>
              <a:rPr sz="1200" spc="330" dirty="0">
                <a:latin typeface="Times New Roman"/>
                <a:cs typeface="Times New Roman"/>
              </a:rPr>
              <a:t> </a:t>
            </a:r>
            <a:r>
              <a:rPr sz="1200" dirty="0">
                <a:latin typeface="Times New Roman"/>
                <a:cs typeface="Times New Roman"/>
              </a:rPr>
              <a:t>and</a:t>
            </a:r>
            <a:r>
              <a:rPr sz="1200" spc="330" dirty="0">
                <a:latin typeface="Times New Roman"/>
                <a:cs typeface="Times New Roman"/>
              </a:rPr>
              <a:t> </a:t>
            </a:r>
            <a:r>
              <a:rPr sz="1200" dirty="0">
                <a:latin typeface="Times New Roman"/>
                <a:cs typeface="Times New Roman"/>
              </a:rPr>
              <a:t>system</a:t>
            </a:r>
            <a:r>
              <a:rPr sz="1200" spc="335" dirty="0">
                <a:latin typeface="Times New Roman"/>
                <a:cs typeface="Times New Roman"/>
              </a:rPr>
              <a:t> </a:t>
            </a:r>
            <a:r>
              <a:rPr sz="1200" spc="-10" dirty="0">
                <a:latin typeface="Times New Roman"/>
                <a:cs typeface="Times New Roman"/>
              </a:rPr>
              <a:t>crashes. Furthermore,</a:t>
            </a:r>
            <a:r>
              <a:rPr sz="1200" spc="-20" dirty="0">
                <a:latin typeface="Times New Roman"/>
                <a:cs typeface="Times New Roman"/>
              </a:rPr>
              <a:t> </a:t>
            </a:r>
            <a:r>
              <a:rPr sz="1200" dirty="0">
                <a:latin typeface="Times New Roman"/>
                <a:cs typeface="Times New Roman"/>
              </a:rPr>
              <a:t>many</a:t>
            </a:r>
            <a:r>
              <a:rPr sz="1200" spc="-20" dirty="0">
                <a:latin typeface="Times New Roman"/>
                <a:cs typeface="Times New Roman"/>
              </a:rPr>
              <a:t> </a:t>
            </a:r>
            <a:r>
              <a:rPr sz="1200" dirty="0">
                <a:latin typeface="Times New Roman"/>
                <a:cs typeface="Times New Roman"/>
              </a:rPr>
              <a:t>platforms</a:t>
            </a:r>
            <a:r>
              <a:rPr sz="1200" spc="-20" dirty="0">
                <a:latin typeface="Times New Roman"/>
                <a:cs typeface="Times New Roman"/>
              </a:rPr>
              <a:t> </a:t>
            </a:r>
            <a:r>
              <a:rPr sz="1200" dirty="0">
                <a:latin typeface="Times New Roman"/>
                <a:cs typeface="Times New Roman"/>
              </a:rPr>
              <a:t>lack</a:t>
            </a:r>
            <a:r>
              <a:rPr sz="1200" spc="-15" dirty="0">
                <a:latin typeface="Times New Roman"/>
                <a:cs typeface="Times New Roman"/>
              </a:rPr>
              <a:t> </a:t>
            </a:r>
            <a:r>
              <a:rPr sz="1200" dirty="0">
                <a:latin typeface="Times New Roman"/>
                <a:cs typeface="Times New Roman"/>
              </a:rPr>
              <a:t>intelligent</a:t>
            </a:r>
            <a:r>
              <a:rPr sz="1200" spc="-20" dirty="0">
                <a:latin typeface="Times New Roman"/>
                <a:cs typeface="Times New Roman"/>
              </a:rPr>
              <a:t> </a:t>
            </a:r>
            <a:r>
              <a:rPr sz="1200" dirty="0">
                <a:latin typeface="Times New Roman"/>
                <a:cs typeface="Times New Roman"/>
              </a:rPr>
              <a:t>user engagement</a:t>
            </a:r>
            <a:r>
              <a:rPr sz="1200" spc="-20" dirty="0">
                <a:latin typeface="Times New Roman"/>
                <a:cs typeface="Times New Roman"/>
              </a:rPr>
              <a:t> </a:t>
            </a:r>
            <a:r>
              <a:rPr sz="1200" dirty="0">
                <a:latin typeface="Times New Roman"/>
                <a:cs typeface="Times New Roman"/>
              </a:rPr>
              <a:t>features,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10" dirty="0">
                <a:latin typeface="Times New Roman"/>
                <a:cs typeface="Times New Roman"/>
              </a:rPr>
              <a:t> personalized property</a:t>
            </a:r>
            <a:r>
              <a:rPr sz="1200" spc="-25" dirty="0">
                <a:latin typeface="Times New Roman"/>
                <a:cs typeface="Times New Roman"/>
              </a:rPr>
              <a:t> </a:t>
            </a:r>
            <a:r>
              <a:rPr sz="1200" spc="-10" dirty="0">
                <a:latin typeface="Times New Roman"/>
                <a:cs typeface="Times New Roman"/>
              </a:rPr>
              <a:t>recommendations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geofencing-</a:t>
            </a:r>
            <a:r>
              <a:rPr sz="1200" dirty="0">
                <a:latin typeface="Times New Roman"/>
                <a:cs typeface="Times New Roman"/>
              </a:rPr>
              <a:t>based</a:t>
            </a:r>
            <a:r>
              <a:rPr sz="1200" spc="-15" dirty="0">
                <a:latin typeface="Times New Roman"/>
                <a:cs typeface="Times New Roman"/>
              </a:rPr>
              <a:t> </a:t>
            </a:r>
            <a:r>
              <a:rPr sz="1200" spc="-10" dirty="0">
                <a:latin typeface="Times New Roman"/>
                <a:cs typeface="Times New Roman"/>
              </a:rPr>
              <a:t>notifications,</a:t>
            </a:r>
            <a:r>
              <a:rPr sz="1200" spc="-25" dirty="0">
                <a:latin typeface="Times New Roman"/>
                <a:cs typeface="Times New Roman"/>
              </a:rPr>
              <a:t> </a:t>
            </a:r>
            <a:r>
              <a:rPr sz="1200" spc="-10" dirty="0">
                <a:latin typeface="Times New Roman"/>
                <a:cs typeface="Times New Roman"/>
              </a:rPr>
              <a:t>reducing</a:t>
            </a:r>
            <a:r>
              <a:rPr sz="1200" spc="-2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10" dirty="0">
                <a:latin typeface="Times New Roman"/>
                <a:cs typeface="Times New Roman"/>
              </a:rPr>
              <a:t>participation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efficiency.</a:t>
            </a: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12700" marR="6985" algn="just">
              <a:lnSpc>
                <a:spcPct val="143800"/>
              </a:lnSpc>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chapter</a:t>
            </a:r>
            <a:r>
              <a:rPr sz="1200" spc="-35"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also</a:t>
            </a:r>
            <a:r>
              <a:rPr sz="1200" spc="-25" dirty="0">
                <a:latin typeface="Times New Roman"/>
                <a:cs typeface="Times New Roman"/>
              </a:rPr>
              <a:t> </a:t>
            </a:r>
            <a:r>
              <a:rPr sz="1200" dirty="0">
                <a:latin typeface="Times New Roman"/>
                <a:cs typeface="Times New Roman"/>
              </a:rPr>
              <a:t>outline</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desired</a:t>
            </a:r>
            <a:r>
              <a:rPr sz="1200" spc="-25" dirty="0">
                <a:latin typeface="Times New Roman"/>
                <a:cs typeface="Times New Roman"/>
              </a:rPr>
              <a:t> </a:t>
            </a:r>
            <a:r>
              <a:rPr sz="1200" dirty="0">
                <a:latin typeface="Times New Roman"/>
                <a:cs typeface="Times New Roman"/>
              </a:rPr>
              <a:t>outcomes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project,</a:t>
            </a:r>
            <a:r>
              <a:rPr sz="1200" spc="-25"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spc="-10" dirty="0">
                <a:latin typeface="Times New Roman"/>
                <a:cs typeface="Times New Roman"/>
              </a:rPr>
              <a:t>developing </a:t>
            </a:r>
            <a:r>
              <a:rPr sz="1200" dirty="0">
                <a:latin typeface="Times New Roman"/>
                <a:cs typeface="Times New Roman"/>
              </a:rPr>
              <a:t>a</a:t>
            </a:r>
            <a:r>
              <a:rPr sz="1200" spc="350" dirty="0">
                <a:latin typeface="Times New Roman"/>
                <a:cs typeface="Times New Roman"/>
              </a:rPr>
              <a:t> </a:t>
            </a:r>
            <a:r>
              <a:rPr sz="1200" dirty="0">
                <a:latin typeface="Times New Roman"/>
                <a:cs typeface="Times New Roman"/>
              </a:rPr>
              <a:t>secure,</a:t>
            </a:r>
            <a:r>
              <a:rPr sz="1200" spc="350"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365" dirty="0">
                <a:latin typeface="Times New Roman"/>
                <a:cs typeface="Times New Roman"/>
              </a:rPr>
              <a:t> </a:t>
            </a:r>
            <a:r>
              <a:rPr sz="1200" dirty="0">
                <a:latin typeface="Times New Roman"/>
                <a:cs typeface="Times New Roman"/>
              </a:rPr>
              <a:t>auction</a:t>
            </a:r>
            <a:r>
              <a:rPr sz="1200" spc="355" dirty="0">
                <a:latin typeface="Times New Roman"/>
                <a:cs typeface="Times New Roman"/>
              </a:rPr>
              <a:t> </a:t>
            </a:r>
            <a:r>
              <a:rPr sz="1200" dirty="0">
                <a:latin typeface="Times New Roman"/>
                <a:cs typeface="Times New Roman"/>
              </a:rPr>
              <a:t>system</a:t>
            </a:r>
            <a:r>
              <a:rPr sz="1200" spc="360" dirty="0">
                <a:latin typeface="Times New Roman"/>
                <a:cs typeface="Times New Roman"/>
              </a:rPr>
              <a:t> </a:t>
            </a:r>
            <a:r>
              <a:rPr sz="1200" dirty="0">
                <a:latin typeface="Times New Roman"/>
                <a:cs typeface="Times New Roman"/>
              </a:rPr>
              <a:t>that</a:t>
            </a:r>
            <a:r>
              <a:rPr sz="1200" spc="355" dirty="0">
                <a:latin typeface="Times New Roman"/>
                <a:cs typeface="Times New Roman"/>
              </a:rPr>
              <a:t> </a:t>
            </a:r>
            <a:r>
              <a:rPr sz="1200" dirty="0">
                <a:latin typeface="Times New Roman"/>
                <a:cs typeface="Times New Roman"/>
              </a:rPr>
              <a:t>provides</a:t>
            </a:r>
            <a:r>
              <a:rPr sz="1200" spc="35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55" dirty="0">
                <a:latin typeface="Times New Roman"/>
                <a:cs typeface="Times New Roman"/>
              </a:rPr>
              <a:t> </a:t>
            </a:r>
            <a:r>
              <a:rPr sz="1200" dirty="0">
                <a:latin typeface="Times New Roman"/>
                <a:cs typeface="Times New Roman"/>
              </a:rPr>
              <a:t>bid</a:t>
            </a:r>
            <a:r>
              <a:rPr sz="1200" spc="360" dirty="0">
                <a:latin typeface="Times New Roman"/>
                <a:cs typeface="Times New Roman"/>
              </a:rPr>
              <a:t> </a:t>
            </a:r>
            <a:r>
              <a:rPr sz="1200" dirty="0">
                <a:latin typeface="Times New Roman"/>
                <a:cs typeface="Times New Roman"/>
              </a:rPr>
              <a:t>synchronization,</a:t>
            </a:r>
            <a:r>
              <a:rPr sz="1200" spc="355" dirty="0">
                <a:latin typeface="Times New Roman"/>
                <a:cs typeface="Times New Roman"/>
              </a:rPr>
              <a:t> </a:t>
            </a:r>
            <a:r>
              <a:rPr sz="1200" spc="-10" dirty="0">
                <a:latin typeface="Times New Roman"/>
                <a:cs typeface="Times New Roman"/>
              </a:rPr>
              <a:t>fraud </a:t>
            </a:r>
            <a:r>
              <a:rPr sz="1200" dirty="0">
                <a:latin typeface="Times New Roman"/>
                <a:cs typeface="Times New Roman"/>
              </a:rPr>
              <a:t>detection,</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intelligent</a:t>
            </a:r>
            <a:r>
              <a:rPr sz="1200" spc="-10" dirty="0">
                <a:latin typeface="Times New Roman"/>
                <a:cs typeface="Times New Roman"/>
              </a:rPr>
              <a:t> </a:t>
            </a:r>
            <a:r>
              <a:rPr sz="1200" dirty="0">
                <a:latin typeface="Times New Roman"/>
                <a:cs typeface="Times New Roman"/>
              </a:rPr>
              <a:t>price</a:t>
            </a:r>
            <a:r>
              <a:rPr sz="1200" spc="-20" dirty="0">
                <a:latin typeface="Times New Roman"/>
                <a:cs typeface="Times New Roman"/>
              </a:rPr>
              <a:t> </a:t>
            </a:r>
            <a:r>
              <a:rPr sz="1200" spc="-10" dirty="0">
                <a:latin typeface="Times New Roman"/>
                <a:cs typeface="Times New Roman"/>
              </a:rPr>
              <a:t>recommendations.</a:t>
            </a:r>
            <a:r>
              <a:rPr sz="1200" dirty="0">
                <a:latin typeface="Times New Roman"/>
                <a:cs typeface="Times New Roman"/>
              </a:rPr>
              <a:t> By</a:t>
            </a:r>
            <a:r>
              <a:rPr sz="1200" spc="-10" dirty="0">
                <a:latin typeface="Times New Roman"/>
                <a:cs typeface="Times New Roman"/>
              </a:rPr>
              <a:t> </a:t>
            </a:r>
            <a:r>
              <a:rPr sz="1200" dirty="0">
                <a:latin typeface="Times New Roman"/>
                <a:cs typeface="Times New Roman"/>
              </a:rPr>
              <a:t>addressing</a:t>
            </a:r>
            <a:r>
              <a:rPr sz="1200" spc="-10" dirty="0">
                <a:latin typeface="Times New Roman"/>
                <a:cs typeface="Times New Roman"/>
              </a:rPr>
              <a:t> </a:t>
            </a:r>
            <a:r>
              <a:rPr sz="1200" dirty="0">
                <a:latin typeface="Times New Roman"/>
                <a:cs typeface="Times New Roman"/>
              </a:rPr>
              <a:t>gaps</a:t>
            </a:r>
            <a:r>
              <a:rPr sz="1200" spc="-10" dirty="0">
                <a:latin typeface="Times New Roman"/>
                <a:cs typeface="Times New Roman"/>
              </a:rPr>
              <a:t> </a:t>
            </a:r>
            <a:r>
              <a:rPr sz="1200" dirty="0">
                <a:latin typeface="Times New Roman"/>
                <a:cs typeface="Times New Roman"/>
              </a:rPr>
              <a:t>in</a:t>
            </a:r>
            <a:r>
              <a:rPr sz="1200" spc="-10" dirty="0">
                <a:latin typeface="Times New Roman"/>
                <a:cs typeface="Times New Roman"/>
              </a:rPr>
              <a:t> transparency, speed,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security,</a:t>
            </a:r>
            <a:r>
              <a:rPr sz="1200" spc="165" dirty="0">
                <a:latin typeface="Times New Roman"/>
                <a:cs typeface="Times New Roman"/>
              </a:rPr>
              <a:t> </a:t>
            </a:r>
            <a:r>
              <a:rPr sz="1200" dirty="0">
                <a:latin typeface="Times New Roman"/>
                <a:cs typeface="Times New Roman"/>
              </a:rPr>
              <a:t>Auction</a:t>
            </a:r>
            <a:r>
              <a:rPr sz="1200" spc="165" dirty="0">
                <a:latin typeface="Times New Roman"/>
                <a:cs typeface="Times New Roman"/>
              </a:rPr>
              <a:t> </a:t>
            </a:r>
            <a:r>
              <a:rPr sz="1200" dirty="0">
                <a:latin typeface="Times New Roman"/>
                <a:cs typeface="Times New Roman"/>
              </a:rPr>
              <a:t>Abode</a:t>
            </a:r>
            <a:r>
              <a:rPr sz="1200" spc="160" dirty="0">
                <a:latin typeface="Times New Roman"/>
                <a:cs typeface="Times New Roman"/>
              </a:rPr>
              <a:t> </a:t>
            </a:r>
            <a:r>
              <a:rPr sz="1200" dirty="0">
                <a:latin typeface="Times New Roman"/>
                <a:cs typeface="Times New Roman"/>
              </a:rPr>
              <a:t>aims</a:t>
            </a:r>
            <a:r>
              <a:rPr sz="1200" spc="165" dirty="0">
                <a:latin typeface="Times New Roman"/>
                <a:cs typeface="Times New Roman"/>
              </a:rPr>
              <a:t> </a:t>
            </a:r>
            <a:r>
              <a:rPr sz="1200" dirty="0">
                <a:latin typeface="Times New Roman"/>
                <a:cs typeface="Times New Roman"/>
              </a:rPr>
              <a:t>to</a:t>
            </a:r>
            <a:r>
              <a:rPr sz="1200" spc="165" dirty="0">
                <a:latin typeface="Times New Roman"/>
                <a:cs typeface="Times New Roman"/>
              </a:rPr>
              <a:t> </a:t>
            </a:r>
            <a:r>
              <a:rPr sz="1200" dirty="0">
                <a:latin typeface="Times New Roman"/>
                <a:cs typeface="Times New Roman"/>
              </a:rPr>
              <a:t>empower</a:t>
            </a:r>
            <a:r>
              <a:rPr sz="1200" spc="170" dirty="0">
                <a:latin typeface="Times New Roman"/>
                <a:cs typeface="Times New Roman"/>
              </a:rPr>
              <a:t> </a:t>
            </a:r>
            <a:r>
              <a:rPr sz="1200" dirty="0">
                <a:latin typeface="Times New Roman"/>
                <a:cs typeface="Times New Roman"/>
              </a:rPr>
              <a:t>buyers,</a:t>
            </a:r>
            <a:r>
              <a:rPr sz="1200" spc="160" dirty="0">
                <a:latin typeface="Times New Roman"/>
                <a:cs typeface="Times New Roman"/>
              </a:rPr>
              <a:t> </a:t>
            </a:r>
            <a:r>
              <a:rPr sz="1200" dirty="0">
                <a:latin typeface="Times New Roman"/>
                <a:cs typeface="Times New Roman"/>
              </a:rPr>
              <a:t>sellers,</a:t>
            </a:r>
            <a:r>
              <a:rPr sz="1200" spc="160" dirty="0">
                <a:latin typeface="Times New Roman"/>
                <a:cs typeface="Times New Roman"/>
              </a:rPr>
              <a:t> </a:t>
            </a:r>
            <a:r>
              <a:rPr sz="1200" dirty="0">
                <a:latin typeface="Times New Roman"/>
                <a:cs typeface="Times New Roman"/>
              </a:rPr>
              <a:t>and</a:t>
            </a:r>
            <a:r>
              <a:rPr sz="1200" spc="175" dirty="0">
                <a:latin typeface="Times New Roman"/>
                <a:cs typeface="Times New Roman"/>
              </a:rPr>
              <a:t> </a:t>
            </a:r>
            <a:r>
              <a:rPr sz="1200" dirty="0">
                <a:latin typeface="Times New Roman"/>
                <a:cs typeface="Times New Roman"/>
              </a:rPr>
              <a:t>administrators</a:t>
            </a:r>
            <a:r>
              <a:rPr sz="1200" spc="170" dirty="0">
                <a:latin typeface="Times New Roman"/>
                <a:cs typeface="Times New Roman"/>
              </a:rPr>
              <a:t> </a:t>
            </a:r>
            <a:r>
              <a:rPr sz="1200" dirty="0">
                <a:latin typeface="Times New Roman"/>
                <a:cs typeface="Times New Roman"/>
              </a:rPr>
              <a:t>with</a:t>
            </a:r>
            <a:r>
              <a:rPr sz="1200" spc="165" dirty="0">
                <a:latin typeface="Times New Roman"/>
                <a:cs typeface="Times New Roman"/>
              </a:rPr>
              <a:t> </a:t>
            </a:r>
            <a:r>
              <a:rPr sz="1200" spc="-50" dirty="0">
                <a:latin typeface="Times New Roman"/>
                <a:cs typeface="Times New Roman"/>
              </a:rPr>
              <a:t>a </a:t>
            </a:r>
            <a:r>
              <a:rPr sz="1200" dirty="0">
                <a:latin typeface="Times New Roman"/>
                <a:cs typeface="Times New Roman"/>
              </a:rPr>
              <a:t>trustworthy</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efficient</a:t>
            </a:r>
            <a:r>
              <a:rPr sz="1200" spc="-30" dirty="0">
                <a:latin typeface="Times New Roman"/>
                <a:cs typeface="Times New Roman"/>
              </a:rPr>
              <a:t> </a:t>
            </a:r>
            <a:r>
              <a:rPr sz="1200" dirty="0">
                <a:latin typeface="Times New Roman"/>
                <a:cs typeface="Times New Roman"/>
              </a:rPr>
              <a:t>auction</a:t>
            </a:r>
            <a:r>
              <a:rPr sz="1200" spc="-40" dirty="0">
                <a:latin typeface="Times New Roman"/>
                <a:cs typeface="Times New Roman"/>
              </a:rPr>
              <a:t> </a:t>
            </a:r>
            <a:r>
              <a:rPr sz="1200" dirty="0">
                <a:latin typeface="Times New Roman"/>
                <a:cs typeface="Times New Roman"/>
              </a:rPr>
              <a:t>experience,</a:t>
            </a:r>
            <a:r>
              <a:rPr sz="1200" spc="-35" dirty="0">
                <a:latin typeface="Times New Roman"/>
                <a:cs typeface="Times New Roman"/>
              </a:rPr>
              <a:t> </a:t>
            </a:r>
            <a:r>
              <a:rPr sz="1200" dirty="0">
                <a:latin typeface="Times New Roman"/>
                <a:cs typeface="Times New Roman"/>
              </a:rPr>
              <a:t>ultimately</a:t>
            </a:r>
            <a:r>
              <a:rPr sz="1200" spc="-40" dirty="0">
                <a:latin typeface="Times New Roman"/>
                <a:cs typeface="Times New Roman"/>
              </a:rPr>
              <a:t> </a:t>
            </a:r>
            <a:r>
              <a:rPr sz="1200" dirty="0">
                <a:latin typeface="Times New Roman"/>
                <a:cs typeface="Times New Roman"/>
              </a:rPr>
              <a:t>optimizing</a:t>
            </a:r>
            <a:r>
              <a:rPr sz="1200" spc="-40" dirty="0">
                <a:latin typeface="Times New Roman"/>
                <a:cs typeface="Times New Roman"/>
              </a:rPr>
              <a:t> </a:t>
            </a:r>
            <a:r>
              <a:rPr sz="1200" dirty="0">
                <a:latin typeface="Times New Roman"/>
                <a:cs typeface="Times New Roman"/>
              </a:rPr>
              <a:t>real</a:t>
            </a:r>
            <a:r>
              <a:rPr sz="1200" spc="-40" dirty="0">
                <a:latin typeface="Times New Roman"/>
                <a:cs typeface="Times New Roman"/>
              </a:rPr>
              <a:t> </a:t>
            </a:r>
            <a:r>
              <a:rPr sz="1200" dirty="0">
                <a:latin typeface="Times New Roman"/>
                <a:cs typeface="Times New Roman"/>
              </a:rPr>
              <a:t>estate</a:t>
            </a:r>
            <a:r>
              <a:rPr sz="1200" spc="-35" dirty="0">
                <a:latin typeface="Times New Roman"/>
                <a:cs typeface="Times New Roman"/>
              </a:rPr>
              <a:t> </a:t>
            </a:r>
            <a:r>
              <a:rPr sz="1200" spc="-10" dirty="0">
                <a:latin typeface="Times New Roman"/>
                <a:cs typeface="Times New Roman"/>
              </a:rPr>
              <a:t>transactions.</a:t>
            </a:r>
            <a:r>
              <a:rPr lang="en-US" sz="1200" spc="-10" dirty="0">
                <a:latin typeface="Times New Roman"/>
                <a:cs typeface="Times New Roman"/>
              </a:rPr>
              <a:t> </a:t>
            </a:r>
            <a:r>
              <a:rPr sz="1200" dirty="0">
                <a:latin typeface="Times New Roman"/>
                <a:cs typeface="Times New Roman"/>
              </a:rPr>
              <a:t>Through</a:t>
            </a:r>
            <a:r>
              <a:rPr sz="1200" spc="100" dirty="0">
                <a:latin typeface="Times New Roman"/>
                <a:cs typeface="Times New Roman"/>
              </a:rPr>
              <a:t> </a:t>
            </a:r>
            <a:r>
              <a:rPr sz="1200" dirty="0">
                <a:latin typeface="Times New Roman"/>
                <a:cs typeface="Times New Roman"/>
              </a:rPr>
              <a:t>an</a:t>
            </a:r>
            <a:r>
              <a:rPr sz="1200" spc="110" dirty="0">
                <a:latin typeface="Times New Roman"/>
                <a:cs typeface="Times New Roman"/>
              </a:rPr>
              <a:t> </a:t>
            </a:r>
            <a:r>
              <a:rPr sz="1200" dirty="0">
                <a:latin typeface="Times New Roman"/>
                <a:cs typeface="Times New Roman"/>
              </a:rPr>
              <a:t>examination</a:t>
            </a:r>
            <a:r>
              <a:rPr sz="1200" spc="100"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existing</a:t>
            </a:r>
            <a:r>
              <a:rPr sz="1200" spc="105" dirty="0">
                <a:latin typeface="Times New Roman"/>
                <a:cs typeface="Times New Roman"/>
              </a:rPr>
              <a:t> </a:t>
            </a:r>
            <a:r>
              <a:rPr sz="1200" dirty="0">
                <a:latin typeface="Times New Roman"/>
                <a:cs typeface="Times New Roman"/>
              </a:rPr>
              <a:t>challenges</a:t>
            </a:r>
            <a:r>
              <a:rPr sz="1200" spc="100" dirty="0">
                <a:latin typeface="Times New Roman"/>
                <a:cs typeface="Times New Roman"/>
              </a:rPr>
              <a:t> </a:t>
            </a:r>
            <a:r>
              <a:rPr sz="1200" dirty="0">
                <a:latin typeface="Times New Roman"/>
                <a:cs typeface="Times New Roman"/>
              </a:rPr>
              <a:t>in</a:t>
            </a:r>
            <a:r>
              <a:rPr sz="1200" spc="100" dirty="0">
                <a:latin typeface="Times New Roman"/>
                <a:cs typeface="Times New Roman"/>
              </a:rPr>
              <a:t> </a:t>
            </a:r>
            <a:r>
              <a:rPr sz="1200" dirty="0">
                <a:latin typeface="Times New Roman"/>
                <a:cs typeface="Times New Roman"/>
              </a:rPr>
              <a:t>property</a:t>
            </a:r>
            <a:r>
              <a:rPr sz="1200" spc="110" dirty="0">
                <a:latin typeface="Times New Roman"/>
                <a:cs typeface="Times New Roman"/>
              </a:rPr>
              <a:t> </a:t>
            </a:r>
            <a:r>
              <a:rPr sz="1200" dirty="0">
                <a:latin typeface="Times New Roman"/>
                <a:cs typeface="Times New Roman"/>
              </a:rPr>
              <a:t>auctions</a:t>
            </a:r>
            <a:r>
              <a:rPr sz="1200" spc="105"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limitations</a:t>
            </a:r>
            <a:r>
              <a:rPr sz="1200" spc="100" dirty="0">
                <a:latin typeface="Times New Roman"/>
                <a:cs typeface="Times New Roman"/>
              </a:rPr>
              <a:t> </a:t>
            </a:r>
            <a:r>
              <a:rPr sz="1200" spc="-25" dirty="0">
                <a:latin typeface="Times New Roman"/>
                <a:cs typeface="Times New Roman"/>
              </a:rPr>
              <a:t>of </a:t>
            </a:r>
            <a:r>
              <a:rPr sz="1200" dirty="0">
                <a:latin typeface="Times New Roman"/>
                <a:cs typeface="Times New Roman"/>
              </a:rPr>
              <a:t>conventional</a:t>
            </a:r>
            <a:r>
              <a:rPr sz="1200" spc="355" dirty="0">
                <a:latin typeface="Times New Roman"/>
                <a:cs typeface="Times New Roman"/>
              </a:rPr>
              <a:t> </a:t>
            </a:r>
            <a:r>
              <a:rPr sz="1200" dirty="0">
                <a:latin typeface="Times New Roman"/>
                <a:cs typeface="Times New Roman"/>
              </a:rPr>
              <a:t>bidding</a:t>
            </a:r>
            <a:r>
              <a:rPr sz="1200" spc="350" dirty="0">
                <a:latin typeface="Times New Roman"/>
                <a:cs typeface="Times New Roman"/>
              </a:rPr>
              <a:t> </a:t>
            </a:r>
            <a:r>
              <a:rPr sz="1200" dirty="0">
                <a:latin typeface="Times New Roman"/>
                <a:cs typeface="Times New Roman"/>
              </a:rPr>
              <a:t>platforms,</a:t>
            </a:r>
            <a:r>
              <a:rPr sz="1200" spc="350" dirty="0">
                <a:latin typeface="Times New Roman"/>
                <a:cs typeface="Times New Roman"/>
              </a:rPr>
              <a:t> </a:t>
            </a:r>
            <a:r>
              <a:rPr sz="1200" dirty="0">
                <a:latin typeface="Times New Roman"/>
                <a:cs typeface="Times New Roman"/>
              </a:rPr>
              <a:t>this</a:t>
            </a:r>
            <a:r>
              <a:rPr sz="1200" spc="350" dirty="0">
                <a:latin typeface="Times New Roman"/>
                <a:cs typeface="Times New Roman"/>
              </a:rPr>
              <a:t> </a:t>
            </a:r>
            <a:r>
              <a:rPr sz="1200" dirty="0">
                <a:latin typeface="Times New Roman"/>
                <a:cs typeface="Times New Roman"/>
              </a:rPr>
              <a:t>chapter</a:t>
            </a:r>
            <a:r>
              <a:rPr sz="1200" spc="345" dirty="0">
                <a:latin typeface="Times New Roman"/>
                <a:cs typeface="Times New Roman"/>
              </a:rPr>
              <a:t> </a:t>
            </a:r>
            <a:r>
              <a:rPr sz="1200" dirty="0">
                <a:latin typeface="Times New Roman"/>
                <a:cs typeface="Times New Roman"/>
              </a:rPr>
              <a:t>lays</a:t>
            </a:r>
            <a:r>
              <a:rPr sz="1200" spc="350" dirty="0">
                <a:latin typeface="Times New Roman"/>
                <a:cs typeface="Times New Roman"/>
              </a:rPr>
              <a:t> </a:t>
            </a:r>
            <a:r>
              <a:rPr sz="1200" dirty="0">
                <a:latin typeface="Times New Roman"/>
                <a:cs typeface="Times New Roman"/>
              </a:rPr>
              <a:t>the</a:t>
            </a:r>
            <a:r>
              <a:rPr sz="1200" spc="350" dirty="0">
                <a:latin typeface="Times New Roman"/>
                <a:cs typeface="Times New Roman"/>
              </a:rPr>
              <a:t> </a:t>
            </a:r>
            <a:r>
              <a:rPr sz="1200" dirty="0">
                <a:latin typeface="Times New Roman"/>
                <a:cs typeface="Times New Roman"/>
              </a:rPr>
              <a:t>foundation</a:t>
            </a:r>
            <a:r>
              <a:rPr sz="1200" spc="350" dirty="0">
                <a:latin typeface="Times New Roman"/>
                <a:cs typeface="Times New Roman"/>
              </a:rPr>
              <a:t> </a:t>
            </a:r>
            <a:r>
              <a:rPr sz="1200" dirty="0">
                <a:latin typeface="Times New Roman"/>
                <a:cs typeface="Times New Roman"/>
              </a:rPr>
              <a:t>for</a:t>
            </a:r>
            <a:r>
              <a:rPr sz="1200" spc="350" dirty="0">
                <a:latin typeface="Times New Roman"/>
                <a:cs typeface="Times New Roman"/>
              </a:rPr>
              <a:t> </a:t>
            </a:r>
            <a:r>
              <a:rPr sz="1200" dirty="0">
                <a:latin typeface="Times New Roman"/>
                <a:cs typeface="Times New Roman"/>
              </a:rPr>
              <a:t>a</a:t>
            </a:r>
            <a:r>
              <a:rPr sz="1200" spc="345" dirty="0">
                <a:latin typeface="Times New Roman"/>
                <a:cs typeface="Times New Roman"/>
              </a:rPr>
              <a:t> </a:t>
            </a:r>
            <a:r>
              <a:rPr sz="1200" spc="-10" dirty="0">
                <a:latin typeface="Times New Roman"/>
                <a:cs typeface="Times New Roman"/>
              </a:rPr>
              <a:t>comprehensive </a:t>
            </a:r>
            <a:r>
              <a:rPr sz="1200" dirty="0">
                <a:latin typeface="Times New Roman"/>
                <a:cs typeface="Times New Roman"/>
              </a:rPr>
              <a:t>exploration</a:t>
            </a:r>
            <a:r>
              <a:rPr sz="1200" spc="160" dirty="0">
                <a:latin typeface="Times New Roman"/>
                <a:cs typeface="Times New Roman"/>
              </a:rPr>
              <a:t> </a:t>
            </a:r>
            <a:r>
              <a:rPr sz="1200" dirty="0">
                <a:latin typeface="Times New Roman"/>
                <a:cs typeface="Times New Roman"/>
              </a:rPr>
              <a:t>of</a:t>
            </a:r>
            <a:r>
              <a:rPr sz="1200" spc="160"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problem</a:t>
            </a:r>
            <a:r>
              <a:rPr sz="1200" spc="160" dirty="0">
                <a:latin typeface="Times New Roman"/>
                <a:cs typeface="Times New Roman"/>
              </a:rPr>
              <a:t> </a:t>
            </a:r>
            <a:r>
              <a:rPr sz="1200" dirty="0">
                <a:latin typeface="Times New Roman"/>
                <a:cs typeface="Times New Roman"/>
              </a:rPr>
              <a:t>domain</a:t>
            </a:r>
            <a:r>
              <a:rPr sz="1200" spc="165"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the</a:t>
            </a:r>
            <a:r>
              <a:rPr sz="1200" spc="160" dirty="0">
                <a:latin typeface="Times New Roman"/>
                <a:cs typeface="Times New Roman"/>
              </a:rPr>
              <a:t> </a:t>
            </a:r>
            <a:r>
              <a:rPr sz="1200" dirty="0">
                <a:latin typeface="Times New Roman"/>
                <a:cs typeface="Times New Roman"/>
              </a:rPr>
              <a:t>transformative</a:t>
            </a:r>
            <a:r>
              <a:rPr sz="1200" spc="155" dirty="0">
                <a:latin typeface="Times New Roman"/>
                <a:cs typeface="Times New Roman"/>
              </a:rPr>
              <a:t> </a:t>
            </a:r>
            <a:r>
              <a:rPr sz="1200" dirty="0">
                <a:latin typeface="Times New Roman"/>
                <a:cs typeface="Times New Roman"/>
              </a:rPr>
              <a:t>potential</a:t>
            </a:r>
            <a:r>
              <a:rPr sz="1200" spc="165" dirty="0">
                <a:latin typeface="Times New Roman"/>
                <a:cs typeface="Times New Roman"/>
              </a:rPr>
              <a:t> </a:t>
            </a:r>
            <a:r>
              <a:rPr sz="1200" dirty="0">
                <a:latin typeface="Times New Roman"/>
                <a:cs typeface="Times New Roman"/>
              </a:rPr>
              <a:t>of</a:t>
            </a:r>
            <a:r>
              <a:rPr sz="1200" spc="170" dirty="0">
                <a:latin typeface="Times New Roman"/>
                <a:cs typeface="Times New Roman"/>
              </a:rPr>
              <a:t> </a:t>
            </a:r>
            <a:r>
              <a:rPr sz="1200" dirty="0">
                <a:latin typeface="Times New Roman"/>
                <a:cs typeface="Times New Roman"/>
              </a:rPr>
              <a:t>AI-driven</a:t>
            </a:r>
            <a:r>
              <a:rPr sz="1200" spc="170" dirty="0">
                <a:latin typeface="Times New Roman"/>
                <a:cs typeface="Times New Roman"/>
              </a:rPr>
              <a:t> </a:t>
            </a:r>
            <a:r>
              <a:rPr sz="1200" spc="-10" dirty="0">
                <a:latin typeface="Times New Roman"/>
                <a:cs typeface="Times New Roman"/>
              </a:rPr>
              <a:t>auction solutions.</a:t>
            </a:r>
            <a:endParaRPr sz="12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11</a:t>
            </a:r>
          </a:p>
        </p:txBody>
      </p:sp>
      <p:sp>
        <p:nvSpPr>
          <p:cNvPr id="2" name="object 2"/>
          <p:cNvSpPr txBox="1"/>
          <p:nvPr/>
        </p:nvSpPr>
        <p:spPr>
          <a:xfrm>
            <a:off x="1176324" y="889761"/>
            <a:ext cx="5696585" cy="8174930"/>
          </a:xfrm>
          <a:prstGeom prst="rect">
            <a:avLst/>
          </a:prstGeom>
        </p:spPr>
        <p:txBody>
          <a:bodyPr vert="horz" wrap="square" lIns="0" tIns="12700" rIns="0" bIns="0" rtlCol="0">
            <a:spAutoFit/>
          </a:bodyPr>
          <a:lstStyle/>
          <a:p>
            <a:pPr marL="278765" lvl="1" indent="-266065">
              <a:lnSpc>
                <a:spcPct val="100000"/>
              </a:lnSpc>
              <a:spcBef>
                <a:spcPts val="100"/>
              </a:spcBef>
              <a:buSzPct val="85714"/>
              <a:buAutoNum type="arabicPeriod"/>
              <a:tabLst>
                <a:tab pos="278765" algn="l"/>
              </a:tabLst>
            </a:pPr>
            <a:r>
              <a:rPr sz="1400" b="1" dirty="0">
                <a:latin typeface="Times New Roman"/>
                <a:cs typeface="Times New Roman"/>
              </a:rPr>
              <a:t>Problem</a:t>
            </a:r>
            <a:r>
              <a:rPr sz="1400" b="1" spc="-85" dirty="0">
                <a:latin typeface="Times New Roman"/>
                <a:cs typeface="Times New Roman"/>
              </a:rPr>
              <a:t> </a:t>
            </a:r>
            <a:r>
              <a:rPr sz="1200" b="1" spc="-10" dirty="0">
                <a:latin typeface="Times New Roman"/>
                <a:cs typeface="Times New Roman"/>
              </a:rPr>
              <a:t>Statement</a:t>
            </a:r>
            <a:endParaRPr sz="1200" dirty="0">
              <a:latin typeface="Times New Roman"/>
              <a:cs typeface="Times New Roman"/>
            </a:endParaRPr>
          </a:p>
          <a:p>
            <a:pPr lvl="1">
              <a:lnSpc>
                <a:spcPct val="100000"/>
              </a:lnSpc>
              <a:spcBef>
                <a:spcPts val="135"/>
              </a:spcBef>
              <a:buAutoNum type="arabicPeriod"/>
            </a:pPr>
            <a:endParaRPr sz="1200" dirty="0">
              <a:latin typeface="Times New Roman"/>
              <a:cs typeface="Times New Roman"/>
            </a:endParaRPr>
          </a:p>
          <a:p>
            <a:pPr marL="12700" marR="8255" algn="just">
              <a:lnSpc>
                <a:spcPct val="143700"/>
              </a:lnSpc>
            </a:pPr>
            <a:r>
              <a:rPr sz="1200" dirty="0">
                <a:latin typeface="Times New Roman"/>
                <a:cs typeface="Times New Roman"/>
              </a:rPr>
              <a:t>Efficient</a:t>
            </a:r>
            <a:r>
              <a:rPr sz="1200" spc="195" dirty="0">
                <a:latin typeface="Times New Roman"/>
                <a:cs typeface="Times New Roman"/>
              </a:rPr>
              <a:t> </a:t>
            </a:r>
            <a:r>
              <a:rPr sz="1200" dirty="0">
                <a:latin typeface="Times New Roman"/>
                <a:cs typeface="Times New Roman"/>
              </a:rPr>
              <a:t>and</a:t>
            </a:r>
            <a:r>
              <a:rPr sz="1200" spc="190" dirty="0">
                <a:latin typeface="Times New Roman"/>
                <a:cs typeface="Times New Roman"/>
              </a:rPr>
              <a:t> </a:t>
            </a:r>
            <a:r>
              <a:rPr sz="1200" dirty="0">
                <a:latin typeface="Times New Roman"/>
                <a:cs typeface="Times New Roman"/>
              </a:rPr>
              <a:t>transparent</a:t>
            </a:r>
            <a:r>
              <a:rPr sz="1200" spc="190" dirty="0">
                <a:latin typeface="Times New Roman"/>
                <a:cs typeface="Times New Roman"/>
              </a:rPr>
              <a:t> </a:t>
            </a:r>
            <a:r>
              <a:rPr sz="1200" dirty="0">
                <a:latin typeface="Times New Roman"/>
                <a:cs typeface="Times New Roman"/>
              </a:rPr>
              <a:t>property</a:t>
            </a:r>
            <a:r>
              <a:rPr sz="1200" spc="200" dirty="0">
                <a:latin typeface="Times New Roman"/>
                <a:cs typeface="Times New Roman"/>
              </a:rPr>
              <a:t> </a:t>
            </a:r>
            <a:r>
              <a:rPr sz="1200" dirty="0">
                <a:latin typeface="Times New Roman"/>
                <a:cs typeface="Times New Roman"/>
              </a:rPr>
              <a:t>auctions</a:t>
            </a:r>
            <a:r>
              <a:rPr sz="1200" spc="190" dirty="0">
                <a:latin typeface="Times New Roman"/>
                <a:cs typeface="Times New Roman"/>
              </a:rPr>
              <a:t> </a:t>
            </a:r>
            <a:r>
              <a:rPr sz="1200" dirty="0">
                <a:latin typeface="Times New Roman"/>
                <a:cs typeface="Times New Roman"/>
              </a:rPr>
              <a:t>are</a:t>
            </a:r>
            <a:r>
              <a:rPr sz="1200" spc="195" dirty="0">
                <a:latin typeface="Times New Roman"/>
                <a:cs typeface="Times New Roman"/>
              </a:rPr>
              <a:t> </a:t>
            </a:r>
            <a:r>
              <a:rPr sz="1200" dirty="0">
                <a:latin typeface="Times New Roman"/>
                <a:cs typeface="Times New Roman"/>
              </a:rPr>
              <a:t>essential</a:t>
            </a:r>
            <a:r>
              <a:rPr sz="1200" spc="190" dirty="0">
                <a:latin typeface="Times New Roman"/>
                <a:cs typeface="Times New Roman"/>
              </a:rPr>
              <a:t> </a:t>
            </a:r>
            <a:r>
              <a:rPr sz="1200" dirty="0">
                <a:latin typeface="Times New Roman"/>
                <a:cs typeface="Times New Roman"/>
              </a:rPr>
              <a:t>for</a:t>
            </a:r>
            <a:r>
              <a:rPr sz="1200" spc="190" dirty="0">
                <a:latin typeface="Times New Roman"/>
                <a:cs typeface="Times New Roman"/>
              </a:rPr>
              <a:t> </a:t>
            </a:r>
            <a:r>
              <a:rPr sz="1200" dirty="0">
                <a:latin typeface="Times New Roman"/>
                <a:cs typeface="Times New Roman"/>
              </a:rPr>
              <a:t>fair</a:t>
            </a:r>
            <a:r>
              <a:rPr sz="1200" spc="200" dirty="0">
                <a:latin typeface="Times New Roman"/>
                <a:cs typeface="Times New Roman"/>
              </a:rPr>
              <a:t> </a:t>
            </a:r>
            <a:r>
              <a:rPr sz="1200" dirty="0">
                <a:latin typeface="Times New Roman"/>
                <a:cs typeface="Times New Roman"/>
              </a:rPr>
              <a:t>market</a:t>
            </a:r>
            <a:r>
              <a:rPr sz="1200" spc="204" dirty="0">
                <a:latin typeface="Times New Roman"/>
                <a:cs typeface="Times New Roman"/>
              </a:rPr>
              <a:t> </a:t>
            </a:r>
            <a:r>
              <a:rPr sz="1200" dirty="0">
                <a:latin typeface="Times New Roman"/>
                <a:cs typeface="Times New Roman"/>
              </a:rPr>
              <a:t>competition</a:t>
            </a:r>
            <a:r>
              <a:rPr sz="1200" spc="190" dirty="0">
                <a:latin typeface="Times New Roman"/>
                <a:cs typeface="Times New Roman"/>
              </a:rPr>
              <a:t> </a:t>
            </a:r>
            <a:r>
              <a:rPr sz="1200" spc="-25" dirty="0">
                <a:latin typeface="Times New Roman"/>
                <a:cs typeface="Times New Roman"/>
              </a:rPr>
              <a:t>and </a:t>
            </a:r>
            <a:r>
              <a:rPr sz="1200" dirty="0">
                <a:latin typeface="Times New Roman"/>
                <a:cs typeface="Times New Roman"/>
              </a:rPr>
              <a:t>seamless</a:t>
            </a:r>
            <a:r>
              <a:rPr sz="1200" spc="285" dirty="0">
                <a:latin typeface="Times New Roman"/>
                <a:cs typeface="Times New Roman"/>
              </a:rPr>
              <a:t> </a:t>
            </a:r>
            <a:r>
              <a:rPr sz="1200" dirty="0">
                <a:latin typeface="Times New Roman"/>
                <a:cs typeface="Times New Roman"/>
              </a:rPr>
              <a:t>real</a:t>
            </a:r>
            <a:r>
              <a:rPr sz="1200" spc="290" dirty="0">
                <a:latin typeface="Times New Roman"/>
                <a:cs typeface="Times New Roman"/>
              </a:rPr>
              <a:t> </a:t>
            </a:r>
            <a:r>
              <a:rPr sz="1200" dirty="0">
                <a:latin typeface="Times New Roman"/>
                <a:cs typeface="Times New Roman"/>
              </a:rPr>
              <a:t>estate</a:t>
            </a:r>
            <a:r>
              <a:rPr sz="1200" spc="280" dirty="0">
                <a:latin typeface="Times New Roman"/>
                <a:cs typeface="Times New Roman"/>
              </a:rPr>
              <a:t> </a:t>
            </a:r>
            <a:r>
              <a:rPr sz="1200" dirty="0">
                <a:latin typeface="Times New Roman"/>
                <a:cs typeface="Times New Roman"/>
              </a:rPr>
              <a:t>transactions.</a:t>
            </a:r>
            <a:r>
              <a:rPr sz="1200" spc="280" dirty="0">
                <a:latin typeface="Times New Roman"/>
                <a:cs typeface="Times New Roman"/>
              </a:rPr>
              <a:t> </a:t>
            </a:r>
            <a:r>
              <a:rPr sz="1200" dirty="0">
                <a:latin typeface="Times New Roman"/>
                <a:cs typeface="Times New Roman"/>
              </a:rPr>
              <a:t>However,</a:t>
            </a:r>
            <a:r>
              <a:rPr sz="1200" spc="280" dirty="0">
                <a:latin typeface="Times New Roman"/>
                <a:cs typeface="Times New Roman"/>
              </a:rPr>
              <a:t> </a:t>
            </a:r>
            <a:r>
              <a:rPr sz="1200" dirty="0">
                <a:latin typeface="Times New Roman"/>
                <a:cs typeface="Times New Roman"/>
              </a:rPr>
              <a:t>traditional</a:t>
            </a:r>
            <a:r>
              <a:rPr sz="1200" spc="285" dirty="0">
                <a:latin typeface="Times New Roman"/>
                <a:cs typeface="Times New Roman"/>
              </a:rPr>
              <a:t> </a:t>
            </a:r>
            <a:r>
              <a:rPr sz="1200" dirty="0">
                <a:latin typeface="Times New Roman"/>
                <a:cs typeface="Times New Roman"/>
              </a:rPr>
              <a:t>auction</a:t>
            </a:r>
            <a:r>
              <a:rPr sz="1200" spc="285" dirty="0">
                <a:latin typeface="Times New Roman"/>
                <a:cs typeface="Times New Roman"/>
              </a:rPr>
              <a:t> </a:t>
            </a:r>
            <a:r>
              <a:rPr sz="1200" dirty="0">
                <a:latin typeface="Times New Roman"/>
                <a:cs typeface="Times New Roman"/>
              </a:rPr>
              <a:t>systems</a:t>
            </a:r>
            <a:r>
              <a:rPr sz="1200" spc="275" dirty="0">
                <a:latin typeface="Times New Roman"/>
                <a:cs typeface="Times New Roman"/>
              </a:rPr>
              <a:t> </a:t>
            </a:r>
            <a:r>
              <a:rPr sz="1200" dirty="0">
                <a:latin typeface="Times New Roman"/>
                <a:cs typeface="Times New Roman"/>
              </a:rPr>
              <a:t>suffer</a:t>
            </a:r>
            <a:r>
              <a:rPr sz="1200" spc="275" dirty="0">
                <a:latin typeface="Times New Roman"/>
                <a:cs typeface="Times New Roman"/>
              </a:rPr>
              <a:t> </a:t>
            </a:r>
            <a:r>
              <a:rPr sz="1200" dirty="0">
                <a:latin typeface="Times New Roman"/>
                <a:cs typeface="Times New Roman"/>
              </a:rPr>
              <a:t>from</a:t>
            </a:r>
            <a:r>
              <a:rPr sz="1200" spc="290" dirty="0">
                <a:latin typeface="Times New Roman"/>
                <a:cs typeface="Times New Roman"/>
              </a:rPr>
              <a:t> </a:t>
            </a:r>
            <a:r>
              <a:rPr sz="1200" spc="-25" dirty="0">
                <a:latin typeface="Times New Roman"/>
                <a:cs typeface="Times New Roman"/>
              </a:rPr>
              <a:t>bid </a:t>
            </a:r>
            <a:r>
              <a:rPr sz="1200" dirty="0">
                <a:latin typeface="Times New Roman"/>
                <a:cs typeface="Times New Roman"/>
              </a:rPr>
              <a:t>manipulation,</a:t>
            </a:r>
            <a:r>
              <a:rPr sz="1200" spc="35" dirty="0">
                <a:latin typeface="Times New Roman"/>
                <a:cs typeface="Times New Roman"/>
              </a:rPr>
              <a:t> </a:t>
            </a:r>
            <a:r>
              <a:rPr sz="1200" dirty="0">
                <a:latin typeface="Times New Roman"/>
                <a:cs typeface="Times New Roman"/>
              </a:rPr>
              <a:t>delayed</a:t>
            </a:r>
            <a:r>
              <a:rPr sz="1200" spc="4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security</a:t>
            </a:r>
            <a:r>
              <a:rPr sz="1200" spc="40" dirty="0">
                <a:latin typeface="Times New Roman"/>
                <a:cs typeface="Times New Roman"/>
              </a:rPr>
              <a:t> </a:t>
            </a:r>
            <a:r>
              <a:rPr sz="1200" dirty="0">
                <a:latin typeface="Times New Roman"/>
                <a:cs typeface="Times New Roman"/>
              </a:rPr>
              <a:t>vulnerabilities,</a:t>
            </a:r>
            <a:r>
              <a:rPr sz="1200" spc="3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fraud</a:t>
            </a:r>
            <a:r>
              <a:rPr sz="1200" spc="50" dirty="0">
                <a:latin typeface="Times New Roman"/>
                <a:cs typeface="Times New Roman"/>
              </a:rPr>
              <a:t> </a:t>
            </a:r>
            <a:r>
              <a:rPr sz="1200" dirty="0">
                <a:latin typeface="Times New Roman"/>
                <a:cs typeface="Times New Roman"/>
              </a:rPr>
              <a:t>risks,</a:t>
            </a:r>
            <a:r>
              <a:rPr sz="1200" spc="35" dirty="0">
                <a:latin typeface="Times New Roman"/>
                <a:cs typeface="Times New Roman"/>
              </a:rPr>
              <a:t> </a:t>
            </a:r>
            <a:r>
              <a:rPr sz="1200" dirty="0">
                <a:latin typeface="Times New Roman"/>
                <a:cs typeface="Times New Roman"/>
              </a:rPr>
              <a:t>leading</a:t>
            </a:r>
            <a:r>
              <a:rPr sz="1200" spc="4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lack</a:t>
            </a:r>
            <a:r>
              <a:rPr sz="1200" spc="35" dirty="0">
                <a:latin typeface="Times New Roman"/>
                <a:cs typeface="Times New Roman"/>
              </a:rPr>
              <a:t> </a:t>
            </a:r>
            <a:r>
              <a:rPr sz="1200" spc="-25" dirty="0">
                <a:latin typeface="Times New Roman"/>
                <a:cs typeface="Times New Roman"/>
              </a:rPr>
              <a:t>of </a:t>
            </a:r>
            <a:r>
              <a:rPr sz="1200" dirty="0">
                <a:latin typeface="Times New Roman"/>
                <a:cs typeface="Times New Roman"/>
              </a:rPr>
              <a:t>trust</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efficiency.</a:t>
            </a:r>
            <a:r>
              <a:rPr sz="1200" spc="-20" dirty="0">
                <a:latin typeface="Times New Roman"/>
                <a:cs typeface="Times New Roman"/>
              </a:rPr>
              <a:t> </a:t>
            </a:r>
            <a:r>
              <a:rPr sz="1200" dirty="0">
                <a:latin typeface="Times New Roman"/>
                <a:cs typeface="Times New Roman"/>
              </a:rPr>
              <a:t>These</a:t>
            </a:r>
            <a:r>
              <a:rPr sz="1200" spc="-30" dirty="0">
                <a:latin typeface="Times New Roman"/>
                <a:cs typeface="Times New Roman"/>
              </a:rPr>
              <a:t> </a:t>
            </a:r>
            <a:r>
              <a:rPr sz="1200" dirty="0">
                <a:latin typeface="Times New Roman"/>
                <a:cs typeface="Times New Roman"/>
              </a:rPr>
              <a:t>challenges</a:t>
            </a:r>
            <a:r>
              <a:rPr sz="1200" spc="-1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further</a:t>
            </a:r>
            <a:r>
              <a:rPr sz="1200" spc="-30" dirty="0">
                <a:latin typeface="Times New Roman"/>
                <a:cs typeface="Times New Roman"/>
              </a:rPr>
              <a:t> </a:t>
            </a:r>
            <a:r>
              <a:rPr sz="1200" dirty="0">
                <a:latin typeface="Times New Roman"/>
                <a:cs typeface="Times New Roman"/>
              </a:rPr>
              <a:t>exacerbated</a:t>
            </a:r>
            <a:r>
              <a:rPr sz="1200" spc="-25" dirty="0">
                <a:latin typeface="Times New Roman"/>
                <a:cs typeface="Times New Roman"/>
              </a:rPr>
              <a:t> </a:t>
            </a:r>
            <a:r>
              <a:rPr sz="1200" dirty="0">
                <a:latin typeface="Times New Roman"/>
                <a:cs typeface="Times New Roman"/>
              </a:rPr>
              <a:t>by</a:t>
            </a:r>
            <a:r>
              <a:rPr sz="1200" spc="-10" dirty="0">
                <a:latin typeface="Times New Roman"/>
                <a:cs typeface="Times New Roman"/>
              </a:rPr>
              <a:t> </a:t>
            </a:r>
            <a:r>
              <a:rPr sz="1200" dirty="0">
                <a:latin typeface="Times New Roman"/>
                <a:cs typeface="Times New Roman"/>
              </a:rPr>
              <a:t>high</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traffic,</a:t>
            </a:r>
            <a:r>
              <a:rPr sz="1200" spc="-15" dirty="0">
                <a:latin typeface="Times New Roman"/>
                <a:cs typeface="Times New Roman"/>
              </a:rPr>
              <a:t> </a:t>
            </a:r>
            <a:r>
              <a:rPr sz="1200" spc="-10" dirty="0">
                <a:latin typeface="Times New Roman"/>
                <a:cs typeface="Times New Roman"/>
              </a:rPr>
              <a:t>scalability </a:t>
            </a:r>
            <a:r>
              <a:rPr sz="1200" dirty="0">
                <a:latin typeface="Times New Roman"/>
                <a:cs typeface="Times New Roman"/>
              </a:rPr>
              <a:t>issues,</a:t>
            </a:r>
            <a:r>
              <a:rPr sz="1200" spc="350" dirty="0">
                <a:latin typeface="Times New Roman"/>
                <a:cs typeface="Times New Roman"/>
              </a:rPr>
              <a:t> </a:t>
            </a:r>
            <a:r>
              <a:rPr sz="1200" dirty="0">
                <a:latin typeface="Times New Roman"/>
                <a:cs typeface="Times New Roman"/>
              </a:rPr>
              <a:t>and</a:t>
            </a:r>
            <a:r>
              <a:rPr sz="1200" spc="350" dirty="0">
                <a:latin typeface="Times New Roman"/>
                <a:cs typeface="Times New Roman"/>
              </a:rPr>
              <a:t> </a:t>
            </a:r>
            <a:r>
              <a:rPr sz="1200" dirty="0">
                <a:latin typeface="Times New Roman"/>
                <a:cs typeface="Times New Roman"/>
              </a:rPr>
              <a:t>outdated</a:t>
            </a:r>
            <a:r>
              <a:rPr sz="1200" spc="350" dirty="0">
                <a:latin typeface="Times New Roman"/>
                <a:cs typeface="Times New Roman"/>
              </a:rPr>
              <a:t> </a:t>
            </a:r>
            <a:r>
              <a:rPr sz="1200" dirty="0">
                <a:latin typeface="Times New Roman"/>
                <a:cs typeface="Times New Roman"/>
              </a:rPr>
              <a:t>verification</a:t>
            </a:r>
            <a:r>
              <a:rPr sz="1200" spc="350" dirty="0">
                <a:latin typeface="Times New Roman"/>
                <a:cs typeface="Times New Roman"/>
              </a:rPr>
              <a:t> </a:t>
            </a:r>
            <a:r>
              <a:rPr sz="1200" dirty="0">
                <a:latin typeface="Times New Roman"/>
                <a:cs typeface="Times New Roman"/>
              </a:rPr>
              <a:t>processes,</a:t>
            </a:r>
            <a:r>
              <a:rPr sz="1200" spc="350" dirty="0">
                <a:latin typeface="Times New Roman"/>
                <a:cs typeface="Times New Roman"/>
              </a:rPr>
              <a:t> </a:t>
            </a:r>
            <a:r>
              <a:rPr sz="1200" dirty="0">
                <a:latin typeface="Times New Roman"/>
                <a:cs typeface="Times New Roman"/>
              </a:rPr>
              <a:t>which</a:t>
            </a:r>
            <a:r>
              <a:rPr sz="1200" spc="350" dirty="0">
                <a:latin typeface="Times New Roman"/>
                <a:cs typeface="Times New Roman"/>
              </a:rPr>
              <a:t> </a:t>
            </a:r>
            <a:r>
              <a:rPr sz="1200" dirty="0">
                <a:latin typeface="Times New Roman"/>
                <a:cs typeface="Times New Roman"/>
              </a:rPr>
              <a:t>hinder</a:t>
            </a:r>
            <a:r>
              <a:rPr sz="1200" spc="345" dirty="0">
                <a:latin typeface="Times New Roman"/>
                <a:cs typeface="Times New Roman"/>
              </a:rPr>
              <a:t> </a:t>
            </a:r>
            <a:r>
              <a:rPr sz="1200" dirty="0">
                <a:latin typeface="Times New Roman"/>
                <a:cs typeface="Times New Roman"/>
              </a:rPr>
              <a:t>smooth</a:t>
            </a:r>
            <a:r>
              <a:rPr sz="1200" spc="355" dirty="0">
                <a:latin typeface="Times New Roman"/>
                <a:cs typeface="Times New Roman"/>
              </a:rPr>
              <a:t> </a:t>
            </a:r>
            <a:r>
              <a:rPr sz="1200" dirty="0">
                <a:latin typeface="Times New Roman"/>
                <a:cs typeface="Times New Roman"/>
              </a:rPr>
              <a:t>and</a:t>
            </a:r>
            <a:r>
              <a:rPr sz="1200" spc="340" dirty="0">
                <a:latin typeface="Times New Roman"/>
                <a:cs typeface="Times New Roman"/>
              </a:rPr>
              <a:t> </a:t>
            </a:r>
            <a:r>
              <a:rPr sz="1200" dirty="0">
                <a:latin typeface="Times New Roman"/>
                <a:cs typeface="Times New Roman"/>
              </a:rPr>
              <a:t>reliable</a:t>
            </a:r>
            <a:r>
              <a:rPr sz="1200" spc="350" dirty="0">
                <a:latin typeface="Times New Roman"/>
                <a:cs typeface="Times New Roman"/>
              </a:rPr>
              <a:t> </a:t>
            </a:r>
            <a:r>
              <a:rPr sz="1200" spc="-10" dirty="0">
                <a:latin typeface="Times New Roman"/>
                <a:cs typeface="Times New Roman"/>
              </a:rPr>
              <a:t>auction experiences.</a:t>
            </a:r>
            <a:endParaRPr sz="1200" dirty="0">
              <a:latin typeface="Times New Roman"/>
              <a:cs typeface="Times New Roman"/>
            </a:endParaRPr>
          </a:p>
          <a:p>
            <a:pPr>
              <a:lnSpc>
                <a:spcPct val="100000"/>
              </a:lnSpc>
              <a:spcBef>
                <a:spcPts val="20"/>
              </a:spcBef>
            </a:pPr>
            <a:endParaRPr sz="1200" dirty="0">
              <a:latin typeface="Times New Roman"/>
              <a:cs typeface="Times New Roman"/>
            </a:endParaRPr>
          </a:p>
          <a:p>
            <a:pPr marL="12700" marR="5080" algn="just">
              <a:lnSpc>
                <a:spcPct val="143800"/>
              </a:lnSpc>
              <a:spcBef>
                <a:spcPts val="5"/>
              </a:spcBef>
            </a:pP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these</a:t>
            </a:r>
            <a:r>
              <a:rPr sz="1200" spc="-40" dirty="0">
                <a:latin typeface="Times New Roman"/>
                <a:cs typeface="Times New Roman"/>
              </a:rPr>
              <a:t> </a:t>
            </a:r>
            <a:r>
              <a:rPr sz="1200" spc="-10" dirty="0">
                <a:latin typeface="Times New Roman"/>
                <a:cs typeface="Times New Roman"/>
              </a:rPr>
              <a:t>limitations,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primary</a:t>
            </a:r>
            <a:r>
              <a:rPr sz="1200" spc="-40" dirty="0">
                <a:latin typeface="Times New Roman"/>
                <a:cs typeface="Times New Roman"/>
              </a:rPr>
              <a:t> </a:t>
            </a:r>
            <a:r>
              <a:rPr sz="1200" dirty="0">
                <a:latin typeface="Times New Roman"/>
                <a:cs typeface="Times New Roman"/>
              </a:rPr>
              <a:t>goal</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project</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develop</a:t>
            </a:r>
            <a:r>
              <a:rPr sz="1200" spc="-35" dirty="0">
                <a:latin typeface="Times New Roman"/>
                <a:cs typeface="Times New Roman"/>
              </a:rPr>
              <a:t> </a:t>
            </a:r>
            <a:r>
              <a:rPr sz="1200" dirty="0">
                <a:latin typeface="Times New Roman"/>
                <a:cs typeface="Times New Roman"/>
              </a:rPr>
              <a:t>an</a:t>
            </a:r>
            <a:r>
              <a:rPr sz="1200" spc="-3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30" dirty="0">
                <a:latin typeface="Times New Roman"/>
                <a:cs typeface="Times New Roman"/>
              </a:rPr>
              <a:t> </a:t>
            </a:r>
            <a:r>
              <a:rPr sz="1200" spc="-20" dirty="0">
                <a:latin typeface="Times New Roman"/>
                <a:cs typeface="Times New Roman"/>
              </a:rPr>
              <a:t>real </a:t>
            </a:r>
            <a:r>
              <a:rPr sz="1200" dirty="0">
                <a:latin typeface="Times New Roman"/>
                <a:cs typeface="Times New Roman"/>
              </a:rPr>
              <a:t>estate</a:t>
            </a:r>
            <a:r>
              <a:rPr sz="1200" spc="280" dirty="0">
                <a:latin typeface="Times New Roman"/>
                <a:cs typeface="Times New Roman"/>
              </a:rPr>
              <a:t> </a:t>
            </a:r>
            <a:r>
              <a:rPr sz="1200" dirty="0">
                <a:latin typeface="Times New Roman"/>
                <a:cs typeface="Times New Roman"/>
              </a:rPr>
              <a:t>auction</a:t>
            </a:r>
            <a:r>
              <a:rPr sz="1200" spc="285" dirty="0">
                <a:latin typeface="Times New Roman"/>
                <a:cs typeface="Times New Roman"/>
              </a:rPr>
              <a:t> </a:t>
            </a:r>
            <a:r>
              <a:rPr sz="1200" dirty="0">
                <a:latin typeface="Times New Roman"/>
                <a:cs typeface="Times New Roman"/>
              </a:rPr>
              <a:t>platform</a:t>
            </a:r>
            <a:r>
              <a:rPr sz="1200" spc="295" dirty="0">
                <a:latin typeface="Times New Roman"/>
                <a:cs typeface="Times New Roman"/>
              </a:rPr>
              <a:t> </a:t>
            </a:r>
            <a:r>
              <a:rPr sz="1200" dirty="0">
                <a:latin typeface="Times New Roman"/>
                <a:cs typeface="Times New Roman"/>
              </a:rPr>
              <a:t>that</a:t>
            </a:r>
            <a:r>
              <a:rPr sz="1200" spc="285" dirty="0">
                <a:latin typeface="Times New Roman"/>
                <a:cs typeface="Times New Roman"/>
              </a:rPr>
              <a:t> </a:t>
            </a:r>
            <a:r>
              <a:rPr sz="1200" dirty="0">
                <a:latin typeface="Times New Roman"/>
                <a:cs typeface="Times New Roman"/>
              </a:rPr>
              <a:t>ensures</a:t>
            </a:r>
            <a:r>
              <a:rPr sz="1200" spc="28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85" dirty="0">
                <a:latin typeface="Times New Roman"/>
                <a:cs typeface="Times New Roman"/>
              </a:rPr>
              <a:t> </a:t>
            </a:r>
            <a:r>
              <a:rPr sz="1200" dirty="0">
                <a:latin typeface="Times New Roman"/>
                <a:cs typeface="Times New Roman"/>
              </a:rPr>
              <a:t>bidding</a:t>
            </a:r>
            <a:r>
              <a:rPr sz="1200" spc="285" dirty="0">
                <a:latin typeface="Times New Roman"/>
                <a:cs typeface="Times New Roman"/>
              </a:rPr>
              <a:t> </a:t>
            </a:r>
            <a:r>
              <a:rPr sz="1200" dirty="0">
                <a:latin typeface="Times New Roman"/>
                <a:cs typeface="Times New Roman"/>
              </a:rPr>
              <a:t>synchronization,</a:t>
            </a:r>
            <a:r>
              <a:rPr sz="1200" spc="285" dirty="0">
                <a:latin typeface="Times New Roman"/>
                <a:cs typeface="Times New Roman"/>
              </a:rPr>
              <a:t> </a:t>
            </a:r>
            <a:r>
              <a:rPr sz="1200" dirty="0">
                <a:latin typeface="Times New Roman"/>
                <a:cs typeface="Times New Roman"/>
              </a:rPr>
              <a:t>intelligent</a:t>
            </a:r>
            <a:r>
              <a:rPr sz="1200" spc="285" dirty="0">
                <a:latin typeface="Times New Roman"/>
                <a:cs typeface="Times New Roman"/>
              </a:rPr>
              <a:t> </a:t>
            </a:r>
            <a:r>
              <a:rPr sz="1200" spc="-10" dirty="0">
                <a:latin typeface="Times New Roman"/>
                <a:cs typeface="Times New Roman"/>
              </a:rPr>
              <a:t>price prediction,</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automated</a:t>
            </a:r>
            <a:r>
              <a:rPr sz="1200" spc="-35" dirty="0">
                <a:latin typeface="Times New Roman"/>
                <a:cs typeface="Times New Roman"/>
              </a:rPr>
              <a:t> </a:t>
            </a:r>
            <a:r>
              <a:rPr sz="1200" dirty="0">
                <a:latin typeface="Times New Roman"/>
                <a:cs typeface="Times New Roman"/>
              </a:rPr>
              <a:t>fraud</a:t>
            </a:r>
            <a:r>
              <a:rPr sz="1200" spc="-30" dirty="0">
                <a:latin typeface="Times New Roman"/>
                <a:cs typeface="Times New Roman"/>
              </a:rPr>
              <a:t> </a:t>
            </a:r>
            <a:r>
              <a:rPr sz="1200" dirty="0">
                <a:latin typeface="Times New Roman"/>
                <a:cs typeface="Times New Roman"/>
              </a:rPr>
              <a:t>detection.</a:t>
            </a:r>
            <a:r>
              <a:rPr sz="1200" spc="-3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leverages</a:t>
            </a:r>
            <a:r>
              <a:rPr sz="1200" spc="-30" dirty="0">
                <a:latin typeface="Times New Roman"/>
                <a:cs typeface="Times New Roman"/>
              </a:rPr>
              <a:t> </a:t>
            </a:r>
            <a:r>
              <a:rPr sz="1200" spc="-10" dirty="0">
                <a:latin typeface="Times New Roman"/>
                <a:cs typeface="Times New Roman"/>
              </a:rPr>
              <a:t>cutting-</a:t>
            </a:r>
            <a:r>
              <a:rPr sz="1200" dirty="0">
                <a:latin typeface="Times New Roman"/>
                <a:cs typeface="Times New Roman"/>
              </a:rPr>
              <a:t>edge</a:t>
            </a:r>
            <a:r>
              <a:rPr sz="1200" spc="-40" dirty="0">
                <a:latin typeface="Times New Roman"/>
                <a:cs typeface="Times New Roman"/>
              </a:rPr>
              <a:t> </a:t>
            </a:r>
            <a:r>
              <a:rPr sz="1200" dirty="0">
                <a:latin typeface="Times New Roman"/>
                <a:cs typeface="Times New Roman"/>
              </a:rPr>
              <a:t>AI</a:t>
            </a:r>
            <a:r>
              <a:rPr sz="1200" spc="-45" dirty="0">
                <a:latin typeface="Times New Roman"/>
                <a:cs typeface="Times New Roman"/>
              </a:rPr>
              <a:t> </a:t>
            </a:r>
            <a:r>
              <a:rPr sz="1200" dirty="0">
                <a:latin typeface="Times New Roman"/>
                <a:cs typeface="Times New Roman"/>
              </a:rPr>
              <a:t>models</a:t>
            </a:r>
            <a:r>
              <a:rPr sz="1200" spc="-2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real-</a:t>
            </a:r>
            <a:r>
              <a:rPr sz="1200" dirty="0">
                <a:latin typeface="Times New Roman"/>
                <a:cs typeface="Times New Roman"/>
              </a:rPr>
              <a:t>time</a:t>
            </a:r>
            <a:r>
              <a:rPr sz="1200" spc="135" dirty="0">
                <a:latin typeface="Times New Roman"/>
                <a:cs typeface="Times New Roman"/>
              </a:rPr>
              <a:t> </a:t>
            </a:r>
            <a:r>
              <a:rPr sz="1200" dirty="0">
                <a:latin typeface="Times New Roman"/>
                <a:cs typeface="Times New Roman"/>
              </a:rPr>
              <a:t>WebSocket</a:t>
            </a:r>
            <a:r>
              <a:rPr sz="1200" spc="140" dirty="0">
                <a:latin typeface="Times New Roman"/>
                <a:cs typeface="Times New Roman"/>
              </a:rPr>
              <a:t> </a:t>
            </a:r>
            <a:r>
              <a:rPr sz="1200" dirty="0">
                <a:latin typeface="Times New Roman"/>
                <a:cs typeface="Times New Roman"/>
              </a:rPr>
              <a:t>communication</a:t>
            </a:r>
            <a:r>
              <a:rPr sz="1200" spc="125" dirty="0">
                <a:latin typeface="Times New Roman"/>
                <a:cs typeface="Times New Roman"/>
              </a:rPr>
              <a:t> </a:t>
            </a:r>
            <a:r>
              <a:rPr sz="1200" dirty="0">
                <a:latin typeface="Times New Roman"/>
                <a:cs typeface="Times New Roman"/>
              </a:rPr>
              <a:t>to</a:t>
            </a:r>
            <a:r>
              <a:rPr sz="1200" spc="130" dirty="0">
                <a:latin typeface="Times New Roman"/>
                <a:cs typeface="Times New Roman"/>
              </a:rPr>
              <a:t> </a:t>
            </a:r>
            <a:r>
              <a:rPr sz="1200" dirty="0">
                <a:latin typeface="Times New Roman"/>
                <a:cs typeface="Times New Roman"/>
              </a:rPr>
              <a:t>create</a:t>
            </a:r>
            <a:r>
              <a:rPr sz="1200" spc="135" dirty="0">
                <a:latin typeface="Times New Roman"/>
                <a:cs typeface="Times New Roman"/>
              </a:rPr>
              <a:t> </a:t>
            </a:r>
            <a:r>
              <a:rPr sz="1200" dirty="0">
                <a:latin typeface="Times New Roman"/>
                <a:cs typeface="Times New Roman"/>
              </a:rPr>
              <a:t>a</a:t>
            </a:r>
            <a:r>
              <a:rPr sz="1200" spc="130" dirty="0">
                <a:latin typeface="Times New Roman"/>
                <a:cs typeface="Times New Roman"/>
              </a:rPr>
              <a:t> </a:t>
            </a:r>
            <a:r>
              <a:rPr sz="1200" dirty="0">
                <a:latin typeface="Times New Roman"/>
                <a:cs typeface="Times New Roman"/>
              </a:rPr>
              <a:t>secure,</a:t>
            </a:r>
            <a:r>
              <a:rPr sz="1200" spc="130" dirty="0">
                <a:latin typeface="Times New Roman"/>
                <a:cs typeface="Times New Roman"/>
              </a:rPr>
              <a:t> </a:t>
            </a:r>
            <a:r>
              <a:rPr sz="1200" dirty="0">
                <a:latin typeface="Times New Roman"/>
                <a:cs typeface="Times New Roman"/>
              </a:rPr>
              <a:t>transparent,</a:t>
            </a:r>
            <a:r>
              <a:rPr sz="1200" spc="12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scalable</a:t>
            </a:r>
            <a:r>
              <a:rPr sz="1200" spc="130" dirty="0">
                <a:latin typeface="Times New Roman"/>
                <a:cs typeface="Times New Roman"/>
              </a:rPr>
              <a:t> </a:t>
            </a:r>
            <a:r>
              <a:rPr sz="1200" spc="-10" dirty="0">
                <a:latin typeface="Times New Roman"/>
                <a:cs typeface="Times New Roman"/>
              </a:rPr>
              <a:t>bidding environment.</a:t>
            </a:r>
            <a:r>
              <a:rPr sz="1200" spc="-40"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spc="-10" dirty="0">
                <a:latin typeface="Times New Roman"/>
                <a:cs typeface="Times New Roman"/>
              </a:rPr>
              <a:t>overcoming</a:t>
            </a:r>
            <a:r>
              <a:rPr sz="1200" spc="-40" dirty="0">
                <a:latin typeface="Times New Roman"/>
                <a:cs typeface="Times New Roman"/>
              </a:rPr>
              <a:t> </a:t>
            </a:r>
            <a:r>
              <a:rPr sz="1200" spc="-10" dirty="0">
                <a:latin typeface="Times New Roman"/>
                <a:cs typeface="Times New Roman"/>
              </a:rPr>
              <a:t>the</a:t>
            </a:r>
            <a:r>
              <a:rPr sz="1200" spc="-40" dirty="0">
                <a:latin typeface="Times New Roman"/>
                <a:cs typeface="Times New Roman"/>
              </a:rPr>
              <a:t> </a:t>
            </a:r>
            <a:r>
              <a:rPr sz="1200" spc="-10" dirty="0">
                <a:latin typeface="Times New Roman"/>
                <a:cs typeface="Times New Roman"/>
              </a:rPr>
              <a:t>inefficiencies</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conventional</a:t>
            </a:r>
            <a:r>
              <a:rPr sz="1200" spc="-40" dirty="0">
                <a:latin typeface="Times New Roman"/>
                <a:cs typeface="Times New Roman"/>
              </a:rPr>
              <a:t> </a:t>
            </a:r>
            <a:r>
              <a:rPr sz="1200" spc="-10" dirty="0">
                <a:latin typeface="Times New Roman"/>
                <a:cs typeface="Times New Roman"/>
              </a:rPr>
              <a:t>methods,</a:t>
            </a:r>
            <a:r>
              <a:rPr sz="1200" spc="-25" dirty="0">
                <a:latin typeface="Times New Roman"/>
                <a:cs typeface="Times New Roman"/>
              </a:rPr>
              <a:t> </a:t>
            </a:r>
            <a:r>
              <a:rPr sz="1200" spc="-10" dirty="0">
                <a:latin typeface="Times New Roman"/>
                <a:cs typeface="Times New Roman"/>
              </a:rPr>
              <a:t>Auction</a:t>
            </a:r>
            <a:r>
              <a:rPr sz="1200" spc="-40" dirty="0">
                <a:latin typeface="Times New Roman"/>
                <a:cs typeface="Times New Roman"/>
              </a:rPr>
              <a:t> </a:t>
            </a:r>
            <a:r>
              <a:rPr sz="1200" spc="-10" dirty="0">
                <a:latin typeface="Times New Roman"/>
                <a:cs typeface="Times New Roman"/>
              </a:rPr>
              <a:t>Abode</a:t>
            </a:r>
            <a:r>
              <a:rPr sz="1200" spc="-35" dirty="0">
                <a:latin typeface="Times New Roman"/>
                <a:cs typeface="Times New Roman"/>
              </a:rPr>
              <a:t> </a:t>
            </a:r>
            <a:r>
              <a:rPr sz="1200" spc="-20" dirty="0">
                <a:latin typeface="Times New Roman"/>
                <a:cs typeface="Times New Roman"/>
              </a:rPr>
              <a:t>aims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revolutionize</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real</a:t>
            </a:r>
            <a:r>
              <a:rPr sz="1200" spc="-20" dirty="0">
                <a:latin typeface="Times New Roman"/>
                <a:cs typeface="Times New Roman"/>
              </a:rPr>
              <a:t> </a:t>
            </a:r>
            <a:r>
              <a:rPr sz="1200" spc="-10" dirty="0">
                <a:latin typeface="Times New Roman"/>
                <a:cs typeface="Times New Roman"/>
              </a:rPr>
              <a:t>estate</a:t>
            </a:r>
            <a:r>
              <a:rPr sz="1200" spc="-40" dirty="0">
                <a:latin typeface="Times New Roman"/>
                <a:cs typeface="Times New Roman"/>
              </a:rPr>
              <a:t> </a:t>
            </a:r>
            <a:r>
              <a:rPr sz="1200" spc="-10" dirty="0">
                <a:latin typeface="Times New Roman"/>
                <a:cs typeface="Times New Roman"/>
              </a:rPr>
              <a:t>auction</a:t>
            </a:r>
            <a:r>
              <a:rPr sz="1200" spc="-40" dirty="0">
                <a:latin typeface="Times New Roman"/>
                <a:cs typeface="Times New Roman"/>
              </a:rPr>
              <a:t> </a:t>
            </a:r>
            <a:r>
              <a:rPr sz="1200" spc="-10" dirty="0">
                <a:latin typeface="Times New Roman"/>
                <a:cs typeface="Times New Roman"/>
              </a:rPr>
              <a:t>process,</a:t>
            </a:r>
            <a:r>
              <a:rPr sz="1200" spc="-35" dirty="0">
                <a:latin typeface="Times New Roman"/>
                <a:cs typeface="Times New Roman"/>
              </a:rPr>
              <a:t> </a:t>
            </a:r>
            <a:r>
              <a:rPr sz="1200" spc="-10" dirty="0">
                <a:latin typeface="Times New Roman"/>
                <a:cs typeface="Times New Roman"/>
              </a:rPr>
              <a:t>providing</a:t>
            </a:r>
            <a:r>
              <a:rPr sz="1200" spc="-35" dirty="0">
                <a:latin typeface="Times New Roman"/>
                <a:cs typeface="Times New Roman"/>
              </a:rPr>
              <a:t> </a:t>
            </a:r>
            <a:r>
              <a:rPr sz="1200" spc="-10" dirty="0">
                <a:latin typeface="Times New Roman"/>
                <a:cs typeface="Times New Roman"/>
              </a:rPr>
              <a:t>users</a:t>
            </a:r>
            <a:r>
              <a:rPr sz="1200" spc="-4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fast,</a:t>
            </a:r>
            <a:r>
              <a:rPr sz="1200" spc="-35" dirty="0">
                <a:latin typeface="Times New Roman"/>
                <a:cs typeface="Times New Roman"/>
              </a:rPr>
              <a:t> </a:t>
            </a:r>
            <a:r>
              <a:rPr sz="1200" spc="-10" dirty="0">
                <a:latin typeface="Times New Roman"/>
                <a:cs typeface="Times New Roman"/>
              </a:rPr>
              <a:t>reliable,</a:t>
            </a:r>
            <a:r>
              <a:rPr sz="1200" spc="-4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fraud- </a:t>
            </a:r>
            <a:r>
              <a:rPr sz="1200" dirty="0">
                <a:latin typeface="Times New Roman"/>
                <a:cs typeface="Times New Roman"/>
              </a:rPr>
              <a:t>resistant</a:t>
            </a:r>
            <a:r>
              <a:rPr sz="1200" spc="-40" dirty="0">
                <a:latin typeface="Times New Roman"/>
                <a:cs typeface="Times New Roman"/>
              </a:rPr>
              <a:t> </a:t>
            </a:r>
            <a:r>
              <a:rPr sz="1200" spc="-10" dirty="0">
                <a:latin typeface="Times New Roman"/>
                <a:cs typeface="Times New Roman"/>
              </a:rPr>
              <a:t>platform.</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12700" marR="6350" algn="just">
              <a:lnSpc>
                <a:spcPct val="143600"/>
              </a:lnSpc>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expected</a:t>
            </a:r>
            <a:r>
              <a:rPr sz="1200" spc="-5" dirty="0">
                <a:latin typeface="Times New Roman"/>
                <a:cs typeface="Times New Roman"/>
              </a:rPr>
              <a:t> </a:t>
            </a:r>
            <a:r>
              <a:rPr sz="1200" dirty="0">
                <a:latin typeface="Times New Roman"/>
                <a:cs typeface="Times New Roman"/>
              </a:rPr>
              <a:t>outcome</a:t>
            </a:r>
            <a:r>
              <a:rPr sz="1200" spc="-15" dirty="0">
                <a:latin typeface="Times New Roman"/>
                <a:cs typeface="Times New Roman"/>
              </a:rPr>
              <a:t> </a:t>
            </a:r>
            <a:r>
              <a:rPr sz="1200" dirty="0">
                <a:latin typeface="Times New Roman"/>
                <a:cs typeface="Times New Roman"/>
              </a:rPr>
              <a:t>is a</a:t>
            </a:r>
            <a:r>
              <a:rPr sz="1200" spc="-15" dirty="0">
                <a:latin typeface="Times New Roman"/>
                <a:cs typeface="Times New Roman"/>
              </a:rPr>
              <a:t> </a:t>
            </a:r>
            <a:r>
              <a:rPr sz="1200" dirty="0">
                <a:latin typeface="Times New Roman"/>
                <a:cs typeface="Times New Roman"/>
              </a:rPr>
              <a:t>streamlined,</a:t>
            </a:r>
            <a:r>
              <a:rPr sz="1200" spc="-20" dirty="0">
                <a:latin typeface="Times New Roman"/>
                <a:cs typeface="Times New Roman"/>
              </a:rPr>
              <a:t> </a:t>
            </a:r>
            <a:r>
              <a:rPr sz="1200" spc="-10" dirty="0">
                <a:latin typeface="Times New Roman"/>
                <a:cs typeface="Times New Roman"/>
              </a:rPr>
              <a:t>technology-</a:t>
            </a:r>
            <a:r>
              <a:rPr sz="1200" dirty="0">
                <a:latin typeface="Times New Roman"/>
                <a:cs typeface="Times New Roman"/>
              </a:rPr>
              <a:t>driven auction</a:t>
            </a:r>
            <a:r>
              <a:rPr sz="1200" spc="-15" dirty="0">
                <a:latin typeface="Times New Roman"/>
                <a:cs typeface="Times New Roman"/>
              </a:rPr>
              <a:t> </a:t>
            </a:r>
            <a:r>
              <a:rPr sz="1200" dirty="0">
                <a:latin typeface="Times New Roman"/>
                <a:cs typeface="Times New Roman"/>
              </a:rPr>
              <a:t>process</a:t>
            </a:r>
            <a:r>
              <a:rPr sz="1200" spc="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enhances</a:t>
            </a:r>
            <a:r>
              <a:rPr sz="1200" spc="-10" dirty="0">
                <a:latin typeface="Times New Roman"/>
                <a:cs typeface="Times New Roman"/>
              </a:rPr>
              <a:t> </a:t>
            </a:r>
            <a:r>
              <a:rPr sz="1200" spc="-25" dirty="0">
                <a:latin typeface="Times New Roman"/>
                <a:cs typeface="Times New Roman"/>
              </a:rPr>
              <a:t>bid </a:t>
            </a:r>
            <a:r>
              <a:rPr sz="1200" dirty="0">
                <a:latin typeface="Times New Roman"/>
                <a:cs typeface="Times New Roman"/>
              </a:rPr>
              <a:t>accuracy,</a:t>
            </a:r>
            <a:r>
              <a:rPr sz="1200" spc="434" dirty="0">
                <a:latin typeface="Times New Roman"/>
                <a:cs typeface="Times New Roman"/>
              </a:rPr>
              <a:t> </a:t>
            </a:r>
            <a:r>
              <a:rPr sz="1200" dirty="0">
                <a:latin typeface="Times New Roman"/>
                <a:cs typeface="Times New Roman"/>
              </a:rPr>
              <a:t>prevents</a:t>
            </a:r>
            <a:r>
              <a:rPr sz="1200" spc="430" dirty="0">
                <a:latin typeface="Times New Roman"/>
                <a:cs typeface="Times New Roman"/>
              </a:rPr>
              <a:t> </a:t>
            </a:r>
            <a:r>
              <a:rPr sz="1200" dirty="0">
                <a:latin typeface="Times New Roman"/>
                <a:cs typeface="Times New Roman"/>
              </a:rPr>
              <a:t>fraudulent</a:t>
            </a:r>
            <a:r>
              <a:rPr sz="1200" spc="425" dirty="0">
                <a:latin typeface="Times New Roman"/>
                <a:cs typeface="Times New Roman"/>
              </a:rPr>
              <a:t> </a:t>
            </a:r>
            <a:r>
              <a:rPr sz="1200" dirty="0">
                <a:latin typeface="Times New Roman"/>
                <a:cs typeface="Times New Roman"/>
              </a:rPr>
              <a:t>transactions,</a:t>
            </a:r>
            <a:r>
              <a:rPr sz="1200" spc="425" dirty="0">
                <a:latin typeface="Times New Roman"/>
                <a:cs typeface="Times New Roman"/>
              </a:rPr>
              <a:t> </a:t>
            </a:r>
            <a:r>
              <a:rPr sz="1200" dirty="0">
                <a:latin typeface="Times New Roman"/>
                <a:cs typeface="Times New Roman"/>
              </a:rPr>
              <a:t>and</a:t>
            </a:r>
            <a:r>
              <a:rPr sz="1200" spc="430" dirty="0">
                <a:latin typeface="Times New Roman"/>
                <a:cs typeface="Times New Roman"/>
              </a:rPr>
              <a:t> </a:t>
            </a:r>
            <a:r>
              <a:rPr sz="1200" dirty="0">
                <a:latin typeface="Times New Roman"/>
                <a:cs typeface="Times New Roman"/>
              </a:rPr>
              <a:t>ensures</a:t>
            </a:r>
            <a:r>
              <a:rPr sz="1200" spc="434" dirty="0">
                <a:latin typeface="Times New Roman"/>
                <a:cs typeface="Times New Roman"/>
              </a:rPr>
              <a:t> </a:t>
            </a:r>
            <a:r>
              <a:rPr sz="1200" dirty="0">
                <a:latin typeface="Times New Roman"/>
                <a:cs typeface="Times New Roman"/>
              </a:rPr>
              <a:t>fair</a:t>
            </a:r>
            <a:r>
              <a:rPr sz="1200" spc="420" dirty="0">
                <a:latin typeface="Times New Roman"/>
                <a:cs typeface="Times New Roman"/>
              </a:rPr>
              <a:t> </a:t>
            </a:r>
            <a:r>
              <a:rPr sz="1200" dirty="0">
                <a:latin typeface="Times New Roman"/>
                <a:cs typeface="Times New Roman"/>
              </a:rPr>
              <a:t>market</a:t>
            </a:r>
            <a:r>
              <a:rPr sz="1200" spc="440" dirty="0">
                <a:latin typeface="Times New Roman"/>
                <a:cs typeface="Times New Roman"/>
              </a:rPr>
              <a:t> </a:t>
            </a:r>
            <a:r>
              <a:rPr sz="1200" dirty="0">
                <a:latin typeface="Times New Roman"/>
                <a:cs typeface="Times New Roman"/>
              </a:rPr>
              <a:t>participation.</a:t>
            </a:r>
            <a:r>
              <a:rPr sz="1200" spc="425" dirty="0">
                <a:latin typeface="Times New Roman"/>
                <a:cs typeface="Times New Roman"/>
              </a:rPr>
              <a:t> </a:t>
            </a:r>
            <a:r>
              <a:rPr sz="1200" spc="-25" dirty="0">
                <a:latin typeface="Times New Roman"/>
                <a:cs typeface="Times New Roman"/>
              </a:rPr>
              <a:t>By </a:t>
            </a:r>
            <a:r>
              <a:rPr sz="1200" dirty="0">
                <a:latin typeface="Times New Roman"/>
                <a:cs typeface="Times New Roman"/>
              </a:rPr>
              <a:t>implementing</a:t>
            </a:r>
            <a:r>
              <a:rPr sz="1200" spc="-10" dirty="0">
                <a:latin typeface="Times New Roman"/>
                <a:cs typeface="Times New Roman"/>
              </a:rPr>
              <a:t> personalized </a:t>
            </a:r>
            <a:r>
              <a:rPr sz="1200" dirty="0">
                <a:latin typeface="Times New Roman"/>
                <a:cs typeface="Times New Roman"/>
              </a:rPr>
              <a:t>user</a:t>
            </a:r>
            <a:r>
              <a:rPr sz="1200" spc="-10" dirty="0">
                <a:latin typeface="Times New Roman"/>
                <a:cs typeface="Times New Roman"/>
              </a:rPr>
              <a:t> engagement </a:t>
            </a:r>
            <a:r>
              <a:rPr sz="1200" dirty="0">
                <a:latin typeface="Times New Roman"/>
                <a:cs typeface="Times New Roman"/>
              </a:rPr>
              <a:t>features,</a:t>
            </a:r>
            <a:r>
              <a:rPr sz="1200" spc="-10" dirty="0">
                <a:latin typeface="Times New Roman"/>
                <a:cs typeface="Times New Roman"/>
              </a:rPr>
              <a:t> </a:t>
            </a:r>
            <a:r>
              <a:rPr sz="1200" dirty="0">
                <a:latin typeface="Times New Roman"/>
                <a:cs typeface="Times New Roman"/>
              </a:rPr>
              <a:t>such</a:t>
            </a:r>
            <a:r>
              <a:rPr sz="1200" spc="-10"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spc="-10" dirty="0">
                <a:latin typeface="Times New Roman"/>
                <a:cs typeface="Times New Roman"/>
              </a:rPr>
              <a:t>geofencing-</a:t>
            </a:r>
            <a:r>
              <a:rPr sz="1200" dirty="0">
                <a:latin typeface="Times New Roman"/>
                <a:cs typeface="Times New Roman"/>
              </a:rPr>
              <a:t>based</a:t>
            </a:r>
            <a:r>
              <a:rPr sz="1200" spc="-10" dirty="0">
                <a:latin typeface="Times New Roman"/>
                <a:cs typeface="Times New Roman"/>
              </a:rPr>
              <a:t> notifications </a:t>
            </a:r>
            <a:r>
              <a:rPr sz="1200" dirty="0">
                <a:latin typeface="Times New Roman"/>
                <a:cs typeface="Times New Roman"/>
              </a:rPr>
              <a:t>and</a:t>
            </a:r>
            <a:r>
              <a:rPr sz="1200" spc="150"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150" dirty="0">
                <a:latin typeface="Times New Roman"/>
                <a:cs typeface="Times New Roman"/>
              </a:rPr>
              <a:t> </a:t>
            </a:r>
            <a:r>
              <a:rPr sz="1200" dirty="0">
                <a:latin typeface="Times New Roman"/>
                <a:cs typeface="Times New Roman"/>
              </a:rPr>
              <a:t>property</a:t>
            </a:r>
            <a:r>
              <a:rPr sz="1200" spc="155" dirty="0">
                <a:latin typeface="Times New Roman"/>
                <a:cs typeface="Times New Roman"/>
              </a:rPr>
              <a:t> </a:t>
            </a:r>
            <a:r>
              <a:rPr sz="1200" dirty="0">
                <a:latin typeface="Times New Roman"/>
                <a:cs typeface="Times New Roman"/>
              </a:rPr>
              <a:t>recommendations,</a:t>
            </a:r>
            <a:r>
              <a:rPr sz="1200" spc="150" dirty="0">
                <a:latin typeface="Times New Roman"/>
                <a:cs typeface="Times New Roman"/>
              </a:rPr>
              <a:t> </a:t>
            </a:r>
            <a:r>
              <a:rPr sz="1200" dirty="0">
                <a:latin typeface="Times New Roman"/>
                <a:cs typeface="Times New Roman"/>
              </a:rPr>
              <a:t>the</a:t>
            </a:r>
            <a:r>
              <a:rPr sz="1200" spc="145" dirty="0">
                <a:latin typeface="Times New Roman"/>
                <a:cs typeface="Times New Roman"/>
              </a:rPr>
              <a:t> </a:t>
            </a:r>
            <a:r>
              <a:rPr sz="1200" dirty="0">
                <a:latin typeface="Times New Roman"/>
                <a:cs typeface="Times New Roman"/>
              </a:rPr>
              <a:t>platform</a:t>
            </a:r>
            <a:r>
              <a:rPr sz="1200" spc="145" dirty="0">
                <a:latin typeface="Times New Roman"/>
                <a:cs typeface="Times New Roman"/>
              </a:rPr>
              <a:t> </a:t>
            </a:r>
            <a:r>
              <a:rPr sz="1200" dirty="0">
                <a:latin typeface="Times New Roman"/>
                <a:cs typeface="Times New Roman"/>
              </a:rPr>
              <a:t>aims</a:t>
            </a:r>
            <a:r>
              <a:rPr sz="1200" spc="150" dirty="0">
                <a:latin typeface="Times New Roman"/>
                <a:cs typeface="Times New Roman"/>
              </a:rPr>
              <a:t> </a:t>
            </a:r>
            <a:r>
              <a:rPr sz="1200" dirty="0">
                <a:latin typeface="Times New Roman"/>
                <a:cs typeface="Times New Roman"/>
              </a:rPr>
              <a:t>to</a:t>
            </a:r>
            <a:r>
              <a:rPr sz="1200" spc="150" dirty="0">
                <a:latin typeface="Times New Roman"/>
                <a:cs typeface="Times New Roman"/>
              </a:rPr>
              <a:t> </a:t>
            </a:r>
            <a:r>
              <a:rPr sz="1200" dirty="0">
                <a:latin typeface="Times New Roman"/>
                <a:cs typeface="Times New Roman"/>
              </a:rPr>
              <a:t>increase</a:t>
            </a:r>
            <a:r>
              <a:rPr sz="1200" spc="155" dirty="0">
                <a:latin typeface="Times New Roman"/>
                <a:cs typeface="Times New Roman"/>
              </a:rPr>
              <a:t> </a:t>
            </a:r>
            <a:r>
              <a:rPr sz="1200" dirty="0">
                <a:latin typeface="Times New Roman"/>
                <a:cs typeface="Times New Roman"/>
              </a:rPr>
              <a:t>accessibility</a:t>
            </a:r>
            <a:r>
              <a:rPr sz="1200" spc="150" dirty="0">
                <a:latin typeface="Times New Roman"/>
                <a:cs typeface="Times New Roman"/>
              </a:rPr>
              <a:t> </a:t>
            </a:r>
            <a:r>
              <a:rPr sz="1200" spc="-25" dirty="0">
                <a:latin typeface="Times New Roman"/>
                <a:cs typeface="Times New Roman"/>
              </a:rPr>
              <a:t>and </a:t>
            </a:r>
            <a:r>
              <a:rPr sz="1200" dirty="0">
                <a:latin typeface="Times New Roman"/>
                <a:cs typeface="Times New Roman"/>
              </a:rPr>
              <a:t>boost</a:t>
            </a:r>
            <a:r>
              <a:rPr sz="1200" spc="135" dirty="0">
                <a:latin typeface="Times New Roman"/>
                <a:cs typeface="Times New Roman"/>
              </a:rPr>
              <a:t> </a:t>
            </a:r>
            <a:r>
              <a:rPr sz="1200" dirty="0">
                <a:latin typeface="Times New Roman"/>
                <a:cs typeface="Times New Roman"/>
              </a:rPr>
              <a:t>user</a:t>
            </a:r>
            <a:r>
              <a:rPr sz="1200" spc="130" dirty="0">
                <a:latin typeface="Times New Roman"/>
                <a:cs typeface="Times New Roman"/>
              </a:rPr>
              <a:t> </a:t>
            </a:r>
            <a:r>
              <a:rPr sz="1200" dirty="0">
                <a:latin typeface="Times New Roman"/>
                <a:cs typeface="Times New Roman"/>
              </a:rPr>
              <a:t>confidence</a:t>
            </a:r>
            <a:r>
              <a:rPr sz="1200" spc="125" dirty="0">
                <a:latin typeface="Times New Roman"/>
                <a:cs typeface="Times New Roman"/>
              </a:rPr>
              <a:t> </a:t>
            </a:r>
            <a:r>
              <a:rPr sz="1200" dirty="0">
                <a:latin typeface="Times New Roman"/>
                <a:cs typeface="Times New Roman"/>
              </a:rPr>
              <a:t>in</a:t>
            </a:r>
            <a:r>
              <a:rPr sz="1200" spc="135" dirty="0">
                <a:latin typeface="Times New Roman"/>
                <a:cs typeface="Times New Roman"/>
              </a:rPr>
              <a:t> </a:t>
            </a:r>
            <a:r>
              <a:rPr sz="1200" dirty="0">
                <a:latin typeface="Times New Roman"/>
                <a:cs typeface="Times New Roman"/>
              </a:rPr>
              <a:t>online</a:t>
            </a:r>
            <a:r>
              <a:rPr sz="1200" spc="125" dirty="0">
                <a:latin typeface="Times New Roman"/>
                <a:cs typeface="Times New Roman"/>
              </a:rPr>
              <a:t> </a:t>
            </a:r>
            <a:r>
              <a:rPr sz="1200" dirty="0">
                <a:latin typeface="Times New Roman"/>
                <a:cs typeface="Times New Roman"/>
              </a:rPr>
              <a:t>real</a:t>
            </a:r>
            <a:r>
              <a:rPr sz="1200" spc="135" dirty="0">
                <a:latin typeface="Times New Roman"/>
                <a:cs typeface="Times New Roman"/>
              </a:rPr>
              <a:t> </a:t>
            </a:r>
            <a:r>
              <a:rPr sz="1200" dirty="0">
                <a:latin typeface="Times New Roman"/>
                <a:cs typeface="Times New Roman"/>
              </a:rPr>
              <a:t>estate</a:t>
            </a:r>
            <a:r>
              <a:rPr sz="1200" spc="125" dirty="0">
                <a:latin typeface="Times New Roman"/>
                <a:cs typeface="Times New Roman"/>
              </a:rPr>
              <a:t> </a:t>
            </a:r>
            <a:r>
              <a:rPr sz="1200" dirty="0">
                <a:latin typeface="Times New Roman"/>
                <a:cs typeface="Times New Roman"/>
              </a:rPr>
              <a:t>transactions.</a:t>
            </a:r>
            <a:r>
              <a:rPr sz="1200" spc="135" dirty="0">
                <a:latin typeface="Times New Roman"/>
                <a:cs typeface="Times New Roman"/>
              </a:rPr>
              <a:t> </a:t>
            </a:r>
            <a:r>
              <a:rPr sz="1200" dirty="0">
                <a:latin typeface="Times New Roman"/>
                <a:cs typeface="Times New Roman"/>
              </a:rPr>
              <a:t>Through</a:t>
            </a:r>
            <a:r>
              <a:rPr sz="1200" spc="130" dirty="0">
                <a:latin typeface="Times New Roman"/>
                <a:cs typeface="Times New Roman"/>
              </a:rPr>
              <a:t> </a:t>
            </a:r>
            <a:r>
              <a:rPr sz="1200" dirty="0">
                <a:latin typeface="Times New Roman"/>
                <a:cs typeface="Times New Roman"/>
              </a:rPr>
              <a:t>this</a:t>
            </a:r>
            <a:r>
              <a:rPr sz="1200" spc="135" dirty="0">
                <a:latin typeface="Times New Roman"/>
                <a:cs typeface="Times New Roman"/>
              </a:rPr>
              <a:t> </a:t>
            </a:r>
            <a:r>
              <a:rPr sz="1200" dirty="0">
                <a:latin typeface="Times New Roman"/>
                <a:cs typeface="Times New Roman"/>
              </a:rPr>
              <a:t>innovation,</a:t>
            </a:r>
            <a:r>
              <a:rPr sz="1200" spc="130" dirty="0">
                <a:latin typeface="Times New Roman"/>
                <a:cs typeface="Times New Roman"/>
              </a:rPr>
              <a:t> </a:t>
            </a:r>
            <a:r>
              <a:rPr sz="1200" spc="-10" dirty="0">
                <a:latin typeface="Times New Roman"/>
                <a:cs typeface="Times New Roman"/>
              </a:rPr>
              <a:t>Auction </a:t>
            </a:r>
            <a:r>
              <a:rPr sz="1200" dirty="0">
                <a:latin typeface="Times New Roman"/>
                <a:cs typeface="Times New Roman"/>
              </a:rPr>
              <a:t>Abode</a:t>
            </a:r>
            <a:r>
              <a:rPr sz="1200" spc="50" dirty="0">
                <a:latin typeface="Times New Roman"/>
                <a:cs typeface="Times New Roman"/>
              </a:rPr>
              <a:t> </a:t>
            </a:r>
            <a:r>
              <a:rPr sz="1200" dirty="0">
                <a:latin typeface="Times New Roman"/>
                <a:cs typeface="Times New Roman"/>
              </a:rPr>
              <a:t>aspires</a:t>
            </a:r>
            <a:r>
              <a:rPr sz="1200" spc="60" dirty="0">
                <a:latin typeface="Times New Roman"/>
                <a:cs typeface="Times New Roman"/>
              </a:rPr>
              <a:t> </a:t>
            </a:r>
            <a:r>
              <a:rPr sz="1200" dirty="0">
                <a:latin typeface="Times New Roman"/>
                <a:cs typeface="Times New Roman"/>
              </a:rPr>
              <a:t>to</a:t>
            </a:r>
            <a:r>
              <a:rPr sz="1200" spc="60" dirty="0">
                <a:latin typeface="Times New Roman"/>
                <a:cs typeface="Times New Roman"/>
              </a:rPr>
              <a:t> </a:t>
            </a:r>
            <a:r>
              <a:rPr sz="1200" dirty="0">
                <a:latin typeface="Times New Roman"/>
                <a:cs typeface="Times New Roman"/>
              </a:rPr>
              <a:t>set</a:t>
            </a:r>
            <a:r>
              <a:rPr sz="1200" spc="65" dirty="0">
                <a:latin typeface="Times New Roman"/>
                <a:cs typeface="Times New Roman"/>
              </a:rPr>
              <a:t> </a:t>
            </a:r>
            <a:r>
              <a:rPr sz="1200" dirty="0">
                <a:latin typeface="Times New Roman"/>
                <a:cs typeface="Times New Roman"/>
              </a:rPr>
              <a:t>a</a:t>
            </a:r>
            <a:r>
              <a:rPr sz="1200" spc="55" dirty="0">
                <a:latin typeface="Times New Roman"/>
                <a:cs typeface="Times New Roman"/>
              </a:rPr>
              <a:t> </a:t>
            </a:r>
            <a:r>
              <a:rPr sz="1200" dirty="0">
                <a:latin typeface="Times New Roman"/>
                <a:cs typeface="Times New Roman"/>
              </a:rPr>
              <a:t>new</a:t>
            </a:r>
            <a:r>
              <a:rPr sz="1200" spc="55" dirty="0">
                <a:latin typeface="Times New Roman"/>
                <a:cs typeface="Times New Roman"/>
              </a:rPr>
              <a:t> </a:t>
            </a:r>
            <a:r>
              <a:rPr sz="1200" dirty="0">
                <a:latin typeface="Times New Roman"/>
                <a:cs typeface="Times New Roman"/>
              </a:rPr>
              <a:t>industry</a:t>
            </a:r>
            <a:r>
              <a:rPr sz="1200" spc="60" dirty="0">
                <a:latin typeface="Times New Roman"/>
                <a:cs typeface="Times New Roman"/>
              </a:rPr>
              <a:t> </a:t>
            </a:r>
            <a:r>
              <a:rPr sz="1200" dirty="0">
                <a:latin typeface="Times New Roman"/>
                <a:cs typeface="Times New Roman"/>
              </a:rPr>
              <a:t>benchmark</a:t>
            </a:r>
            <a:r>
              <a:rPr sz="1200" spc="5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secure,</a:t>
            </a:r>
            <a:r>
              <a:rPr sz="1200" spc="60" dirty="0">
                <a:latin typeface="Times New Roman"/>
                <a:cs typeface="Times New Roman"/>
              </a:rPr>
              <a:t> </a:t>
            </a:r>
            <a:r>
              <a:rPr sz="1200" dirty="0">
                <a:latin typeface="Times New Roman"/>
                <a:cs typeface="Times New Roman"/>
              </a:rPr>
              <a:t>intelligent,</a:t>
            </a:r>
            <a:r>
              <a:rPr sz="1200" spc="60"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60" dirty="0">
                <a:latin typeface="Times New Roman"/>
                <a:cs typeface="Times New Roman"/>
              </a:rPr>
              <a:t> </a:t>
            </a:r>
            <a:r>
              <a:rPr sz="1200" spc="-10" dirty="0">
                <a:latin typeface="Times New Roman"/>
                <a:cs typeface="Times New Roman"/>
              </a:rPr>
              <a:t>digital </a:t>
            </a:r>
            <a:r>
              <a:rPr sz="1200" dirty="0">
                <a:latin typeface="Times New Roman"/>
                <a:cs typeface="Times New Roman"/>
              </a:rPr>
              <a:t>auctions,</a:t>
            </a:r>
            <a:r>
              <a:rPr sz="1200" spc="-25" dirty="0">
                <a:latin typeface="Times New Roman"/>
                <a:cs typeface="Times New Roman"/>
              </a:rPr>
              <a:t> </a:t>
            </a:r>
            <a:r>
              <a:rPr sz="1200" dirty="0">
                <a:latin typeface="Times New Roman"/>
                <a:cs typeface="Times New Roman"/>
              </a:rPr>
              <a:t>transforming</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way</a:t>
            </a:r>
            <a:r>
              <a:rPr sz="1200" spc="-20" dirty="0">
                <a:latin typeface="Times New Roman"/>
                <a:cs typeface="Times New Roman"/>
              </a:rPr>
              <a:t> </a:t>
            </a:r>
            <a:r>
              <a:rPr sz="1200" dirty="0">
                <a:latin typeface="Times New Roman"/>
                <a:cs typeface="Times New Roman"/>
              </a:rPr>
              <a:t>properties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bought</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sold</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modern</a:t>
            </a:r>
            <a:r>
              <a:rPr sz="1200" spc="-10" dirty="0">
                <a:latin typeface="Times New Roman"/>
                <a:cs typeface="Times New Roman"/>
              </a:rPr>
              <a:t> </a:t>
            </a:r>
            <a:r>
              <a:rPr sz="1200" spc="-20" dirty="0">
                <a:latin typeface="Times New Roman"/>
                <a:cs typeface="Times New Roman"/>
              </a:rPr>
              <a:t>era.</a:t>
            </a:r>
            <a:endParaRPr sz="1200" dirty="0">
              <a:latin typeface="Times New Roman"/>
              <a:cs typeface="Times New Roman"/>
            </a:endParaRPr>
          </a:p>
          <a:p>
            <a:pPr>
              <a:lnSpc>
                <a:spcPct val="100000"/>
              </a:lnSpc>
              <a:spcBef>
                <a:spcPts val="635"/>
              </a:spcBef>
            </a:pPr>
            <a:endParaRPr sz="1200" dirty="0">
              <a:latin typeface="Times New Roman"/>
              <a:cs typeface="Times New Roman"/>
            </a:endParaRPr>
          </a:p>
          <a:p>
            <a:pPr marL="366395" lvl="1" indent="-353695">
              <a:lnSpc>
                <a:spcPct val="100000"/>
              </a:lnSpc>
              <a:buAutoNum type="arabicPeriod" startAt="2"/>
              <a:tabLst>
                <a:tab pos="366395" algn="l"/>
              </a:tabLst>
            </a:pPr>
            <a:r>
              <a:rPr sz="1600" b="1" dirty="0">
                <a:latin typeface="Times New Roman"/>
                <a:cs typeface="Times New Roman"/>
              </a:rPr>
              <a:t>Deliverables</a:t>
            </a:r>
            <a:r>
              <a:rPr sz="1600" b="1" spc="-50" dirty="0">
                <a:latin typeface="Times New Roman"/>
                <a:cs typeface="Times New Roman"/>
              </a:rPr>
              <a:t> </a:t>
            </a:r>
            <a:r>
              <a:rPr sz="1600" b="1" dirty="0">
                <a:latin typeface="Times New Roman"/>
                <a:cs typeface="Times New Roman"/>
              </a:rPr>
              <a:t>and</a:t>
            </a:r>
            <a:r>
              <a:rPr sz="1600" b="1" spc="-60" dirty="0">
                <a:latin typeface="Times New Roman"/>
                <a:cs typeface="Times New Roman"/>
              </a:rPr>
              <a:t> </a:t>
            </a:r>
            <a:r>
              <a:rPr sz="1600" b="1" dirty="0">
                <a:latin typeface="Times New Roman"/>
                <a:cs typeface="Times New Roman"/>
              </a:rPr>
              <a:t>Development</a:t>
            </a:r>
            <a:r>
              <a:rPr sz="1600" b="1" spc="-55" dirty="0">
                <a:latin typeface="Times New Roman"/>
                <a:cs typeface="Times New Roman"/>
              </a:rPr>
              <a:t> </a:t>
            </a:r>
            <a:r>
              <a:rPr sz="1600" b="1" spc="-10" dirty="0">
                <a:latin typeface="Times New Roman"/>
                <a:cs typeface="Times New Roman"/>
              </a:rPr>
              <a:t>Requirements</a:t>
            </a:r>
            <a:endParaRPr lang="en-US" sz="1600" dirty="0">
              <a:latin typeface="Times New Roman"/>
              <a:cs typeface="Times New Roman"/>
            </a:endParaRPr>
          </a:p>
          <a:p>
            <a:pPr marL="366395" lvl="1" indent="-353695">
              <a:lnSpc>
                <a:spcPct val="100000"/>
              </a:lnSpc>
              <a:buAutoNum type="arabicPeriod" startAt="2"/>
              <a:tabLst>
                <a:tab pos="366395" algn="l"/>
              </a:tabLst>
            </a:pPr>
            <a:endParaRPr lang="en-US" sz="1600" b="1" spc="-10" dirty="0">
              <a:latin typeface="Times New Roman"/>
              <a:cs typeface="Times New Roman"/>
            </a:endParaRPr>
          </a:p>
          <a:p>
            <a:pPr marL="184150" lvl="1" indent="-171450">
              <a:lnSpc>
                <a:spcPct val="100000"/>
              </a:lnSpc>
              <a:buFont typeface="Arial" panose="020B0604020202020204" pitchFamily="34" charset="0"/>
              <a:buChar char="•"/>
              <a:tabLst>
                <a:tab pos="366395" algn="l"/>
              </a:tabLst>
            </a:pPr>
            <a:r>
              <a:rPr sz="1200" b="1" spc="-10" dirty="0">
                <a:latin typeface="Times New Roman"/>
                <a:cs typeface="Times New Roman"/>
              </a:rPr>
              <a:t>Deliverables</a:t>
            </a:r>
            <a:endParaRPr sz="1200" dirty="0">
              <a:latin typeface="Times New Roman"/>
              <a:cs typeface="Times New Roman"/>
            </a:endParaRPr>
          </a:p>
          <a:p>
            <a:pPr marL="12700" marR="8255" algn="just">
              <a:lnSpc>
                <a:spcPct val="143600"/>
              </a:lnSpc>
              <a:spcBef>
                <a:spcPts val="715"/>
              </a:spcBef>
            </a:pPr>
            <a:r>
              <a:rPr sz="1200" dirty="0">
                <a:latin typeface="Times New Roman"/>
                <a:cs typeface="Times New Roman"/>
              </a:rPr>
              <a:t>In</a:t>
            </a:r>
            <a:r>
              <a:rPr sz="1200" spc="6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context</a:t>
            </a:r>
            <a:r>
              <a:rPr sz="1200" spc="60" dirty="0">
                <a:latin typeface="Times New Roman"/>
                <a:cs typeface="Times New Roman"/>
              </a:rPr>
              <a:t> </a:t>
            </a:r>
            <a:r>
              <a:rPr sz="1200" dirty="0">
                <a:latin typeface="Times New Roman"/>
                <a:cs typeface="Times New Roman"/>
              </a:rPr>
              <a:t>of</a:t>
            </a:r>
            <a:r>
              <a:rPr sz="1200" spc="65" dirty="0">
                <a:latin typeface="Times New Roman"/>
                <a:cs typeface="Times New Roman"/>
              </a:rPr>
              <a:t> </a:t>
            </a:r>
            <a:r>
              <a:rPr sz="1200" dirty="0">
                <a:latin typeface="Times New Roman"/>
                <a:cs typeface="Times New Roman"/>
              </a:rPr>
              <a:t>our</a:t>
            </a:r>
            <a:r>
              <a:rPr sz="1200" spc="70" dirty="0">
                <a:latin typeface="Times New Roman"/>
                <a:cs typeface="Times New Roman"/>
              </a:rPr>
              <a:t> </a:t>
            </a:r>
            <a:r>
              <a:rPr sz="1200" dirty="0">
                <a:latin typeface="Times New Roman"/>
                <a:cs typeface="Times New Roman"/>
              </a:rPr>
              <a:t>project,</a:t>
            </a:r>
            <a:r>
              <a:rPr sz="1200" spc="60" dirty="0">
                <a:latin typeface="Times New Roman"/>
                <a:cs typeface="Times New Roman"/>
              </a:rPr>
              <a:t> </a:t>
            </a:r>
            <a:r>
              <a:rPr sz="1200" dirty="0">
                <a:latin typeface="Times New Roman"/>
                <a:cs typeface="Times New Roman"/>
              </a:rPr>
              <a:t>"Auction</a:t>
            </a:r>
            <a:r>
              <a:rPr sz="1200" spc="60" dirty="0">
                <a:latin typeface="Times New Roman"/>
                <a:cs typeface="Times New Roman"/>
              </a:rPr>
              <a:t> </a:t>
            </a:r>
            <a:r>
              <a:rPr sz="1200" dirty="0">
                <a:latin typeface="Times New Roman"/>
                <a:cs typeface="Times New Roman"/>
              </a:rPr>
              <a:t>Abode:</a:t>
            </a:r>
            <a:r>
              <a:rPr sz="1200" spc="60" dirty="0">
                <a:latin typeface="Times New Roman"/>
                <a:cs typeface="Times New Roman"/>
              </a:rPr>
              <a:t> </a:t>
            </a:r>
            <a:r>
              <a:rPr sz="1200" dirty="0">
                <a:latin typeface="Times New Roman"/>
                <a:cs typeface="Times New Roman"/>
              </a:rPr>
              <a:t>AI-Powered</a:t>
            </a:r>
            <a:r>
              <a:rPr sz="1200" spc="60" dirty="0">
                <a:latin typeface="Times New Roman"/>
                <a:cs typeface="Times New Roman"/>
              </a:rPr>
              <a:t> </a:t>
            </a:r>
            <a:r>
              <a:rPr sz="1200" dirty="0">
                <a:latin typeface="Times New Roman"/>
                <a:cs typeface="Times New Roman"/>
              </a:rPr>
              <a:t>Real</a:t>
            </a:r>
            <a:r>
              <a:rPr sz="1200" spc="70" dirty="0">
                <a:latin typeface="Times New Roman"/>
                <a:cs typeface="Times New Roman"/>
              </a:rPr>
              <a:t> </a:t>
            </a:r>
            <a:r>
              <a:rPr sz="1200" dirty="0">
                <a:latin typeface="Times New Roman"/>
                <a:cs typeface="Times New Roman"/>
              </a:rPr>
              <a:t>Estate</a:t>
            </a:r>
            <a:r>
              <a:rPr sz="1200" spc="55" dirty="0">
                <a:latin typeface="Times New Roman"/>
                <a:cs typeface="Times New Roman"/>
              </a:rPr>
              <a:t> </a:t>
            </a:r>
            <a:r>
              <a:rPr sz="1200" dirty="0">
                <a:latin typeface="Times New Roman"/>
                <a:cs typeface="Times New Roman"/>
              </a:rPr>
              <a:t>Bidding</a:t>
            </a:r>
            <a:r>
              <a:rPr sz="1200" spc="55" dirty="0">
                <a:latin typeface="Times New Roman"/>
                <a:cs typeface="Times New Roman"/>
              </a:rPr>
              <a:t> </a:t>
            </a:r>
            <a:r>
              <a:rPr sz="1200" spc="-10" dirty="0">
                <a:latin typeface="Times New Roman"/>
                <a:cs typeface="Times New Roman"/>
              </a:rPr>
              <a:t>Platform," </a:t>
            </a:r>
            <a:r>
              <a:rPr sz="1200" dirty="0">
                <a:latin typeface="Times New Roman"/>
                <a:cs typeface="Times New Roman"/>
              </a:rPr>
              <a:t>deliverables</a:t>
            </a:r>
            <a:r>
              <a:rPr sz="1200" spc="-20" dirty="0">
                <a:latin typeface="Times New Roman"/>
                <a:cs typeface="Times New Roman"/>
              </a:rPr>
              <a:t> </a:t>
            </a:r>
            <a:r>
              <a:rPr sz="1200" dirty="0">
                <a:latin typeface="Times New Roman"/>
                <a:cs typeface="Times New Roman"/>
              </a:rPr>
              <a:t>represent</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tangible</a:t>
            </a:r>
            <a:r>
              <a:rPr sz="1200" spc="-15" dirty="0">
                <a:latin typeface="Times New Roman"/>
                <a:cs typeface="Times New Roman"/>
              </a:rPr>
              <a:t> </a:t>
            </a:r>
            <a:r>
              <a:rPr sz="1200" dirty="0">
                <a:latin typeface="Times New Roman"/>
                <a:cs typeface="Times New Roman"/>
              </a:rPr>
              <a:t>outcomes</a:t>
            </a:r>
            <a:r>
              <a:rPr sz="1200" spc="-15" dirty="0">
                <a:latin typeface="Times New Roman"/>
                <a:cs typeface="Times New Roman"/>
              </a:rPr>
              <a:t> </a:t>
            </a:r>
            <a:r>
              <a:rPr sz="1200" dirty="0">
                <a:latin typeface="Times New Roman"/>
                <a:cs typeface="Times New Roman"/>
              </a:rPr>
              <a:t>expected</a:t>
            </a:r>
            <a:r>
              <a:rPr sz="1200" spc="-20" dirty="0">
                <a:latin typeface="Times New Roman"/>
                <a:cs typeface="Times New Roman"/>
              </a:rPr>
              <a:t> </a:t>
            </a:r>
            <a:r>
              <a:rPr sz="1200" dirty="0">
                <a:latin typeface="Times New Roman"/>
                <a:cs typeface="Times New Roman"/>
              </a:rPr>
              <a:t>upon</a:t>
            </a:r>
            <a:r>
              <a:rPr sz="1200" spc="-15" dirty="0">
                <a:latin typeface="Times New Roman"/>
                <a:cs typeface="Times New Roman"/>
              </a:rPr>
              <a:t> </a:t>
            </a:r>
            <a:r>
              <a:rPr sz="1200" dirty="0">
                <a:latin typeface="Times New Roman"/>
                <a:cs typeface="Times New Roman"/>
              </a:rPr>
              <a:t>project</a:t>
            </a:r>
            <a:r>
              <a:rPr sz="1200" spc="-15" dirty="0">
                <a:latin typeface="Times New Roman"/>
                <a:cs typeface="Times New Roman"/>
              </a:rPr>
              <a:t> </a:t>
            </a:r>
            <a:r>
              <a:rPr sz="1200" dirty="0">
                <a:latin typeface="Times New Roman"/>
                <a:cs typeface="Times New Roman"/>
              </a:rPr>
              <a:t>completion</a:t>
            </a:r>
            <a:r>
              <a:rPr sz="1200" spc="-1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spc="-10" dirty="0">
                <a:latin typeface="Times New Roman"/>
                <a:cs typeface="Times New Roman"/>
              </a:rPr>
              <a:t>specific </a:t>
            </a:r>
            <a:r>
              <a:rPr sz="1200" dirty="0">
                <a:latin typeface="Times New Roman"/>
                <a:cs typeface="Times New Roman"/>
              </a:rPr>
              <a:t>phases.</a:t>
            </a:r>
            <a:r>
              <a:rPr sz="1200" spc="110" dirty="0">
                <a:latin typeface="Times New Roman"/>
                <a:cs typeface="Times New Roman"/>
              </a:rPr>
              <a:t> </a:t>
            </a:r>
            <a:r>
              <a:rPr sz="1200" dirty="0">
                <a:latin typeface="Times New Roman"/>
                <a:cs typeface="Times New Roman"/>
              </a:rPr>
              <a:t>These</a:t>
            </a:r>
            <a:r>
              <a:rPr sz="1200" spc="110" dirty="0">
                <a:latin typeface="Times New Roman"/>
                <a:cs typeface="Times New Roman"/>
              </a:rPr>
              <a:t> </a:t>
            </a:r>
            <a:r>
              <a:rPr sz="1200" dirty="0">
                <a:latin typeface="Times New Roman"/>
                <a:cs typeface="Times New Roman"/>
              </a:rPr>
              <a:t>deliverables</a:t>
            </a:r>
            <a:r>
              <a:rPr sz="1200" spc="110" dirty="0">
                <a:latin typeface="Times New Roman"/>
                <a:cs typeface="Times New Roman"/>
              </a:rPr>
              <a:t> </a:t>
            </a:r>
            <a:r>
              <a:rPr sz="1200" dirty="0">
                <a:latin typeface="Times New Roman"/>
                <a:cs typeface="Times New Roman"/>
              </a:rPr>
              <a:t>serve</a:t>
            </a:r>
            <a:r>
              <a:rPr sz="1200" spc="110" dirty="0">
                <a:latin typeface="Times New Roman"/>
                <a:cs typeface="Times New Roman"/>
              </a:rPr>
              <a:t> </a:t>
            </a:r>
            <a:r>
              <a:rPr sz="1200" dirty="0">
                <a:latin typeface="Times New Roman"/>
                <a:cs typeface="Times New Roman"/>
              </a:rPr>
              <a:t>as</a:t>
            </a:r>
            <a:r>
              <a:rPr sz="1200" spc="110" dirty="0">
                <a:latin typeface="Times New Roman"/>
                <a:cs typeface="Times New Roman"/>
              </a:rPr>
              <a:t> </a:t>
            </a:r>
            <a:r>
              <a:rPr sz="1200" dirty="0">
                <a:latin typeface="Times New Roman"/>
                <a:cs typeface="Times New Roman"/>
              </a:rPr>
              <a:t>measurable</a:t>
            </a:r>
            <a:r>
              <a:rPr sz="1200" spc="114" dirty="0">
                <a:latin typeface="Times New Roman"/>
                <a:cs typeface="Times New Roman"/>
              </a:rPr>
              <a:t> </a:t>
            </a:r>
            <a:r>
              <a:rPr sz="1200" dirty="0">
                <a:latin typeface="Times New Roman"/>
                <a:cs typeface="Times New Roman"/>
              </a:rPr>
              <a:t>indicators</a:t>
            </a:r>
            <a:r>
              <a:rPr sz="1200" spc="110" dirty="0">
                <a:latin typeface="Times New Roman"/>
                <a:cs typeface="Times New Roman"/>
              </a:rPr>
              <a:t> </a:t>
            </a:r>
            <a:r>
              <a:rPr sz="1200" dirty="0">
                <a:latin typeface="Times New Roman"/>
                <a:cs typeface="Times New Roman"/>
              </a:rPr>
              <a:t>of</a:t>
            </a:r>
            <a:r>
              <a:rPr sz="1200" spc="110" dirty="0">
                <a:latin typeface="Times New Roman"/>
                <a:cs typeface="Times New Roman"/>
              </a:rPr>
              <a:t> </a:t>
            </a:r>
            <a:r>
              <a:rPr sz="1200" dirty="0">
                <a:latin typeface="Times New Roman"/>
                <a:cs typeface="Times New Roman"/>
              </a:rPr>
              <a:t>progress,</a:t>
            </a:r>
            <a:r>
              <a:rPr sz="1200" spc="125" dirty="0">
                <a:latin typeface="Times New Roman"/>
                <a:cs typeface="Times New Roman"/>
              </a:rPr>
              <a:t> </a:t>
            </a:r>
            <a:r>
              <a:rPr sz="1200" dirty="0">
                <a:latin typeface="Times New Roman"/>
                <a:cs typeface="Times New Roman"/>
              </a:rPr>
              <a:t>guiding</a:t>
            </a:r>
            <a:r>
              <a:rPr sz="1200" spc="114"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spc="-10" dirty="0">
                <a:latin typeface="Times New Roman"/>
                <a:cs typeface="Times New Roman"/>
              </a:rPr>
              <a:t>project </a:t>
            </a:r>
            <a:r>
              <a:rPr sz="1200" dirty="0">
                <a:latin typeface="Times New Roman"/>
                <a:cs typeface="Times New Roman"/>
              </a:rPr>
              <a:t>toward</a:t>
            </a:r>
            <a:r>
              <a:rPr sz="1200" spc="-25" dirty="0">
                <a:latin typeface="Times New Roman"/>
                <a:cs typeface="Times New Roman"/>
              </a:rPr>
              <a:t> </a:t>
            </a:r>
            <a:r>
              <a:rPr sz="1200" dirty="0">
                <a:latin typeface="Times New Roman"/>
                <a:cs typeface="Times New Roman"/>
              </a:rPr>
              <a:t>its</a:t>
            </a:r>
            <a:r>
              <a:rPr sz="1200" spc="-25" dirty="0">
                <a:latin typeface="Times New Roman"/>
                <a:cs typeface="Times New Roman"/>
              </a:rPr>
              <a:t> </a:t>
            </a:r>
            <a:r>
              <a:rPr sz="1200" spc="-10" dirty="0">
                <a:latin typeface="Times New Roman"/>
                <a:cs typeface="Times New Roman"/>
              </a:rPr>
              <a:t>objectives.</a:t>
            </a:r>
            <a:endParaRPr sz="1200"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12</a:t>
            </a:r>
          </a:p>
        </p:txBody>
      </p:sp>
      <p:sp>
        <p:nvSpPr>
          <p:cNvPr id="2" name="object 2"/>
          <p:cNvSpPr txBox="1"/>
          <p:nvPr/>
        </p:nvSpPr>
        <p:spPr>
          <a:xfrm>
            <a:off x="1176324" y="891285"/>
            <a:ext cx="5695315" cy="7934352"/>
          </a:xfrm>
          <a:prstGeom prst="rect">
            <a:avLst/>
          </a:prstGeom>
        </p:spPr>
        <p:txBody>
          <a:bodyPr vert="horz" wrap="square" lIns="0" tIns="12700" rIns="0" bIns="0" rtlCol="0">
            <a:spAutoFit/>
          </a:bodyPr>
          <a:lstStyle/>
          <a:p>
            <a:pPr marL="12700" algn="just">
              <a:lnSpc>
                <a:spcPct val="100000"/>
              </a:lnSpc>
              <a:spcBef>
                <a:spcPts val="100"/>
              </a:spcBef>
            </a:pPr>
            <a:r>
              <a:rPr sz="1200" dirty="0">
                <a:latin typeface="Times New Roman"/>
                <a:cs typeface="Times New Roman"/>
              </a:rPr>
              <a:t>Potential</a:t>
            </a:r>
            <a:r>
              <a:rPr sz="1200" spc="-20" dirty="0">
                <a:latin typeface="Times New Roman"/>
                <a:cs typeface="Times New Roman"/>
              </a:rPr>
              <a:t> </a:t>
            </a:r>
            <a:r>
              <a:rPr sz="1200" spc="-10" dirty="0">
                <a:latin typeface="Times New Roman"/>
                <a:cs typeface="Times New Roman"/>
              </a:rPr>
              <a:t>deliverables</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this</a:t>
            </a:r>
            <a:r>
              <a:rPr sz="1200" spc="-15" dirty="0">
                <a:latin typeface="Times New Roman"/>
                <a:cs typeface="Times New Roman"/>
              </a:rPr>
              <a:t> </a:t>
            </a:r>
            <a:r>
              <a:rPr sz="1200" dirty="0">
                <a:latin typeface="Times New Roman"/>
                <a:cs typeface="Times New Roman"/>
              </a:rPr>
              <a:t>project</a:t>
            </a:r>
            <a:r>
              <a:rPr sz="1200" spc="-15" dirty="0">
                <a:latin typeface="Times New Roman"/>
                <a:cs typeface="Times New Roman"/>
              </a:rPr>
              <a:t> </a:t>
            </a:r>
            <a:r>
              <a:rPr sz="1200" spc="-10" dirty="0">
                <a:latin typeface="Times New Roman"/>
                <a:cs typeface="Times New Roman"/>
              </a:rPr>
              <a:t>include:</a:t>
            </a:r>
            <a:endParaRPr sz="1200" dirty="0">
              <a:latin typeface="Times New Roman"/>
              <a:cs typeface="Times New Roman"/>
            </a:endParaRPr>
          </a:p>
          <a:p>
            <a:pPr>
              <a:lnSpc>
                <a:spcPct val="100000"/>
              </a:lnSpc>
              <a:spcBef>
                <a:spcPts val="10"/>
              </a:spcBef>
            </a:pPr>
            <a:endParaRPr sz="1200" dirty="0">
              <a:latin typeface="Times New Roman"/>
              <a:cs typeface="Times New Roman"/>
            </a:endParaRPr>
          </a:p>
          <a:p>
            <a:pPr marL="469265" marR="5080" indent="-228600">
              <a:lnSpc>
                <a:spcPct val="144200"/>
              </a:lnSpc>
              <a:buAutoNum type="arabicPeriod"/>
              <a:tabLst>
                <a:tab pos="469265" algn="l"/>
              </a:tabLst>
            </a:pPr>
            <a:r>
              <a:rPr sz="1200" spc="-10" dirty="0">
                <a:latin typeface="Times New Roman"/>
                <a:cs typeface="Times New Roman"/>
              </a:rPr>
              <a:t>Real-Time</a:t>
            </a:r>
            <a:r>
              <a:rPr sz="1200" spc="-45" dirty="0">
                <a:latin typeface="Times New Roman"/>
                <a:cs typeface="Times New Roman"/>
              </a:rPr>
              <a:t> </a:t>
            </a:r>
            <a:r>
              <a:rPr sz="1200" spc="-10" dirty="0">
                <a:latin typeface="Times New Roman"/>
                <a:cs typeface="Times New Roman"/>
              </a:rPr>
              <a:t>Bidding</a:t>
            </a:r>
            <a:r>
              <a:rPr sz="1200" spc="-45" dirty="0">
                <a:latin typeface="Times New Roman"/>
                <a:cs typeface="Times New Roman"/>
              </a:rPr>
              <a:t> </a:t>
            </a:r>
            <a:r>
              <a:rPr sz="1200" spc="-10" dirty="0">
                <a:latin typeface="Times New Roman"/>
                <a:cs typeface="Times New Roman"/>
              </a:rPr>
              <a:t>System:</a:t>
            </a:r>
            <a:r>
              <a:rPr sz="1200" spc="-35" dirty="0">
                <a:latin typeface="Times New Roman"/>
                <a:cs typeface="Times New Roman"/>
              </a:rPr>
              <a:t> </a:t>
            </a:r>
            <a:r>
              <a:rPr sz="1200" spc="-10" dirty="0">
                <a:latin typeface="Times New Roman"/>
                <a:cs typeface="Times New Roman"/>
              </a:rPr>
              <a:t>Develop</a:t>
            </a:r>
            <a:r>
              <a:rPr sz="1200" spc="-35" dirty="0">
                <a:latin typeface="Times New Roman"/>
                <a:cs typeface="Times New Roman"/>
              </a:rPr>
              <a:t> </a:t>
            </a:r>
            <a:r>
              <a:rPr sz="1200" spc="-10" dirty="0">
                <a:latin typeface="Times New Roman"/>
                <a:cs typeface="Times New Roman"/>
              </a:rPr>
              <a:t>and</a:t>
            </a:r>
            <a:r>
              <a:rPr sz="1200" spc="-45" dirty="0">
                <a:latin typeface="Times New Roman"/>
                <a:cs typeface="Times New Roman"/>
              </a:rPr>
              <a:t> </a:t>
            </a:r>
            <a:r>
              <a:rPr sz="1200" spc="-10" dirty="0">
                <a:latin typeface="Times New Roman"/>
                <a:cs typeface="Times New Roman"/>
              </a:rPr>
              <a:t>deploy</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real-time</a:t>
            </a:r>
            <a:r>
              <a:rPr sz="1200" spc="-40" dirty="0">
                <a:latin typeface="Times New Roman"/>
                <a:cs typeface="Times New Roman"/>
              </a:rPr>
              <a:t> </a:t>
            </a:r>
            <a:r>
              <a:rPr sz="1200" spc="-10" dirty="0">
                <a:latin typeface="Times New Roman"/>
                <a:cs typeface="Times New Roman"/>
              </a:rPr>
              <a:t>WebSocket-based</a:t>
            </a:r>
            <a:r>
              <a:rPr sz="1200" spc="-45" dirty="0">
                <a:latin typeface="Times New Roman"/>
                <a:cs typeface="Times New Roman"/>
              </a:rPr>
              <a:t> </a:t>
            </a:r>
            <a:r>
              <a:rPr sz="1200" spc="-10" dirty="0">
                <a:latin typeface="Times New Roman"/>
                <a:cs typeface="Times New Roman"/>
              </a:rPr>
              <a:t>auction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ensuring</a:t>
            </a:r>
            <a:r>
              <a:rPr sz="1200" spc="-30" dirty="0">
                <a:latin typeface="Times New Roman"/>
                <a:cs typeface="Times New Roman"/>
              </a:rPr>
              <a:t> </a:t>
            </a:r>
            <a:r>
              <a:rPr sz="1200" dirty="0">
                <a:latin typeface="Times New Roman"/>
                <a:cs typeface="Times New Roman"/>
              </a:rPr>
              <a:t>instant</a:t>
            </a:r>
            <a:r>
              <a:rPr sz="1200" spc="-30" dirty="0">
                <a:latin typeface="Times New Roman"/>
                <a:cs typeface="Times New Roman"/>
              </a:rPr>
              <a:t> </a:t>
            </a:r>
            <a:r>
              <a:rPr sz="1200" dirty="0">
                <a:latin typeface="Times New Roman"/>
                <a:cs typeface="Times New Roman"/>
              </a:rPr>
              <a:t>bid</a:t>
            </a:r>
            <a:r>
              <a:rPr sz="1200" spc="-3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transparency</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spc="-10" dirty="0">
                <a:latin typeface="Times New Roman"/>
                <a:cs typeface="Times New Roman"/>
              </a:rPr>
              <a:t>users.</a:t>
            </a:r>
            <a:endParaRPr sz="1200" dirty="0">
              <a:latin typeface="Times New Roman"/>
              <a:cs typeface="Times New Roman"/>
            </a:endParaRPr>
          </a:p>
          <a:p>
            <a:pPr marL="469265" marR="6985" indent="-228600">
              <a:lnSpc>
                <a:spcPts val="2080"/>
              </a:lnSpc>
              <a:spcBef>
                <a:spcPts val="160"/>
              </a:spcBef>
              <a:buAutoNum type="arabicPeriod"/>
              <a:tabLst>
                <a:tab pos="469265" algn="l"/>
              </a:tabLst>
            </a:pPr>
            <a:r>
              <a:rPr sz="1200" spc="-10" dirty="0">
                <a:latin typeface="Times New Roman"/>
                <a:cs typeface="Times New Roman"/>
              </a:rPr>
              <a:t>AI-</a:t>
            </a:r>
            <a:r>
              <a:rPr sz="1200" dirty="0">
                <a:latin typeface="Times New Roman"/>
                <a:cs typeface="Times New Roman"/>
              </a:rPr>
              <a:t>Powered</a:t>
            </a:r>
            <a:r>
              <a:rPr sz="1200" spc="280" dirty="0">
                <a:latin typeface="Times New Roman"/>
                <a:cs typeface="Times New Roman"/>
              </a:rPr>
              <a:t> </a:t>
            </a:r>
            <a:r>
              <a:rPr sz="1200" dirty="0">
                <a:latin typeface="Times New Roman"/>
                <a:cs typeface="Times New Roman"/>
              </a:rPr>
              <a:t>Price</a:t>
            </a:r>
            <a:r>
              <a:rPr sz="1200" spc="285" dirty="0">
                <a:latin typeface="Times New Roman"/>
                <a:cs typeface="Times New Roman"/>
              </a:rPr>
              <a:t> </a:t>
            </a:r>
            <a:r>
              <a:rPr sz="1200" dirty="0">
                <a:latin typeface="Times New Roman"/>
                <a:cs typeface="Times New Roman"/>
              </a:rPr>
              <a:t>Prediction</a:t>
            </a:r>
            <a:r>
              <a:rPr sz="1200" spc="285" dirty="0">
                <a:latin typeface="Times New Roman"/>
                <a:cs typeface="Times New Roman"/>
              </a:rPr>
              <a:t> </a:t>
            </a:r>
            <a:r>
              <a:rPr sz="1200" dirty="0">
                <a:latin typeface="Times New Roman"/>
                <a:cs typeface="Times New Roman"/>
              </a:rPr>
              <a:t>Model:</a:t>
            </a:r>
            <a:r>
              <a:rPr sz="1200" spc="290" dirty="0">
                <a:latin typeface="Times New Roman"/>
                <a:cs typeface="Times New Roman"/>
              </a:rPr>
              <a:t> </a:t>
            </a:r>
            <a:r>
              <a:rPr sz="1200" dirty="0">
                <a:latin typeface="Times New Roman"/>
                <a:cs typeface="Times New Roman"/>
              </a:rPr>
              <a:t>Implement</a:t>
            </a:r>
            <a:r>
              <a:rPr sz="1200" spc="290" dirty="0">
                <a:latin typeface="Times New Roman"/>
                <a:cs typeface="Times New Roman"/>
              </a:rPr>
              <a:t> </a:t>
            </a:r>
            <a:r>
              <a:rPr sz="1200" dirty="0">
                <a:latin typeface="Times New Roman"/>
                <a:cs typeface="Times New Roman"/>
              </a:rPr>
              <a:t>machine</a:t>
            </a:r>
            <a:r>
              <a:rPr sz="1200" spc="285" dirty="0">
                <a:latin typeface="Times New Roman"/>
                <a:cs typeface="Times New Roman"/>
              </a:rPr>
              <a:t> </a:t>
            </a:r>
            <a:r>
              <a:rPr sz="1200" dirty="0">
                <a:latin typeface="Times New Roman"/>
                <a:cs typeface="Times New Roman"/>
              </a:rPr>
              <a:t>learning</a:t>
            </a:r>
            <a:r>
              <a:rPr sz="1200" spc="285" dirty="0">
                <a:latin typeface="Times New Roman"/>
                <a:cs typeface="Times New Roman"/>
              </a:rPr>
              <a:t> </a:t>
            </a:r>
            <a:r>
              <a:rPr sz="1200" dirty="0">
                <a:latin typeface="Times New Roman"/>
                <a:cs typeface="Times New Roman"/>
              </a:rPr>
              <a:t>algorithms</a:t>
            </a:r>
            <a:r>
              <a:rPr sz="1200" spc="290" dirty="0">
                <a:latin typeface="Times New Roman"/>
                <a:cs typeface="Times New Roman"/>
              </a:rPr>
              <a:t> </a:t>
            </a:r>
            <a:r>
              <a:rPr sz="1200" spc="-25" dirty="0">
                <a:latin typeface="Times New Roman"/>
                <a:cs typeface="Times New Roman"/>
              </a:rPr>
              <a:t>to </a:t>
            </a:r>
            <a:r>
              <a:rPr sz="1200" dirty="0">
                <a:latin typeface="Times New Roman"/>
                <a:cs typeface="Times New Roman"/>
              </a:rPr>
              <a:t>analyze</a:t>
            </a:r>
            <a:r>
              <a:rPr sz="1200" spc="-30" dirty="0">
                <a:latin typeface="Times New Roman"/>
                <a:cs typeface="Times New Roman"/>
              </a:rPr>
              <a:t> </a:t>
            </a:r>
            <a:r>
              <a:rPr sz="1200" dirty="0">
                <a:latin typeface="Times New Roman"/>
                <a:cs typeface="Times New Roman"/>
              </a:rPr>
              <a:t>market</a:t>
            </a:r>
            <a:r>
              <a:rPr sz="1200" spc="-15" dirty="0">
                <a:latin typeface="Times New Roman"/>
                <a:cs typeface="Times New Roman"/>
              </a:rPr>
              <a:t> </a:t>
            </a:r>
            <a:r>
              <a:rPr sz="1200" dirty="0">
                <a:latin typeface="Times New Roman"/>
                <a:cs typeface="Times New Roman"/>
              </a:rPr>
              <a:t>trends</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spc="-10" dirty="0">
                <a:latin typeface="Times New Roman"/>
                <a:cs typeface="Times New Roman"/>
              </a:rPr>
              <a:t>data-</a:t>
            </a:r>
            <a:r>
              <a:rPr sz="1200" dirty="0">
                <a:latin typeface="Times New Roman"/>
                <a:cs typeface="Times New Roman"/>
              </a:rPr>
              <a:t>driven</a:t>
            </a:r>
            <a:r>
              <a:rPr sz="1200" spc="-20" dirty="0">
                <a:latin typeface="Times New Roman"/>
                <a:cs typeface="Times New Roman"/>
              </a:rPr>
              <a:t> </a:t>
            </a:r>
            <a:r>
              <a:rPr sz="1200" dirty="0">
                <a:latin typeface="Times New Roman"/>
                <a:cs typeface="Times New Roman"/>
              </a:rPr>
              <a:t>price</a:t>
            </a:r>
            <a:r>
              <a:rPr sz="1200" spc="-20" dirty="0">
                <a:latin typeface="Times New Roman"/>
                <a:cs typeface="Times New Roman"/>
              </a:rPr>
              <a:t> </a:t>
            </a:r>
            <a:r>
              <a:rPr sz="1200" spc="-10" dirty="0">
                <a:latin typeface="Times New Roman"/>
                <a:cs typeface="Times New Roman"/>
              </a:rPr>
              <a:t>recommendations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properties.</a:t>
            </a:r>
            <a:endParaRPr sz="1200" dirty="0">
              <a:latin typeface="Times New Roman"/>
              <a:cs typeface="Times New Roman"/>
            </a:endParaRPr>
          </a:p>
          <a:p>
            <a:pPr marL="469265" indent="-228600">
              <a:lnSpc>
                <a:spcPct val="100000"/>
              </a:lnSpc>
              <a:spcBef>
                <a:spcPts val="445"/>
              </a:spcBef>
              <a:buAutoNum type="arabicPeriod"/>
              <a:tabLst>
                <a:tab pos="469265" algn="l"/>
              </a:tabLst>
            </a:pPr>
            <a:r>
              <a:rPr sz="1200" dirty="0">
                <a:latin typeface="Times New Roman"/>
                <a:cs typeface="Times New Roman"/>
              </a:rPr>
              <a:t>Fraud</a:t>
            </a:r>
            <a:r>
              <a:rPr sz="1200" spc="10" dirty="0">
                <a:latin typeface="Times New Roman"/>
                <a:cs typeface="Times New Roman"/>
              </a:rPr>
              <a:t> </a:t>
            </a:r>
            <a:r>
              <a:rPr sz="1200" dirty="0">
                <a:latin typeface="Times New Roman"/>
                <a:cs typeface="Times New Roman"/>
              </a:rPr>
              <a:t>Detection</a:t>
            </a:r>
            <a:r>
              <a:rPr sz="1200" spc="15" dirty="0">
                <a:latin typeface="Times New Roman"/>
                <a:cs typeface="Times New Roman"/>
              </a:rPr>
              <a:t> </a:t>
            </a:r>
            <a:r>
              <a:rPr sz="1200" dirty="0">
                <a:latin typeface="Times New Roman"/>
                <a:cs typeface="Times New Roman"/>
              </a:rPr>
              <a:t>Mechanism:</a:t>
            </a:r>
            <a:r>
              <a:rPr sz="1200" spc="15" dirty="0">
                <a:latin typeface="Times New Roman"/>
                <a:cs typeface="Times New Roman"/>
              </a:rPr>
              <a:t> </a:t>
            </a:r>
            <a:r>
              <a:rPr sz="1200" dirty="0">
                <a:latin typeface="Times New Roman"/>
                <a:cs typeface="Times New Roman"/>
              </a:rPr>
              <a:t>Integrate</a:t>
            </a:r>
            <a:r>
              <a:rPr sz="1200" spc="15" dirty="0">
                <a:latin typeface="Times New Roman"/>
                <a:cs typeface="Times New Roman"/>
              </a:rPr>
              <a:t> </a:t>
            </a:r>
            <a:r>
              <a:rPr sz="1200" dirty="0">
                <a:latin typeface="Times New Roman"/>
                <a:cs typeface="Times New Roman"/>
              </a:rPr>
              <a:t>AI-based</a:t>
            </a:r>
            <a:r>
              <a:rPr sz="1200" spc="10" dirty="0">
                <a:latin typeface="Times New Roman"/>
                <a:cs typeface="Times New Roman"/>
              </a:rPr>
              <a:t> </a:t>
            </a:r>
            <a:r>
              <a:rPr sz="1200" dirty="0">
                <a:latin typeface="Times New Roman"/>
                <a:cs typeface="Times New Roman"/>
              </a:rPr>
              <a:t>document</a:t>
            </a:r>
            <a:r>
              <a:rPr sz="1200" spc="15" dirty="0">
                <a:latin typeface="Times New Roman"/>
                <a:cs typeface="Times New Roman"/>
              </a:rPr>
              <a:t> </a:t>
            </a:r>
            <a:r>
              <a:rPr sz="1200" dirty="0">
                <a:latin typeface="Times New Roman"/>
                <a:cs typeface="Times New Roman"/>
              </a:rPr>
              <a:t>verification</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anomaly</a:t>
            </a:r>
            <a:endParaRPr sz="1200" dirty="0">
              <a:latin typeface="Times New Roman"/>
              <a:cs typeface="Times New Roman"/>
            </a:endParaRPr>
          </a:p>
          <a:p>
            <a:pPr marL="469265">
              <a:lnSpc>
                <a:spcPct val="100000"/>
              </a:lnSpc>
              <a:spcBef>
                <a:spcPts val="635"/>
              </a:spcBef>
            </a:pPr>
            <a:r>
              <a:rPr sz="1200" dirty="0">
                <a:latin typeface="Times New Roman"/>
                <a:cs typeface="Times New Roman"/>
              </a:rPr>
              <a:t>detection</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prevent</a:t>
            </a:r>
            <a:r>
              <a:rPr sz="1200" spc="-20" dirty="0">
                <a:latin typeface="Times New Roman"/>
                <a:cs typeface="Times New Roman"/>
              </a:rPr>
              <a:t> </a:t>
            </a:r>
            <a:r>
              <a:rPr sz="1200" dirty="0">
                <a:latin typeface="Times New Roman"/>
                <a:cs typeface="Times New Roman"/>
              </a:rPr>
              <a:t>fraudulent</a:t>
            </a:r>
            <a:r>
              <a:rPr sz="1200" spc="-35" dirty="0">
                <a:latin typeface="Times New Roman"/>
                <a:cs typeface="Times New Roman"/>
              </a:rPr>
              <a:t> </a:t>
            </a:r>
            <a:r>
              <a:rPr sz="1200" dirty="0">
                <a:latin typeface="Times New Roman"/>
                <a:cs typeface="Times New Roman"/>
              </a:rPr>
              <a:t>property</a:t>
            </a:r>
            <a:r>
              <a:rPr sz="1200" spc="-35" dirty="0">
                <a:latin typeface="Times New Roman"/>
                <a:cs typeface="Times New Roman"/>
              </a:rPr>
              <a:t> </a:t>
            </a:r>
            <a:r>
              <a:rPr sz="1200" dirty="0">
                <a:latin typeface="Times New Roman"/>
                <a:cs typeface="Times New Roman"/>
              </a:rPr>
              <a:t>listings</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bid</a:t>
            </a:r>
            <a:r>
              <a:rPr sz="1200" spc="-30" dirty="0">
                <a:latin typeface="Times New Roman"/>
                <a:cs typeface="Times New Roman"/>
              </a:rPr>
              <a:t> </a:t>
            </a:r>
            <a:r>
              <a:rPr sz="1200" spc="-10" dirty="0">
                <a:latin typeface="Times New Roman"/>
                <a:cs typeface="Times New Roman"/>
              </a:rPr>
              <a:t>manipulations.</a:t>
            </a:r>
            <a:endParaRPr sz="1200" dirty="0">
              <a:latin typeface="Times New Roman"/>
              <a:cs typeface="Times New Roman"/>
            </a:endParaRPr>
          </a:p>
          <a:p>
            <a:pPr marL="469265" marR="6985" indent="-228600">
              <a:lnSpc>
                <a:spcPts val="2080"/>
              </a:lnSpc>
              <a:spcBef>
                <a:spcPts val="160"/>
              </a:spcBef>
              <a:buAutoNum type="arabicPeriod" startAt="4"/>
              <a:tabLst>
                <a:tab pos="469265" algn="l"/>
              </a:tabLst>
            </a:pPr>
            <a:r>
              <a:rPr sz="1200" spc="-10" dirty="0">
                <a:latin typeface="Times New Roman"/>
                <a:cs typeface="Times New Roman"/>
              </a:rPr>
              <a:t>Cloud-</a:t>
            </a:r>
            <a:r>
              <a:rPr sz="1200" dirty="0">
                <a:latin typeface="Times New Roman"/>
                <a:cs typeface="Times New Roman"/>
              </a:rPr>
              <a:t>Based</a:t>
            </a:r>
            <a:r>
              <a:rPr sz="1200" spc="420" dirty="0">
                <a:latin typeface="Times New Roman"/>
                <a:cs typeface="Times New Roman"/>
              </a:rPr>
              <a:t> </a:t>
            </a:r>
            <a:r>
              <a:rPr sz="1200" dirty="0">
                <a:latin typeface="Times New Roman"/>
                <a:cs typeface="Times New Roman"/>
              </a:rPr>
              <a:t>Auction</a:t>
            </a:r>
            <a:r>
              <a:rPr sz="1200" spc="430" dirty="0">
                <a:latin typeface="Times New Roman"/>
                <a:cs typeface="Times New Roman"/>
              </a:rPr>
              <a:t> </a:t>
            </a:r>
            <a:r>
              <a:rPr sz="1200" dirty="0">
                <a:latin typeface="Times New Roman"/>
                <a:cs typeface="Times New Roman"/>
              </a:rPr>
              <a:t>Platform:</a:t>
            </a:r>
            <a:r>
              <a:rPr sz="1200" spc="425" dirty="0">
                <a:latin typeface="Times New Roman"/>
                <a:cs typeface="Times New Roman"/>
              </a:rPr>
              <a:t> </a:t>
            </a:r>
            <a:r>
              <a:rPr sz="1200" dirty="0">
                <a:latin typeface="Times New Roman"/>
                <a:cs typeface="Times New Roman"/>
              </a:rPr>
              <a:t>Deliver</a:t>
            </a:r>
            <a:r>
              <a:rPr sz="1200" spc="430" dirty="0">
                <a:latin typeface="Times New Roman"/>
                <a:cs typeface="Times New Roman"/>
              </a:rPr>
              <a:t> </a:t>
            </a:r>
            <a:r>
              <a:rPr sz="1200" dirty="0">
                <a:latin typeface="Times New Roman"/>
                <a:cs typeface="Times New Roman"/>
              </a:rPr>
              <a:t>a</a:t>
            </a:r>
            <a:r>
              <a:rPr sz="1200" spc="420" dirty="0">
                <a:latin typeface="Times New Roman"/>
                <a:cs typeface="Times New Roman"/>
              </a:rPr>
              <a:t> </a:t>
            </a:r>
            <a:r>
              <a:rPr sz="1200" dirty="0">
                <a:latin typeface="Times New Roman"/>
                <a:cs typeface="Times New Roman"/>
              </a:rPr>
              <a:t>scalable,</a:t>
            </a:r>
            <a:r>
              <a:rPr sz="1200" spc="420" dirty="0">
                <a:latin typeface="Times New Roman"/>
                <a:cs typeface="Times New Roman"/>
              </a:rPr>
              <a:t> </a:t>
            </a:r>
            <a:r>
              <a:rPr sz="1200" dirty="0">
                <a:latin typeface="Times New Roman"/>
                <a:cs typeface="Times New Roman"/>
              </a:rPr>
              <a:t>web-based</a:t>
            </a:r>
            <a:r>
              <a:rPr sz="1200" spc="434" dirty="0">
                <a:latin typeface="Times New Roman"/>
                <a:cs typeface="Times New Roman"/>
              </a:rPr>
              <a:t> </a:t>
            </a:r>
            <a:r>
              <a:rPr sz="1200" dirty="0">
                <a:latin typeface="Times New Roman"/>
                <a:cs typeface="Times New Roman"/>
              </a:rPr>
              <a:t>auction</a:t>
            </a:r>
            <a:r>
              <a:rPr sz="1200" spc="420" dirty="0">
                <a:latin typeface="Times New Roman"/>
                <a:cs typeface="Times New Roman"/>
              </a:rPr>
              <a:t> </a:t>
            </a:r>
            <a:r>
              <a:rPr sz="1200" spc="-10" dirty="0">
                <a:latin typeface="Times New Roman"/>
                <a:cs typeface="Times New Roman"/>
              </a:rPr>
              <a:t>system </a:t>
            </a:r>
            <a:r>
              <a:rPr sz="1200" dirty="0">
                <a:latin typeface="Times New Roman"/>
                <a:cs typeface="Times New Roman"/>
              </a:rPr>
              <a:t>accessible</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buyers,</a:t>
            </a:r>
            <a:r>
              <a:rPr sz="1200" spc="-25" dirty="0">
                <a:latin typeface="Times New Roman"/>
                <a:cs typeface="Times New Roman"/>
              </a:rPr>
              <a:t> </a:t>
            </a:r>
            <a:r>
              <a:rPr sz="1200" dirty="0">
                <a:latin typeface="Times New Roman"/>
                <a:cs typeface="Times New Roman"/>
              </a:rPr>
              <a:t>sellers,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administrators</a:t>
            </a:r>
            <a:r>
              <a:rPr sz="1200" spc="-2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spc="-10" dirty="0">
                <a:latin typeface="Times New Roman"/>
                <a:cs typeface="Times New Roman"/>
              </a:rPr>
              <a:t>location.</a:t>
            </a:r>
            <a:endParaRPr sz="1200" dirty="0">
              <a:latin typeface="Times New Roman"/>
              <a:cs typeface="Times New Roman"/>
            </a:endParaRPr>
          </a:p>
          <a:p>
            <a:pPr marL="469265" indent="-228600">
              <a:lnSpc>
                <a:spcPct val="100000"/>
              </a:lnSpc>
              <a:spcBef>
                <a:spcPts val="445"/>
              </a:spcBef>
              <a:buAutoNum type="arabicPeriod" startAt="4"/>
              <a:tabLst>
                <a:tab pos="469265" algn="l"/>
              </a:tabLst>
            </a:pP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Interface</a:t>
            </a:r>
            <a:r>
              <a:rPr sz="1200" spc="-25" dirty="0">
                <a:latin typeface="Times New Roman"/>
                <a:cs typeface="Times New Roman"/>
              </a:rPr>
              <a:t> </a:t>
            </a:r>
            <a:r>
              <a:rPr sz="1200" spc="-10" dirty="0">
                <a:latin typeface="Times New Roman"/>
                <a:cs typeface="Times New Roman"/>
              </a:rPr>
              <a:t>Design:</a:t>
            </a:r>
            <a:r>
              <a:rPr sz="1200" spc="-20" dirty="0">
                <a:latin typeface="Times New Roman"/>
                <a:cs typeface="Times New Roman"/>
              </a:rPr>
              <a:t> </a:t>
            </a:r>
            <a:r>
              <a:rPr sz="1200" spc="-10" dirty="0">
                <a:latin typeface="Times New Roman"/>
                <a:cs typeface="Times New Roman"/>
              </a:rPr>
              <a:t>Create</a:t>
            </a:r>
            <a:r>
              <a:rPr sz="1200" spc="-2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responsive,</a:t>
            </a:r>
            <a:r>
              <a:rPr sz="1200" spc="-20" dirty="0">
                <a:latin typeface="Times New Roman"/>
                <a:cs typeface="Times New Roman"/>
              </a:rPr>
              <a:t> </a:t>
            </a:r>
            <a:r>
              <a:rPr sz="1200" spc="-10" dirty="0">
                <a:latin typeface="Times New Roman"/>
                <a:cs typeface="Times New Roman"/>
              </a:rPr>
              <a:t>intuitive</a:t>
            </a:r>
            <a:r>
              <a:rPr sz="1200" spc="-35" dirty="0">
                <a:latin typeface="Times New Roman"/>
                <a:cs typeface="Times New Roman"/>
              </a:rPr>
              <a:t> </a:t>
            </a:r>
            <a:r>
              <a:rPr sz="1200" dirty="0">
                <a:latin typeface="Times New Roman"/>
                <a:cs typeface="Times New Roman"/>
              </a:rPr>
              <a:t>UI</a:t>
            </a:r>
            <a:r>
              <a:rPr sz="1200" spc="-45" dirty="0">
                <a:latin typeface="Times New Roman"/>
                <a:cs typeface="Times New Roman"/>
              </a:rPr>
              <a:t> </a:t>
            </a:r>
            <a:r>
              <a:rPr sz="1200" spc="-10" dirty="0">
                <a:latin typeface="Times New Roman"/>
                <a:cs typeface="Times New Roman"/>
              </a:rPr>
              <a:t>tailored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different user</a:t>
            </a:r>
            <a:r>
              <a:rPr sz="1200" spc="-35" dirty="0">
                <a:latin typeface="Times New Roman"/>
                <a:cs typeface="Times New Roman"/>
              </a:rPr>
              <a:t> </a:t>
            </a:r>
            <a:r>
              <a:rPr sz="1200" spc="-10" dirty="0">
                <a:latin typeface="Times New Roman"/>
                <a:cs typeface="Times New Roman"/>
              </a:rPr>
              <a:t>roles,</a:t>
            </a:r>
            <a:endParaRPr sz="1200" dirty="0">
              <a:latin typeface="Times New Roman"/>
              <a:cs typeface="Times New Roman"/>
            </a:endParaRPr>
          </a:p>
          <a:p>
            <a:pPr marL="469265">
              <a:lnSpc>
                <a:spcPct val="100000"/>
              </a:lnSpc>
              <a:spcBef>
                <a:spcPts val="640"/>
              </a:spcBef>
            </a:pPr>
            <a:r>
              <a:rPr sz="1200" dirty="0">
                <a:latin typeface="Times New Roman"/>
                <a:cs typeface="Times New Roman"/>
              </a:rPr>
              <a:t>ensuring</a:t>
            </a:r>
            <a:r>
              <a:rPr sz="1200" spc="-25" dirty="0">
                <a:latin typeface="Times New Roman"/>
                <a:cs typeface="Times New Roman"/>
              </a:rPr>
              <a:t> </a:t>
            </a:r>
            <a:r>
              <a:rPr sz="1200" dirty="0">
                <a:latin typeface="Times New Roman"/>
                <a:cs typeface="Times New Roman"/>
              </a:rPr>
              <a:t>smooth</a:t>
            </a:r>
            <a:r>
              <a:rPr sz="1200" spc="-20" dirty="0">
                <a:latin typeface="Times New Roman"/>
                <a:cs typeface="Times New Roman"/>
              </a:rPr>
              <a:t> </a:t>
            </a:r>
            <a:r>
              <a:rPr sz="1200" dirty="0">
                <a:latin typeface="Times New Roman"/>
                <a:cs typeface="Times New Roman"/>
              </a:rPr>
              <a:t>navigation</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user-</a:t>
            </a:r>
            <a:r>
              <a:rPr sz="1200" dirty="0">
                <a:latin typeface="Times New Roman"/>
                <a:cs typeface="Times New Roman"/>
              </a:rPr>
              <a:t>friendly</a:t>
            </a:r>
            <a:r>
              <a:rPr sz="1200" spc="-25"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spc="-10" dirty="0">
                <a:latin typeface="Times New Roman"/>
                <a:cs typeface="Times New Roman"/>
              </a:rPr>
              <a:t>management.</a:t>
            </a:r>
            <a:endParaRPr sz="1200" dirty="0">
              <a:latin typeface="Times New Roman"/>
              <a:cs typeface="Times New Roman"/>
            </a:endParaRPr>
          </a:p>
          <a:p>
            <a:pPr marL="469265" marR="5080" indent="-228600">
              <a:lnSpc>
                <a:spcPct val="143300"/>
              </a:lnSpc>
              <a:buAutoNum type="arabicPeriod" startAt="6"/>
              <a:tabLst>
                <a:tab pos="469265" algn="l"/>
              </a:tabLst>
            </a:pPr>
            <a:r>
              <a:rPr sz="1200" dirty="0">
                <a:latin typeface="Times New Roman"/>
                <a:cs typeface="Times New Roman"/>
              </a:rPr>
              <a:t>Secure</a:t>
            </a:r>
            <a:r>
              <a:rPr sz="1200" spc="-20" dirty="0">
                <a:latin typeface="Times New Roman"/>
                <a:cs typeface="Times New Roman"/>
              </a:rPr>
              <a:t> </a:t>
            </a:r>
            <a:r>
              <a:rPr sz="1200" dirty="0">
                <a:latin typeface="Times New Roman"/>
                <a:cs typeface="Times New Roman"/>
              </a:rPr>
              <a:t>Database</a:t>
            </a:r>
            <a:r>
              <a:rPr sz="1200" spc="-5" dirty="0">
                <a:latin typeface="Times New Roman"/>
                <a:cs typeface="Times New Roman"/>
              </a:rPr>
              <a:t> </a:t>
            </a:r>
            <a:r>
              <a:rPr sz="1200" dirty="0">
                <a:latin typeface="Times New Roman"/>
                <a:cs typeface="Times New Roman"/>
              </a:rPr>
              <a:t>Infrastructure:</a:t>
            </a:r>
            <a:r>
              <a:rPr sz="1200" spc="-5" dirty="0">
                <a:latin typeface="Times New Roman"/>
                <a:cs typeface="Times New Roman"/>
              </a:rPr>
              <a:t> </a:t>
            </a:r>
            <a:r>
              <a:rPr sz="1200" dirty="0">
                <a:latin typeface="Times New Roman"/>
                <a:cs typeface="Times New Roman"/>
              </a:rPr>
              <a:t>Develop</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MongoDB-based</a:t>
            </a:r>
            <a:r>
              <a:rPr sz="1200" spc="-10" dirty="0">
                <a:latin typeface="Times New Roman"/>
                <a:cs typeface="Times New Roman"/>
              </a:rPr>
              <a:t> </a:t>
            </a:r>
            <a:r>
              <a:rPr sz="1200" dirty="0">
                <a:latin typeface="Times New Roman"/>
                <a:cs typeface="Times New Roman"/>
              </a:rPr>
              <a:t>database</a:t>
            </a:r>
            <a:r>
              <a:rPr sz="1200" spc="-15" dirty="0">
                <a:latin typeface="Times New Roman"/>
                <a:cs typeface="Times New Roman"/>
              </a:rPr>
              <a:t> </a:t>
            </a:r>
            <a:r>
              <a:rPr sz="1200" dirty="0">
                <a:latin typeface="Times New Roman"/>
                <a:cs typeface="Times New Roman"/>
              </a:rPr>
              <a:t>system</a:t>
            </a:r>
            <a:r>
              <a:rPr sz="1200"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store property</a:t>
            </a:r>
            <a:r>
              <a:rPr sz="1200" spc="-40" dirty="0">
                <a:latin typeface="Times New Roman"/>
                <a:cs typeface="Times New Roman"/>
              </a:rPr>
              <a:t> </a:t>
            </a:r>
            <a:r>
              <a:rPr sz="1200" spc="-10" dirty="0">
                <a:latin typeface="Times New Roman"/>
                <a:cs typeface="Times New Roman"/>
              </a:rPr>
              <a:t>details,</a:t>
            </a:r>
            <a:r>
              <a:rPr sz="1200" spc="-30" dirty="0">
                <a:latin typeface="Times New Roman"/>
                <a:cs typeface="Times New Roman"/>
              </a:rPr>
              <a:t> </a:t>
            </a:r>
            <a:r>
              <a:rPr sz="1200" spc="-10" dirty="0">
                <a:latin typeface="Times New Roman"/>
                <a:cs typeface="Times New Roman"/>
              </a:rPr>
              <a:t>user</a:t>
            </a:r>
            <a:r>
              <a:rPr sz="1200" spc="-45" dirty="0">
                <a:latin typeface="Times New Roman"/>
                <a:cs typeface="Times New Roman"/>
              </a:rPr>
              <a:t> </a:t>
            </a:r>
            <a:r>
              <a:rPr sz="1200" spc="-10" dirty="0">
                <a:latin typeface="Times New Roman"/>
                <a:cs typeface="Times New Roman"/>
              </a:rPr>
              <a:t>profiles,</a:t>
            </a:r>
            <a:r>
              <a:rPr sz="1200" spc="-35" dirty="0">
                <a:latin typeface="Times New Roman"/>
                <a:cs typeface="Times New Roman"/>
              </a:rPr>
              <a:t> </a:t>
            </a:r>
            <a:r>
              <a:rPr sz="1200" spc="-10" dirty="0">
                <a:latin typeface="Times New Roman"/>
                <a:cs typeface="Times New Roman"/>
              </a:rPr>
              <a:t>and</a:t>
            </a:r>
            <a:r>
              <a:rPr sz="1200" spc="-40" dirty="0">
                <a:latin typeface="Times New Roman"/>
                <a:cs typeface="Times New Roman"/>
              </a:rPr>
              <a:t> </a:t>
            </a:r>
            <a:r>
              <a:rPr sz="1200" spc="-10" dirty="0">
                <a:latin typeface="Times New Roman"/>
                <a:cs typeface="Times New Roman"/>
              </a:rPr>
              <a:t>bidding</a:t>
            </a:r>
            <a:r>
              <a:rPr sz="1200" spc="-40" dirty="0">
                <a:latin typeface="Times New Roman"/>
                <a:cs typeface="Times New Roman"/>
              </a:rPr>
              <a:t> </a:t>
            </a:r>
            <a:r>
              <a:rPr sz="1200" spc="-10" dirty="0">
                <a:latin typeface="Times New Roman"/>
                <a:cs typeface="Times New Roman"/>
              </a:rPr>
              <a:t>history,</a:t>
            </a:r>
            <a:r>
              <a:rPr sz="1200" spc="-45" dirty="0">
                <a:latin typeface="Times New Roman"/>
                <a:cs typeface="Times New Roman"/>
              </a:rPr>
              <a:t> </a:t>
            </a:r>
            <a:r>
              <a:rPr sz="1200" spc="-10" dirty="0">
                <a:latin typeface="Times New Roman"/>
                <a:cs typeface="Times New Roman"/>
              </a:rPr>
              <a:t>ensuring</a:t>
            </a:r>
            <a:r>
              <a:rPr sz="1200" spc="-35" dirty="0">
                <a:latin typeface="Times New Roman"/>
                <a:cs typeface="Times New Roman"/>
              </a:rPr>
              <a:t> </a:t>
            </a:r>
            <a:r>
              <a:rPr sz="1200" spc="-1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integrity</a:t>
            </a:r>
            <a:r>
              <a:rPr sz="1200" spc="-40" dirty="0">
                <a:latin typeface="Times New Roman"/>
                <a:cs typeface="Times New Roman"/>
              </a:rPr>
              <a:t> </a:t>
            </a:r>
            <a:r>
              <a:rPr sz="1200" spc="-10" dirty="0">
                <a:latin typeface="Times New Roman"/>
                <a:cs typeface="Times New Roman"/>
              </a:rPr>
              <a:t>and</a:t>
            </a:r>
            <a:r>
              <a:rPr sz="1200" spc="-40" dirty="0">
                <a:latin typeface="Times New Roman"/>
                <a:cs typeface="Times New Roman"/>
              </a:rPr>
              <a:t> </a:t>
            </a:r>
            <a:r>
              <a:rPr sz="1200" spc="-10" dirty="0">
                <a:latin typeface="Times New Roman"/>
                <a:cs typeface="Times New Roman"/>
              </a:rPr>
              <a:t>security.</a:t>
            </a:r>
            <a:endParaRPr sz="1200" dirty="0">
              <a:latin typeface="Times New Roman"/>
              <a:cs typeface="Times New Roman"/>
            </a:endParaRPr>
          </a:p>
          <a:p>
            <a:pPr marL="469265" marR="8255" indent="-228600">
              <a:lnSpc>
                <a:spcPct val="143300"/>
              </a:lnSpc>
              <a:spcBef>
                <a:spcPts val="10"/>
              </a:spcBef>
              <a:buAutoNum type="arabicPeriod" startAt="6"/>
              <a:tabLst>
                <a:tab pos="469265" algn="l"/>
              </a:tabLst>
            </a:pPr>
            <a:r>
              <a:rPr sz="1200" dirty="0">
                <a:latin typeface="Times New Roman"/>
                <a:cs typeface="Times New Roman"/>
              </a:rPr>
              <a:t>Testing</a:t>
            </a:r>
            <a:r>
              <a:rPr sz="1200" spc="204" dirty="0">
                <a:latin typeface="Times New Roman"/>
                <a:cs typeface="Times New Roman"/>
              </a:rPr>
              <a:t> </a:t>
            </a:r>
            <a:r>
              <a:rPr sz="1200" dirty="0">
                <a:latin typeface="Times New Roman"/>
                <a:cs typeface="Times New Roman"/>
              </a:rPr>
              <a:t>and</a:t>
            </a:r>
            <a:r>
              <a:rPr sz="1200" spc="204" dirty="0">
                <a:latin typeface="Times New Roman"/>
                <a:cs typeface="Times New Roman"/>
              </a:rPr>
              <a:t> </a:t>
            </a:r>
            <a:r>
              <a:rPr sz="1200" dirty="0">
                <a:latin typeface="Times New Roman"/>
                <a:cs typeface="Times New Roman"/>
              </a:rPr>
              <a:t>Validation</a:t>
            </a:r>
            <a:r>
              <a:rPr sz="1200" spc="195" dirty="0">
                <a:latin typeface="Times New Roman"/>
                <a:cs typeface="Times New Roman"/>
              </a:rPr>
              <a:t> </a:t>
            </a:r>
            <a:r>
              <a:rPr sz="1200" dirty="0">
                <a:latin typeface="Times New Roman"/>
                <a:cs typeface="Times New Roman"/>
              </a:rPr>
              <a:t>Reports:</a:t>
            </a:r>
            <a:r>
              <a:rPr sz="1200" spc="210" dirty="0">
                <a:latin typeface="Times New Roman"/>
                <a:cs typeface="Times New Roman"/>
              </a:rPr>
              <a:t> </a:t>
            </a:r>
            <a:r>
              <a:rPr sz="1200" dirty="0">
                <a:latin typeface="Times New Roman"/>
                <a:cs typeface="Times New Roman"/>
              </a:rPr>
              <a:t>Provide</a:t>
            </a:r>
            <a:r>
              <a:rPr sz="1200" spc="200" dirty="0">
                <a:latin typeface="Times New Roman"/>
                <a:cs typeface="Times New Roman"/>
              </a:rPr>
              <a:t> </a:t>
            </a:r>
            <a:r>
              <a:rPr sz="1200" dirty="0">
                <a:latin typeface="Times New Roman"/>
                <a:cs typeface="Times New Roman"/>
              </a:rPr>
              <a:t>detailed</a:t>
            </a:r>
            <a:r>
              <a:rPr sz="1200" spc="210" dirty="0">
                <a:latin typeface="Times New Roman"/>
                <a:cs typeface="Times New Roman"/>
              </a:rPr>
              <a:t> </a:t>
            </a:r>
            <a:r>
              <a:rPr sz="1200" dirty="0">
                <a:latin typeface="Times New Roman"/>
                <a:cs typeface="Times New Roman"/>
              </a:rPr>
              <a:t>reports</a:t>
            </a:r>
            <a:r>
              <a:rPr sz="1200" spc="204" dirty="0">
                <a:latin typeface="Times New Roman"/>
                <a:cs typeface="Times New Roman"/>
              </a:rPr>
              <a:t> </a:t>
            </a:r>
            <a:r>
              <a:rPr sz="1200" dirty="0">
                <a:latin typeface="Times New Roman"/>
                <a:cs typeface="Times New Roman"/>
              </a:rPr>
              <a:t>on</a:t>
            </a:r>
            <a:r>
              <a:rPr sz="1200" spc="204" dirty="0">
                <a:latin typeface="Times New Roman"/>
                <a:cs typeface="Times New Roman"/>
              </a:rPr>
              <a:t> </a:t>
            </a:r>
            <a:r>
              <a:rPr sz="1200" dirty="0">
                <a:latin typeface="Times New Roman"/>
                <a:cs typeface="Times New Roman"/>
              </a:rPr>
              <a:t>system</a:t>
            </a:r>
            <a:r>
              <a:rPr sz="1200" spc="210" dirty="0">
                <a:latin typeface="Times New Roman"/>
                <a:cs typeface="Times New Roman"/>
              </a:rPr>
              <a:t> </a:t>
            </a:r>
            <a:r>
              <a:rPr sz="1200" spc="-10" dirty="0">
                <a:latin typeface="Times New Roman"/>
                <a:cs typeface="Times New Roman"/>
              </a:rPr>
              <a:t>performance, </a:t>
            </a:r>
            <a:r>
              <a:rPr sz="1200" dirty="0">
                <a:latin typeface="Times New Roman"/>
                <a:cs typeface="Times New Roman"/>
              </a:rPr>
              <a:t>security,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AI</a:t>
            </a:r>
            <a:r>
              <a:rPr sz="1200" spc="-25" dirty="0">
                <a:latin typeface="Times New Roman"/>
                <a:cs typeface="Times New Roman"/>
              </a:rPr>
              <a:t> </a:t>
            </a:r>
            <a:r>
              <a:rPr sz="1200" dirty="0">
                <a:latin typeface="Times New Roman"/>
                <a:cs typeface="Times New Roman"/>
              </a:rPr>
              <a:t>model</a:t>
            </a:r>
            <a:r>
              <a:rPr sz="1200" spc="-30" dirty="0">
                <a:latin typeface="Times New Roman"/>
                <a:cs typeface="Times New Roman"/>
              </a:rPr>
              <a:t> </a:t>
            </a:r>
            <a:r>
              <a:rPr sz="1200" dirty="0">
                <a:latin typeface="Times New Roman"/>
                <a:cs typeface="Times New Roman"/>
              </a:rPr>
              <a:t>accuracy,</a:t>
            </a:r>
            <a:r>
              <a:rPr sz="1200" spc="-30" dirty="0">
                <a:latin typeface="Times New Roman"/>
                <a:cs typeface="Times New Roman"/>
              </a:rPr>
              <a:t> </a:t>
            </a:r>
            <a:r>
              <a:rPr sz="1200" dirty="0">
                <a:latin typeface="Times New Roman"/>
                <a:cs typeface="Times New Roman"/>
              </a:rPr>
              <a:t>ensuring</a:t>
            </a:r>
            <a:r>
              <a:rPr sz="1200" spc="-15" dirty="0">
                <a:latin typeface="Times New Roman"/>
                <a:cs typeface="Times New Roman"/>
              </a:rPr>
              <a:t> </a:t>
            </a:r>
            <a:r>
              <a:rPr sz="1200" dirty="0">
                <a:latin typeface="Times New Roman"/>
                <a:cs typeface="Times New Roman"/>
              </a:rPr>
              <a:t>reliability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compliance.</a:t>
            </a:r>
            <a:endParaRPr sz="1200" dirty="0">
              <a:latin typeface="Times New Roman"/>
              <a:cs typeface="Times New Roman"/>
            </a:endParaRPr>
          </a:p>
          <a:p>
            <a:pPr marL="469265" marR="5715" indent="-228600">
              <a:lnSpc>
                <a:spcPct val="143500"/>
              </a:lnSpc>
              <a:spcBef>
                <a:spcPts val="10"/>
              </a:spcBef>
              <a:buAutoNum type="arabicPeriod" startAt="6"/>
              <a:tabLst>
                <a:tab pos="469265" algn="l"/>
              </a:tabLst>
            </a:pP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spc="-10" dirty="0">
                <a:latin typeface="Times New Roman"/>
                <a:cs typeface="Times New Roman"/>
              </a:rPr>
              <a:t>Resources:</a:t>
            </a:r>
            <a:r>
              <a:rPr sz="1200" spc="-20" dirty="0">
                <a:latin typeface="Times New Roman"/>
                <a:cs typeface="Times New Roman"/>
              </a:rPr>
              <a:t> </a:t>
            </a:r>
            <a:r>
              <a:rPr sz="1200" spc="-10" dirty="0">
                <a:latin typeface="Times New Roman"/>
                <a:cs typeface="Times New Roman"/>
              </a:rPr>
              <a:t>Develop</a:t>
            </a:r>
            <a:r>
              <a:rPr sz="1200" spc="-15" dirty="0">
                <a:latin typeface="Times New Roman"/>
                <a:cs typeface="Times New Roman"/>
              </a:rPr>
              <a:t> </a:t>
            </a:r>
            <a:r>
              <a:rPr sz="1200" spc="-10" dirty="0">
                <a:latin typeface="Times New Roman"/>
                <a:cs typeface="Times New Roman"/>
              </a:rPr>
              <a:t>comprehensive</a:t>
            </a:r>
            <a:r>
              <a:rPr sz="1200" spc="-15" dirty="0">
                <a:latin typeface="Times New Roman"/>
                <a:cs typeface="Times New Roman"/>
              </a:rPr>
              <a:t> </a:t>
            </a:r>
            <a:r>
              <a:rPr sz="1200" spc="-10" dirty="0">
                <a:latin typeface="Times New Roman"/>
                <a:cs typeface="Times New Roman"/>
              </a:rPr>
              <a:t>documentation,</a:t>
            </a:r>
            <a:r>
              <a:rPr sz="1200" spc="-25" dirty="0">
                <a:latin typeface="Times New Roman"/>
                <a:cs typeface="Times New Roman"/>
              </a:rPr>
              <a:t> </a:t>
            </a:r>
            <a:r>
              <a:rPr sz="1200" dirty="0">
                <a:latin typeface="Times New Roman"/>
                <a:cs typeface="Times New Roman"/>
              </a:rPr>
              <a:t>FAQs,</a:t>
            </a:r>
            <a:r>
              <a:rPr sz="1200" spc="-1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tutorials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assist</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understanding</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process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platform</a:t>
            </a:r>
            <a:r>
              <a:rPr sz="1200" spc="-25" dirty="0">
                <a:latin typeface="Times New Roman"/>
                <a:cs typeface="Times New Roman"/>
              </a:rPr>
              <a:t> </a:t>
            </a:r>
            <a:r>
              <a:rPr sz="1200" spc="-10" dirty="0">
                <a:latin typeface="Times New Roman"/>
                <a:cs typeface="Times New Roman"/>
              </a:rPr>
              <a:t>features.</a:t>
            </a:r>
            <a:endParaRPr sz="1200" dirty="0">
              <a:latin typeface="Times New Roman"/>
              <a:cs typeface="Times New Roman"/>
            </a:endParaRPr>
          </a:p>
          <a:p>
            <a:pPr>
              <a:lnSpc>
                <a:spcPct val="100000"/>
              </a:lnSpc>
              <a:spcBef>
                <a:spcPts val="35"/>
              </a:spcBef>
              <a:buFont typeface="Times New Roman"/>
              <a:buAutoNum type="arabicPeriod" startAt="6"/>
            </a:pPr>
            <a:endParaRPr sz="1200" dirty="0">
              <a:latin typeface="Times New Roman"/>
              <a:cs typeface="Times New Roman"/>
            </a:endParaRPr>
          </a:p>
          <a:p>
            <a:pPr marL="12700" marR="8255" algn="just">
              <a:lnSpc>
                <a:spcPct val="143300"/>
              </a:lnSpc>
            </a:pPr>
            <a:r>
              <a:rPr sz="1200" dirty="0">
                <a:latin typeface="Times New Roman"/>
                <a:cs typeface="Times New Roman"/>
              </a:rPr>
              <a:t>By</a:t>
            </a:r>
            <a:r>
              <a:rPr sz="1200" spc="-35" dirty="0">
                <a:latin typeface="Times New Roman"/>
                <a:cs typeface="Times New Roman"/>
              </a:rPr>
              <a:t> </a:t>
            </a:r>
            <a:r>
              <a:rPr sz="1200" spc="-10" dirty="0">
                <a:latin typeface="Times New Roman"/>
                <a:cs typeface="Times New Roman"/>
              </a:rPr>
              <a:t>delivering</a:t>
            </a:r>
            <a:r>
              <a:rPr sz="1200" spc="-35" dirty="0">
                <a:latin typeface="Times New Roman"/>
                <a:cs typeface="Times New Roman"/>
              </a:rPr>
              <a:t> </a:t>
            </a:r>
            <a:r>
              <a:rPr sz="1200" spc="-10" dirty="0">
                <a:latin typeface="Times New Roman"/>
                <a:cs typeface="Times New Roman"/>
              </a:rPr>
              <a:t>these</a:t>
            </a:r>
            <a:r>
              <a:rPr sz="1200" spc="-40" dirty="0">
                <a:latin typeface="Times New Roman"/>
                <a:cs typeface="Times New Roman"/>
              </a:rPr>
              <a:t> </a:t>
            </a:r>
            <a:r>
              <a:rPr sz="1200" dirty="0">
                <a:latin typeface="Times New Roman"/>
                <a:cs typeface="Times New Roman"/>
              </a:rPr>
              <a:t>key</a:t>
            </a:r>
            <a:r>
              <a:rPr sz="1200" spc="-35" dirty="0">
                <a:latin typeface="Times New Roman"/>
                <a:cs typeface="Times New Roman"/>
              </a:rPr>
              <a:t> </a:t>
            </a:r>
            <a:r>
              <a:rPr sz="1200" spc="-10" dirty="0">
                <a:latin typeface="Times New Roman"/>
                <a:cs typeface="Times New Roman"/>
              </a:rPr>
              <a:t>components,</a:t>
            </a:r>
            <a:r>
              <a:rPr sz="1200" spc="-35" dirty="0">
                <a:latin typeface="Times New Roman"/>
                <a:cs typeface="Times New Roman"/>
              </a:rPr>
              <a:t> </a:t>
            </a:r>
            <a:r>
              <a:rPr sz="1200" spc="-10" dirty="0">
                <a:latin typeface="Times New Roman"/>
                <a:cs typeface="Times New Roman"/>
              </a:rPr>
              <a:t>Auction</a:t>
            </a:r>
            <a:r>
              <a:rPr sz="1200" spc="-35" dirty="0">
                <a:latin typeface="Times New Roman"/>
                <a:cs typeface="Times New Roman"/>
              </a:rPr>
              <a:t> </a:t>
            </a:r>
            <a:r>
              <a:rPr sz="1200" spc="-10" dirty="0">
                <a:latin typeface="Times New Roman"/>
                <a:cs typeface="Times New Roman"/>
              </a:rPr>
              <a:t>Abode</a:t>
            </a:r>
            <a:r>
              <a:rPr sz="1200" spc="-40" dirty="0">
                <a:latin typeface="Times New Roman"/>
                <a:cs typeface="Times New Roman"/>
              </a:rPr>
              <a:t> </a:t>
            </a:r>
            <a:r>
              <a:rPr sz="1200" dirty="0">
                <a:latin typeface="Times New Roman"/>
                <a:cs typeface="Times New Roman"/>
              </a:rPr>
              <a:t>aims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10" dirty="0">
                <a:latin typeface="Times New Roman"/>
                <a:cs typeface="Times New Roman"/>
              </a:rPr>
              <a:t>enhance</a:t>
            </a:r>
            <a:r>
              <a:rPr sz="1200" spc="-40" dirty="0">
                <a:latin typeface="Times New Roman"/>
                <a:cs typeface="Times New Roman"/>
              </a:rPr>
              <a:t> </a:t>
            </a:r>
            <a:r>
              <a:rPr sz="1200" spc="-10" dirty="0">
                <a:latin typeface="Times New Roman"/>
                <a:cs typeface="Times New Roman"/>
              </a:rPr>
              <a:t>efficiency,</a:t>
            </a:r>
            <a:r>
              <a:rPr sz="1200" spc="-35" dirty="0">
                <a:latin typeface="Times New Roman"/>
                <a:cs typeface="Times New Roman"/>
              </a:rPr>
              <a:t> </a:t>
            </a:r>
            <a:r>
              <a:rPr sz="1200" spc="-10" dirty="0">
                <a:latin typeface="Times New Roman"/>
                <a:cs typeface="Times New Roman"/>
              </a:rPr>
              <a:t>security,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trust</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online</a:t>
            </a:r>
            <a:r>
              <a:rPr sz="1200" spc="-30" dirty="0">
                <a:latin typeface="Times New Roman"/>
                <a:cs typeface="Times New Roman"/>
              </a:rPr>
              <a:t> </a:t>
            </a:r>
            <a:r>
              <a:rPr sz="1200" dirty="0">
                <a:latin typeface="Times New Roman"/>
                <a:cs typeface="Times New Roman"/>
              </a:rPr>
              <a:t>real</a:t>
            </a:r>
            <a:r>
              <a:rPr sz="1200" spc="-30" dirty="0">
                <a:latin typeface="Times New Roman"/>
                <a:cs typeface="Times New Roman"/>
              </a:rPr>
              <a:t> </a:t>
            </a:r>
            <a:r>
              <a:rPr sz="1200" dirty="0">
                <a:latin typeface="Times New Roman"/>
                <a:cs typeface="Times New Roman"/>
              </a:rPr>
              <a:t>estate</a:t>
            </a:r>
            <a:r>
              <a:rPr sz="1200" spc="-20" dirty="0">
                <a:latin typeface="Times New Roman"/>
                <a:cs typeface="Times New Roman"/>
              </a:rPr>
              <a:t> </a:t>
            </a:r>
            <a:r>
              <a:rPr sz="1200" dirty="0">
                <a:latin typeface="Times New Roman"/>
                <a:cs typeface="Times New Roman"/>
              </a:rPr>
              <a:t>auctions,</a:t>
            </a:r>
            <a:r>
              <a:rPr sz="1200" spc="-20" dirty="0">
                <a:latin typeface="Times New Roman"/>
                <a:cs typeface="Times New Roman"/>
              </a:rPr>
              <a:t> </a:t>
            </a:r>
            <a:r>
              <a:rPr sz="1200" dirty="0">
                <a:latin typeface="Times New Roman"/>
                <a:cs typeface="Times New Roman"/>
              </a:rPr>
              <a:t>fostering</a:t>
            </a:r>
            <a:r>
              <a:rPr sz="1200" spc="-2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seamless</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fair</a:t>
            </a:r>
            <a:r>
              <a:rPr sz="1200" spc="-25" dirty="0">
                <a:latin typeface="Times New Roman"/>
                <a:cs typeface="Times New Roman"/>
              </a:rPr>
              <a:t> </a:t>
            </a:r>
            <a:r>
              <a:rPr sz="1200" dirty="0">
                <a:latin typeface="Times New Roman"/>
                <a:cs typeface="Times New Roman"/>
              </a:rPr>
              <a:t>bidding</a:t>
            </a:r>
            <a:r>
              <a:rPr sz="1200" spc="-30" dirty="0">
                <a:latin typeface="Times New Roman"/>
                <a:cs typeface="Times New Roman"/>
              </a:rPr>
              <a:t> </a:t>
            </a:r>
            <a:r>
              <a:rPr sz="1200" spc="-10" dirty="0">
                <a:latin typeface="Times New Roman"/>
                <a:cs typeface="Times New Roman"/>
              </a:rPr>
              <a:t>experience.</a:t>
            </a:r>
            <a:endParaRPr lang="en-US" sz="1200" spc="-10" dirty="0">
              <a:latin typeface="Times New Roman"/>
              <a:cs typeface="Times New Roman"/>
            </a:endParaRPr>
          </a:p>
          <a:p>
            <a:pPr marL="12700" marR="8255" algn="just">
              <a:lnSpc>
                <a:spcPct val="143300"/>
              </a:lnSpc>
            </a:pPr>
            <a:endParaRPr lang="en-US" sz="1200" b="1" spc="-10" dirty="0">
              <a:latin typeface="Times New Roman"/>
              <a:cs typeface="Times New Roman"/>
            </a:endParaRPr>
          </a:p>
          <a:p>
            <a:pPr marL="298450" marR="8255" indent="-285750" algn="just">
              <a:lnSpc>
                <a:spcPct val="143300"/>
              </a:lnSpc>
              <a:buFont typeface="Arial" panose="020B0604020202020204" pitchFamily="34" charset="0"/>
              <a:buChar char="•"/>
            </a:pPr>
            <a:r>
              <a:rPr sz="1400" b="1" dirty="0">
                <a:latin typeface="Times New Roman"/>
                <a:cs typeface="Times New Roman"/>
              </a:rPr>
              <a:t>Development</a:t>
            </a:r>
            <a:r>
              <a:rPr sz="1400" b="1" spc="-60" dirty="0">
                <a:latin typeface="Times New Roman"/>
                <a:cs typeface="Times New Roman"/>
              </a:rPr>
              <a:t> </a:t>
            </a:r>
            <a:r>
              <a:rPr sz="1400" b="1" spc="-10" dirty="0">
                <a:latin typeface="Times New Roman"/>
                <a:cs typeface="Times New Roman"/>
              </a:rPr>
              <a:t>Requirements</a:t>
            </a:r>
            <a:endParaRPr sz="1400" dirty="0">
              <a:latin typeface="Times New Roman"/>
              <a:cs typeface="Times New Roman"/>
            </a:endParaRPr>
          </a:p>
          <a:p>
            <a:pPr marL="12700" marR="7620" algn="just">
              <a:lnSpc>
                <a:spcPct val="143400"/>
              </a:lnSpc>
              <a:spcBef>
                <a:spcPts val="715"/>
              </a:spcBef>
            </a:pPr>
            <a:r>
              <a:rPr sz="1200" dirty="0">
                <a:latin typeface="Times New Roman"/>
                <a:cs typeface="Times New Roman"/>
              </a:rPr>
              <a:t>The</a:t>
            </a:r>
            <a:r>
              <a:rPr sz="1200" spc="295" dirty="0">
                <a:latin typeface="Times New Roman"/>
                <a:cs typeface="Times New Roman"/>
              </a:rPr>
              <a:t> </a:t>
            </a:r>
            <a:r>
              <a:rPr sz="1200" dirty="0">
                <a:latin typeface="Times New Roman"/>
                <a:cs typeface="Times New Roman"/>
              </a:rPr>
              <a:t>development</a:t>
            </a:r>
            <a:r>
              <a:rPr sz="1200" spc="315" dirty="0">
                <a:latin typeface="Times New Roman"/>
                <a:cs typeface="Times New Roman"/>
              </a:rPr>
              <a:t> </a:t>
            </a:r>
            <a:r>
              <a:rPr sz="1200" dirty="0">
                <a:latin typeface="Times New Roman"/>
                <a:cs typeface="Times New Roman"/>
              </a:rPr>
              <a:t>requirements</a:t>
            </a:r>
            <a:r>
              <a:rPr sz="1200" spc="305" dirty="0">
                <a:latin typeface="Times New Roman"/>
                <a:cs typeface="Times New Roman"/>
              </a:rPr>
              <a:t> </a:t>
            </a:r>
            <a:r>
              <a:rPr sz="1200" dirty="0">
                <a:latin typeface="Times New Roman"/>
                <a:cs typeface="Times New Roman"/>
              </a:rPr>
              <a:t>outline</a:t>
            </a:r>
            <a:r>
              <a:rPr sz="1200" spc="295" dirty="0">
                <a:latin typeface="Times New Roman"/>
                <a:cs typeface="Times New Roman"/>
              </a:rPr>
              <a:t> </a:t>
            </a:r>
            <a:r>
              <a:rPr sz="1200" dirty="0">
                <a:latin typeface="Times New Roman"/>
                <a:cs typeface="Times New Roman"/>
              </a:rPr>
              <a:t>the</a:t>
            </a:r>
            <a:r>
              <a:rPr sz="1200" spc="300" dirty="0">
                <a:latin typeface="Times New Roman"/>
                <a:cs typeface="Times New Roman"/>
              </a:rPr>
              <a:t> </a:t>
            </a:r>
            <a:r>
              <a:rPr sz="1200" dirty="0">
                <a:latin typeface="Times New Roman"/>
                <a:cs typeface="Times New Roman"/>
              </a:rPr>
              <a:t>technical</a:t>
            </a:r>
            <a:r>
              <a:rPr sz="1200" spc="300" dirty="0">
                <a:latin typeface="Times New Roman"/>
                <a:cs typeface="Times New Roman"/>
              </a:rPr>
              <a:t> </a:t>
            </a:r>
            <a:r>
              <a:rPr sz="1200" dirty="0">
                <a:latin typeface="Times New Roman"/>
                <a:cs typeface="Times New Roman"/>
              </a:rPr>
              <a:t>specifications</a:t>
            </a:r>
            <a:r>
              <a:rPr sz="1200" spc="300" dirty="0">
                <a:latin typeface="Times New Roman"/>
                <a:cs typeface="Times New Roman"/>
              </a:rPr>
              <a:t> </a:t>
            </a:r>
            <a:r>
              <a:rPr sz="1200" dirty="0">
                <a:latin typeface="Times New Roman"/>
                <a:cs typeface="Times New Roman"/>
              </a:rPr>
              <a:t>and</a:t>
            </a:r>
            <a:r>
              <a:rPr sz="1200" spc="315" dirty="0">
                <a:latin typeface="Times New Roman"/>
                <a:cs typeface="Times New Roman"/>
              </a:rPr>
              <a:t> </a:t>
            </a:r>
            <a:r>
              <a:rPr sz="1200" dirty="0">
                <a:latin typeface="Times New Roman"/>
                <a:cs typeface="Times New Roman"/>
              </a:rPr>
              <a:t>constraints</a:t>
            </a:r>
            <a:r>
              <a:rPr sz="1200" spc="300" dirty="0">
                <a:latin typeface="Times New Roman"/>
                <a:cs typeface="Times New Roman"/>
              </a:rPr>
              <a:t> </a:t>
            </a:r>
            <a:r>
              <a:rPr sz="1200" spc="-20" dirty="0">
                <a:latin typeface="Times New Roman"/>
                <a:cs typeface="Times New Roman"/>
              </a:rPr>
              <a:t>that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Abode"</a:t>
            </a:r>
            <a:r>
              <a:rPr sz="1200" spc="35" dirty="0">
                <a:latin typeface="Times New Roman"/>
                <a:cs typeface="Times New Roman"/>
              </a:rPr>
              <a:t> </a:t>
            </a:r>
            <a:r>
              <a:rPr sz="1200" dirty="0">
                <a:latin typeface="Times New Roman"/>
                <a:cs typeface="Times New Roman"/>
              </a:rPr>
              <a:t>must</a:t>
            </a:r>
            <a:r>
              <a:rPr sz="1200" spc="45" dirty="0">
                <a:latin typeface="Times New Roman"/>
                <a:cs typeface="Times New Roman"/>
              </a:rPr>
              <a:t> </a:t>
            </a:r>
            <a:r>
              <a:rPr sz="1200" dirty="0">
                <a:latin typeface="Times New Roman"/>
                <a:cs typeface="Times New Roman"/>
              </a:rPr>
              <a:t>meet</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ensure</a:t>
            </a:r>
            <a:r>
              <a:rPr sz="1200" spc="20"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effective</a:t>
            </a:r>
            <a:r>
              <a:rPr sz="1200" spc="2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reliable</a:t>
            </a:r>
            <a:r>
              <a:rPr sz="1200" spc="35" dirty="0">
                <a:latin typeface="Times New Roman"/>
                <a:cs typeface="Times New Roman"/>
              </a:rPr>
              <a:t> </a:t>
            </a:r>
            <a:r>
              <a:rPr sz="1200" dirty="0">
                <a:latin typeface="Times New Roman"/>
                <a:cs typeface="Times New Roman"/>
              </a:rPr>
              <a:t>real</a:t>
            </a:r>
            <a:r>
              <a:rPr sz="1200" spc="45" dirty="0">
                <a:latin typeface="Times New Roman"/>
                <a:cs typeface="Times New Roman"/>
              </a:rPr>
              <a:t> </a:t>
            </a:r>
            <a:r>
              <a:rPr sz="1200" dirty="0">
                <a:latin typeface="Times New Roman"/>
                <a:cs typeface="Times New Roman"/>
              </a:rPr>
              <a:t>estate</a:t>
            </a:r>
            <a:r>
              <a:rPr sz="1200" spc="20"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platform. </a:t>
            </a:r>
            <a:r>
              <a:rPr sz="1200" dirty="0">
                <a:latin typeface="Times New Roman"/>
                <a:cs typeface="Times New Roman"/>
              </a:rPr>
              <a:t>These</a:t>
            </a:r>
            <a:r>
              <a:rPr sz="1200" spc="-35" dirty="0">
                <a:latin typeface="Times New Roman"/>
                <a:cs typeface="Times New Roman"/>
              </a:rPr>
              <a:t> </a:t>
            </a:r>
            <a:r>
              <a:rPr sz="1200" dirty="0">
                <a:latin typeface="Times New Roman"/>
                <a:cs typeface="Times New Roman"/>
              </a:rPr>
              <a:t>requirements</a:t>
            </a:r>
            <a:r>
              <a:rPr sz="1200" spc="-30" dirty="0">
                <a:latin typeface="Times New Roman"/>
                <a:cs typeface="Times New Roman"/>
              </a:rPr>
              <a:t> </a:t>
            </a:r>
            <a:r>
              <a:rPr sz="1200" dirty="0">
                <a:latin typeface="Times New Roman"/>
                <a:cs typeface="Times New Roman"/>
              </a:rPr>
              <a:t>serve</a:t>
            </a:r>
            <a:r>
              <a:rPr sz="1200" spc="-25"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foundation</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design</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a:lnSpc>
                <a:spcPct val="100000"/>
              </a:lnSpc>
              <a:spcBef>
                <a:spcPts val="660"/>
              </a:spcBef>
            </a:pPr>
            <a:endParaRPr sz="1200" dirty="0">
              <a:latin typeface="Times New Roman"/>
              <a:cs typeface="Times New Roman"/>
            </a:endParaRPr>
          </a:p>
          <a:p>
            <a:pPr marL="12700" algn="just">
              <a:lnSpc>
                <a:spcPct val="100000"/>
              </a:lnSpc>
            </a:pPr>
            <a:r>
              <a:rPr sz="1200" spc="-1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requirements</a:t>
            </a:r>
            <a:r>
              <a:rPr sz="1200" spc="-15" dirty="0">
                <a:latin typeface="Times New Roman"/>
                <a:cs typeface="Times New Roman"/>
              </a:rPr>
              <a:t> </a:t>
            </a:r>
            <a:r>
              <a:rPr sz="1200" spc="-10" dirty="0">
                <a:latin typeface="Times New Roman"/>
                <a:cs typeface="Times New Roman"/>
              </a:rPr>
              <a:t>include:</a:t>
            </a:r>
            <a:endParaRPr sz="1200" dirty="0">
              <a:latin typeface="Times New Roman"/>
              <a:cs typeface="Times New Roman"/>
            </a:endParaRPr>
          </a:p>
          <a:p>
            <a:pPr>
              <a:lnSpc>
                <a:spcPct val="100000"/>
              </a:lnSpc>
              <a:spcBef>
                <a:spcPts val="25"/>
              </a:spcBef>
            </a:pPr>
            <a:endParaRPr sz="1200" dirty="0">
              <a:latin typeface="Times New Roman"/>
              <a:cs typeface="Times New Roman"/>
            </a:endParaRPr>
          </a:p>
          <a:p>
            <a:pPr marL="469265" marR="5715" indent="-228600">
              <a:lnSpc>
                <a:spcPct val="143300"/>
              </a:lnSpc>
            </a:pPr>
            <a:r>
              <a:rPr sz="1200" dirty="0">
                <a:latin typeface="Times New Roman"/>
                <a:cs typeface="Times New Roman"/>
              </a:rPr>
              <a:t>1.</a:t>
            </a:r>
            <a:r>
              <a:rPr sz="1200" spc="12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415" dirty="0">
                <a:latin typeface="Times New Roman"/>
                <a:cs typeface="Times New Roman"/>
              </a:rPr>
              <a:t> </a:t>
            </a:r>
            <a:r>
              <a:rPr sz="1200" dirty="0">
                <a:latin typeface="Times New Roman"/>
                <a:cs typeface="Times New Roman"/>
              </a:rPr>
              <a:t>Performance:</a:t>
            </a:r>
            <a:r>
              <a:rPr sz="1200" spc="420" dirty="0">
                <a:latin typeface="Times New Roman"/>
                <a:cs typeface="Times New Roman"/>
              </a:rPr>
              <a:t> </a:t>
            </a:r>
            <a:r>
              <a:rPr sz="1200" dirty="0">
                <a:latin typeface="Times New Roman"/>
                <a:cs typeface="Times New Roman"/>
              </a:rPr>
              <a:t>Implement</a:t>
            </a:r>
            <a:r>
              <a:rPr sz="1200" spc="430" dirty="0">
                <a:latin typeface="Times New Roman"/>
                <a:cs typeface="Times New Roman"/>
              </a:rPr>
              <a:t> </a:t>
            </a:r>
            <a:r>
              <a:rPr sz="1200" dirty="0">
                <a:latin typeface="Times New Roman"/>
                <a:cs typeface="Times New Roman"/>
              </a:rPr>
              <a:t>WebSocket’s</a:t>
            </a:r>
            <a:r>
              <a:rPr sz="1200" spc="415" dirty="0">
                <a:latin typeface="Times New Roman"/>
                <a:cs typeface="Times New Roman"/>
              </a:rPr>
              <a:t> </a:t>
            </a:r>
            <a:r>
              <a:rPr sz="1200" dirty="0">
                <a:latin typeface="Times New Roman"/>
                <a:cs typeface="Times New Roman"/>
              </a:rPr>
              <a:t>to</a:t>
            </a:r>
            <a:r>
              <a:rPr sz="1200" spc="420" dirty="0">
                <a:latin typeface="Times New Roman"/>
                <a:cs typeface="Times New Roman"/>
              </a:rPr>
              <a:t> </a:t>
            </a:r>
            <a:r>
              <a:rPr sz="1200" dirty="0">
                <a:latin typeface="Times New Roman"/>
                <a:cs typeface="Times New Roman"/>
              </a:rPr>
              <a:t>support</a:t>
            </a:r>
            <a:r>
              <a:rPr sz="1200" spc="405" dirty="0">
                <a:latin typeface="Times New Roman"/>
                <a:cs typeface="Times New Roman"/>
              </a:rPr>
              <a:t> </a:t>
            </a:r>
            <a:r>
              <a:rPr sz="1200" dirty="0">
                <a:latin typeface="Times New Roman"/>
                <a:cs typeface="Times New Roman"/>
              </a:rPr>
              <a:t>instantaneous</a:t>
            </a:r>
            <a:r>
              <a:rPr sz="1200" spc="415" dirty="0">
                <a:latin typeface="Times New Roman"/>
                <a:cs typeface="Times New Roman"/>
              </a:rPr>
              <a:t> </a:t>
            </a:r>
            <a:r>
              <a:rPr sz="1200" spc="-25" dirty="0">
                <a:latin typeface="Times New Roman"/>
                <a:cs typeface="Times New Roman"/>
              </a:rPr>
              <a:t>bid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ensuring</a:t>
            </a:r>
            <a:r>
              <a:rPr sz="1200" spc="-25" dirty="0">
                <a:latin typeface="Times New Roman"/>
                <a:cs typeface="Times New Roman"/>
              </a:rPr>
              <a:t> </a:t>
            </a:r>
            <a:r>
              <a:rPr sz="1200" spc="-10" dirty="0">
                <a:latin typeface="Times New Roman"/>
                <a:cs typeface="Times New Roman"/>
              </a:rPr>
              <a:t>high-</a:t>
            </a:r>
            <a:r>
              <a:rPr sz="1200" dirty="0">
                <a:latin typeface="Times New Roman"/>
                <a:cs typeface="Times New Roman"/>
              </a:rPr>
              <a:t>speed,</a:t>
            </a:r>
            <a:r>
              <a:rPr sz="1200" spc="-20" dirty="0">
                <a:latin typeface="Times New Roman"/>
                <a:cs typeface="Times New Roman"/>
              </a:rPr>
              <a:t> </a:t>
            </a:r>
            <a:r>
              <a:rPr sz="1200" dirty="0">
                <a:latin typeface="Times New Roman"/>
                <a:cs typeface="Times New Roman"/>
              </a:rPr>
              <a:t>scalable</a:t>
            </a:r>
            <a:r>
              <a:rPr sz="1200" spc="-25" dirty="0">
                <a:latin typeface="Times New Roman"/>
                <a:cs typeface="Times New Roman"/>
              </a:rPr>
              <a:t> </a:t>
            </a:r>
            <a:r>
              <a:rPr sz="1200" dirty="0">
                <a:latin typeface="Times New Roman"/>
                <a:cs typeface="Times New Roman"/>
              </a:rPr>
              <a:t>bid</a:t>
            </a:r>
            <a:r>
              <a:rPr sz="1200" spc="-20" dirty="0">
                <a:latin typeface="Times New Roman"/>
                <a:cs typeface="Times New Roman"/>
              </a:rPr>
              <a:t> </a:t>
            </a:r>
            <a:r>
              <a:rPr sz="1200" spc="-10" dirty="0">
                <a:latin typeface="Times New Roman"/>
                <a:cs typeface="Times New Roman"/>
              </a:rPr>
              <a:t>processing.</a:t>
            </a:r>
            <a:endParaRPr sz="120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13</a:t>
            </a:r>
          </a:p>
        </p:txBody>
      </p:sp>
      <p:sp>
        <p:nvSpPr>
          <p:cNvPr id="2" name="object 2"/>
          <p:cNvSpPr txBox="1"/>
          <p:nvPr/>
        </p:nvSpPr>
        <p:spPr>
          <a:xfrm>
            <a:off x="1176324" y="812037"/>
            <a:ext cx="5695950" cy="4675126"/>
          </a:xfrm>
          <a:prstGeom prst="rect">
            <a:avLst/>
          </a:prstGeom>
        </p:spPr>
        <p:txBody>
          <a:bodyPr vert="horz" wrap="square" lIns="0" tIns="12700" rIns="0" bIns="0" rtlCol="0">
            <a:spAutoFit/>
          </a:bodyPr>
          <a:lstStyle/>
          <a:p>
            <a:pPr marL="469265" marR="9525" indent="-228600" algn="just">
              <a:lnSpc>
                <a:spcPct val="143700"/>
              </a:lnSpc>
              <a:spcBef>
                <a:spcPts val="5"/>
              </a:spcBef>
              <a:buAutoNum type="arabicPeriod" startAt="2"/>
              <a:tabLst>
                <a:tab pos="469265" algn="l"/>
              </a:tabLst>
            </a:pPr>
            <a:r>
              <a:rPr lang="en-US" sz="1200" dirty="0">
                <a:latin typeface="Times New Roman"/>
                <a:cs typeface="Times New Roman"/>
              </a:rPr>
              <a:t>Scalability</a:t>
            </a:r>
            <a:r>
              <a:rPr lang="en-US" sz="1200" spc="175" dirty="0">
                <a:latin typeface="Times New Roman"/>
                <a:cs typeface="Times New Roman"/>
              </a:rPr>
              <a:t> </a:t>
            </a:r>
            <a:r>
              <a:rPr lang="en-US" sz="1200" dirty="0">
                <a:latin typeface="Times New Roman"/>
                <a:cs typeface="Times New Roman"/>
              </a:rPr>
              <a:t>and</a:t>
            </a:r>
            <a:r>
              <a:rPr lang="en-US" sz="1200" spc="170" dirty="0">
                <a:latin typeface="Times New Roman"/>
                <a:cs typeface="Times New Roman"/>
              </a:rPr>
              <a:t> </a:t>
            </a:r>
            <a:r>
              <a:rPr lang="en-US" sz="1200" dirty="0">
                <a:latin typeface="Times New Roman"/>
                <a:cs typeface="Times New Roman"/>
              </a:rPr>
              <a:t>Reliability:</a:t>
            </a:r>
            <a:r>
              <a:rPr lang="en-US" sz="1200" spc="175" dirty="0">
                <a:latin typeface="Times New Roman"/>
                <a:cs typeface="Times New Roman"/>
              </a:rPr>
              <a:t> </a:t>
            </a:r>
            <a:r>
              <a:rPr lang="en-US" sz="1200" dirty="0">
                <a:latin typeface="Times New Roman"/>
                <a:cs typeface="Times New Roman"/>
              </a:rPr>
              <a:t>Design</a:t>
            </a:r>
            <a:r>
              <a:rPr lang="en-US" sz="1200" spc="175" dirty="0">
                <a:latin typeface="Times New Roman"/>
                <a:cs typeface="Times New Roman"/>
              </a:rPr>
              <a:t> </a:t>
            </a:r>
            <a:r>
              <a:rPr lang="en-US" sz="1200" dirty="0">
                <a:latin typeface="Times New Roman"/>
                <a:cs typeface="Times New Roman"/>
              </a:rPr>
              <a:t>the</a:t>
            </a:r>
            <a:r>
              <a:rPr lang="en-US" sz="1200" spc="175" dirty="0">
                <a:latin typeface="Times New Roman"/>
                <a:cs typeface="Times New Roman"/>
              </a:rPr>
              <a:t> </a:t>
            </a:r>
            <a:r>
              <a:rPr lang="en-US" sz="1200" dirty="0">
                <a:latin typeface="Times New Roman"/>
                <a:cs typeface="Times New Roman"/>
              </a:rPr>
              <a:t>system</a:t>
            </a:r>
            <a:r>
              <a:rPr lang="en-US" sz="1200" spc="175" dirty="0">
                <a:latin typeface="Times New Roman"/>
                <a:cs typeface="Times New Roman"/>
              </a:rPr>
              <a:t> </a:t>
            </a:r>
            <a:r>
              <a:rPr lang="en-US" sz="1200" dirty="0">
                <a:latin typeface="Times New Roman"/>
                <a:cs typeface="Times New Roman"/>
              </a:rPr>
              <a:t>to</a:t>
            </a:r>
            <a:r>
              <a:rPr lang="en-US" sz="1200" spc="170" dirty="0">
                <a:latin typeface="Times New Roman"/>
                <a:cs typeface="Times New Roman"/>
              </a:rPr>
              <a:t> </a:t>
            </a:r>
            <a:r>
              <a:rPr lang="en-US" sz="1200" dirty="0">
                <a:latin typeface="Times New Roman"/>
                <a:cs typeface="Times New Roman"/>
              </a:rPr>
              <a:t>handle</a:t>
            </a:r>
            <a:r>
              <a:rPr lang="en-US" sz="1200" spc="175" dirty="0">
                <a:latin typeface="Times New Roman"/>
                <a:cs typeface="Times New Roman"/>
              </a:rPr>
              <a:t> </a:t>
            </a:r>
            <a:r>
              <a:rPr lang="en-US" sz="1200" dirty="0">
                <a:latin typeface="Times New Roman"/>
                <a:cs typeface="Times New Roman"/>
              </a:rPr>
              <a:t>high</a:t>
            </a:r>
            <a:r>
              <a:rPr lang="en-US" sz="1200" spc="175" dirty="0">
                <a:latin typeface="Times New Roman"/>
                <a:cs typeface="Times New Roman"/>
              </a:rPr>
              <a:t> </a:t>
            </a:r>
            <a:r>
              <a:rPr lang="en-US" sz="1200" dirty="0">
                <a:latin typeface="Times New Roman"/>
                <a:cs typeface="Times New Roman"/>
              </a:rPr>
              <a:t>traffic</a:t>
            </a:r>
            <a:r>
              <a:rPr lang="en-US" sz="1200" spc="180" dirty="0">
                <a:latin typeface="Times New Roman"/>
                <a:cs typeface="Times New Roman"/>
              </a:rPr>
              <a:t> </a:t>
            </a:r>
            <a:r>
              <a:rPr lang="en-US" sz="1200" dirty="0">
                <a:latin typeface="Times New Roman"/>
                <a:cs typeface="Times New Roman"/>
              </a:rPr>
              <a:t>volumes</a:t>
            </a:r>
            <a:r>
              <a:rPr lang="en-US" sz="1200" spc="170" dirty="0">
                <a:latin typeface="Times New Roman"/>
                <a:cs typeface="Times New Roman"/>
              </a:rPr>
              <a:t> </a:t>
            </a:r>
            <a:r>
              <a:rPr lang="en-US" sz="1200" spc="-25" dirty="0">
                <a:latin typeface="Times New Roman"/>
                <a:cs typeface="Times New Roman"/>
              </a:rPr>
              <a:t>and </a:t>
            </a:r>
            <a:r>
              <a:rPr lang="en-US" sz="1200" dirty="0">
                <a:latin typeface="Times New Roman"/>
                <a:cs typeface="Times New Roman"/>
              </a:rPr>
              <a:t>multiple</a:t>
            </a:r>
            <a:r>
              <a:rPr lang="en-US" sz="1200" spc="35" dirty="0">
                <a:latin typeface="Times New Roman"/>
                <a:cs typeface="Times New Roman"/>
              </a:rPr>
              <a:t> </a:t>
            </a:r>
            <a:r>
              <a:rPr lang="en-US" sz="1200" dirty="0">
                <a:latin typeface="Times New Roman"/>
                <a:cs typeface="Times New Roman"/>
              </a:rPr>
              <a:t>concurrent</a:t>
            </a:r>
            <a:r>
              <a:rPr lang="en-US" sz="1200" spc="45" dirty="0">
                <a:latin typeface="Times New Roman"/>
                <a:cs typeface="Times New Roman"/>
              </a:rPr>
              <a:t> </a:t>
            </a:r>
            <a:r>
              <a:rPr lang="en-US" sz="1200" dirty="0">
                <a:latin typeface="Times New Roman"/>
                <a:cs typeface="Times New Roman"/>
              </a:rPr>
              <a:t>users,</a:t>
            </a:r>
            <a:r>
              <a:rPr lang="en-US" sz="1200" spc="45" dirty="0">
                <a:latin typeface="Times New Roman"/>
                <a:cs typeface="Times New Roman"/>
              </a:rPr>
              <a:t> </a:t>
            </a:r>
            <a:r>
              <a:rPr lang="en-US" sz="1200" dirty="0">
                <a:latin typeface="Times New Roman"/>
                <a:cs typeface="Times New Roman"/>
              </a:rPr>
              <a:t>ensuring</a:t>
            </a:r>
            <a:r>
              <a:rPr lang="en-US" sz="1200" spc="45" dirty="0">
                <a:latin typeface="Times New Roman"/>
                <a:cs typeface="Times New Roman"/>
              </a:rPr>
              <a:t> </a:t>
            </a:r>
            <a:r>
              <a:rPr lang="en-US" sz="1200" dirty="0">
                <a:latin typeface="Times New Roman"/>
                <a:cs typeface="Times New Roman"/>
              </a:rPr>
              <a:t>fast</a:t>
            </a:r>
            <a:r>
              <a:rPr lang="en-US" sz="1200" spc="45" dirty="0">
                <a:latin typeface="Times New Roman"/>
                <a:cs typeface="Times New Roman"/>
              </a:rPr>
              <a:t> </a:t>
            </a:r>
            <a:r>
              <a:rPr lang="en-US" sz="1200" dirty="0">
                <a:latin typeface="Times New Roman"/>
                <a:cs typeface="Times New Roman"/>
              </a:rPr>
              <a:t>and</a:t>
            </a:r>
            <a:r>
              <a:rPr lang="en-US" sz="1200" spc="40" dirty="0">
                <a:latin typeface="Times New Roman"/>
                <a:cs typeface="Times New Roman"/>
              </a:rPr>
              <a:t> </a:t>
            </a:r>
            <a:r>
              <a:rPr lang="en-US" sz="1200" dirty="0">
                <a:latin typeface="Times New Roman"/>
                <a:cs typeface="Times New Roman"/>
              </a:rPr>
              <a:t>stable</a:t>
            </a:r>
            <a:r>
              <a:rPr lang="en-US" sz="1200" spc="40" dirty="0">
                <a:latin typeface="Times New Roman"/>
                <a:cs typeface="Times New Roman"/>
              </a:rPr>
              <a:t> </a:t>
            </a:r>
            <a:r>
              <a:rPr lang="en-US" sz="1200" dirty="0">
                <a:latin typeface="Times New Roman"/>
                <a:cs typeface="Times New Roman"/>
              </a:rPr>
              <a:t>performance</a:t>
            </a:r>
            <a:r>
              <a:rPr lang="en-US" sz="1200" spc="40" dirty="0">
                <a:latin typeface="Times New Roman"/>
                <a:cs typeface="Times New Roman"/>
              </a:rPr>
              <a:t> </a:t>
            </a:r>
            <a:r>
              <a:rPr lang="en-US" sz="1200" dirty="0">
                <a:latin typeface="Times New Roman"/>
                <a:cs typeface="Times New Roman"/>
              </a:rPr>
              <a:t>during</a:t>
            </a:r>
            <a:r>
              <a:rPr lang="en-US" sz="1200" spc="40" dirty="0">
                <a:latin typeface="Times New Roman"/>
                <a:cs typeface="Times New Roman"/>
              </a:rPr>
              <a:t> </a:t>
            </a:r>
            <a:r>
              <a:rPr lang="en-US" sz="1200" dirty="0">
                <a:latin typeface="Times New Roman"/>
                <a:cs typeface="Times New Roman"/>
              </a:rPr>
              <a:t>peak</a:t>
            </a:r>
            <a:r>
              <a:rPr lang="en-US" sz="1200" spc="45" dirty="0">
                <a:latin typeface="Times New Roman"/>
                <a:cs typeface="Times New Roman"/>
              </a:rPr>
              <a:t> </a:t>
            </a:r>
            <a:r>
              <a:rPr lang="en-US" sz="1200" spc="-10" dirty="0">
                <a:latin typeface="Times New Roman"/>
                <a:cs typeface="Times New Roman"/>
              </a:rPr>
              <a:t>auction times.</a:t>
            </a:r>
            <a:endParaRPr lang="en-US" sz="1200" dirty="0">
              <a:latin typeface="Times New Roman"/>
              <a:cs typeface="Times New Roman"/>
            </a:endParaRPr>
          </a:p>
          <a:p>
            <a:pPr marL="469265" marR="10795" indent="-228600" algn="just">
              <a:lnSpc>
                <a:spcPts val="2080"/>
              </a:lnSpc>
              <a:spcBef>
                <a:spcPts val="160"/>
              </a:spcBef>
              <a:buAutoNum type="arabicPeriod" startAt="2"/>
              <a:tabLst>
                <a:tab pos="469265" algn="l"/>
              </a:tabLst>
            </a:pPr>
            <a:r>
              <a:rPr sz="1200" dirty="0">
                <a:latin typeface="Times New Roman"/>
                <a:cs typeface="Times New Roman"/>
              </a:rPr>
              <a:t>Data</a:t>
            </a:r>
            <a:r>
              <a:rPr sz="1200" spc="60" dirty="0">
                <a:latin typeface="Times New Roman"/>
                <a:cs typeface="Times New Roman"/>
              </a:rPr>
              <a:t> </a:t>
            </a:r>
            <a:r>
              <a:rPr sz="1200" dirty="0">
                <a:latin typeface="Times New Roman"/>
                <a:cs typeface="Times New Roman"/>
              </a:rPr>
              <a:t>Security</a:t>
            </a:r>
            <a:r>
              <a:rPr sz="1200" spc="70"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Privacy:</a:t>
            </a:r>
            <a:r>
              <a:rPr sz="1200" spc="70" dirty="0">
                <a:latin typeface="Times New Roman"/>
                <a:cs typeface="Times New Roman"/>
              </a:rPr>
              <a:t> </a:t>
            </a:r>
            <a:r>
              <a:rPr sz="1200" dirty="0">
                <a:latin typeface="Times New Roman"/>
                <a:cs typeface="Times New Roman"/>
              </a:rPr>
              <a:t>Utilize</a:t>
            </a:r>
            <a:r>
              <a:rPr sz="1200" spc="60" dirty="0">
                <a:latin typeface="Times New Roman"/>
                <a:cs typeface="Times New Roman"/>
              </a:rPr>
              <a:t> </a:t>
            </a:r>
            <a:r>
              <a:rPr sz="1200" dirty="0">
                <a:latin typeface="Times New Roman"/>
                <a:cs typeface="Times New Roman"/>
              </a:rPr>
              <a:t>JWT</a:t>
            </a:r>
            <a:r>
              <a:rPr sz="1200" spc="70" dirty="0">
                <a:latin typeface="Times New Roman"/>
                <a:cs typeface="Times New Roman"/>
              </a:rPr>
              <a:t> </a:t>
            </a:r>
            <a:r>
              <a:rPr sz="1200" dirty="0">
                <a:latin typeface="Times New Roman"/>
                <a:cs typeface="Times New Roman"/>
              </a:rPr>
              <a:t>authentication,</a:t>
            </a:r>
            <a:r>
              <a:rPr sz="1200" spc="70" dirty="0">
                <a:latin typeface="Times New Roman"/>
                <a:cs typeface="Times New Roman"/>
              </a:rPr>
              <a:t> </a:t>
            </a:r>
            <a:r>
              <a:rPr sz="1200" dirty="0">
                <a:latin typeface="Times New Roman"/>
                <a:cs typeface="Times New Roman"/>
              </a:rPr>
              <a:t>SSL</a:t>
            </a:r>
            <a:r>
              <a:rPr sz="1200" spc="70" dirty="0">
                <a:latin typeface="Times New Roman"/>
                <a:cs typeface="Times New Roman"/>
              </a:rPr>
              <a:t> </a:t>
            </a:r>
            <a:r>
              <a:rPr sz="1200" dirty="0">
                <a:latin typeface="Times New Roman"/>
                <a:cs typeface="Times New Roman"/>
              </a:rPr>
              <a:t>encryption,</a:t>
            </a:r>
            <a:r>
              <a:rPr sz="1200" spc="70"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spc="-10" dirty="0">
                <a:latin typeface="Times New Roman"/>
                <a:cs typeface="Times New Roman"/>
              </a:rPr>
              <a:t>access </a:t>
            </a:r>
            <a:r>
              <a:rPr sz="1200" dirty="0">
                <a:latin typeface="Times New Roman"/>
                <a:cs typeface="Times New Roman"/>
              </a:rPr>
              <a:t>controls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safeguard</a:t>
            </a:r>
            <a:r>
              <a:rPr sz="1200" spc="-3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transaction</a:t>
            </a:r>
            <a:r>
              <a:rPr sz="1200" spc="-35"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against</a:t>
            </a:r>
            <a:r>
              <a:rPr sz="1200" spc="-35" dirty="0">
                <a:latin typeface="Times New Roman"/>
                <a:cs typeface="Times New Roman"/>
              </a:rPr>
              <a:t> </a:t>
            </a:r>
            <a:r>
              <a:rPr sz="1200" dirty="0">
                <a:latin typeface="Times New Roman"/>
                <a:cs typeface="Times New Roman"/>
              </a:rPr>
              <a:t>cyber</a:t>
            </a:r>
            <a:r>
              <a:rPr sz="1200" spc="-30" dirty="0">
                <a:latin typeface="Times New Roman"/>
                <a:cs typeface="Times New Roman"/>
              </a:rPr>
              <a:t> </a:t>
            </a:r>
            <a:r>
              <a:rPr sz="1200" spc="-10" dirty="0">
                <a:latin typeface="Times New Roman"/>
                <a:cs typeface="Times New Roman"/>
              </a:rPr>
              <a:t>threats.</a:t>
            </a:r>
            <a:endParaRPr sz="1200" dirty="0">
              <a:latin typeface="Times New Roman"/>
              <a:cs typeface="Times New Roman"/>
            </a:endParaRPr>
          </a:p>
          <a:p>
            <a:pPr marL="469265" indent="-228600" algn="just">
              <a:lnSpc>
                <a:spcPct val="100000"/>
              </a:lnSpc>
              <a:spcBef>
                <a:spcPts val="445"/>
              </a:spcBef>
              <a:buAutoNum type="arabicPeriod" startAt="2"/>
              <a:tabLst>
                <a:tab pos="469265" algn="l"/>
              </a:tabLst>
            </a:pPr>
            <a:r>
              <a:rPr sz="1200" dirty="0">
                <a:latin typeface="Times New Roman"/>
                <a:cs typeface="Times New Roman"/>
              </a:rPr>
              <a:t>Fraud</a:t>
            </a:r>
            <a:r>
              <a:rPr sz="1200" spc="220" dirty="0">
                <a:latin typeface="Times New Roman"/>
                <a:cs typeface="Times New Roman"/>
              </a:rPr>
              <a:t> </a:t>
            </a:r>
            <a:r>
              <a:rPr sz="1200" dirty="0">
                <a:latin typeface="Times New Roman"/>
                <a:cs typeface="Times New Roman"/>
              </a:rPr>
              <a:t>Prevention:</a:t>
            </a:r>
            <a:r>
              <a:rPr sz="1200" spc="225" dirty="0">
                <a:latin typeface="Times New Roman"/>
                <a:cs typeface="Times New Roman"/>
              </a:rPr>
              <a:t> </a:t>
            </a:r>
            <a:r>
              <a:rPr sz="1200" dirty="0">
                <a:latin typeface="Times New Roman"/>
                <a:cs typeface="Times New Roman"/>
              </a:rPr>
              <a:t>Develop</a:t>
            </a:r>
            <a:r>
              <a:rPr sz="1200" spc="22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225" dirty="0">
                <a:latin typeface="Times New Roman"/>
                <a:cs typeface="Times New Roman"/>
              </a:rPr>
              <a:t> </a:t>
            </a:r>
            <a:r>
              <a:rPr sz="1200" dirty="0">
                <a:latin typeface="Times New Roman"/>
                <a:cs typeface="Times New Roman"/>
              </a:rPr>
              <a:t>verification</a:t>
            </a:r>
            <a:r>
              <a:rPr sz="1200" spc="220" dirty="0">
                <a:latin typeface="Times New Roman"/>
                <a:cs typeface="Times New Roman"/>
              </a:rPr>
              <a:t> </a:t>
            </a:r>
            <a:r>
              <a:rPr sz="1200" dirty="0">
                <a:latin typeface="Times New Roman"/>
                <a:cs typeface="Times New Roman"/>
              </a:rPr>
              <a:t>mechanisms</a:t>
            </a:r>
            <a:r>
              <a:rPr sz="1200" spc="225" dirty="0">
                <a:latin typeface="Times New Roman"/>
                <a:cs typeface="Times New Roman"/>
              </a:rPr>
              <a:t> </a:t>
            </a:r>
            <a:r>
              <a:rPr sz="1200" dirty="0">
                <a:latin typeface="Times New Roman"/>
                <a:cs typeface="Times New Roman"/>
              </a:rPr>
              <a:t>to</a:t>
            </a:r>
            <a:r>
              <a:rPr sz="1200" spc="225" dirty="0">
                <a:latin typeface="Times New Roman"/>
                <a:cs typeface="Times New Roman"/>
              </a:rPr>
              <a:t> </a:t>
            </a:r>
            <a:r>
              <a:rPr sz="1200" spc="-10" dirty="0">
                <a:latin typeface="Times New Roman"/>
                <a:cs typeface="Times New Roman"/>
              </a:rPr>
              <a:t>automatically</a:t>
            </a:r>
            <a:endParaRPr sz="1200" dirty="0">
              <a:latin typeface="Times New Roman"/>
              <a:cs typeface="Times New Roman"/>
            </a:endParaRPr>
          </a:p>
          <a:p>
            <a:pPr marL="469265" marR="8890" algn="just">
              <a:lnSpc>
                <a:spcPct val="143300"/>
              </a:lnSpc>
              <a:spcBef>
                <a:spcPts val="15"/>
              </a:spcBef>
            </a:pPr>
            <a:r>
              <a:rPr sz="1200" dirty="0">
                <a:latin typeface="Times New Roman"/>
                <a:cs typeface="Times New Roman"/>
              </a:rPr>
              <a:t>validate</a:t>
            </a:r>
            <a:r>
              <a:rPr sz="1200" spc="470" dirty="0">
                <a:latin typeface="Times New Roman"/>
                <a:cs typeface="Times New Roman"/>
              </a:rPr>
              <a:t> </a:t>
            </a:r>
            <a:r>
              <a:rPr sz="1200" dirty="0">
                <a:latin typeface="Times New Roman"/>
                <a:cs typeface="Times New Roman"/>
              </a:rPr>
              <a:t>property</a:t>
            </a:r>
            <a:r>
              <a:rPr sz="1200" spc="470" dirty="0">
                <a:latin typeface="Times New Roman"/>
                <a:cs typeface="Times New Roman"/>
              </a:rPr>
              <a:t> </a:t>
            </a:r>
            <a:r>
              <a:rPr sz="1200" dirty="0">
                <a:latin typeface="Times New Roman"/>
                <a:cs typeface="Times New Roman"/>
              </a:rPr>
              <a:t>documents,</a:t>
            </a:r>
            <a:r>
              <a:rPr sz="1200" spc="480" dirty="0">
                <a:latin typeface="Times New Roman"/>
                <a:cs typeface="Times New Roman"/>
              </a:rPr>
              <a:t> </a:t>
            </a:r>
            <a:r>
              <a:rPr sz="1200" dirty="0">
                <a:latin typeface="Times New Roman"/>
                <a:cs typeface="Times New Roman"/>
              </a:rPr>
              <a:t>minimizing</a:t>
            </a:r>
            <a:r>
              <a:rPr sz="1200" spc="470" dirty="0">
                <a:latin typeface="Times New Roman"/>
                <a:cs typeface="Times New Roman"/>
              </a:rPr>
              <a:t> </a:t>
            </a:r>
            <a:r>
              <a:rPr sz="1200" dirty="0">
                <a:latin typeface="Times New Roman"/>
                <a:cs typeface="Times New Roman"/>
              </a:rPr>
              <a:t>fraudulent</a:t>
            </a:r>
            <a:r>
              <a:rPr sz="1200" spc="475" dirty="0">
                <a:latin typeface="Times New Roman"/>
                <a:cs typeface="Times New Roman"/>
              </a:rPr>
              <a:t> </a:t>
            </a:r>
            <a:r>
              <a:rPr sz="1200" dirty="0">
                <a:latin typeface="Times New Roman"/>
                <a:cs typeface="Times New Roman"/>
              </a:rPr>
              <a:t>listings</a:t>
            </a:r>
            <a:r>
              <a:rPr sz="1200" spc="475" dirty="0">
                <a:latin typeface="Times New Roman"/>
                <a:cs typeface="Times New Roman"/>
              </a:rPr>
              <a:t> </a:t>
            </a:r>
            <a:r>
              <a:rPr sz="1200" dirty="0">
                <a:latin typeface="Times New Roman"/>
                <a:cs typeface="Times New Roman"/>
              </a:rPr>
              <a:t>and</a:t>
            </a:r>
            <a:r>
              <a:rPr sz="1200" spc="470" dirty="0">
                <a:latin typeface="Times New Roman"/>
                <a:cs typeface="Times New Roman"/>
              </a:rPr>
              <a:t> </a:t>
            </a:r>
            <a:r>
              <a:rPr sz="1200" spc="-10" dirty="0">
                <a:latin typeface="Times New Roman"/>
                <a:cs typeface="Times New Roman"/>
              </a:rPr>
              <a:t>unauthorized transactions.</a:t>
            </a:r>
            <a:endParaRPr lang="en-US" sz="1200" spc="-10" dirty="0">
              <a:latin typeface="Times New Roman"/>
              <a:cs typeface="Times New Roman"/>
            </a:endParaRPr>
          </a:p>
          <a:p>
            <a:pPr marL="469265" marR="6985" indent="-228600" algn="just">
              <a:lnSpc>
                <a:spcPct val="143300"/>
              </a:lnSpc>
              <a:spcBef>
                <a:spcPts val="10"/>
              </a:spcBef>
              <a:buFont typeface="+mj-lt"/>
              <a:buAutoNum type="arabicPeriod" startAt="5"/>
              <a:tabLst>
                <a:tab pos="469265" algn="l"/>
                <a:tab pos="1299845" algn="l"/>
                <a:tab pos="1944370" algn="l"/>
                <a:tab pos="2935605" algn="l"/>
                <a:tab pos="3749040" algn="l"/>
                <a:tab pos="4978400" algn="l"/>
                <a:tab pos="5461000" algn="l"/>
              </a:tabLst>
            </a:pPr>
            <a:r>
              <a:rPr lang="en-US" sz="1200" dirty="0">
                <a:latin typeface="Times New Roman"/>
                <a:cs typeface="Times New Roman"/>
              </a:rPr>
              <a:t>Intuitive</a:t>
            </a:r>
            <a:r>
              <a:rPr lang="en-US" sz="1200" spc="80" dirty="0">
                <a:latin typeface="Times New Roman"/>
                <a:cs typeface="Times New Roman"/>
              </a:rPr>
              <a:t> </a:t>
            </a:r>
            <a:r>
              <a:rPr lang="en-US" sz="1200" dirty="0">
                <a:latin typeface="Times New Roman"/>
                <a:cs typeface="Times New Roman"/>
              </a:rPr>
              <a:t>User</a:t>
            </a:r>
            <a:r>
              <a:rPr lang="en-US" sz="1200" spc="85" dirty="0">
                <a:latin typeface="Times New Roman"/>
                <a:cs typeface="Times New Roman"/>
              </a:rPr>
              <a:t> </a:t>
            </a:r>
            <a:r>
              <a:rPr lang="en-US" sz="1200" dirty="0">
                <a:latin typeface="Times New Roman"/>
                <a:cs typeface="Times New Roman"/>
              </a:rPr>
              <a:t>Experience:</a:t>
            </a:r>
            <a:r>
              <a:rPr lang="en-US" sz="1200" spc="90" dirty="0">
                <a:latin typeface="Times New Roman"/>
                <a:cs typeface="Times New Roman"/>
              </a:rPr>
              <a:t> </a:t>
            </a:r>
            <a:r>
              <a:rPr lang="en-US" sz="1200" dirty="0">
                <a:latin typeface="Times New Roman"/>
                <a:cs typeface="Times New Roman"/>
              </a:rPr>
              <a:t>Ensure</a:t>
            </a:r>
            <a:r>
              <a:rPr lang="en-US" sz="1200" spc="80" dirty="0">
                <a:latin typeface="Times New Roman"/>
                <a:cs typeface="Times New Roman"/>
              </a:rPr>
              <a:t> </a:t>
            </a:r>
            <a:r>
              <a:rPr lang="en-US" sz="1200" dirty="0">
                <a:latin typeface="Times New Roman"/>
                <a:cs typeface="Times New Roman"/>
              </a:rPr>
              <a:t>the</a:t>
            </a:r>
            <a:r>
              <a:rPr lang="en-US" sz="1200" spc="95" dirty="0">
                <a:latin typeface="Times New Roman"/>
                <a:cs typeface="Times New Roman"/>
              </a:rPr>
              <a:t> </a:t>
            </a:r>
            <a:r>
              <a:rPr lang="en-US" sz="1200" dirty="0">
                <a:latin typeface="Times New Roman"/>
                <a:cs typeface="Times New Roman"/>
              </a:rPr>
              <a:t>UI/UX</a:t>
            </a:r>
            <a:r>
              <a:rPr lang="en-US" sz="1200" spc="85" dirty="0">
                <a:latin typeface="Times New Roman"/>
                <a:cs typeface="Times New Roman"/>
              </a:rPr>
              <a:t> </a:t>
            </a:r>
            <a:r>
              <a:rPr lang="en-US" sz="1200" dirty="0">
                <a:latin typeface="Times New Roman"/>
                <a:cs typeface="Times New Roman"/>
              </a:rPr>
              <a:t>is</a:t>
            </a:r>
            <a:r>
              <a:rPr lang="en-US" sz="1200" spc="95" dirty="0">
                <a:latin typeface="Times New Roman"/>
                <a:cs typeface="Times New Roman"/>
              </a:rPr>
              <a:t> </a:t>
            </a:r>
            <a:r>
              <a:rPr lang="en-US" sz="1200" dirty="0">
                <a:latin typeface="Times New Roman"/>
                <a:cs typeface="Times New Roman"/>
              </a:rPr>
              <a:t>simple,</a:t>
            </a:r>
            <a:r>
              <a:rPr lang="en-US" sz="1200" spc="85" dirty="0">
                <a:latin typeface="Times New Roman"/>
                <a:cs typeface="Times New Roman"/>
              </a:rPr>
              <a:t> </a:t>
            </a:r>
            <a:r>
              <a:rPr lang="en-US" sz="1200" dirty="0">
                <a:latin typeface="Times New Roman"/>
                <a:cs typeface="Times New Roman"/>
              </a:rPr>
              <a:t>responsive,</a:t>
            </a:r>
            <a:r>
              <a:rPr lang="en-US" sz="1200" spc="85" dirty="0">
                <a:latin typeface="Times New Roman"/>
                <a:cs typeface="Times New Roman"/>
              </a:rPr>
              <a:t> </a:t>
            </a:r>
            <a:r>
              <a:rPr lang="en-US" sz="1200" dirty="0">
                <a:latin typeface="Times New Roman"/>
                <a:cs typeface="Times New Roman"/>
              </a:rPr>
              <a:t>and</a:t>
            </a:r>
            <a:r>
              <a:rPr lang="en-US" sz="1200" spc="100" dirty="0">
                <a:latin typeface="Times New Roman"/>
                <a:cs typeface="Times New Roman"/>
              </a:rPr>
              <a:t> </a:t>
            </a:r>
            <a:r>
              <a:rPr lang="en-US" sz="1200" spc="-10" dirty="0">
                <a:latin typeface="Times New Roman"/>
                <a:cs typeface="Times New Roman"/>
              </a:rPr>
              <a:t>accessible, </a:t>
            </a:r>
            <a:r>
              <a:rPr lang="en-US" sz="1200" dirty="0">
                <a:latin typeface="Times New Roman"/>
                <a:cs typeface="Times New Roman"/>
              </a:rPr>
              <a:t>making</a:t>
            </a:r>
            <a:r>
              <a:rPr lang="en-US" sz="1200" spc="-30" dirty="0">
                <a:latin typeface="Times New Roman"/>
                <a:cs typeface="Times New Roman"/>
              </a:rPr>
              <a:t> </a:t>
            </a:r>
            <a:r>
              <a:rPr lang="en-US" sz="1200" dirty="0">
                <a:latin typeface="Times New Roman"/>
                <a:cs typeface="Times New Roman"/>
              </a:rPr>
              <a:t>auction</a:t>
            </a:r>
            <a:r>
              <a:rPr lang="en-US" sz="1200" spc="-25" dirty="0">
                <a:latin typeface="Times New Roman"/>
                <a:cs typeface="Times New Roman"/>
              </a:rPr>
              <a:t> </a:t>
            </a:r>
            <a:r>
              <a:rPr lang="en-US" sz="1200" dirty="0">
                <a:latin typeface="Times New Roman"/>
                <a:cs typeface="Times New Roman"/>
              </a:rPr>
              <a:t>participation</a:t>
            </a:r>
            <a:r>
              <a:rPr lang="en-US" sz="1200" spc="-25" dirty="0">
                <a:latin typeface="Times New Roman"/>
                <a:cs typeface="Times New Roman"/>
              </a:rPr>
              <a:t> </a:t>
            </a:r>
            <a:r>
              <a:rPr lang="en-US" sz="1200" dirty="0">
                <a:latin typeface="Times New Roman"/>
                <a:cs typeface="Times New Roman"/>
              </a:rPr>
              <a:t>easy</a:t>
            </a:r>
            <a:r>
              <a:rPr lang="en-US" sz="1200" spc="-30" dirty="0">
                <a:latin typeface="Times New Roman"/>
                <a:cs typeface="Times New Roman"/>
              </a:rPr>
              <a:t> </a:t>
            </a:r>
            <a:r>
              <a:rPr lang="en-US" sz="1200" dirty="0">
                <a:latin typeface="Times New Roman"/>
                <a:cs typeface="Times New Roman"/>
              </a:rPr>
              <a:t>for</a:t>
            </a:r>
            <a:r>
              <a:rPr lang="en-US" sz="1200" spc="-35" dirty="0">
                <a:latin typeface="Times New Roman"/>
                <a:cs typeface="Times New Roman"/>
              </a:rPr>
              <a:t> </a:t>
            </a:r>
            <a:r>
              <a:rPr lang="en-US" sz="1200" dirty="0">
                <a:latin typeface="Times New Roman"/>
                <a:cs typeface="Times New Roman"/>
              </a:rPr>
              <a:t>buyers,</a:t>
            </a:r>
            <a:r>
              <a:rPr lang="en-US" sz="1200" spc="-25" dirty="0">
                <a:latin typeface="Times New Roman"/>
                <a:cs typeface="Times New Roman"/>
              </a:rPr>
              <a:t> </a:t>
            </a:r>
            <a:r>
              <a:rPr lang="en-US" sz="1200" dirty="0">
                <a:latin typeface="Times New Roman"/>
                <a:cs typeface="Times New Roman"/>
              </a:rPr>
              <a:t>sellers,</a:t>
            </a:r>
            <a:r>
              <a:rPr lang="en-US" sz="1200" spc="-30" dirty="0">
                <a:latin typeface="Times New Roman"/>
                <a:cs typeface="Times New Roman"/>
              </a:rPr>
              <a:t> </a:t>
            </a:r>
            <a:r>
              <a:rPr lang="en-US" sz="1200" dirty="0">
                <a:latin typeface="Times New Roman"/>
                <a:cs typeface="Times New Roman"/>
              </a:rPr>
              <a:t>and</a:t>
            </a:r>
            <a:r>
              <a:rPr lang="en-US" sz="1200" spc="-25" dirty="0">
                <a:latin typeface="Times New Roman"/>
                <a:cs typeface="Times New Roman"/>
              </a:rPr>
              <a:t> </a:t>
            </a:r>
            <a:r>
              <a:rPr lang="en-US" sz="1200" spc="-10" dirty="0">
                <a:latin typeface="Times New Roman"/>
                <a:cs typeface="Times New Roman"/>
              </a:rPr>
              <a:t>administrators.</a:t>
            </a:r>
          </a:p>
          <a:p>
            <a:pPr marL="469265" marR="6985" indent="-228600">
              <a:lnSpc>
                <a:spcPct val="143300"/>
              </a:lnSpc>
              <a:spcBef>
                <a:spcPts val="10"/>
              </a:spcBef>
              <a:buFontTx/>
              <a:buAutoNum type="arabicPeriod" startAt="5"/>
              <a:tabLst>
                <a:tab pos="469265" algn="l"/>
                <a:tab pos="1299845" algn="l"/>
                <a:tab pos="1944370" algn="l"/>
                <a:tab pos="2935605" algn="l"/>
                <a:tab pos="3749040" algn="l"/>
                <a:tab pos="4978400" algn="l"/>
                <a:tab pos="5461000" algn="l"/>
              </a:tabLst>
            </a:pPr>
            <a:r>
              <a:rPr lang="en-US" sz="1200" spc="-10" dirty="0">
                <a:latin typeface="Times New Roman"/>
                <a:cs typeface="Times New Roman"/>
              </a:rPr>
              <a:t>Automated</a:t>
            </a:r>
            <a:r>
              <a:rPr lang="en-US" sz="1200" dirty="0">
                <a:latin typeface="Times New Roman"/>
                <a:cs typeface="Times New Roman"/>
              </a:rPr>
              <a:t>	</a:t>
            </a:r>
            <a:r>
              <a:rPr lang="en-US" sz="1200" spc="-10" dirty="0">
                <a:latin typeface="Times New Roman"/>
                <a:cs typeface="Times New Roman"/>
              </a:rPr>
              <a:t>Auction</a:t>
            </a:r>
            <a:r>
              <a:rPr lang="en-US" sz="1200" dirty="0">
                <a:latin typeface="Times New Roman"/>
                <a:cs typeface="Times New Roman"/>
              </a:rPr>
              <a:t>	</a:t>
            </a:r>
            <a:r>
              <a:rPr lang="en-US" sz="1200" spc="-10" dirty="0">
                <a:latin typeface="Times New Roman"/>
                <a:cs typeface="Times New Roman"/>
              </a:rPr>
              <a:t>Notifications:</a:t>
            </a:r>
            <a:r>
              <a:rPr lang="en-US" sz="1200" dirty="0">
                <a:latin typeface="Times New Roman"/>
                <a:cs typeface="Times New Roman"/>
              </a:rPr>
              <a:t>	</a:t>
            </a:r>
            <a:r>
              <a:rPr lang="en-US" sz="1200" spc="-10" dirty="0">
                <a:latin typeface="Times New Roman"/>
                <a:cs typeface="Times New Roman"/>
              </a:rPr>
              <a:t>Implement</a:t>
            </a:r>
            <a:r>
              <a:rPr lang="en-US" sz="1200" dirty="0">
                <a:latin typeface="Times New Roman"/>
                <a:cs typeface="Times New Roman"/>
              </a:rPr>
              <a:t>	</a:t>
            </a:r>
            <a:r>
              <a:rPr lang="en-US" sz="1200" spc="-10" dirty="0">
                <a:latin typeface="Times New Roman"/>
                <a:cs typeface="Times New Roman"/>
              </a:rPr>
              <a:t>geofencing-based</a:t>
            </a:r>
            <a:r>
              <a:rPr lang="en-US" sz="1200" dirty="0">
                <a:latin typeface="Times New Roman"/>
                <a:cs typeface="Times New Roman"/>
              </a:rPr>
              <a:t>	</a:t>
            </a:r>
            <a:r>
              <a:rPr lang="en-US" sz="1200" spc="-10" dirty="0">
                <a:latin typeface="Times New Roman"/>
                <a:cs typeface="Times New Roman"/>
              </a:rPr>
              <a:t>alerts</a:t>
            </a:r>
            <a:r>
              <a:rPr lang="en-US" sz="1200" dirty="0">
                <a:latin typeface="Times New Roman"/>
                <a:cs typeface="Times New Roman"/>
              </a:rPr>
              <a:t>	</a:t>
            </a:r>
            <a:r>
              <a:rPr lang="en-US" sz="1200" spc="-25" dirty="0">
                <a:latin typeface="Times New Roman"/>
                <a:cs typeface="Times New Roman"/>
              </a:rPr>
              <a:t>and </a:t>
            </a:r>
            <a:r>
              <a:rPr lang="en-US" sz="1200" spc="-10" dirty="0">
                <a:latin typeface="Times New Roman"/>
                <a:cs typeface="Times New Roman"/>
              </a:rPr>
              <a:t>personalized</a:t>
            </a:r>
            <a:r>
              <a:rPr lang="en-US" sz="1200" spc="-30" dirty="0">
                <a:latin typeface="Times New Roman"/>
                <a:cs typeface="Times New Roman"/>
              </a:rPr>
              <a:t> </a:t>
            </a:r>
            <a:r>
              <a:rPr lang="en-US" sz="1200" dirty="0">
                <a:latin typeface="Times New Roman"/>
                <a:cs typeface="Times New Roman"/>
              </a:rPr>
              <a:t>notifications,</a:t>
            </a:r>
            <a:r>
              <a:rPr lang="en-US" sz="1200" spc="-30" dirty="0">
                <a:latin typeface="Times New Roman"/>
                <a:cs typeface="Times New Roman"/>
              </a:rPr>
              <a:t> </a:t>
            </a:r>
            <a:r>
              <a:rPr lang="en-US" sz="1200" dirty="0">
                <a:latin typeface="Times New Roman"/>
                <a:cs typeface="Times New Roman"/>
              </a:rPr>
              <a:t>keeping</a:t>
            </a:r>
            <a:r>
              <a:rPr lang="en-US" sz="1200" spc="-30" dirty="0">
                <a:latin typeface="Times New Roman"/>
                <a:cs typeface="Times New Roman"/>
              </a:rPr>
              <a:t> </a:t>
            </a:r>
            <a:r>
              <a:rPr lang="en-US" sz="1200" dirty="0">
                <a:latin typeface="Times New Roman"/>
                <a:cs typeface="Times New Roman"/>
              </a:rPr>
              <a:t>users</a:t>
            </a:r>
            <a:r>
              <a:rPr lang="en-US" sz="1200" spc="-30" dirty="0">
                <a:latin typeface="Times New Roman"/>
                <a:cs typeface="Times New Roman"/>
              </a:rPr>
              <a:t> </a:t>
            </a:r>
            <a:r>
              <a:rPr lang="en-US" sz="1200" dirty="0">
                <a:latin typeface="Times New Roman"/>
                <a:cs typeface="Times New Roman"/>
              </a:rPr>
              <a:t>informed</a:t>
            </a:r>
            <a:r>
              <a:rPr lang="en-US" sz="1200" spc="-30" dirty="0">
                <a:latin typeface="Times New Roman"/>
                <a:cs typeface="Times New Roman"/>
              </a:rPr>
              <a:t> </a:t>
            </a:r>
            <a:r>
              <a:rPr lang="en-US" sz="1200" dirty="0">
                <a:latin typeface="Times New Roman"/>
                <a:cs typeface="Times New Roman"/>
              </a:rPr>
              <a:t>about</a:t>
            </a:r>
            <a:r>
              <a:rPr lang="en-US" sz="1200" spc="-25" dirty="0">
                <a:latin typeface="Times New Roman"/>
                <a:cs typeface="Times New Roman"/>
              </a:rPr>
              <a:t> </a:t>
            </a:r>
            <a:r>
              <a:rPr lang="en-US" sz="1200" dirty="0">
                <a:latin typeface="Times New Roman"/>
                <a:cs typeface="Times New Roman"/>
              </a:rPr>
              <a:t>relevant</a:t>
            </a:r>
            <a:r>
              <a:rPr lang="en-US" sz="1200" spc="-20" dirty="0">
                <a:latin typeface="Times New Roman"/>
                <a:cs typeface="Times New Roman"/>
              </a:rPr>
              <a:t> </a:t>
            </a:r>
            <a:r>
              <a:rPr lang="en-US" sz="1200" spc="-10" dirty="0">
                <a:latin typeface="Times New Roman"/>
                <a:cs typeface="Times New Roman"/>
              </a:rPr>
              <a:t>auctions</a:t>
            </a:r>
            <a:endParaRPr sz="1200" dirty="0">
              <a:latin typeface="Times New Roman"/>
              <a:cs typeface="Times New Roman"/>
            </a:endParaRPr>
          </a:p>
          <a:p>
            <a:pPr marL="469265" marR="6985" indent="-228600">
              <a:lnSpc>
                <a:spcPct val="143300"/>
              </a:lnSpc>
              <a:spcBef>
                <a:spcPts val="15"/>
              </a:spcBef>
              <a:buAutoNum type="arabicPeriod" startAt="5"/>
              <a:tabLst>
                <a:tab pos="469265" algn="l"/>
              </a:tabLst>
            </a:pPr>
            <a:r>
              <a:rPr sz="1200" dirty="0">
                <a:latin typeface="Times New Roman"/>
                <a:cs typeface="Times New Roman"/>
              </a:rPr>
              <a:t>Regulatory</a:t>
            </a:r>
            <a:r>
              <a:rPr sz="1200" spc="100" dirty="0">
                <a:latin typeface="Times New Roman"/>
                <a:cs typeface="Times New Roman"/>
              </a:rPr>
              <a:t> </a:t>
            </a:r>
            <a:r>
              <a:rPr sz="1200" dirty="0">
                <a:latin typeface="Times New Roman"/>
                <a:cs typeface="Times New Roman"/>
              </a:rPr>
              <a:t>Compliance:</a:t>
            </a:r>
            <a:r>
              <a:rPr sz="1200" spc="105" dirty="0">
                <a:latin typeface="Times New Roman"/>
                <a:cs typeface="Times New Roman"/>
              </a:rPr>
              <a:t> </a:t>
            </a:r>
            <a:r>
              <a:rPr sz="1200" dirty="0">
                <a:latin typeface="Times New Roman"/>
                <a:cs typeface="Times New Roman"/>
              </a:rPr>
              <a:t>Ensure</a:t>
            </a:r>
            <a:r>
              <a:rPr sz="1200" spc="95" dirty="0">
                <a:latin typeface="Times New Roman"/>
                <a:cs typeface="Times New Roman"/>
              </a:rPr>
              <a:t> </a:t>
            </a:r>
            <a:r>
              <a:rPr sz="1200" dirty="0">
                <a:latin typeface="Times New Roman"/>
                <a:cs typeface="Times New Roman"/>
              </a:rPr>
              <a:t>adherence</a:t>
            </a:r>
            <a:r>
              <a:rPr sz="1200" spc="95" dirty="0">
                <a:latin typeface="Times New Roman"/>
                <a:cs typeface="Times New Roman"/>
              </a:rPr>
              <a:t> </a:t>
            </a:r>
            <a:r>
              <a:rPr sz="1200" dirty="0">
                <a:latin typeface="Times New Roman"/>
                <a:cs typeface="Times New Roman"/>
              </a:rPr>
              <a:t>to</a:t>
            </a:r>
            <a:r>
              <a:rPr sz="1200" spc="105" dirty="0">
                <a:latin typeface="Times New Roman"/>
                <a:cs typeface="Times New Roman"/>
              </a:rPr>
              <a:t> </a:t>
            </a:r>
            <a:r>
              <a:rPr sz="1200" dirty="0">
                <a:latin typeface="Times New Roman"/>
                <a:cs typeface="Times New Roman"/>
              </a:rPr>
              <a:t>property</a:t>
            </a:r>
            <a:r>
              <a:rPr sz="1200" spc="100" dirty="0">
                <a:latin typeface="Times New Roman"/>
                <a:cs typeface="Times New Roman"/>
              </a:rPr>
              <a:t> </a:t>
            </a:r>
            <a:r>
              <a:rPr sz="1200" dirty="0">
                <a:latin typeface="Times New Roman"/>
                <a:cs typeface="Times New Roman"/>
              </a:rPr>
              <a:t>transaction</a:t>
            </a:r>
            <a:r>
              <a:rPr sz="1200" spc="100" dirty="0">
                <a:latin typeface="Times New Roman"/>
                <a:cs typeface="Times New Roman"/>
              </a:rPr>
              <a:t> </a:t>
            </a:r>
            <a:r>
              <a:rPr sz="1200" dirty="0">
                <a:latin typeface="Times New Roman"/>
                <a:cs typeface="Times New Roman"/>
              </a:rPr>
              <a:t>laws</a:t>
            </a:r>
            <a:r>
              <a:rPr sz="1200" spc="105"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spc="-10" dirty="0">
                <a:latin typeface="Times New Roman"/>
                <a:cs typeface="Times New Roman"/>
              </a:rPr>
              <a:t>ethical </a:t>
            </a:r>
            <a:r>
              <a:rPr sz="1200" dirty="0">
                <a:latin typeface="Times New Roman"/>
                <a:cs typeface="Times New Roman"/>
              </a:rPr>
              <a:t>standards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maintain</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legally</a:t>
            </a:r>
            <a:r>
              <a:rPr sz="1200" spc="-30" dirty="0">
                <a:latin typeface="Times New Roman"/>
                <a:cs typeface="Times New Roman"/>
              </a:rPr>
              <a:t> </a:t>
            </a:r>
            <a:r>
              <a:rPr sz="1200" dirty="0">
                <a:latin typeface="Times New Roman"/>
                <a:cs typeface="Times New Roman"/>
              </a:rPr>
              <a:t>compliant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trustworthy</a:t>
            </a:r>
            <a:r>
              <a:rPr sz="1200" spc="-25"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platform.</a:t>
            </a:r>
            <a:endParaRPr sz="1200" dirty="0">
              <a:latin typeface="Times New Roman"/>
              <a:cs typeface="Times New Roman"/>
            </a:endParaRPr>
          </a:p>
          <a:p>
            <a:pPr>
              <a:lnSpc>
                <a:spcPct val="100000"/>
              </a:lnSpc>
              <a:spcBef>
                <a:spcPts val="20"/>
              </a:spcBef>
            </a:pPr>
            <a:endParaRPr sz="1200" dirty="0">
              <a:latin typeface="Times New Roman"/>
              <a:cs typeface="Times New Roman"/>
            </a:endParaRPr>
          </a:p>
          <a:p>
            <a:pPr marL="12700" marR="5080" algn="just">
              <a:lnSpc>
                <a:spcPct val="143700"/>
              </a:lnSpc>
            </a:pP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meeting</a:t>
            </a:r>
            <a:r>
              <a:rPr sz="1200" spc="-40" dirty="0">
                <a:latin typeface="Times New Roman"/>
                <a:cs typeface="Times New Roman"/>
              </a:rPr>
              <a:t> </a:t>
            </a:r>
            <a:r>
              <a:rPr sz="1200" dirty="0">
                <a:latin typeface="Times New Roman"/>
                <a:cs typeface="Times New Roman"/>
              </a:rPr>
              <a:t>these</a:t>
            </a:r>
            <a:r>
              <a:rPr sz="1200" spc="-40" dirty="0">
                <a:latin typeface="Times New Roman"/>
                <a:cs typeface="Times New Roman"/>
              </a:rPr>
              <a:t> </a:t>
            </a:r>
            <a:r>
              <a:rPr sz="1200" dirty="0">
                <a:latin typeface="Times New Roman"/>
                <a:cs typeface="Times New Roman"/>
              </a:rPr>
              <a:t>technical</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functional</a:t>
            </a:r>
            <a:r>
              <a:rPr sz="1200" spc="-35" dirty="0">
                <a:latin typeface="Times New Roman"/>
                <a:cs typeface="Times New Roman"/>
              </a:rPr>
              <a:t> </a:t>
            </a:r>
            <a:r>
              <a:rPr sz="1200" dirty="0">
                <a:latin typeface="Times New Roman"/>
                <a:cs typeface="Times New Roman"/>
              </a:rPr>
              <a:t>requirements,</a:t>
            </a:r>
            <a:r>
              <a:rPr sz="1200" spc="-35"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Abode</a:t>
            </a:r>
            <a:r>
              <a:rPr sz="1200" spc="-45" dirty="0">
                <a:latin typeface="Times New Roman"/>
                <a:cs typeface="Times New Roman"/>
              </a:rPr>
              <a:t> </a:t>
            </a:r>
            <a:r>
              <a:rPr sz="1200" dirty="0">
                <a:latin typeface="Times New Roman"/>
                <a:cs typeface="Times New Roman"/>
              </a:rPr>
              <a:t>guarantees</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secure, scalable,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efficient</a:t>
            </a:r>
            <a:r>
              <a:rPr sz="1200" spc="-20" dirty="0">
                <a:latin typeface="Times New Roman"/>
                <a:cs typeface="Times New Roman"/>
              </a:rPr>
              <a:t> </a:t>
            </a:r>
            <a:r>
              <a:rPr sz="1200" spc="-10" dirty="0">
                <a:latin typeface="Times New Roman"/>
                <a:cs typeface="Times New Roman"/>
              </a:rPr>
              <a:t>online</a:t>
            </a:r>
            <a:r>
              <a:rPr sz="1200" spc="-30" dirty="0">
                <a:latin typeface="Times New Roman"/>
                <a:cs typeface="Times New Roman"/>
              </a:rPr>
              <a:t> </a:t>
            </a:r>
            <a:r>
              <a:rPr sz="1200" spc="-10" dirty="0">
                <a:latin typeface="Times New Roman"/>
                <a:cs typeface="Times New Roman"/>
              </a:rPr>
              <a:t>property</a:t>
            </a:r>
            <a:r>
              <a:rPr sz="1200" spc="-5" dirty="0">
                <a:latin typeface="Times New Roman"/>
                <a:cs typeface="Times New Roman"/>
              </a:rPr>
              <a:t> </a:t>
            </a:r>
            <a:r>
              <a:rPr sz="1200" spc="-10" dirty="0">
                <a:latin typeface="Times New Roman"/>
                <a:cs typeface="Times New Roman"/>
              </a:rPr>
              <a:t>auction</a:t>
            </a:r>
            <a:r>
              <a:rPr sz="1200" spc="-25" dirty="0">
                <a:latin typeface="Times New Roman"/>
                <a:cs typeface="Times New Roman"/>
              </a:rPr>
              <a:t> </a:t>
            </a:r>
            <a:r>
              <a:rPr sz="1200" spc="-10" dirty="0">
                <a:latin typeface="Times New Roman"/>
                <a:cs typeface="Times New Roman"/>
              </a:rPr>
              <a:t>experience,</a:t>
            </a:r>
            <a:r>
              <a:rPr sz="1200" dirty="0">
                <a:latin typeface="Times New Roman"/>
                <a:cs typeface="Times New Roman"/>
              </a:rPr>
              <a:t> </a:t>
            </a:r>
            <a:r>
              <a:rPr sz="1200" spc="-10" dirty="0">
                <a:latin typeface="Times New Roman"/>
                <a:cs typeface="Times New Roman"/>
              </a:rPr>
              <a:t>transforming</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real</a:t>
            </a:r>
            <a:r>
              <a:rPr sz="1200" spc="-20" dirty="0">
                <a:latin typeface="Times New Roman"/>
                <a:cs typeface="Times New Roman"/>
              </a:rPr>
              <a:t> </a:t>
            </a:r>
            <a:r>
              <a:rPr sz="1200" spc="-10" dirty="0">
                <a:latin typeface="Times New Roman"/>
                <a:cs typeface="Times New Roman"/>
              </a:rPr>
              <a:t>estate</a:t>
            </a:r>
            <a:r>
              <a:rPr sz="1200" spc="-15" dirty="0">
                <a:latin typeface="Times New Roman"/>
                <a:cs typeface="Times New Roman"/>
              </a:rPr>
              <a:t> </a:t>
            </a:r>
            <a:r>
              <a:rPr sz="1200" spc="-10" dirty="0">
                <a:latin typeface="Times New Roman"/>
                <a:cs typeface="Times New Roman"/>
              </a:rPr>
              <a:t>bidding </a:t>
            </a:r>
            <a:r>
              <a:rPr sz="1200" dirty="0">
                <a:latin typeface="Times New Roman"/>
                <a:cs typeface="Times New Roman"/>
              </a:rPr>
              <a:t>landscape</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spc="-10" dirty="0">
                <a:latin typeface="Times New Roman"/>
                <a:cs typeface="Times New Roman"/>
              </a:rPr>
              <a:t>AI-</a:t>
            </a:r>
            <a:r>
              <a:rPr sz="1200" dirty="0">
                <a:latin typeface="Times New Roman"/>
                <a:cs typeface="Times New Roman"/>
              </a:rPr>
              <a:t>driven</a:t>
            </a:r>
            <a:r>
              <a:rPr sz="1200" spc="-20" dirty="0">
                <a:latin typeface="Times New Roman"/>
                <a:cs typeface="Times New Roman"/>
              </a:rPr>
              <a:t> </a:t>
            </a:r>
            <a:r>
              <a:rPr sz="1200" dirty="0">
                <a:latin typeface="Times New Roman"/>
                <a:cs typeface="Times New Roman"/>
              </a:rPr>
              <a:t>automation</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spc="-10" dirty="0">
                <a:latin typeface="Times New Roman"/>
                <a:cs typeface="Times New Roman"/>
              </a:rPr>
              <a:t>transparency.</a:t>
            </a:r>
            <a:endParaRPr sz="12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14</a:t>
            </a:r>
          </a:p>
        </p:txBody>
      </p:sp>
      <p:sp>
        <p:nvSpPr>
          <p:cNvPr id="2" name="object 2"/>
          <p:cNvSpPr txBox="1"/>
          <p:nvPr/>
        </p:nvSpPr>
        <p:spPr>
          <a:xfrm>
            <a:off x="1176324" y="888238"/>
            <a:ext cx="5697220" cy="7235190"/>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Chapter</a:t>
            </a:r>
            <a:r>
              <a:rPr sz="1600" b="1" spc="-55" dirty="0">
                <a:latin typeface="Times New Roman"/>
                <a:cs typeface="Times New Roman"/>
              </a:rPr>
              <a:t> </a:t>
            </a:r>
            <a:r>
              <a:rPr sz="1600" b="1" dirty="0">
                <a:latin typeface="Times New Roman"/>
                <a:cs typeface="Times New Roman"/>
              </a:rPr>
              <a:t>3:</a:t>
            </a:r>
            <a:r>
              <a:rPr sz="1600" b="1" spc="-10" dirty="0">
                <a:latin typeface="Times New Roman"/>
                <a:cs typeface="Times New Roman"/>
              </a:rPr>
              <a:t> Requirement</a:t>
            </a:r>
            <a:r>
              <a:rPr sz="1600" b="1" spc="-90" dirty="0">
                <a:latin typeface="Times New Roman"/>
                <a:cs typeface="Times New Roman"/>
              </a:rPr>
              <a:t> </a:t>
            </a:r>
            <a:r>
              <a:rPr sz="1600" b="1" spc="-10" dirty="0">
                <a:latin typeface="Times New Roman"/>
                <a:cs typeface="Times New Roman"/>
              </a:rPr>
              <a:t>Analysis</a:t>
            </a:r>
            <a:endParaRPr sz="1600">
              <a:latin typeface="Times New Roman"/>
              <a:cs typeface="Times New Roman"/>
            </a:endParaRPr>
          </a:p>
          <a:p>
            <a:pPr marL="12700" marR="6985" algn="just">
              <a:lnSpc>
                <a:spcPct val="143800"/>
              </a:lnSpc>
              <a:spcBef>
                <a:spcPts val="1639"/>
              </a:spcBef>
            </a:pP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chapter</a:t>
            </a:r>
            <a:r>
              <a:rPr sz="1200" spc="-35" dirty="0">
                <a:latin typeface="Times New Roman"/>
                <a:cs typeface="Times New Roman"/>
              </a:rPr>
              <a:t> </a:t>
            </a:r>
            <a:r>
              <a:rPr sz="1200" dirty="0">
                <a:latin typeface="Times New Roman"/>
                <a:cs typeface="Times New Roman"/>
              </a:rPr>
              <a:t>delves</a:t>
            </a:r>
            <a:r>
              <a:rPr sz="1200" spc="-35"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comprehensive</a:t>
            </a:r>
            <a:r>
              <a:rPr sz="1200" spc="-35" dirty="0">
                <a:latin typeface="Times New Roman"/>
                <a:cs typeface="Times New Roman"/>
              </a:rPr>
              <a:t> </a:t>
            </a:r>
            <a:r>
              <a:rPr sz="1200" dirty="0">
                <a:latin typeface="Times New Roman"/>
                <a:cs typeface="Times New Roman"/>
              </a:rPr>
              <a:t>analysis</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requirements</a:t>
            </a:r>
            <a:r>
              <a:rPr sz="1200" spc="-1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project</a:t>
            </a:r>
            <a:r>
              <a:rPr sz="1200" b="1" spc="-10" dirty="0">
                <a:latin typeface="Times New Roman"/>
                <a:cs typeface="Times New Roman"/>
              </a:rPr>
              <a:t>,</a:t>
            </a:r>
            <a:r>
              <a:rPr sz="1200" b="1" spc="-30" dirty="0">
                <a:latin typeface="Times New Roman"/>
                <a:cs typeface="Times New Roman"/>
              </a:rPr>
              <a:t> </a:t>
            </a:r>
            <a:r>
              <a:rPr sz="1200" spc="-10" dirty="0">
                <a:latin typeface="Times New Roman"/>
                <a:cs typeface="Times New Roman"/>
              </a:rPr>
              <a:t>"Auction </a:t>
            </a:r>
            <a:r>
              <a:rPr sz="1200" dirty="0">
                <a:latin typeface="Times New Roman"/>
                <a:cs typeface="Times New Roman"/>
              </a:rPr>
              <a:t>Abode:</a:t>
            </a:r>
            <a:r>
              <a:rPr sz="1200" spc="5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50" dirty="0">
                <a:latin typeface="Times New Roman"/>
                <a:cs typeface="Times New Roman"/>
              </a:rPr>
              <a:t> </a:t>
            </a:r>
            <a:r>
              <a:rPr sz="1200" dirty="0">
                <a:latin typeface="Times New Roman"/>
                <a:cs typeface="Times New Roman"/>
              </a:rPr>
              <a:t>Real</a:t>
            </a:r>
            <a:r>
              <a:rPr sz="1200" spc="65" dirty="0">
                <a:latin typeface="Times New Roman"/>
                <a:cs typeface="Times New Roman"/>
              </a:rPr>
              <a:t> </a:t>
            </a:r>
            <a:r>
              <a:rPr sz="1200" dirty="0">
                <a:latin typeface="Times New Roman"/>
                <a:cs typeface="Times New Roman"/>
              </a:rPr>
              <a:t>Estate</a:t>
            </a:r>
            <a:r>
              <a:rPr sz="1200" spc="50" dirty="0">
                <a:latin typeface="Times New Roman"/>
                <a:cs typeface="Times New Roman"/>
              </a:rPr>
              <a:t> </a:t>
            </a:r>
            <a:r>
              <a:rPr sz="1200" dirty="0">
                <a:latin typeface="Times New Roman"/>
                <a:cs typeface="Times New Roman"/>
              </a:rPr>
              <a:t>Bidding</a:t>
            </a:r>
            <a:r>
              <a:rPr sz="1200" spc="50" dirty="0">
                <a:latin typeface="Times New Roman"/>
                <a:cs typeface="Times New Roman"/>
              </a:rPr>
              <a:t> </a:t>
            </a:r>
            <a:r>
              <a:rPr sz="1200" dirty="0">
                <a:latin typeface="Times New Roman"/>
                <a:cs typeface="Times New Roman"/>
              </a:rPr>
              <a:t>Platform."</a:t>
            </a:r>
            <a:r>
              <a:rPr sz="1200" spc="70" dirty="0">
                <a:latin typeface="Times New Roman"/>
                <a:cs typeface="Times New Roman"/>
              </a:rPr>
              <a:t> </a:t>
            </a:r>
            <a:r>
              <a:rPr sz="1200" dirty="0">
                <a:latin typeface="Times New Roman"/>
                <a:cs typeface="Times New Roman"/>
              </a:rPr>
              <a:t>Central</a:t>
            </a:r>
            <a:r>
              <a:rPr sz="1200" spc="55" dirty="0">
                <a:latin typeface="Times New Roman"/>
                <a:cs typeface="Times New Roman"/>
              </a:rPr>
              <a:t> </a:t>
            </a:r>
            <a:r>
              <a:rPr sz="1200" dirty="0">
                <a:latin typeface="Times New Roman"/>
                <a:cs typeface="Times New Roman"/>
              </a:rPr>
              <a:t>to</a:t>
            </a:r>
            <a:r>
              <a:rPr sz="1200" spc="55" dirty="0">
                <a:latin typeface="Times New Roman"/>
                <a:cs typeface="Times New Roman"/>
              </a:rPr>
              <a:t> </a:t>
            </a:r>
            <a:r>
              <a:rPr sz="1200" dirty="0">
                <a:latin typeface="Times New Roman"/>
                <a:cs typeface="Times New Roman"/>
              </a:rPr>
              <a:t>this</a:t>
            </a:r>
            <a:r>
              <a:rPr sz="1200" spc="55" dirty="0">
                <a:latin typeface="Times New Roman"/>
                <a:cs typeface="Times New Roman"/>
              </a:rPr>
              <a:t> </a:t>
            </a:r>
            <a:r>
              <a:rPr sz="1200" dirty="0">
                <a:latin typeface="Times New Roman"/>
                <a:cs typeface="Times New Roman"/>
              </a:rPr>
              <a:t>analysis</a:t>
            </a:r>
            <a:r>
              <a:rPr sz="1200" spc="55" dirty="0">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spc="-10" dirty="0">
                <a:latin typeface="Times New Roman"/>
                <a:cs typeface="Times New Roman"/>
              </a:rPr>
              <a:t>Software Requirements</a:t>
            </a:r>
            <a:r>
              <a:rPr sz="1200" spc="-25" dirty="0">
                <a:latin typeface="Times New Roman"/>
                <a:cs typeface="Times New Roman"/>
              </a:rPr>
              <a:t> </a:t>
            </a:r>
            <a:r>
              <a:rPr sz="1200" spc="-10" dirty="0">
                <a:latin typeface="Times New Roman"/>
                <a:cs typeface="Times New Roman"/>
              </a:rPr>
              <a:t>Specification</a:t>
            </a:r>
            <a:r>
              <a:rPr sz="1200" spc="-20" dirty="0">
                <a:latin typeface="Times New Roman"/>
                <a:cs typeface="Times New Roman"/>
              </a:rPr>
              <a:t> </a:t>
            </a:r>
            <a:r>
              <a:rPr sz="1200" dirty="0">
                <a:latin typeface="Times New Roman"/>
                <a:cs typeface="Times New Roman"/>
              </a:rPr>
              <a:t>(SRS)</a:t>
            </a:r>
            <a:r>
              <a:rPr sz="1200" spc="-25" dirty="0">
                <a:latin typeface="Times New Roman"/>
                <a:cs typeface="Times New Roman"/>
              </a:rPr>
              <a:t> </a:t>
            </a:r>
            <a:r>
              <a:rPr sz="1200" dirty="0">
                <a:latin typeface="Times New Roman"/>
                <a:cs typeface="Times New Roman"/>
              </a:rPr>
              <a:t>document,</a:t>
            </a:r>
            <a:r>
              <a:rPr sz="1200" spc="-2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serves</a:t>
            </a:r>
            <a:r>
              <a:rPr sz="1200" spc="-20"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foundation</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defining</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essential</a:t>
            </a:r>
            <a:r>
              <a:rPr sz="1200" spc="165" dirty="0">
                <a:latin typeface="Times New Roman"/>
                <a:cs typeface="Times New Roman"/>
              </a:rPr>
              <a:t> </a:t>
            </a:r>
            <a:r>
              <a:rPr sz="1200" dirty="0">
                <a:latin typeface="Times New Roman"/>
                <a:cs typeface="Times New Roman"/>
              </a:rPr>
              <a:t>functionalities,</a:t>
            </a:r>
            <a:r>
              <a:rPr sz="1200" spc="180" dirty="0">
                <a:latin typeface="Times New Roman"/>
                <a:cs typeface="Times New Roman"/>
              </a:rPr>
              <a:t> </a:t>
            </a:r>
            <a:r>
              <a:rPr sz="1200" dirty="0">
                <a:latin typeface="Times New Roman"/>
                <a:cs typeface="Times New Roman"/>
              </a:rPr>
              <a:t>features,</a:t>
            </a:r>
            <a:r>
              <a:rPr sz="1200" spc="175" dirty="0">
                <a:latin typeface="Times New Roman"/>
                <a:cs typeface="Times New Roman"/>
              </a:rPr>
              <a:t> </a:t>
            </a:r>
            <a:r>
              <a:rPr sz="1200" dirty="0">
                <a:latin typeface="Times New Roman"/>
                <a:cs typeface="Times New Roman"/>
              </a:rPr>
              <a:t>and</a:t>
            </a:r>
            <a:r>
              <a:rPr sz="1200" spc="180" dirty="0">
                <a:latin typeface="Times New Roman"/>
                <a:cs typeface="Times New Roman"/>
              </a:rPr>
              <a:t> </a:t>
            </a:r>
            <a:r>
              <a:rPr sz="1200" dirty="0">
                <a:latin typeface="Times New Roman"/>
                <a:cs typeface="Times New Roman"/>
              </a:rPr>
              <a:t>technical</a:t>
            </a:r>
            <a:r>
              <a:rPr sz="1200" spc="190" dirty="0">
                <a:latin typeface="Times New Roman"/>
                <a:cs typeface="Times New Roman"/>
              </a:rPr>
              <a:t> </a:t>
            </a:r>
            <a:r>
              <a:rPr sz="1200" dirty="0">
                <a:latin typeface="Times New Roman"/>
                <a:cs typeface="Times New Roman"/>
              </a:rPr>
              <a:t>specifications</a:t>
            </a:r>
            <a:r>
              <a:rPr sz="1200" spc="200" dirty="0">
                <a:latin typeface="Times New Roman"/>
                <a:cs typeface="Times New Roman"/>
              </a:rPr>
              <a:t> </a:t>
            </a:r>
            <a:r>
              <a:rPr sz="1200" dirty="0">
                <a:latin typeface="Times New Roman"/>
                <a:cs typeface="Times New Roman"/>
              </a:rPr>
              <a:t>required</a:t>
            </a:r>
            <a:r>
              <a:rPr sz="1200" spc="175" dirty="0">
                <a:latin typeface="Times New Roman"/>
                <a:cs typeface="Times New Roman"/>
              </a:rPr>
              <a:t> </a:t>
            </a:r>
            <a:r>
              <a:rPr sz="1200" dirty="0">
                <a:latin typeface="Times New Roman"/>
                <a:cs typeface="Times New Roman"/>
              </a:rPr>
              <a:t>for</a:t>
            </a:r>
            <a:r>
              <a:rPr sz="1200" spc="175" dirty="0">
                <a:latin typeface="Times New Roman"/>
                <a:cs typeface="Times New Roman"/>
              </a:rPr>
              <a:t> </a:t>
            </a:r>
            <a:r>
              <a:rPr sz="1200" dirty="0">
                <a:latin typeface="Times New Roman"/>
                <a:cs typeface="Times New Roman"/>
              </a:rPr>
              <a:t>the</a:t>
            </a:r>
            <a:r>
              <a:rPr sz="1200" spc="175" dirty="0">
                <a:latin typeface="Times New Roman"/>
                <a:cs typeface="Times New Roman"/>
              </a:rPr>
              <a:t> </a:t>
            </a:r>
            <a:r>
              <a:rPr sz="1200" spc="-10" dirty="0">
                <a:latin typeface="Times New Roman"/>
                <a:cs typeface="Times New Roman"/>
              </a:rPr>
              <a:t>platform’s </a:t>
            </a:r>
            <a:r>
              <a:rPr sz="1200" dirty="0">
                <a:latin typeface="Times New Roman"/>
                <a:cs typeface="Times New Roman"/>
              </a:rPr>
              <a:t>successful development</a:t>
            </a:r>
            <a:r>
              <a:rPr sz="1200" spc="10" dirty="0">
                <a:latin typeface="Times New Roman"/>
                <a:cs typeface="Times New Roman"/>
              </a:rPr>
              <a:t> </a:t>
            </a:r>
            <a:r>
              <a:rPr sz="1200" dirty="0">
                <a:latin typeface="Times New Roman"/>
                <a:cs typeface="Times New Roman"/>
              </a:rPr>
              <a:t>and implementation. By</a:t>
            </a:r>
            <a:r>
              <a:rPr sz="1200" spc="10" dirty="0">
                <a:latin typeface="Times New Roman"/>
                <a:cs typeface="Times New Roman"/>
              </a:rPr>
              <a:t> </a:t>
            </a:r>
            <a:r>
              <a:rPr sz="1200" dirty="0">
                <a:latin typeface="Times New Roman"/>
                <a:cs typeface="Times New Roman"/>
              </a:rPr>
              <a:t>detailing the</a:t>
            </a:r>
            <a:r>
              <a:rPr sz="1200" spc="20" dirty="0">
                <a:latin typeface="Times New Roman"/>
                <a:cs typeface="Times New Roman"/>
              </a:rPr>
              <a:t> </a:t>
            </a:r>
            <a:r>
              <a:rPr sz="1200" dirty="0">
                <a:latin typeface="Times New Roman"/>
                <a:cs typeface="Times New Roman"/>
              </a:rPr>
              <a:t>project scope, user</a:t>
            </a:r>
            <a:r>
              <a:rPr sz="1200" spc="5" dirty="0">
                <a:latin typeface="Times New Roman"/>
                <a:cs typeface="Times New Roman"/>
              </a:rPr>
              <a:t> </a:t>
            </a:r>
            <a:r>
              <a:rPr sz="1200" dirty="0">
                <a:latin typeface="Times New Roman"/>
                <a:cs typeface="Times New Roman"/>
              </a:rPr>
              <a:t>needs,</a:t>
            </a:r>
            <a:r>
              <a:rPr sz="1200" spc="5" dirty="0">
                <a:latin typeface="Times New Roman"/>
                <a:cs typeface="Times New Roman"/>
              </a:rPr>
              <a:t> </a:t>
            </a:r>
            <a:r>
              <a:rPr sz="1200" spc="-25" dirty="0">
                <a:latin typeface="Times New Roman"/>
                <a:cs typeface="Times New Roman"/>
              </a:rPr>
              <a:t>and </a:t>
            </a:r>
            <a:r>
              <a:rPr sz="1200" dirty="0">
                <a:latin typeface="Times New Roman"/>
                <a:cs typeface="Times New Roman"/>
              </a:rPr>
              <a:t>system</a:t>
            </a:r>
            <a:r>
              <a:rPr sz="1200" spc="55" dirty="0">
                <a:latin typeface="Times New Roman"/>
                <a:cs typeface="Times New Roman"/>
              </a:rPr>
              <a:t> </a:t>
            </a:r>
            <a:r>
              <a:rPr sz="1200" dirty="0">
                <a:latin typeface="Times New Roman"/>
                <a:cs typeface="Times New Roman"/>
              </a:rPr>
              <a:t>constraints,</a:t>
            </a:r>
            <a:r>
              <a:rPr sz="1200" spc="5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SRS</a:t>
            </a:r>
            <a:r>
              <a:rPr sz="1200" spc="55" dirty="0">
                <a:latin typeface="Times New Roman"/>
                <a:cs typeface="Times New Roman"/>
              </a:rPr>
              <a:t> </a:t>
            </a:r>
            <a:r>
              <a:rPr sz="1200" dirty="0">
                <a:latin typeface="Times New Roman"/>
                <a:cs typeface="Times New Roman"/>
              </a:rPr>
              <a:t>provides</a:t>
            </a:r>
            <a:r>
              <a:rPr sz="1200" spc="5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structured</a:t>
            </a:r>
            <a:r>
              <a:rPr sz="1200" spc="50" dirty="0">
                <a:latin typeface="Times New Roman"/>
                <a:cs typeface="Times New Roman"/>
              </a:rPr>
              <a:t> </a:t>
            </a:r>
            <a:r>
              <a:rPr sz="1200" dirty="0">
                <a:latin typeface="Times New Roman"/>
                <a:cs typeface="Times New Roman"/>
              </a:rPr>
              <a:t>roadmap</a:t>
            </a:r>
            <a:r>
              <a:rPr sz="1200" spc="5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all</a:t>
            </a:r>
            <a:r>
              <a:rPr sz="1200" spc="60" dirty="0">
                <a:latin typeface="Times New Roman"/>
                <a:cs typeface="Times New Roman"/>
              </a:rPr>
              <a:t> </a:t>
            </a:r>
            <a:r>
              <a:rPr sz="1200" dirty="0">
                <a:latin typeface="Times New Roman"/>
                <a:cs typeface="Times New Roman"/>
              </a:rPr>
              <a:t>subsequent</a:t>
            </a:r>
            <a:r>
              <a:rPr sz="1200" spc="55" dirty="0">
                <a:latin typeface="Times New Roman"/>
                <a:cs typeface="Times New Roman"/>
              </a:rPr>
              <a:t> </a:t>
            </a:r>
            <a:r>
              <a:rPr sz="1200" dirty="0">
                <a:latin typeface="Times New Roman"/>
                <a:cs typeface="Times New Roman"/>
              </a:rPr>
              <a:t>phases</a:t>
            </a:r>
            <a:r>
              <a:rPr sz="1200" spc="5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project.</a:t>
            </a:r>
            <a:endParaRPr sz="1200">
              <a:latin typeface="Times New Roman"/>
              <a:cs typeface="Times New Roman"/>
            </a:endParaRPr>
          </a:p>
          <a:p>
            <a:pPr>
              <a:lnSpc>
                <a:spcPct val="100000"/>
              </a:lnSpc>
              <a:spcBef>
                <a:spcPts val="20"/>
              </a:spcBef>
            </a:pPr>
            <a:endParaRPr sz="1200">
              <a:latin typeface="Times New Roman"/>
              <a:cs typeface="Times New Roman"/>
            </a:endParaRPr>
          </a:p>
          <a:p>
            <a:pPr marL="12700" marR="6350" algn="just">
              <a:lnSpc>
                <a:spcPct val="143700"/>
              </a:lnSpc>
            </a:pP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chapter</a:t>
            </a:r>
            <a:r>
              <a:rPr sz="1200" spc="200" dirty="0">
                <a:latin typeface="Times New Roman"/>
                <a:cs typeface="Times New Roman"/>
              </a:rPr>
              <a:t> </a:t>
            </a:r>
            <a:r>
              <a:rPr sz="1200" dirty="0">
                <a:latin typeface="Times New Roman"/>
                <a:cs typeface="Times New Roman"/>
              </a:rPr>
              <a:t>highlights</a:t>
            </a:r>
            <a:r>
              <a:rPr sz="1200" spc="204" dirty="0">
                <a:latin typeface="Times New Roman"/>
                <a:cs typeface="Times New Roman"/>
              </a:rPr>
              <a:t> </a:t>
            </a: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importance</a:t>
            </a:r>
            <a:r>
              <a:rPr sz="1200" spc="195" dirty="0">
                <a:latin typeface="Times New Roman"/>
                <a:cs typeface="Times New Roman"/>
              </a:rPr>
              <a:t> </a:t>
            </a:r>
            <a:r>
              <a:rPr sz="1200" dirty="0">
                <a:latin typeface="Times New Roman"/>
                <a:cs typeface="Times New Roman"/>
              </a:rPr>
              <a:t>of</a:t>
            </a:r>
            <a:r>
              <a:rPr sz="1200" spc="220" dirty="0">
                <a:latin typeface="Times New Roman"/>
                <a:cs typeface="Times New Roman"/>
              </a:rPr>
              <a:t> </a:t>
            </a:r>
            <a:r>
              <a:rPr sz="1200" dirty="0">
                <a:latin typeface="Times New Roman"/>
                <a:cs typeface="Times New Roman"/>
              </a:rPr>
              <a:t>requirement</a:t>
            </a:r>
            <a:r>
              <a:rPr sz="1200" spc="200" dirty="0">
                <a:latin typeface="Times New Roman"/>
                <a:cs typeface="Times New Roman"/>
              </a:rPr>
              <a:t> </a:t>
            </a:r>
            <a:r>
              <a:rPr sz="1200" dirty="0">
                <a:latin typeface="Times New Roman"/>
                <a:cs typeface="Times New Roman"/>
              </a:rPr>
              <a:t>gathering</a:t>
            </a:r>
            <a:r>
              <a:rPr sz="1200" spc="215" dirty="0">
                <a:latin typeface="Times New Roman"/>
                <a:cs typeface="Times New Roman"/>
              </a:rPr>
              <a:t> </a:t>
            </a:r>
            <a:r>
              <a:rPr sz="1200" dirty="0">
                <a:latin typeface="Times New Roman"/>
                <a:cs typeface="Times New Roman"/>
              </a:rPr>
              <a:t>in</a:t>
            </a:r>
            <a:r>
              <a:rPr sz="1200" spc="204" dirty="0">
                <a:latin typeface="Times New Roman"/>
                <a:cs typeface="Times New Roman"/>
              </a:rPr>
              <a:t> </a:t>
            </a:r>
            <a:r>
              <a:rPr sz="1200" dirty="0">
                <a:latin typeface="Times New Roman"/>
                <a:cs typeface="Times New Roman"/>
              </a:rPr>
              <a:t>shaping</a:t>
            </a:r>
            <a:r>
              <a:rPr sz="1200" spc="204" dirty="0">
                <a:latin typeface="Times New Roman"/>
                <a:cs typeface="Times New Roman"/>
              </a:rPr>
              <a:t> </a:t>
            </a:r>
            <a:r>
              <a:rPr sz="1200" dirty="0">
                <a:latin typeface="Times New Roman"/>
                <a:cs typeface="Times New Roman"/>
              </a:rPr>
              <a:t>the</a:t>
            </a:r>
            <a:r>
              <a:rPr sz="1200" spc="204" dirty="0">
                <a:latin typeface="Times New Roman"/>
                <a:cs typeface="Times New Roman"/>
              </a:rPr>
              <a:t> </a:t>
            </a:r>
            <a:r>
              <a:rPr sz="1200" spc="-10" dirty="0">
                <a:latin typeface="Times New Roman"/>
                <a:cs typeface="Times New Roman"/>
              </a:rPr>
              <a:t>project’s direction.</a:t>
            </a:r>
            <a:r>
              <a:rPr sz="1200" spc="-35" dirty="0">
                <a:latin typeface="Times New Roman"/>
                <a:cs typeface="Times New Roman"/>
              </a:rPr>
              <a:t> </a:t>
            </a:r>
            <a:r>
              <a:rPr sz="1200" dirty="0">
                <a:latin typeface="Times New Roman"/>
                <a:cs typeface="Times New Roman"/>
              </a:rPr>
              <a:t>Through</a:t>
            </a:r>
            <a:r>
              <a:rPr sz="1200" spc="-25" dirty="0">
                <a:latin typeface="Times New Roman"/>
                <a:cs typeface="Times New Roman"/>
              </a:rPr>
              <a:t> </a:t>
            </a:r>
            <a:r>
              <a:rPr sz="1200" spc="-10" dirty="0">
                <a:latin typeface="Times New Roman"/>
                <a:cs typeface="Times New Roman"/>
              </a:rPr>
              <a:t>detailed</a:t>
            </a:r>
            <a:r>
              <a:rPr sz="1200" spc="-30" dirty="0">
                <a:latin typeface="Times New Roman"/>
                <a:cs typeface="Times New Roman"/>
              </a:rPr>
              <a:t> </a:t>
            </a:r>
            <a:r>
              <a:rPr sz="1200" spc="-10" dirty="0">
                <a:latin typeface="Times New Roman"/>
                <a:cs typeface="Times New Roman"/>
              </a:rPr>
              <a:t>analysis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continuous</a:t>
            </a:r>
            <a:r>
              <a:rPr sz="1200" spc="-35" dirty="0">
                <a:latin typeface="Times New Roman"/>
                <a:cs typeface="Times New Roman"/>
              </a:rPr>
              <a:t> </a:t>
            </a:r>
            <a:r>
              <a:rPr sz="1200" spc="-10" dirty="0">
                <a:latin typeface="Times New Roman"/>
                <a:cs typeface="Times New Roman"/>
              </a:rPr>
              <a:t>stakeholder</a:t>
            </a:r>
            <a:r>
              <a:rPr sz="1200" spc="-35" dirty="0">
                <a:latin typeface="Times New Roman"/>
                <a:cs typeface="Times New Roman"/>
              </a:rPr>
              <a:t> </a:t>
            </a:r>
            <a:r>
              <a:rPr sz="1200" spc="-10" dirty="0">
                <a:latin typeface="Times New Roman"/>
                <a:cs typeface="Times New Roman"/>
              </a:rPr>
              <a:t>engagement,</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project</a:t>
            </a:r>
            <a:r>
              <a:rPr sz="1200" spc="-30" dirty="0">
                <a:latin typeface="Times New Roman"/>
                <a:cs typeface="Times New Roman"/>
              </a:rPr>
              <a:t> </a:t>
            </a:r>
            <a:r>
              <a:rPr sz="1200" spc="-20" dirty="0">
                <a:latin typeface="Times New Roman"/>
                <a:cs typeface="Times New Roman"/>
              </a:rPr>
              <a:t>team </a:t>
            </a:r>
            <a:r>
              <a:rPr sz="1200" dirty="0">
                <a:latin typeface="Times New Roman"/>
                <a:cs typeface="Times New Roman"/>
              </a:rPr>
              <a:t>ensures</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clear</a:t>
            </a:r>
            <a:r>
              <a:rPr sz="1200" spc="30" dirty="0">
                <a:latin typeface="Times New Roman"/>
                <a:cs typeface="Times New Roman"/>
              </a:rPr>
              <a:t> </a:t>
            </a:r>
            <a:r>
              <a:rPr sz="1200" dirty="0">
                <a:latin typeface="Times New Roman"/>
                <a:cs typeface="Times New Roman"/>
              </a:rPr>
              <a:t>understanding</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expectations,</a:t>
            </a:r>
            <a:r>
              <a:rPr sz="1200" spc="35" dirty="0">
                <a:latin typeface="Times New Roman"/>
                <a:cs typeface="Times New Roman"/>
              </a:rPr>
              <a:t> </a:t>
            </a:r>
            <a:r>
              <a:rPr sz="1200" dirty="0">
                <a:latin typeface="Times New Roman"/>
                <a:cs typeface="Times New Roman"/>
              </a:rPr>
              <a:t>market</a:t>
            </a:r>
            <a:r>
              <a:rPr sz="1200" spc="35" dirty="0">
                <a:latin typeface="Times New Roman"/>
                <a:cs typeface="Times New Roman"/>
              </a:rPr>
              <a:t> </a:t>
            </a:r>
            <a:r>
              <a:rPr sz="1200" dirty="0">
                <a:latin typeface="Times New Roman"/>
                <a:cs typeface="Times New Roman"/>
              </a:rPr>
              <a:t>demands,</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spc="-10" dirty="0">
                <a:latin typeface="Times New Roman"/>
                <a:cs typeface="Times New Roman"/>
              </a:rPr>
              <a:t>concerns</a:t>
            </a:r>
            <a:r>
              <a:rPr sz="1200" b="1" spc="-10" dirty="0">
                <a:latin typeface="Times New Roman"/>
                <a:cs typeface="Times New Roman"/>
              </a:rPr>
              <a:t>. </a:t>
            </a:r>
            <a:r>
              <a:rPr sz="1200" dirty="0">
                <a:latin typeface="Times New Roman"/>
                <a:cs typeface="Times New Roman"/>
              </a:rPr>
              <a:t>This systematic approach</a:t>
            </a:r>
            <a:r>
              <a:rPr sz="1200" spc="15" dirty="0">
                <a:latin typeface="Times New Roman"/>
                <a:cs typeface="Times New Roman"/>
              </a:rPr>
              <a:t> </a:t>
            </a:r>
            <a:r>
              <a:rPr sz="1200" dirty="0">
                <a:latin typeface="Times New Roman"/>
                <a:cs typeface="Times New Roman"/>
              </a:rPr>
              <a:t>facilitates the</a:t>
            </a:r>
            <a:r>
              <a:rPr sz="1200" spc="15" dirty="0">
                <a:latin typeface="Times New Roman"/>
                <a:cs typeface="Times New Roman"/>
              </a:rPr>
              <a:t> </a:t>
            </a:r>
            <a:r>
              <a:rPr sz="1200" dirty="0">
                <a:latin typeface="Times New Roman"/>
                <a:cs typeface="Times New Roman"/>
              </a:rPr>
              <a:t>identification of key use</a:t>
            </a:r>
            <a:r>
              <a:rPr sz="1200" spc="-5" dirty="0">
                <a:latin typeface="Times New Roman"/>
                <a:cs typeface="Times New Roman"/>
              </a:rPr>
              <a:t> </a:t>
            </a:r>
            <a:r>
              <a:rPr sz="1200" dirty="0">
                <a:latin typeface="Times New Roman"/>
                <a:cs typeface="Times New Roman"/>
              </a:rPr>
              <a:t>cases</a:t>
            </a:r>
            <a:r>
              <a:rPr sz="1200" spc="15" dirty="0">
                <a:latin typeface="Times New Roman"/>
                <a:cs typeface="Times New Roman"/>
              </a:rPr>
              <a:t> </a:t>
            </a:r>
            <a:r>
              <a:rPr sz="1200" dirty="0">
                <a:latin typeface="Times New Roman"/>
                <a:cs typeface="Times New Roman"/>
              </a:rPr>
              <a:t>that form</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basis</a:t>
            </a:r>
            <a:r>
              <a:rPr sz="1200" spc="5" dirty="0">
                <a:latin typeface="Times New Roman"/>
                <a:cs typeface="Times New Roman"/>
              </a:rPr>
              <a:t> </a:t>
            </a:r>
            <a:r>
              <a:rPr sz="1200" spc="-25" dirty="0">
                <a:latin typeface="Times New Roman"/>
                <a:cs typeface="Times New Roman"/>
              </a:rPr>
              <a:t>of </a:t>
            </a:r>
            <a:r>
              <a:rPr sz="1200" dirty="0">
                <a:latin typeface="Times New Roman"/>
                <a:cs typeface="Times New Roman"/>
              </a:rPr>
              <a:t>system</a:t>
            </a:r>
            <a:r>
              <a:rPr sz="1200" spc="-20" dirty="0">
                <a:latin typeface="Times New Roman"/>
                <a:cs typeface="Times New Roman"/>
              </a:rPr>
              <a:t> </a:t>
            </a:r>
            <a:r>
              <a:rPr sz="1200" spc="-10" dirty="0">
                <a:latin typeface="Times New Roman"/>
                <a:cs typeface="Times New Roman"/>
              </a:rPr>
              <a:t>development.</a:t>
            </a:r>
            <a:endParaRPr sz="1200">
              <a:latin typeface="Times New Roman"/>
              <a:cs typeface="Times New Roman"/>
            </a:endParaRPr>
          </a:p>
          <a:p>
            <a:pPr>
              <a:lnSpc>
                <a:spcPct val="100000"/>
              </a:lnSpc>
              <a:spcBef>
                <a:spcPts val="645"/>
              </a:spcBef>
            </a:pPr>
            <a:endParaRPr sz="1200">
              <a:latin typeface="Times New Roman"/>
              <a:cs typeface="Times New Roman"/>
            </a:endParaRPr>
          </a:p>
          <a:p>
            <a:pPr marL="12700" algn="just">
              <a:lnSpc>
                <a:spcPct val="100000"/>
              </a:lnSpc>
              <a:spcBef>
                <a:spcPts val="5"/>
              </a:spcBef>
            </a:pPr>
            <a:r>
              <a:rPr sz="1200" dirty="0">
                <a:latin typeface="Times New Roman"/>
                <a:cs typeface="Times New Roman"/>
              </a:rPr>
              <a:t>Key</a:t>
            </a:r>
            <a:r>
              <a:rPr sz="1200" spc="-35" dirty="0">
                <a:latin typeface="Times New Roman"/>
                <a:cs typeface="Times New Roman"/>
              </a:rPr>
              <a:t> </a:t>
            </a:r>
            <a:r>
              <a:rPr sz="1200" dirty="0">
                <a:latin typeface="Times New Roman"/>
                <a:cs typeface="Times New Roman"/>
              </a:rPr>
              <a:t>components</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requirement</a:t>
            </a:r>
            <a:r>
              <a:rPr sz="1200" spc="-35" dirty="0">
                <a:latin typeface="Times New Roman"/>
                <a:cs typeface="Times New Roman"/>
              </a:rPr>
              <a:t> </a:t>
            </a:r>
            <a:r>
              <a:rPr sz="1200" dirty="0">
                <a:latin typeface="Times New Roman"/>
                <a:cs typeface="Times New Roman"/>
              </a:rPr>
              <a:t>analysis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a:lnSpc>
                <a:spcPct val="100000"/>
              </a:lnSpc>
              <a:spcBef>
                <a:spcPts val="25"/>
              </a:spcBef>
            </a:pPr>
            <a:endParaRPr sz="1200">
              <a:latin typeface="Times New Roman"/>
              <a:cs typeface="Times New Roman"/>
            </a:endParaRPr>
          </a:p>
          <a:p>
            <a:pPr marL="469265" marR="6350" indent="-228600" algn="just">
              <a:lnSpc>
                <a:spcPct val="143300"/>
              </a:lnSpc>
              <a:buSzPct val="83333"/>
              <a:buFont typeface="Symbol"/>
              <a:buChar char=""/>
              <a:tabLst>
                <a:tab pos="469265" algn="l"/>
              </a:tabLst>
            </a:pPr>
            <a:r>
              <a:rPr sz="1200" spc="-10" dirty="0">
                <a:latin typeface="Times New Roman"/>
                <a:cs typeface="Times New Roman"/>
              </a:rPr>
              <a:t>Functional</a:t>
            </a:r>
            <a:r>
              <a:rPr sz="1200" spc="-35" dirty="0">
                <a:latin typeface="Times New Roman"/>
                <a:cs typeface="Times New Roman"/>
              </a:rPr>
              <a:t> </a:t>
            </a:r>
            <a:r>
              <a:rPr sz="1200" spc="-10" dirty="0">
                <a:latin typeface="Times New Roman"/>
                <a:cs typeface="Times New Roman"/>
              </a:rPr>
              <a:t>Requirements:</a:t>
            </a:r>
            <a:r>
              <a:rPr sz="1200" spc="-15" dirty="0">
                <a:latin typeface="Times New Roman"/>
                <a:cs typeface="Times New Roman"/>
              </a:rPr>
              <a:t> </a:t>
            </a:r>
            <a:r>
              <a:rPr sz="1200" spc="-10" dirty="0">
                <a:latin typeface="Times New Roman"/>
                <a:cs typeface="Times New Roman"/>
              </a:rPr>
              <a:t>Defining</a:t>
            </a:r>
            <a:r>
              <a:rPr sz="1200" spc="-30" dirty="0">
                <a:latin typeface="Times New Roman"/>
                <a:cs typeface="Times New Roman"/>
              </a:rPr>
              <a:t> </a:t>
            </a:r>
            <a:r>
              <a:rPr sz="1200" spc="-10" dirty="0">
                <a:latin typeface="Times New Roman"/>
                <a:cs typeface="Times New Roman"/>
              </a:rPr>
              <a:t>core</a:t>
            </a:r>
            <a:r>
              <a:rPr sz="1200" spc="-4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capabilities</a:t>
            </a:r>
            <a:r>
              <a:rPr sz="1200" spc="-30" dirty="0">
                <a:latin typeface="Times New Roman"/>
                <a:cs typeface="Times New Roman"/>
              </a:rPr>
              <a:t> </a:t>
            </a:r>
            <a:r>
              <a:rPr sz="1200" dirty="0">
                <a:latin typeface="Times New Roman"/>
                <a:cs typeface="Times New Roman"/>
              </a:rPr>
              <a:t>such</a:t>
            </a:r>
            <a:r>
              <a:rPr sz="1200" spc="-30" dirty="0">
                <a:latin typeface="Times New Roman"/>
                <a:cs typeface="Times New Roman"/>
              </a:rPr>
              <a:t> </a:t>
            </a:r>
            <a:r>
              <a:rPr sz="1200" dirty="0">
                <a:latin typeface="Times New Roman"/>
                <a:cs typeface="Times New Roman"/>
              </a:rPr>
              <a:t>as</a:t>
            </a:r>
            <a:r>
              <a:rPr sz="1200" spc="-20" dirty="0">
                <a:latin typeface="Times New Roman"/>
                <a:cs typeface="Times New Roman"/>
              </a:rPr>
              <a:t> </a:t>
            </a:r>
            <a:r>
              <a:rPr sz="1200" spc="-10" dirty="0">
                <a:latin typeface="Times New Roman"/>
                <a:cs typeface="Times New Roman"/>
              </a:rPr>
              <a:t>real-time</a:t>
            </a:r>
            <a:r>
              <a:rPr sz="1200" spc="-35" dirty="0">
                <a:latin typeface="Times New Roman"/>
                <a:cs typeface="Times New Roman"/>
              </a:rPr>
              <a:t> </a:t>
            </a:r>
            <a:r>
              <a:rPr sz="1200" spc="-10" dirty="0">
                <a:latin typeface="Times New Roman"/>
                <a:cs typeface="Times New Roman"/>
              </a:rPr>
              <a:t>bidding, AI-</a:t>
            </a:r>
            <a:r>
              <a:rPr sz="1200" dirty="0">
                <a:latin typeface="Times New Roman"/>
                <a:cs typeface="Times New Roman"/>
              </a:rPr>
              <a:t>powered</a:t>
            </a:r>
            <a:r>
              <a:rPr sz="1200" spc="-35" dirty="0">
                <a:latin typeface="Times New Roman"/>
                <a:cs typeface="Times New Roman"/>
              </a:rPr>
              <a:t> </a:t>
            </a:r>
            <a:r>
              <a:rPr sz="1200" dirty="0">
                <a:latin typeface="Times New Roman"/>
                <a:cs typeface="Times New Roman"/>
              </a:rPr>
              <a:t>price</a:t>
            </a:r>
            <a:r>
              <a:rPr sz="1200" spc="-40" dirty="0">
                <a:latin typeface="Times New Roman"/>
                <a:cs typeface="Times New Roman"/>
              </a:rPr>
              <a:t> </a:t>
            </a:r>
            <a:r>
              <a:rPr sz="1200" dirty="0">
                <a:latin typeface="Times New Roman"/>
                <a:cs typeface="Times New Roman"/>
              </a:rPr>
              <a:t>prediction,</a:t>
            </a:r>
            <a:r>
              <a:rPr sz="1200" spc="-35" dirty="0">
                <a:latin typeface="Times New Roman"/>
                <a:cs typeface="Times New Roman"/>
              </a:rPr>
              <a:t> </a:t>
            </a:r>
            <a:r>
              <a:rPr sz="1200" dirty="0">
                <a:latin typeface="Times New Roman"/>
                <a:cs typeface="Times New Roman"/>
              </a:rPr>
              <a:t>fraud</a:t>
            </a:r>
            <a:r>
              <a:rPr sz="1200" spc="-30" dirty="0">
                <a:latin typeface="Times New Roman"/>
                <a:cs typeface="Times New Roman"/>
              </a:rPr>
              <a:t> </a:t>
            </a:r>
            <a:r>
              <a:rPr sz="1200" dirty="0">
                <a:latin typeface="Times New Roman"/>
                <a:cs typeface="Times New Roman"/>
              </a:rPr>
              <a:t>detection,</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a:t>
            </a:r>
            <a:r>
              <a:rPr sz="1200" spc="-40" dirty="0">
                <a:latin typeface="Times New Roman"/>
                <a:cs typeface="Times New Roman"/>
              </a:rPr>
              <a:t> </a:t>
            </a:r>
            <a:r>
              <a:rPr sz="1200" dirty="0">
                <a:latin typeface="Times New Roman"/>
                <a:cs typeface="Times New Roman"/>
              </a:rPr>
              <a:t>transaction</a:t>
            </a:r>
            <a:r>
              <a:rPr sz="1200" spc="-35" dirty="0">
                <a:latin typeface="Times New Roman"/>
                <a:cs typeface="Times New Roman"/>
              </a:rPr>
              <a:t> </a:t>
            </a:r>
            <a:r>
              <a:rPr sz="1200" spc="-10" dirty="0">
                <a:latin typeface="Times New Roman"/>
                <a:cs typeface="Times New Roman"/>
              </a:rPr>
              <a:t>management.</a:t>
            </a:r>
            <a:endParaRPr sz="1200">
              <a:latin typeface="Times New Roman"/>
              <a:cs typeface="Times New Roman"/>
            </a:endParaRPr>
          </a:p>
          <a:p>
            <a:pPr marL="469265" marR="5080" indent="-228600" algn="just">
              <a:lnSpc>
                <a:spcPct val="143700"/>
              </a:lnSpc>
              <a:spcBef>
                <a:spcPts val="5"/>
              </a:spcBef>
              <a:buSzPct val="83333"/>
              <a:buFont typeface="Symbol"/>
              <a:buChar char=""/>
              <a:tabLst>
                <a:tab pos="469265" algn="l"/>
              </a:tabLst>
            </a:pPr>
            <a:r>
              <a:rPr sz="1200" spc="-10" dirty="0">
                <a:latin typeface="Times New Roman"/>
                <a:cs typeface="Times New Roman"/>
              </a:rPr>
              <a:t>Non-</a:t>
            </a:r>
            <a:r>
              <a:rPr sz="1200" dirty="0">
                <a:latin typeface="Times New Roman"/>
                <a:cs typeface="Times New Roman"/>
              </a:rPr>
              <a:t>Functional</a:t>
            </a:r>
            <a:r>
              <a:rPr sz="1200" spc="195" dirty="0">
                <a:latin typeface="Times New Roman"/>
                <a:cs typeface="Times New Roman"/>
              </a:rPr>
              <a:t> </a:t>
            </a:r>
            <a:r>
              <a:rPr sz="1200" dirty="0">
                <a:latin typeface="Times New Roman"/>
                <a:cs typeface="Times New Roman"/>
              </a:rPr>
              <a:t>Requirements:</a:t>
            </a:r>
            <a:r>
              <a:rPr sz="1200" spc="215" dirty="0">
                <a:latin typeface="Times New Roman"/>
                <a:cs typeface="Times New Roman"/>
              </a:rPr>
              <a:t> </a:t>
            </a:r>
            <a:r>
              <a:rPr sz="1200" dirty="0">
                <a:latin typeface="Times New Roman"/>
                <a:cs typeface="Times New Roman"/>
              </a:rPr>
              <a:t>Addressing</a:t>
            </a:r>
            <a:r>
              <a:rPr sz="1200" spc="195" dirty="0">
                <a:latin typeface="Times New Roman"/>
                <a:cs typeface="Times New Roman"/>
              </a:rPr>
              <a:t> </a:t>
            </a:r>
            <a:r>
              <a:rPr sz="1200" dirty="0">
                <a:latin typeface="Times New Roman"/>
                <a:cs typeface="Times New Roman"/>
              </a:rPr>
              <a:t>performance</a:t>
            </a:r>
            <a:r>
              <a:rPr sz="1200" spc="190" dirty="0">
                <a:latin typeface="Times New Roman"/>
                <a:cs typeface="Times New Roman"/>
              </a:rPr>
              <a:t> </a:t>
            </a:r>
            <a:r>
              <a:rPr sz="1200" dirty="0">
                <a:latin typeface="Times New Roman"/>
                <a:cs typeface="Times New Roman"/>
              </a:rPr>
              <a:t>metrics,</a:t>
            </a:r>
            <a:r>
              <a:rPr sz="1200" spc="195" dirty="0">
                <a:latin typeface="Times New Roman"/>
                <a:cs typeface="Times New Roman"/>
              </a:rPr>
              <a:t> </a:t>
            </a:r>
            <a:r>
              <a:rPr sz="1200" dirty="0">
                <a:latin typeface="Times New Roman"/>
                <a:cs typeface="Times New Roman"/>
              </a:rPr>
              <a:t>including</a:t>
            </a:r>
            <a:r>
              <a:rPr sz="1200" spc="200" dirty="0">
                <a:latin typeface="Times New Roman"/>
                <a:cs typeface="Times New Roman"/>
              </a:rPr>
              <a:t> </a:t>
            </a:r>
            <a:r>
              <a:rPr sz="1200" spc="-10" dirty="0">
                <a:latin typeface="Times New Roman"/>
                <a:cs typeface="Times New Roman"/>
              </a:rPr>
              <a:t>system </a:t>
            </a:r>
            <a:r>
              <a:rPr sz="1200" dirty="0">
                <a:latin typeface="Times New Roman"/>
                <a:cs typeface="Times New Roman"/>
              </a:rPr>
              <a:t>reliability,</a:t>
            </a:r>
            <a:r>
              <a:rPr sz="1200" spc="-10" dirty="0">
                <a:latin typeface="Times New Roman"/>
                <a:cs typeface="Times New Roman"/>
              </a:rPr>
              <a:t> </a:t>
            </a:r>
            <a:r>
              <a:rPr sz="1200" dirty="0">
                <a:latin typeface="Times New Roman"/>
                <a:cs typeface="Times New Roman"/>
              </a:rPr>
              <a:t>scalability,</a:t>
            </a:r>
            <a:r>
              <a:rPr sz="1200" spc="-5" dirty="0">
                <a:latin typeface="Times New Roman"/>
                <a:cs typeface="Times New Roman"/>
              </a:rPr>
              <a:t> </a:t>
            </a:r>
            <a:r>
              <a:rPr sz="1200" dirty="0">
                <a:latin typeface="Times New Roman"/>
                <a:cs typeface="Times New Roman"/>
              </a:rPr>
              <a:t>low-latency</a:t>
            </a:r>
            <a:r>
              <a:rPr sz="1200" spc="-10" dirty="0">
                <a:latin typeface="Times New Roman"/>
                <a:cs typeface="Times New Roman"/>
              </a:rPr>
              <a:t> </a:t>
            </a:r>
            <a:r>
              <a:rPr sz="1200" dirty="0">
                <a:latin typeface="Times New Roman"/>
                <a:cs typeface="Times New Roman"/>
              </a:rPr>
              <a:t>bid</a:t>
            </a:r>
            <a:r>
              <a:rPr sz="1200" spc="-5" dirty="0">
                <a:latin typeface="Times New Roman"/>
                <a:cs typeface="Times New Roman"/>
              </a:rPr>
              <a:t> </a:t>
            </a:r>
            <a:r>
              <a:rPr sz="1200" dirty="0">
                <a:latin typeface="Times New Roman"/>
                <a:cs typeface="Times New Roman"/>
              </a:rPr>
              <a:t>processing,</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compliance</a:t>
            </a:r>
            <a:r>
              <a:rPr sz="1200" spc="-10" dirty="0">
                <a:latin typeface="Times New Roman"/>
                <a:cs typeface="Times New Roman"/>
              </a:rPr>
              <a:t> </a:t>
            </a:r>
            <a:r>
              <a:rPr sz="1200" dirty="0">
                <a:latin typeface="Times New Roman"/>
                <a:cs typeface="Times New Roman"/>
              </a:rPr>
              <a:t>with</a:t>
            </a:r>
            <a:r>
              <a:rPr sz="1200" spc="-5" dirty="0">
                <a:latin typeface="Times New Roman"/>
                <a:cs typeface="Times New Roman"/>
              </a:rPr>
              <a:t> </a:t>
            </a:r>
            <a:r>
              <a:rPr sz="1200" dirty="0">
                <a:latin typeface="Times New Roman"/>
                <a:cs typeface="Times New Roman"/>
              </a:rPr>
              <a:t>data</a:t>
            </a:r>
            <a:r>
              <a:rPr sz="1200" spc="-10" dirty="0">
                <a:latin typeface="Times New Roman"/>
                <a:cs typeface="Times New Roman"/>
              </a:rPr>
              <a:t> security standards.</a:t>
            </a:r>
            <a:endParaRPr sz="1200">
              <a:latin typeface="Times New Roman"/>
              <a:cs typeface="Times New Roman"/>
            </a:endParaRPr>
          </a:p>
          <a:p>
            <a:pPr marL="469265" marR="6350" indent="-228600" algn="just">
              <a:lnSpc>
                <a:spcPts val="2080"/>
              </a:lnSpc>
              <a:spcBef>
                <a:spcPts val="160"/>
              </a:spcBef>
              <a:buSzPct val="83333"/>
              <a:buFont typeface="Symbol"/>
              <a:buChar char=""/>
              <a:tabLst>
                <a:tab pos="469265" algn="l"/>
              </a:tabLst>
            </a:pPr>
            <a:r>
              <a:rPr sz="1200" dirty="0">
                <a:latin typeface="Times New Roman"/>
                <a:cs typeface="Times New Roman"/>
              </a:rPr>
              <a:t>User</a:t>
            </a:r>
            <a:r>
              <a:rPr sz="1200" spc="455" dirty="0">
                <a:latin typeface="Times New Roman"/>
                <a:cs typeface="Times New Roman"/>
              </a:rPr>
              <a:t> </a:t>
            </a:r>
            <a:r>
              <a:rPr sz="1200" dirty="0">
                <a:latin typeface="Times New Roman"/>
                <a:cs typeface="Times New Roman"/>
              </a:rPr>
              <a:t>Requirements:</a:t>
            </a:r>
            <a:r>
              <a:rPr sz="1200" spc="475" dirty="0">
                <a:latin typeface="Times New Roman"/>
                <a:cs typeface="Times New Roman"/>
              </a:rPr>
              <a:t> </a:t>
            </a:r>
            <a:r>
              <a:rPr sz="1200" dirty="0">
                <a:latin typeface="Times New Roman"/>
                <a:cs typeface="Times New Roman"/>
              </a:rPr>
              <a:t>Understanding</a:t>
            </a:r>
            <a:r>
              <a:rPr sz="1200" spc="465" dirty="0">
                <a:latin typeface="Times New Roman"/>
                <a:cs typeface="Times New Roman"/>
              </a:rPr>
              <a:t> </a:t>
            </a:r>
            <a:r>
              <a:rPr sz="1200" dirty="0">
                <a:latin typeface="Times New Roman"/>
                <a:cs typeface="Times New Roman"/>
              </a:rPr>
              <a:t>the</a:t>
            </a:r>
            <a:r>
              <a:rPr sz="1200" spc="465" dirty="0">
                <a:latin typeface="Times New Roman"/>
                <a:cs typeface="Times New Roman"/>
              </a:rPr>
              <a:t> </a:t>
            </a:r>
            <a:r>
              <a:rPr sz="1200" dirty="0">
                <a:latin typeface="Times New Roman"/>
                <a:cs typeface="Times New Roman"/>
              </a:rPr>
              <a:t>specific</a:t>
            </a:r>
            <a:r>
              <a:rPr sz="1200" spc="465" dirty="0">
                <a:latin typeface="Times New Roman"/>
                <a:cs typeface="Times New Roman"/>
              </a:rPr>
              <a:t> </a:t>
            </a:r>
            <a:r>
              <a:rPr sz="1200" dirty="0">
                <a:latin typeface="Times New Roman"/>
                <a:cs typeface="Times New Roman"/>
              </a:rPr>
              <a:t>needs</a:t>
            </a:r>
            <a:r>
              <a:rPr sz="1200" spc="459" dirty="0">
                <a:latin typeface="Times New Roman"/>
                <a:cs typeface="Times New Roman"/>
              </a:rPr>
              <a:t> </a:t>
            </a:r>
            <a:r>
              <a:rPr sz="1200" dirty="0">
                <a:latin typeface="Times New Roman"/>
                <a:cs typeface="Times New Roman"/>
              </a:rPr>
              <a:t>of</a:t>
            </a:r>
            <a:r>
              <a:rPr sz="1200" spc="465" dirty="0">
                <a:latin typeface="Times New Roman"/>
                <a:cs typeface="Times New Roman"/>
              </a:rPr>
              <a:t> </a:t>
            </a:r>
            <a:r>
              <a:rPr sz="1200" dirty="0">
                <a:latin typeface="Times New Roman"/>
                <a:cs typeface="Times New Roman"/>
              </a:rPr>
              <a:t>buyers,</a:t>
            </a:r>
            <a:r>
              <a:rPr sz="1200" spc="465" dirty="0">
                <a:latin typeface="Times New Roman"/>
                <a:cs typeface="Times New Roman"/>
              </a:rPr>
              <a:t> </a:t>
            </a:r>
            <a:r>
              <a:rPr sz="1200" dirty="0">
                <a:latin typeface="Times New Roman"/>
                <a:cs typeface="Times New Roman"/>
              </a:rPr>
              <a:t>sellers,</a:t>
            </a:r>
            <a:r>
              <a:rPr sz="1200" spc="459" dirty="0">
                <a:latin typeface="Times New Roman"/>
                <a:cs typeface="Times New Roman"/>
              </a:rPr>
              <a:t> </a:t>
            </a:r>
            <a:r>
              <a:rPr sz="1200" spc="-25" dirty="0">
                <a:latin typeface="Times New Roman"/>
                <a:cs typeface="Times New Roman"/>
              </a:rPr>
              <a:t>and </a:t>
            </a:r>
            <a:r>
              <a:rPr sz="1200" dirty="0">
                <a:latin typeface="Times New Roman"/>
                <a:cs typeface="Times New Roman"/>
              </a:rPr>
              <a:t>administrators,</a:t>
            </a:r>
            <a:r>
              <a:rPr sz="1200" spc="-35" dirty="0">
                <a:latin typeface="Times New Roman"/>
                <a:cs typeface="Times New Roman"/>
              </a:rPr>
              <a:t> </a:t>
            </a:r>
            <a:r>
              <a:rPr sz="1200" dirty="0">
                <a:latin typeface="Times New Roman"/>
                <a:cs typeface="Times New Roman"/>
              </a:rPr>
              <a:t>ensuring</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intuitive,</a:t>
            </a:r>
            <a:r>
              <a:rPr sz="1200" spc="-30" dirty="0">
                <a:latin typeface="Times New Roman"/>
                <a:cs typeface="Times New Roman"/>
              </a:rPr>
              <a:t> </a:t>
            </a:r>
            <a:r>
              <a:rPr sz="1200" dirty="0">
                <a:latin typeface="Times New Roman"/>
                <a:cs typeface="Times New Roman"/>
              </a:rPr>
              <a:t>accessible,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efficient.</a:t>
            </a:r>
            <a:endParaRPr sz="1200">
              <a:latin typeface="Times New Roman"/>
              <a:cs typeface="Times New Roman"/>
            </a:endParaRPr>
          </a:p>
          <a:p>
            <a:pPr marL="12700" marR="5080" algn="just">
              <a:lnSpc>
                <a:spcPct val="143700"/>
              </a:lnSpc>
              <a:spcBef>
                <a:spcPts val="1225"/>
              </a:spcBef>
            </a:pPr>
            <a:r>
              <a:rPr sz="1200" dirty="0">
                <a:latin typeface="Times New Roman"/>
                <a:cs typeface="Times New Roman"/>
              </a:rPr>
              <a:t>By</a:t>
            </a:r>
            <a:r>
              <a:rPr sz="1200" spc="-50" dirty="0">
                <a:latin typeface="Times New Roman"/>
                <a:cs typeface="Times New Roman"/>
              </a:rPr>
              <a:t> </a:t>
            </a:r>
            <a:r>
              <a:rPr sz="1200" dirty="0">
                <a:latin typeface="Times New Roman"/>
                <a:cs typeface="Times New Roman"/>
              </a:rPr>
              <a:t>thoroughly</a:t>
            </a:r>
            <a:r>
              <a:rPr sz="1200" spc="-45" dirty="0">
                <a:latin typeface="Times New Roman"/>
                <a:cs typeface="Times New Roman"/>
              </a:rPr>
              <a:t> </a:t>
            </a:r>
            <a:r>
              <a:rPr sz="1200" dirty="0">
                <a:latin typeface="Times New Roman"/>
                <a:cs typeface="Times New Roman"/>
              </a:rPr>
              <a:t>analyzing</a:t>
            </a:r>
            <a:r>
              <a:rPr sz="1200" spc="-45" dirty="0">
                <a:latin typeface="Times New Roman"/>
                <a:cs typeface="Times New Roman"/>
              </a:rPr>
              <a:t> </a:t>
            </a:r>
            <a:r>
              <a:rPr sz="1200" dirty="0">
                <a:latin typeface="Times New Roman"/>
                <a:cs typeface="Times New Roman"/>
              </a:rPr>
              <a:t>these</a:t>
            </a:r>
            <a:r>
              <a:rPr sz="1200" spc="-50" dirty="0">
                <a:latin typeface="Times New Roman"/>
                <a:cs typeface="Times New Roman"/>
              </a:rPr>
              <a:t> </a:t>
            </a:r>
            <a:r>
              <a:rPr sz="1200" dirty="0">
                <a:latin typeface="Times New Roman"/>
                <a:cs typeface="Times New Roman"/>
              </a:rPr>
              <a:t>requirements,</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project</a:t>
            </a:r>
            <a:r>
              <a:rPr sz="1200" spc="-45" dirty="0">
                <a:latin typeface="Times New Roman"/>
                <a:cs typeface="Times New Roman"/>
              </a:rPr>
              <a:t> </a:t>
            </a:r>
            <a:r>
              <a:rPr sz="1200" dirty="0">
                <a:latin typeface="Times New Roman"/>
                <a:cs typeface="Times New Roman"/>
              </a:rPr>
              <a:t>lays</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solid</a:t>
            </a:r>
            <a:r>
              <a:rPr sz="1200" spc="-50" dirty="0">
                <a:latin typeface="Times New Roman"/>
                <a:cs typeface="Times New Roman"/>
              </a:rPr>
              <a:t> </a:t>
            </a:r>
            <a:r>
              <a:rPr sz="1200" dirty="0">
                <a:latin typeface="Times New Roman"/>
                <a:cs typeface="Times New Roman"/>
              </a:rPr>
              <a:t>foundation</a:t>
            </a:r>
            <a:r>
              <a:rPr sz="1200" spc="-40"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spc="-10" dirty="0">
                <a:latin typeface="Times New Roman"/>
                <a:cs typeface="Times New Roman"/>
              </a:rPr>
              <a:t>designing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implementing</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robust,</a:t>
            </a:r>
            <a:r>
              <a:rPr sz="1200" spc="-30" dirty="0">
                <a:latin typeface="Times New Roman"/>
                <a:cs typeface="Times New Roman"/>
              </a:rPr>
              <a:t> </a:t>
            </a:r>
            <a:r>
              <a:rPr sz="1200" spc="-10" dirty="0">
                <a:latin typeface="Times New Roman"/>
                <a:cs typeface="Times New Roman"/>
              </a:rPr>
              <a:t>secure,</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user-</a:t>
            </a:r>
            <a:r>
              <a:rPr sz="1200" dirty="0">
                <a:latin typeface="Times New Roman"/>
                <a:cs typeface="Times New Roman"/>
              </a:rPr>
              <a:t>friendly</a:t>
            </a:r>
            <a:r>
              <a:rPr sz="1200" spc="-35" dirty="0">
                <a:latin typeface="Times New Roman"/>
                <a:cs typeface="Times New Roman"/>
              </a:rPr>
              <a:t> </a:t>
            </a:r>
            <a:r>
              <a:rPr sz="1200" spc="-10" dirty="0">
                <a:latin typeface="Times New Roman"/>
                <a:cs typeface="Times New Roman"/>
              </a:rPr>
              <a:t>real</a:t>
            </a:r>
            <a:r>
              <a:rPr sz="1200" spc="-35" dirty="0">
                <a:latin typeface="Times New Roman"/>
                <a:cs typeface="Times New Roman"/>
              </a:rPr>
              <a:t> </a:t>
            </a:r>
            <a:r>
              <a:rPr sz="1200" spc="-10" dirty="0">
                <a:latin typeface="Times New Roman"/>
                <a:cs typeface="Times New Roman"/>
              </a:rPr>
              <a:t>estate</a:t>
            </a:r>
            <a:r>
              <a:rPr sz="1200" spc="-40" dirty="0">
                <a:latin typeface="Times New Roman"/>
                <a:cs typeface="Times New Roman"/>
              </a:rPr>
              <a:t> </a:t>
            </a:r>
            <a:r>
              <a:rPr sz="1200" spc="-10" dirty="0">
                <a:latin typeface="Times New Roman"/>
                <a:cs typeface="Times New Roman"/>
              </a:rPr>
              <a:t>auction</a:t>
            </a:r>
            <a:r>
              <a:rPr sz="1200" spc="-35" dirty="0">
                <a:latin typeface="Times New Roman"/>
                <a:cs typeface="Times New Roman"/>
              </a:rPr>
              <a:t> </a:t>
            </a:r>
            <a:r>
              <a:rPr sz="1200" spc="-10" dirty="0">
                <a:latin typeface="Times New Roman"/>
                <a:cs typeface="Times New Roman"/>
              </a:rPr>
              <a:t>platform,</a:t>
            </a:r>
            <a:r>
              <a:rPr sz="1200" spc="-35" dirty="0">
                <a:latin typeface="Times New Roman"/>
                <a:cs typeface="Times New Roman"/>
              </a:rPr>
              <a:t> </a:t>
            </a:r>
            <a:r>
              <a:rPr sz="1200" spc="-10" dirty="0">
                <a:latin typeface="Times New Roman"/>
                <a:cs typeface="Times New Roman"/>
              </a:rPr>
              <a:t>aligned</a:t>
            </a:r>
            <a:r>
              <a:rPr sz="1200" spc="-30" dirty="0">
                <a:latin typeface="Times New Roman"/>
                <a:cs typeface="Times New Roman"/>
              </a:rPr>
              <a:t> </a:t>
            </a:r>
            <a:r>
              <a:rPr sz="1200" spc="-20" dirty="0">
                <a:latin typeface="Times New Roman"/>
                <a:cs typeface="Times New Roman"/>
              </a:rPr>
              <a:t>with </a:t>
            </a:r>
            <a:r>
              <a:rPr sz="1200" dirty="0">
                <a:latin typeface="Times New Roman"/>
                <a:cs typeface="Times New Roman"/>
              </a:rPr>
              <a:t>both</a:t>
            </a:r>
            <a:r>
              <a:rPr sz="1200" spc="-35" dirty="0">
                <a:latin typeface="Times New Roman"/>
                <a:cs typeface="Times New Roman"/>
              </a:rPr>
              <a:t> </a:t>
            </a:r>
            <a:r>
              <a:rPr sz="1200" dirty="0">
                <a:latin typeface="Times New Roman"/>
                <a:cs typeface="Times New Roman"/>
              </a:rPr>
              <a:t>technical</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business</a:t>
            </a:r>
            <a:r>
              <a:rPr sz="1200" spc="-35" dirty="0">
                <a:latin typeface="Times New Roman"/>
                <a:cs typeface="Times New Roman"/>
              </a:rPr>
              <a:t> </a:t>
            </a:r>
            <a:r>
              <a:rPr sz="1200" spc="-10" dirty="0">
                <a:latin typeface="Times New Roman"/>
                <a:cs typeface="Times New Roman"/>
              </a:rPr>
              <a:t>objectives.</a:t>
            </a:r>
            <a:endParaRPr sz="12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15</a:t>
            </a:r>
          </a:p>
        </p:txBody>
      </p:sp>
      <p:sp>
        <p:nvSpPr>
          <p:cNvPr id="2" name="object 2"/>
          <p:cNvSpPr txBox="1"/>
          <p:nvPr/>
        </p:nvSpPr>
        <p:spPr>
          <a:xfrm>
            <a:off x="1176324" y="889761"/>
            <a:ext cx="5696585" cy="811466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3.1.</a:t>
            </a:r>
            <a:r>
              <a:rPr sz="1400" b="1" spc="-65" dirty="0">
                <a:latin typeface="Times New Roman"/>
                <a:cs typeface="Times New Roman"/>
              </a:rPr>
              <a:t> </a:t>
            </a:r>
            <a:r>
              <a:rPr sz="1200" b="1" dirty="0">
                <a:latin typeface="Times New Roman"/>
                <a:cs typeface="Times New Roman"/>
              </a:rPr>
              <a:t>Functional</a:t>
            </a:r>
            <a:r>
              <a:rPr sz="1200" b="1" spc="-15" dirty="0">
                <a:latin typeface="Times New Roman"/>
                <a:cs typeface="Times New Roman"/>
              </a:rPr>
              <a:t> </a:t>
            </a:r>
            <a:r>
              <a:rPr sz="1200" b="1" spc="-10" dirty="0">
                <a:latin typeface="Times New Roman"/>
                <a:cs typeface="Times New Roman"/>
              </a:rPr>
              <a:t>Requirements</a:t>
            </a:r>
            <a:endParaRPr sz="1200">
              <a:latin typeface="Times New Roman"/>
              <a:cs typeface="Times New Roman"/>
            </a:endParaRPr>
          </a:p>
          <a:p>
            <a:pPr>
              <a:lnSpc>
                <a:spcPct val="100000"/>
              </a:lnSpc>
              <a:spcBef>
                <a:spcPts val="1055"/>
              </a:spcBef>
            </a:pPr>
            <a:endParaRPr sz="1200">
              <a:latin typeface="Times New Roman"/>
              <a:cs typeface="Times New Roman"/>
            </a:endParaRPr>
          </a:p>
          <a:p>
            <a:pPr marL="12700" marR="11430">
              <a:lnSpc>
                <a:spcPts val="1380"/>
              </a:lnSpc>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Auction</a:t>
            </a:r>
            <a:r>
              <a:rPr sz="1200" spc="45" dirty="0">
                <a:latin typeface="Times New Roman"/>
                <a:cs typeface="Times New Roman"/>
              </a:rPr>
              <a:t> </a:t>
            </a:r>
            <a:r>
              <a:rPr sz="1200" dirty="0">
                <a:latin typeface="Times New Roman"/>
                <a:cs typeface="Times New Roman"/>
              </a:rPr>
              <a:t>Abode</a:t>
            </a:r>
            <a:r>
              <a:rPr sz="1200" spc="40" dirty="0">
                <a:latin typeface="Times New Roman"/>
                <a:cs typeface="Times New Roman"/>
              </a:rPr>
              <a:t>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must</a:t>
            </a:r>
            <a:r>
              <a:rPr sz="1200" spc="50" dirty="0">
                <a:latin typeface="Times New Roman"/>
                <a:cs typeface="Times New Roman"/>
              </a:rPr>
              <a:t> </a:t>
            </a:r>
            <a:r>
              <a:rPr sz="1200" dirty="0">
                <a:latin typeface="Times New Roman"/>
                <a:cs typeface="Times New Roman"/>
              </a:rPr>
              <a:t>provide</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following</a:t>
            </a:r>
            <a:r>
              <a:rPr sz="1200" spc="45" dirty="0">
                <a:latin typeface="Times New Roman"/>
                <a:cs typeface="Times New Roman"/>
              </a:rPr>
              <a:t> </a:t>
            </a:r>
            <a:r>
              <a:rPr sz="1200" dirty="0">
                <a:latin typeface="Times New Roman"/>
                <a:cs typeface="Times New Roman"/>
              </a:rPr>
              <a:t>functionalities</a:t>
            </a:r>
            <a:r>
              <a:rPr sz="1200" spc="4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features</a:t>
            </a:r>
            <a:r>
              <a:rPr sz="1200" spc="4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20" dirty="0">
                <a:latin typeface="Times New Roman"/>
                <a:cs typeface="Times New Roman"/>
              </a:rPr>
              <a:t>meet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needs</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project</a:t>
            </a:r>
            <a:r>
              <a:rPr sz="1200" spc="-25" dirty="0">
                <a:latin typeface="Times New Roman"/>
                <a:cs typeface="Times New Roman"/>
              </a:rPr>
              <a:t> </a:t>
            </a:r>
            <a:r>
              <a:rPr sz="1200" spc="-10" dirty="0">
                <a:latin typeface="Times New Roman"/>
                <a:cs typeface="Times New Roman"/>
              </a:rPr>
              <a:t>objectives:</a:t>
            </a:r>
            <a:endParaRPr sz="1200">
              <a:latin typeface="Times New Roman"/>
              <a:cs typeface="Times New Roman"/>
            </a:endParaRPr>
          </a:p>
          <a:p>
            <a:pPr marL="165100" indent="-152400">
              <a:lnSpc>
                <a:spcPct val="100000"/>
              </a:lnSpc>
              <a:spcBef>
                <a:spcPts val="1310"/>
              </a:spcBef>
              <a:buAutoNum type="arabicPeriod"/>
              <a:tabLst>
                <a:tab pos="165100" algn="l"/>
              </a:tabLst>
            </a:pPr>
            <a:r>
              <a:rPr sz="1200" b="1" dirty="0">
                <a:latin typeface="Times New Roman"/>
                <a:cs typeface="Times New Roman"/>
              </a:rPr>
              <a:t>Data</a:t>
            </a:r>
            <a:r>
              <a:rPr sz="1200" b="1" spc="-20" dirty="0">
                <a:latin typeface="Times New Roman"/>
                <a:cs typeface="Times New Roman"/>
              </a:rPr>
              <a:t> </a:t>
            </a:r>
            <a:r>
              <a:rPr sz="1200" b="1" dirty="0">
                <a:latin typeface="Times New Roman"/>
                <a:cs typeface="Times New Roman"/>
              </a:rPr>
              <a:t>Collection</a:t>
            </a:r>
            <a:r>
              <a:rPr sz="1200" b="1" spc="-15"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Analysis</a:t>
            </a:r>
            <a:endParaRPr sz="1200">
              <a:latin typeface="Times New Roman"/>
              <a:cs typeface="Times New Roman"/>
            </a:endParaRPr>
          </a:p>
          <a:p>
            <a:pPr>
              <a:lnSpc>
                <a:spcPct val="100000"/>
              </a:lnSpc>
              <a:spcBef>
                <a:spcPts val="45"/>
              </a:spcBef>
              <a:buFont typeface="Times New Roman"/>
              <a:buAutoNum type="arabicPeriod"/>
            </a:pPr>
            <a:endParaRPr sz="1200">
              <a:latin typeface="Times New Roman"/>
              <a:cs typeface="Times New Roman"/>
            </a:endParaRPr>
          </a:p>
          <a:p>
            <a:pPr marL="469265" marR="6350" lvl="1" indent="-228600" algn="just">
              <a:lnSpc>
                <a:spcPts val="1380"/>
              </a:lnSpc>
              <a:buSzPct val="83333"/>
              <a:buFont typeface="Symbol"/>
              <a:buChar char=""/>
              <a:tabLst>
                <a:tab pos="469265" algn="l"/>
              </a:tabLst>
            </a:pPr>
            <a:r>
              <a:rPr sz="1200" b="1" dirty="0">
                <a:latin typeface="Times New Roman"/>
                <a:cs typeface="Times New Roman"/>
              </a:rPr>
              <a:t>Data</a:t>
            </a:r>
            <a:r>
              <a:rPr sz="1200" b="1" spc="-40" dirty="0">
                <a:latin typeface="Times New Roman"/>
                <a:cs typeface="Times New Roman"/>
              </a:rPr>
              <a:t> </a:t>
            </a:r>
            <a:r>
              <a:rPr sz="1200" b="1" spc="-10" dirty="0">
                <a:latin typeface="Times New Roman"/>
                <a:cs typeface="Times New Roman"/>
              </a:rPr>
              <a:t>Collection</a:t>
            </a:r>
            <a:r>
              <a:rPr sz="1200" spc="-10" dirty="0">
                <a:latin typeface="Times New Roman"/>
                <a:cs typeface="Times New Roman"/>
              </a:rPr>
              <a:t>:</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will</a:t>
            </a:r>
            <a:r>
              <a:rPr sz="1200" spc="-30" dirty="0">
                <a:latin typeface="Times New Roman"/>
                <a:cs typeface="Times New Roman"/>
              </a:rPr>
              <a:t> </a:t>
            </a:r>
            <a:r>
              <a:rPr sz="1200" spc="-10" dirty="0">
                <a:latin typeface="Times New Roman"/>
                <a:cs typeface="Times New Roman"/>
              </a:rPr>
              <a:t>collect</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store</a:t>
            </a:r>
            <a:r>
              <a:rPr sz="1200" spc="-40" dirty="0">
                <a:latin typeface="Times New Roman"/>
                <a:cs typeface="Times New Roman"/>
              </a:rPr>
              <a:t> </a:t>
            </a:r>
            <a:r>
              <a:rPr sz="1200" spc="-10" dirty="0">
                <a:latin typeface="Times New Roman"/>
                <a:cs typeface="Times New Roman"/>
              </a:rPr>
              <a:t>property</a:t>
            </a:r>
            <a:r>
              <a:rPr sz="1200" spc="-35" dirty="0">
                <a:latin typeface="Times New Roman"/>
                <a:cs typeface="Times New Roman"/>
              </a:rPr>
              <a:t> </a:t>
            </a:r>
            <a:r>
              <a:rPr sz="1200" dirty="0">
                <a:latin typeface="Times New Roman"/>
                <a:cs typeface="Times New Roman"/>
              </a:rPr>
              <a:t>listings,</a:t>
            </a:r>
            <a:r>
              <a:rPr sz="1200" spc="-30" dirty="0">
                <a:latin typeface="Times New Roman"/>
                <a:cs typeface="Times New Roman"/>
              </a:rPr>
              <a:t> </a:t>
            </a:r>
            <a:r>
              <a:rPr sz="1200" spc="-10" dirty="0">
                <a:latin typeface="Times New Roman"/>
                <a:cs typeface="Times New Roman"/>
              </a:rPr>
              <a:t>bidding</a:t>
            </a:r>
            <a:r>
              <a:rPr sz="1200" spc="-45" dirty="0">
                <a:latin typeface="Times New Roman"/>
                <a:cs typeface="Times New Roman"/>
              </a:rPr>
              <a:t> </a:t>
            </a:r>
            <a:r>
              <a:rPr sz="1200" spc="-10" dirty="0">
                <a:latin typeface="Times New Roman"/>
                <a:cs typeface="Times New Roman"/>
              </a:rPr>
              <a:t>histories,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profiles,</a:t>
            </a:r>
            <a:r>
              <a:rPr sz="1200" spc="-2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real</a:t>
            </a:r>
            <a:r>
              <a:rPr sz="1200" spc="-35" dirty="0">
                <a:latin typeface="Times New Roman"/>
                <a:cs typeface="Times New Roman"/>
              </a:rPr>
              <a:t> </a:t>
            </a:r>
            <a:r>
              <a:rPr sz="1200" dirty="0">
                <a:latin typeface="Times New Roman"/>
                <a:cs typeface="Times New Roman"/>
              </a:rPr>
              <a:t>estate</a:t>
            </a:r>
            <a:r>
              <a:rPr sz="1200" spc="-30" dirty="0">
                <a:latin typeface="Times New Roman"/>
                <a:cs typeface="Times New Roman"/>
              </a:rPr>
              <a:t> </a:t>
            </a:r>
            <a:r>
              <a:rPr sz="1200" dirty="0">
                <a:latin typeface="Times New Roman"/>
                <a:cs typeface="Times New Roman"/>
              </a:rPr>
              <a:t>market</a:t>
            </a:r>
            <a:r>
              <a:rPr sz="1200" spc="-35" dirty="0">
                <a:latin typeface="Times New Roman"/>
                <a:cs typeface="Times New Roman"/>
              </a:rPr>
              <a:t> </a:t>
            </a:r>
            <a:r>
              <a:rPr sz="1200" spc="-10" dirty="0">
                <a:latin typeface="Times New Roman"/>
                <a:cs typeface="Times New Roman"/>
              </a:rPr>
              <a:t>trends.</a:t>
            </a:r>
            <a:endParaRPr sz="1200">
              <a:latin typeface="Times New Roman"/>
              <a:cs typeface="Times New Roman"/>
            </a:endParaRPr>
          </a:p>
          <a:p>
            <a:pPr marL="469265" marR="10795" lvl="1" indent="-228600" algn="just">
              <a:lnSpc>
                <a:spcPts val="1380"/>
              </a:lnSpc>
              <a:buSzPct val="83333"/>
              <a:buFont typeface="Symbol"/>
              <a:buChar char=""/>
              <a:tabLst>
                <a:tab pos="469265" algn="l"/>
              </a:tabLst>
            </a:pPr>
            <a:r>
              <a:rPr sz="1200" b="1" dirty="0">
                <a:latin typeface="Times New Roman"/>
                <a:cs typeface="Times New Roman"/>
              </a:rPr>
              <a:t>Data</a:t>
            </a:r>
            <a:r>
              <a:rPr sz="1200" b="1" spc="140" dirty="0">
                <a:latin typeface="Times New Roman"/>
                <a:cs typeface="Times New Roman"/>
              </a:rPr>
              <a:t> </a:t>
            </a:r>
            <a:r>
              <a:rPr sz="1200" b="1" dirty="0">
                <a:latin typeface="Times New Roman"/>
                <a:cs typeface="Times New Roman"/>
              </a:rPr>
              <a:t>Analysis</a:t>
            </a:r>
            <a:r>
              <a:rPr sz="1200" dirty="0">
                <a:latin typeface="Times New Roman"/>
                <a:cs typeface="Times New Roman"/>
              </a:rPr>
              <a:t>:</a:t>
            </a:r>
            <a:r>
              <a:rPr sz="1200" spc="140"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145" dirty="0">
                <a:latin typeface="Times New Roman"/>
                <a:cs typeface="Times New Roman"/>
              </a:rPr>
              <a:t> </a:t>
            </a:r>
            <a:r>
              <a:rPr sz="1200" dirty="0">
                <a:latin typeface="Times New Roman"/>
                <a:cs typeface="Times New Roman"/>
              </a:rPr>
              <a:t>models</a:t>
            </a:r>
            <a:r>
              <a:rPr sz="1200" spc="145" dirty="0">
                <a:latin typeface="Times New Roman"/>
                <a:cs typeface="Times New Roman"/>
              </a:rPr>
              <a:t> </a:t>
            </a:r>
            <a:r>
              <a:rPr sz="1200" dirty="0">
                <a:latin typeface="Times New Roman"/>
                <a:cs typeface="Times New Roman"/>
              </a:rPr>
              <a:t>will</a:t>
            </a:r>
            <a:r>
              <a:rPr sz="1200" spc="150" dirty="0">
                <a:latin typeface="Times New Roman"/>
                <a:cs typeface="Times New Roman"/>
              </a:rPr>
              <a:t> </a:t>
            </a:r>
            <a:r>
              <a:rPr sz="1200" dirty="0">
                <a:latin typeface="Times New Roman"/>
                <a:cs typeface="Times New Roman"/>
              </a:rPr>
              <a:t>analyze</a:t>
            </a:r>
            <a:r>
              <a:rPr sz="1200" spc="135" dirty="0">
                <a:latin typeface="Times New Roman"/>
                <a:cs typeface="Times New Roman"/>
              </a:rPr>
              <a:t> </a:t>
            </a:r>
            <a:r>
              <a:rPr sz="1200" dirty="0">
                <a:latin typeface="Times New Roman"/>
                <a:cs typeface="Times New Roman"/>
              </a:rPr>
              <a:t>historical</a:t>
            </a:r>
            <a:r>
              <a:rPr sz="1200" spc="145" dirty="0">
                <a:latin typeface="Times New Roman"/>
                <a:cs typeface="Times New Roman"/>
              </a:rPr>
              <a:t> </a:t>
            </a:r>
            <a:r>
              <a:rPr sz="1200" dirty="0">
                <a:latin typeface="Times New Roman"/>
                <a:cs typeface="Times New Roman"/>
              </a:rPr>
              <a:t>bidding</a:t>
            </a:r>
            <a:r>
              <a:rPr sz="1200" spc="140" dirty="0">
                <a:latin typeface="Times New Roman"/>
                <a:cs typeface="Times New Roman"/>
              </a:rPr>
              <a:t> </a:t>
            </a:r>
            <a:r>
              <a:rPr sz="1200" dirty="0">
                <a:latin typeface="Times New Roman"/>
                <a:cs typeface="Times New Roman"/>
              </a:rPr>
              <a:t>data</a:t>
            </a:r>
            <a:r>
              <a:rPr sz="1200" spc="150" dirty="0">
                <a:latin typeface="Times New Roman"/>
                <a:cs typeface="Times New Roman"/>
              </a:rPr>
              <a:t> </a:t>
            </a:r>
            <a:r>
              <a:rPr sz="1200" dirty="0">
                <a:latin typeface="Times New Roman"/>
                <a:cs typeface="Times New Roman"/>
              </a:rPr>
              <a:t>to</a:t>
            </a:r>
            <a:r>
              <a:rPr sz="1200" spc="140" dirty="0">
                <a:latin typeface="Times New Roman"/>
                <a:cs typeface="Times New Roman"/>
              </a:rPr>
              <a:t> </a:t>
            </a:r>
            <a:r>
              <a:rPr sz="1200" spc="-10" dirty="0">
                <a:latin typeface="Times New Roman"/>
                <a:cs typeface="Times New Roman"/>
              </a:rPr>
              <a:t>predict </a:t>
            </a:r>
            <a:r>
              <a:rPr sz="1200" dirty="0">
                <a:latin typeface="Times New Roman"/>
                <a:cs typeface="Times New Roman"/>
              </a:rPr>
              <a:t>property</a:t>
            </a:r>
            <a:r>
              <a:rPr sz="1200" spc="-45" dirty="0">
                <a:latin typeface="Times New Roman"/>
                <a:cs typeface="Times New Roman"/>
              </a:rPr>
              <a:t> </a:t>
            </a:r>
            <a:r>
              <a:rPr sz="1200" dirty="0">
                <a:latin typeface="Times New Roman"/>
                <a:cs typeface="Times New Roman"/>
              </a:rPr>
              <a:t>prices,</a:t>
            </a:r>
            <a:r>
              <a:rPr sz="1200" spc="-45" dirty="0">
                <a:latin typeface="Times New Roman"/>
                <a:cs typeface="Times New Roman"/>
              </a:rPr>
              <a:t> </a:t>
            </a:r>
            <a:r>
              <a:rPr sz="1200" dirty="0">
                <a:latin typeface="Times New Roman"/>
                <a:cs typeface="Times New Roman"/>
              </a:rPr>
              <a:t>detect</a:t>
            </a:r>
            <a:r>
              <a:rPr sz="1200" spc="-40" dirty="0">
                <a:latin typeface="Times New Roman"/>
                <a:cs typeface="Times New Roman"/>
              </a:rPr>
              <a:t> </a:t>
            </a:r>
            <a:r>
              <a:rPr sz="1200" dirty="0">
                <a:latin typeface="Times New Roman"/>
                <a:cs typeface="Times New Roman"/>
              </a:rPr>
              <a:t>fraudulent</a:t>
            </a:r>
            <a:r>
              <a:rPr sz="1200" spc="-45" dirty="0">
                <a:latin typeface="Times New Roman"/>
                <a:cs typeface="Times New Roman"/>
              </a:rPr>
              <a:t> </a:t>
            </a:r>
            <a:r>
              <a:rPr sz="1200" dirty="0">
                <a:latin typeface="Times New Roman"/>
                <a:cs typeface="Times New Roman"/>
              </a:rPr>
              <a:t>activities,</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enhance</a:t>
            </a:r>
            <a:r>
              <a:rPr sz="1200" spc="-35" dirty="0">
                <a:latin typeface="Times New Roman"/>
                <a:cs typeface="Times New Roman"/>
              </a:rPr>
              <a:t> </a:t>
            </a:r>
            <a:r>
              <a:rPr sz="1200" dirty="0">
                <a:latin typeface="Times New Roman"/>
                <a:cs typeface="Times New Roman"/>
              </a:rPr>
              <a:t>auction</a:t>
            </a:r>
            <a:r>
              <a:rPr sz="1200" spc="-45" dirty="0">
                <a:latin typeface="Times New Roman"/>
                <a:cs typeface="Times New Roman"/>
              </a:rPr>
              <a:t> </a:t>
            </a:r>
            <a:r>
              <a:rPr sz="1200" spc="-10" dirty="0">
                <a:latin typeface="Times New Roman"/>
                <a:cs typeface="Times New Roman"/>
              </a:rPr>
              <a:t>strategies.</a:t>
            </a:r>
            <a:endParaRPr sz="1200">
              <a:latin typeface="Times New Roman"/>
              <a:cs typeface="Times New Roman"/>
            </a:endParaRPr>
          </a:p>
          <a:p>
            <a:pPr marL="165100" indent="-152400">
              <a:lnSpc>
                <a:spcPct val="100000"/>
              </a:lnSpc>
              <a:spcBef>
                <a:spcPts val="1310"/>
              </a:spcBef>
              <a:buAutoNum type="arabicPeriod"/>
              <a:tabLst>
                <a:tab pos="165100" algn="l"/>
              </a:tabLst>
            </a:pPr>
            <a:r>
              <a:rPr sz="1200" b="1" dirty="0">
                <a:latin typeface="Times New Roman"/>
                <a:cs typeface="Times New Roman"/>
              </a:rPr>
              <a:t>Property</a:t>
            </a:r>
            <a:r>
              <a:rPr sz="1200" b="1" spc="-20" dirty="0">
                <a:latin typeface="Times New Roman"/>
                <a:cs typeface="Times New Roman"/>
              </a:rPr>
              <a:t> </a:t>
            </a:r>
            <a:r>
              <a:rPr sz="1200" b="1" dirty="0">
                <a:latin typeface="Times New Roman"/>
                <a:cs typeface="Times New Roman"/>
              </a:rPr>
              <a:t>Listing</a:t>
            </a:r>
            <a:r>
              <a:rPr sz="1200" b="1" spc="-2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Management</a:t>
            </a:r>
            <a:endParaRPr sz="1200">
              <a:latin typeface="Times New Roman"/>
              <a:cs typeface="Times New Roman"/>
            </a:endParaRPr>
          </a:p>
          <a:p>
            <a:pPr>
              <a:lnSpc>
                <a:spcPct val="100000"/>
              </a:lnSpc>
              <a:spcBef>
                <a:spcPts val="60"/>
              </a:spcBef>
              <a:buFont typeface="Times New Roman"/>
              <a:buAutoNum type="arabicPeriod"/>
            </a:pPr>
            <a:endParaRPr sz="1200">
              <a:latin typeface="Times New Roman"/>
              <a:cs typeface="Times New Roman"/>
            </a:endParaRPr>
          </a:p>
          <a:p>
            <a:pPr marL="469265" marR="10795" lvl="1" indent="-228600" algn="just">
              <a:lnSpc>
                <a:spcPts val="1380"/>
              </a:lnSpc>
              <a:buSzPct val="83333"/>
              <a:buFont typeface="Symbol"/>
              <a:buChar char=""/>
              <a:tabLst>
                <a:tab pos="469265" algn="l"/>
              </a:tabLst>
            </a:pPr>
            <a:r>
              <a:rPr sz="1200" b="1" spc="-10" dirty="0">
                <a:latin typeface="Times New Roman"/>
                <a:cs typeface="Times New Roman"/>
              </a:rPr>
              <a:t>User-</a:t>
            </a:r>
            <a:r>
              <a:rPr sz="1200" b="1" dirty="0">
                <a:latin typeface="Times New Roman"/>
                <a:cs typeface="Times New Roman"/>
              </a:rPr>
              <a:t>Friendly</a:t>
            </a:r>
            <a:r>
              <a:rPr sz="1200" b="1" spc="-20" dirty="0">
                <a:latin typeface="Times New Roman"/>
                <a:cs typeface="Times New Roman"/>
              </a:rPr>
              <a:t> </a:t>
            </a:r>
            <a:r>
              <a:rPr sz="1200" b="1" dirty="0">
                <a:latin typeface="Times New Roman"/>
                <a:cs typeface="Times New Roman"/>
              </a:rPr>
              <a:t>Interface</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Sellers</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access</a:t>
            </a:r>
            <a:r>
              <a:rPr sz="1200" spc="-1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intuitive</a:t>
            </a:r>
            <a:r>
              <a:rPr sz="1200" spc="-20" dirty="0">
                <a:latin typeface="Times New Roman"/>
                <a:cs typeface="Times New Roman"/>
              </a:rPr>
              <a:t> </a:t>
            </a:r>
            <a:r>
              <a:rPr sz="1200" dirty="0">
                <a:latin typeface="Times New Roman"/>
                <a:cs typeface="Times New Roman"/>
              </a:rPr>
              <a:t>dashboard</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list</a:t>
            </a:r>
            <a:r>
              <a:rPr sz="1200" spc="-30" dirty="0">
                <a:latin typeface="Times New Roman"/>
                <a:cs typeface="Times New Roman"/>
              </a:rPr>
              <a:t> </a:t>
            </a:r>
            <a:r>
              <a:rPr sz="1200" spc="-10" dirty="0">
                <a:latin typeface="Times New Roman"/>
                <a:cs typeface="Times New Roman"/>
              </a:rPr>
              <a:t>properties, </a:t>
            </a: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details,</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track</a:t>
            </a:r>
            <a:r>
              <a:rPr sz="1200" spc="-30" dirty="0">
                <a:latin typeface="Times New Roman"/>
                <a:cs typeface="Times New Roman"/>
              </a:rPr>
              <a:t> </a:t>
            </a:r>
            <a:r>
              <a:rPr sz="1200" dirty="0">
                <a:latin typeface="Times New Roman"/>
                <a:cs typeface="Times New Roman"/>
              </a:rPr>
              <a:t>bidding</a:t>
            </a:r>
            <a:r>
              <a:rPr sz="1200" spc="-25" dirty="0">
                <a:latin typeface="Times New Roman"/>
                <a:cs typeface="Times New Roman"/>
              </a:rPr>
              <a:t> </a:t>
            </a:r>
            <a:r>
              <a:rPr sz="1200" spc="-10" dirty="0">
                <a:latin typeface="Times New Roman"/>
                <a:cs typeface="Times New Roman"/>
              </a:rPr>
              <a:t>activity.</a:t>
            </a:r>
            <a:endParaRPr sz="1200">
              <a:latin typeface="Times New Roman"/>
              <a:cs typeface="Times New Roman"/>
            </a:endParaRPr>
          </a:p>
          <a:p>
            <a:pPr marL="469265" marR="5080" lvl="1" indent="-228600" algn="just">
              <a:lnSpc>
                <a:spcPts val="1380"/>
              </a:lnSpc>
              <a:buSzPct val="83333"/>
              <a:buFont typeface="Symbol"/>
              <a:buChar char=""/>
              <a:tabLst>
                <a:tab pos="469265" algn="l"/>
              </a:tabLst>
            </a:pPr>
            <a:r>
              <a:rPr sz="1200" b="1" dirty="0">
                <a:latin typeface="Times New Roman"/>
                <a:cs typeface="Times New Roman"/>
              </a:rPr>
              <a:t>Validation</a:t>
            </a:r>
            <a:r>
              <a:rPr sz="1200" b="1" spc="55" dirty="0">
                <a:latin typeface="Times New Roman"/>
                <a:cs typeface="Times New Roman"/>
              </a:rPr>
              <a:t> </a:t>
            </a:r>
            <a:r>
              <a:rPr sz="1200" b="1" dirty="0">
                <a:latin typeface="Times New Roman"/>
                <a:cs typeface="Times New Roman"/>
              </a:rPr>
              <a:t>and</a:t>
            </a:r>
            <a:r>
              <a:rPr sz="1200" b="1" spc="55" dirty="0">
                <a:latin typeface="Times New Roman"/>
                <a:cs typeface="Times New Roman"/>
              </a:rPr>
              <a:t> </a:t>
            </a:r>
            <a:r>
              <a:rPr sz="1200" b="1" dirty="0">
                <a:latin typeface="Times New Roman"/>
                <a:cs typeface="Times New Roman"/>
              </a:rPr>
              <a:t>Storage</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Uploaded</a:t>
            </a:r>
            <a:r>
              <a:rPr sz="1200" spc="50" dirty="0">
                <a:latin typeface="Times New Roman"/>
                <a:cs typeface="Times New Roman"/>
              </a:rPr>
              <a:t> </a:t>
            </a:r>
            <a:r>
              <a:rPr sz="1200" dirty="0">
                <a:latin typeface="Times New Roman"/>
                <a:cs typeface="Times New Roman"/>
              </a:rPr>
              <a:t>property</a:t>
            </a:r>
            <a:r>
              <a:rPr sz="1200" spc="55" dirty="0">
                <a:latin typeface="Times New Roman"/>
                <a:cs typeface="Times New Roman"/>
              </a:rPr>
              <a:t> </a:t>
            </a:r>
            <a:r>
              <a:rPr sz="1200" dirty="0">
                <a:latin typeface="Times New Roman"/>
                <a:cs typeface="Times New Roman"/>
              </a:rPr>
              <a:t>documents</a:t>
            </a:r>
            <a:r>
              <a:rPr sz="1200" spc="50" dirty="0">
                <a:latin typeface="Times New Roman"/>
                <a:cs typeface="Times New Roman"/>
              </a:rPr>
              <a:t> </a:t>
            </a:r>
            <a:r>
              <a:rPr sz="1200" dirty="0">
                <a:latin typeface="Times New Roman"/>
                <a:cs typeface="Times New Roman"/>
              </a:rPr>
              <a:t>will</a:t>
            </a:r>
            <a:r>
              <a:rPr sz="1200" spc="55" dirty="0">
                <a:latin typeface="Times New Roman"/>
                <a:cs typeface="Times New Roman"/>
              </a:rPr>
              <a:t> </a:t>
            </a:r>
            <a:r>
              <a:rPr sz="1200" dirty="0">
                <a:latin typeface="Times New Roman"/>
                <a:cs typeface="Times New Roman"/>
              </a:rPr>
              <a:t>be</a:t>
            </a:r>
            <a:r>
              <a:rPr sz="1200" spc="50" dirty="0">
                <a:latin typeface="Times New Roman"/>
                <a:cs typeface="Times New Roman"/>
              </a:rPr>
              <a:t> </a:t>
            </a:r>
            <a:r>
              <a:rPr sz="1200" dirty="0">
                <a:latin typeface="Times New Roman"/>
                <a:cs typeface="Times New Roman"/>
              </a:rPr>
              <a:t>validated</a:t>
            </a:r>
            <a:r>
              <a:rPr sz="1200" spc="60" dirty="0">
                <a:latin typeface="Times New Roman"/>
                <a:cs typeface="Times New Roman"/>
              </a:rPr>
              <a:t> </a:t>
            </a:r>
            <a:r>
              <a:rPr sz="1200" dirty="0">
                <a:latin typeface="Times New Roman"/>
                <a:cs typeface="Times New Roman"/>
              </a:rPr>
              <a:t>using</a:t>
            </a:r>
            <a:r>
              <a:rPr sz="1200" spc="60" dirty="0">
                <a:latin typeface="Times New Roman"/>
                <a:cs typeface="Times New Roman"/>
              </a:rPr>
              <a:t> </a:t>
            </a:r>
            <a:r>
              <a:rPr sz="1200" spc="-25" dirty="0">
                <a:latin typeface="Times New Roman"/>
                <a:cs typeface="Times New Roman"/>
              </a:rPr>
              <a:t>AI- </a:t>
            </a:r>
            <a:r>
              <a:rPr sz="1200" dirty="0">
                <a:latin typeface="Times New Roman"/>
                <a:cs typeface="Times New Roman"/>
              </a:rPr>
              <a:t>based</a:t>
            </a:r>
            <a:r>
              <a:rPr sz="1200" spc="150" dirty="0">
                <a:latin typeface="Times New Roman"/>
                <a:cs typeface="Times New Roman"/>
              </a:rPr>
              <a:t> </a:t>
            </a:r>
            <a:r>
              <a:rPr sz="1200" dirty="0">
                <a:latin typeface="Times New Roman"/>
                <a:cs typeface="Times New Roman"/>
              </a:rPr>
              <a:t>fraud</a:t>
            </a:r>
            <a:r>
              <a:rPr sz="1200" spc="160" dirty="0">
                <a:latin typeface="Times New Roman"/>
                <a:cs typeface="Times New Roman"/>
              </a:rPr>
              <a:t> </a:t>
            </a:r>
            <a:r>
              <a:rPr sz="1200" dirty="0">
                <a:latin typeface="Times New Roman"/>
                <a:cs typeface="Times New Roman"/>
              </a:rPr>
              <a:t>detection.</a:t>
            </a:r>
            <a:r>
              <a:rPr sz="1200" spc="165" dirty="0">
                <a:latin typeface="Times New Roman"/>
                <a:cs typeface="Times New Roman"/>
              </a:rPr>
              <a:t> </a:t>
            </a:r>
            <a:r>
              <a:rPr sz="1200" dirty="0">
                <a:latin typeface="Times New Roman"/>
                <a:cs typeface="Times New Roman"/>
              </a:rPr>
              <a:t>All</a:t>
            </a:r>
            <a:r>
              <a:rPr sz="1200" spc="155" dirty="0">
                <a:latin typeface="Times New Roman"/>
                <a:cs typeface="Times New Roman"/>
              </a:rPr>
              <a:t> </a:t>
            </a:r>
            <a:r>
              <a:rPr sz="1200" dirty="0">
                <a:latin typeface="Times New Roman"/>
                <a:cs typeface="Times New Roman"/>
              </a:rPr>
              <a:t>auction</a:t>
            </a:r>
            <a:r>
              <a:rPr sz="1200" spc="150" dirty="0">
                <a:latin typeface="Times New Roman"/>
                <a:cs typeface="Times New Roman"/>
              </a:rPr>
              <a:t> </a:t>
            </a:r>
            <a:r>
              <a:rPr sz="1200" dirty="0">
                <a:latin typeface="Times New Roman"/>
                <a:cs typeface="Times New Roman"/>
              </a:rPr>
              <a:t>data</a:t>
            </a:r>
            <a:r>
              <a:rPr sz="1200" spc="145" dirty="0">
                <a:latin typeface="Times New Roman"/>
                <a:cs typeface="Times New Roman"/>
              </a:rPr>
              <a:t> </a:t>
            </a:r>
            <a:r>
              <a:rPr sz="1200" dirty="0">
                <a:latin typeface="Times New Roman"/>
                <a:cs typeface="Times New Roman"/>
              </a:rPr>
              <a:t>will</a:t>
            </a:r>
            <a:r>
              <a:rPr sz="1200" spc="160" dirty="0">
                <a:latin typeface="Times New Roman"/>
                <a:cs typeface="Times New Roman"/>
              </a:rPr>
              <a:t> </a:t>
            </a:r>
            <a:r>
              <a:rPr sz="1200" dirty="0">
                <a:latin typeface="Times New Roman"/>
                <a:cs typeface="Times New Roman"/>
              </a:rPr>
              <a:t>be</a:t>
            </a:r>
            <a:r>
              <a:rPr sz="1200" spc="155" dirty="0">
                <a:latin typeface="Times New Roman"/>
                <a:cs typeface="Times New Roman"/>
              </a:rPr>
              <a:t> </a:t>
            </a:r>
            <a:r>
              <a:rPr sz="1200" dirty="0">
                <a:latin typeface="Times New Roman"/>
                <a:cs typeface="Times New Roman"/>
              </a:rPr>
              <a:t>securely</a:t>
            </a:r>
            <a:r>
              <a:rPr sz="1200" spc="155" dirty="0">
                <a:latin typeface="Times New Roman"/>
                <a:cs typeface="Times New Roman"/>
              </a:rPr>
              <a:t> </a:t>
            </a:r>
            <a:r>
              <a:rPr sz="1200" dirty="0">
                <a:latin typeface="Times New Roman"/>
                <a:cs typeface="Times New Roman"/>
              </a:rPr>
              <a:t>stored</a:t>
            </a:r>
            <a:r>
              <a:rPr sz="1200" spc="160" dirty="0">
                <a:latin typeface="Times New Roman"/>
                <a:cs typeface="Times New Roman"/>
              </a:rPr>
              <a:t> </a:t>
            </a:r>
            <a:r>
              <a:rPr sz="1200" dirty="0">
                <a:latin typeface="Times New Roman"/>
                <a:cs typeface="Times New Roman"/>
              </a:rPr>
              <a:t>using</a:t>
            </a:r>
            <a:r>
              <a:rPr sz="1200" spc="155" dirty="0">
                <a:latin typeface="Times New Roman"/>
                <a:cs typeface="Times New Roman"/>
              </a:rPr>
              <a:t> </a:t>
            </a:r>
            <a:r>
              <a:rPr sz="1200" dirty="0">
                <a:latin typeface="Times New Roman"/>
                <a:cs typeface="Times New Roman"/>
              </a:rPr>
              <a:t>a</a:t>
            </a:r>
            <a:r>
              <a:rPr sz="1200" spc="155" dirty="0">
                <a:latin typeface="Times New Roman"/>
                <a:cs typeface="Times New Roman"/>
              </a:rPr>
              <a:t> </a:t>
            </a:r>
            <a:r>
              <a:rPr sz="1200" spc="-10" dirty="0">
                <a:latin typeface="Times New Roman"/>
                <a:cs typeface="Times New Roman"/>
              </a:rPr>
              <a:t>MongoDB database.</a:t>
            </a:r>
            <a:endParaRPr sz="1200">
              <a:latin typeface="Times New Roman"/>
              <a:cs typeface="Times New Roman"/>
            </a:endParaRPr>
          </a:p>
          <a:p>
            <a:pPr marL="165100" indent="-152400">
              <a:lnSpc>
                <a:spcPct val="100000"/>
              </a:lnSpc>
              <a:spcBef>
                <a:spcPts val="1300"/>
              </a:spcBef>
              <a:buAutoNum type="arabicPeriod"/>
              <a:tabLst>
                <a:tab pos="165100" algn="l"/>
              </a:tabLst>
            </a:pPr>
            <a:r>
              <a:rPr sz="1200" b="1" dirty="0">
                <a:latin typeface="Times New Roman"/>
                <a:cs typeface="Times New Roman"/>
              </a:rPr>
              <a:t>User</a:t>
            </a:r>
            <a:r>
              <a:rPr sz="1200" b="1" spc="-25" dirty="0">
                <a:latin typeface="Times New Roman"/>
                <a:cs typeface="Times New Roman"/>
              </a:rPr>
              <a:t> </a:t>
            </a:r>
            <a:r>
              <a:rPr sz="1200" b="1" dirty="0">
                <a:latin typeface="Times New Roman"/>
                <a:cs typeface="Times New Roman"/>
              </a:rPr>
              <a:t>Registration</a:t>
            </a:r>
            <a:r>
              <a:rPr sz="1200" b="1" spc="-15"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Authentication</a:t>
            </a:r>
            <a:endParaRPr sz="1200">
              <a:latin typeface="Times New Roman"/>
              <a:cs typeface="Times New Roman"/>
            </a:endParaRPr>
          </a:p>
          <a:p>
            <a:pPr marL="469265" lvl="1" indent="-228600">
              <a:lnSpc>
                <a:spcPts val="1410"/>
              </a:lnSpc>
              <a:spcBef>
                <a:spcPts val="1340"/>
              </a:spcBef>
              <a:buSzPct val="83333"/>
              <a:buFont typeface="Symbol"/>
              <a:buChar char=""/>
              <a:tabLst>
                <a:tab pos="469265" algn="l"/>
              </a:tabLst>
            </a:pPr>
            <a:r>
              <a:rPr sz="1200" b="1" dirty="0">
                <a:latin typeface="Times New Roman"/>
                <a:cs typeface="Times New Roman"/>
              </a:rPr>
              <a:t>Registration</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Buyers,</a:t>
            </a:r>
            <a:r>
              <a:rPr sz="1200" spc="-30" dirty="0">
                <a:latin typeface="Times New Roman"/>
                <a:cs typeface="Times New Roman"/>
              </a:rPr>
              <a:t> </a:t>
            </a:r>
            <a:r>
              <a:rPr sz="1200" dirty="0">
                <a:latin typeface="Times New Roman"/>
                <a:cs typeface="Times New Roman"/>
              </a:rPr>
              <a:t>sellers,</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administrators</a:t>
            </a:r>
            <a:r>
              <a:rPr sz="1200" spc="-1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platform.</a:t>
            </a:r>
            <a:endParaRPr sz="1200">
              <a:latin typeface="Times New Roman"/>
              <a:cs typeface="Times New Roman"/>
            </a:endParaRPr>
          </a:p>
          <a:p>
            <a:pPr marL="469265" marR="8255" lvl="1" indent="-228600" algn="just">
              <a:lnSpc>
                <a:spcPts val="1380"/>
              </a:lnSpc>
              <a:spcBef>
                <a:spcPts val="70"/>
              </a:spcBef>
              <a:buSzPct val="83333"/>
              <a:buFont typeface="Symbol"/>
              <a:buChar char=""/>
              <a:tabLst>
                <a:tab pos="469265" algn="l"/>
              </a:tabLst>
            </a:pPr>
            <a:r>
              <a:rPr sz="1200" b="1" dirty="0">
                <a:latin typeface="Times New Roman"/>
                <a:cs typeface="Times New Roman"/>
              </a:rPr>
              <a:t>Authentication</a:t>
            </a:r>
            <a:r>
              <a:rPr sz="1200" dirty="0">
                <a:latin typeface="Times New Roman"/>
                <a:cs typeface="Times New Roman"/>
              </a:rPr>
              <a:t>:</a:t>
            </a:r>
            <a:r>
              <a:rPr sz="1200" spc="130" dirty="0">
                <a:latin typeface="Times New Roman"/>
                <a:cs typeface="Times New Roman"/>
              </a:rPr>
              <a:t> </a:t>
            </a:r>
            <a:r>
              <a:rPr sz="1200" spc="-10" dirty="0">
                <a:latin typeface="Times New Roman"/>
                <a:cs typeface="Times New Roman"/>
              </a:rPr>
              <a:t>JWT-</a:t>
            </a:r>
            <a:r>
              <a:rPr sz="1200" dirty="0">
                <a:latin typeface="Times New Roman"/>
                <a:cs typeface="Times New Roman"/>
              </a:rPr>
              <a:t>based</a:t>
            </a:r>
            <a:r>
              <a:rPr sz="1200" spc="125" dirty="0">
                <a:latin typeface="Times New Roman"/>
                <a:cs typeface="Times New Roman"/>
              </a:rPr>
              <a:t> </a:t>
            </a:r>
            <a:r>
              <a:rPr sz="1200" dirty="0">
                <a:latin typeface="Times New Roman"/>
                <a:cs typeface="Times New Roman"/>
              </a:rPr>
              <a:t>login</a:t>
            </a:r>
            <a:r>
              <a:rPr sz="1200" spc="125" dirty="0">
                <a:latin typeface="Times New Roman"/>
                <a:cs typeface="Times New Roman"/>
              </a:rPr>
              <a:t> </a:t>
            </a:r>
            <a:r>
              <a:rPr sz="1200" dirty="0">
                <a:latin typeface="Times New Roman"/>
                <a:cs typeface="Times New Roman"/>
              </a:rPr>
              <a:t>and</a:t>
            </a:r>
            <a:r>
              <a:rPr sz="1200" spc="125" dirty="0">
                <a:latin typeface="Times New Roman"/>
                <a:cs typeface="Times New Roman"/>
              </a:rPr>
              <a:t> </a:t>
            </a:r>
            <a:r>
              <a:rPr sz="1200" spc="-10" dirty="0">
                <a:latin typeface="Times New Roman"/>
                <a:cs typeface="Times New Roman"/>
              </a:rPr>
              <a:t>two-</a:t>
            </a:r>
            <a:r>
              <a:rPr sz="1200" dirty="0">
                <a:latin typeface="Times New Roman"/>
                <a:cs typeface="Times New Roman"/>
              </a:rPr>
              <a:t>factor</a:t>
            </a:r>
            <a:r>
              <a:rPr sz="1200" spc="125" dirty="0">
                <a:latin typeface="Times New Roman"/>
                <a:cs typeface="Times New Roman"/>
              </a:rPr>
              <a:t> </a:t>
            </a:r>
            <a:r>
              <a:rPr sz="1200" dirty="0">
                <a:latin typeface="Times New Roman"/>
                <a:cs typeface="Times New Roman"/>
              </a:rPr>
              <a:t>authentication</a:t>
            </a:r>
            <a:r>
              <a:rPr sz="1200" spc="125" dirty="0">
                <a:latin typeface="Times New Roman"/>
                <a:cs typeface="Times New Roman"/>
              </a:rPr>
              <a:t> </a:t>
            </a:r>
            <a:r>
              <a:rPr sz="1200" dirty="0">
                <a:latin typeface="Times New Roman"/>
                <a:cs typeface="Times New Roman"/>
              </a:rPr>
              <a:t>(2FA)</a:t>
            </a:r>
            <a:r>
              <a:rPr sz="1200" spc="135" dirty="0">
                <a:latin typeface="Times New Roman"/>
                <a:cs typeface="Times New Roman"/>
              </a:rPr>
              <a:t> </a:t>
            </a:r>
            <a:r>
              <a:rPr sz="1200" dirty="0">
                <a:latin typeface="Times New Roman"/>
                <a:cs typeface="Times New Roman"/>
              </a:rPr>
              <a:t>will</a:t>
            </a:r>
            <a:r>
              <a:rPr sz="1200" spc="130" dirty="0">
                <a:latin typeface="Times New Roman"/>
                <a:cs typeface="Times New Roman"/>
              </a:rPr>
              <a:t> </a:t>
            </a:r>
            <a:r>
              <a:rPr sz="1200" spc="-10" dirty="0">
                <a:latin typeface="Times New Roman"/>
                <a:cs typeface="Times New Roman"/>
              </a:rPr>
              <a:t>ensure </a:t>
            </a:r>
            <a:r>
              <a:rPr sz="1200" dirty="0">
                <a:latin typeface="Times New Roman"/>
                <a:cs typeface="Times New Roman"/>
              </a:rPr>
              <a:t>secure</a:t>
            </a:r>
            <a:r>
              <a:rPr sz="1200" spc="-3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participation.</a:t>
            </a:r>
            <a:endParaRPr sz="1200">
              <a:latin typeface="Times New Roman"/>
              <a:cs typeface="Times New Roman"/>
            </a:endParaRPr>
          </a:p>
          <a:p>
            <a:pPr marL="165100" indent="-152400">
              <a:lnSpc>
                <a:spcPct val="100000"/>
              </a:lnSpc>
              <a:spcBef>
                <a:spcPts val="1310"/>
              </a:spcBef>
              <a:buAutoNum type="arabicPeriod"/>
              <a:tabLst>
                <a:tab pos="165100" algn="l"/>
              </a:tabLst>
            </a:pPr>
            <a:r>
              <a:rPr sz="1200" b="1" dirty="0">
                <a:latin typeface="Times New Roman"/>
                <a:cs typeface="Times New Roman"/>
              </a:rPr>
              <a:t>User</a:t>
            </a:r>
            <a:r>
              <a:rPr sz="1200" b="1" spc="-35" dirty="0">
                <a:latin typeface="Times New Roman"/>
                <a:cs typeface="Times New Roman"/>
              </a:rPr>
              <a:t> </a:t>
            </a:r>
            <a:r>
              <a:rPr sz="1200" b="1" dirty="0">
                <a:latin typeface="Times New Roman"/>
                <a:cs typeface="Times New Roman"/>
              </a:rPr>
              <a:t>Interface</a:t>
            </a:r>
            <a:r>
              <a:rPr sz="1200" b="1" spc="-35" dirty="0">
                <a:latin typeface="Times New Roman"/>
                <a:cs typeface="Times New Roman"/>
              </a:rPr>
              <a:t> </a:t>
            </a:r>
            <a:r>
              <a:rPr sz="1200" b="1" spc="-20" dirty="0">
                <a:latin typeface="Times New Roman"/>
                <a:cs typeface="Times New Roman"/>
              </a:rPr>
              <a:t>(UI)</a:t>
            </a:r>
            <a:endParaRPr sz="1200">
              <a:latin typeface="Times New Roman"/>
              <a:cs typeface="Times New Roman"/>
            </a:endParaRPr>
          </a:p>
          <a:p>
            <a:pPr marL="469265" lvl="1" indent="-228600">
              <a:lnSpc>
                <a:spcPts val="1410"/>
              </a:lnSpc>
              <a:spcBef>
                <a:spcPts val="1330"/>
              </a:spcBef>
              <a:buSzPct val="83333"/>
              <a:buFont typeface="Symbol"/>
              <a:buChar char=""/>
              <a:tabLst>
                <a:tab pos="469265" algn="l"/>
              </a:tabLst>
            </a:pPr>
            <a:r>
              <a:rPr sz="1200" b="1" dirty="0">
                <a:latin typeface="Times New Roman"/>
                <a:cs typeface="Times New Roman"/>
              </a:rPr>
              <a:t>Design</a:t>
            </a:r>
            <a:r>
              <a:rPr sz="1200" b="1" spc="-20" dirty="0">
                <a:latin typeface="Times New Roman"/>
                <a:cs typeface="Times New Roman"/>
              </a:rPr>
              <a:t> </a:t>
            </a:r>
            <a:r>
              <a:rPr sz="1200" b="1" spc="-10" dirty="0">
                <a:latin typeface="Times New Roman"/>
                <a:cs typeface="Times New Roman"/>
              </a:rPr>
              <a:t>Features</a:t>
            </a:r>
            <a:r>
              <a:rPr sz="1200" spc="-10" dirty="0">
                <a:latin typeface="Times New Roman"/>
                <a:cs typeface="Times New Roman"/>
              </a:rPr>
              <a:t>:</a:t>
            </a:r>
            <a:endParaRPr sz="1200">
              <a:latin typeface="Times New Roman"/>
              <a:cs typeface="Times New Roman"/>
            </a:endParaRPr>
          </a:p>
          <a:p>
            <a:pPr marL="926465" lvl="2" indent="-228600">
              <a:lnSpc>
                <a:spcPts val="1380"/>
              </a:lnSpc>
              <a:buSzPct val="83333"/>
              <a:buFont typeface="Courier New"/>
              <a:buChar char="o"/>
              <a:tabLst>
                <a:tab pos="926465" algn="l"/>
              </a:tabLst>
            </a:pP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modern,</a:t>
            </a:r>
            <a:r>
              <a:rPr sz="1200" spc="-20" dirty="0">
                <a:latin typeface="Times New Roman"/>
                <a:cs typeface="Times New Roman"/>
              </a:rPr>
              <a:t> </a:t>
            </a:r>
            <a:r>
              <a:rPr sz="1200" dirty="0">
                <a:latin typeface="Times New Roman"/>
                <a:cs typeface="Times New Roman"/>
              </a:rPr>
              <a:t>responsive,</a:t>
            </a:r>
            <a:r>
              <a:rPr sz="1200" spc="-1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easy-to-</a:t>
            </a:r>
            <a:r>
              <a:rPr sz="1200" dirty="0">
                <a:latin typeface="Times New Roman"/>
                <a:cs typeface="Times New Roman"/>
              </a:rPr>
              <a:t>navigate</a:t>
            </a:r>
            <a:r>
              <a:rPr sz="1200" spc="-25" dirty="0">
                <a:latin typeface="Times New Roman"/>
                <a:cs typeface="Times New Roman"/>
              </a:rPr>
              <a:t> </a:t>
            </a:r>
            <a:r>
              <a:rPr sz="1200" dirty="0">
                <a:latin typeface="Times New Roman"/>
                <a:cs typeface="Times New Roman"/>
              </a:rPr>
              <a:t>interface</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spc="-10" dirty="0">
                <a:latin typeface="Times New Roman"/>
                <a:cs typeface="Times New Roman"/>
              </a:rPr>
              <a:t>used.</a:t>
            </a:r>
            <a:endParaRPr sz="1200">
              <a:latin typeface="Times New Roman"/>
              <a:cs typeface="Times New Roman"/>
            </a:endParaRPr>
          </a:p>
          <a:p>
            <a:pPr marL="926465" lvl="2" indent="-228600">
              <a:lnSpc>
                <a:spcPts val="1410"/>
              </a:lnSpc>
              <a:buSzPct val="83333"/>
              <a:buFont typeface="Courier New"/>
              <a:buChar char="o"/>
              <a:tabLst>
                <a:tab pos="926465" algn="l"/>
              </a:tabLst>
            </a:pP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dashboards</a:t>
            </a:r>
            <a:r>
              <a:rPr sz="1200" spc="-25"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show</a:t>
            </a:r>
            <a:r>
              <a:rPr sz="1200" spc="-25" dirty="0">
                <a:latin typeface="Times New Roman"/>
                <a:cs typeface="Times New Roman"/>
              </a:rPr>
              <a:t> </a:t>
            </a:r>
            <a:r>
              <a:rPr sz="1200" dirty="0">
                <a:latin typeface="Times New Roman"/>
                <a:cs typeface="Times New Roman"/>
              </a:rPr>
              <a:t>live</a:t>
            </a:r>
            <a:r>
              <a:rPr sz="1200" spc="-25" dirty="0">
                <a:latin typeface="Times New Roman"/>
                <a:cs typeface="Times New Roman"/>
              </a:rPr>
              <a:t> </a:t>
            </a:r>
            <a:r>
              <a:rPr sz="1200" dirty="0">
                <a:latin typeface="Times New Roman"/>
                <a:cs typeface="Times New Roman"/>
              </a:rPr>
              <a:t>bidding</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pricing</a:t>
            </a:r>
            <a:r>
              <a:rPr sz="1200" spc="-25" dirty="0">
                <a:latin typeface="Times New Roman"/>
                <a:cs typeface="Times New Roman"/>
              </a:rPr>
              <a:t> </a:t>
            </a:r>
            <a:r>
              <a:rPr sz="1200" spc="-10" dirty="0">
                <a:latin typeface="Times New Roman"/>
                <a:cs typeface="Times New Roman"/>
              </a:rPr>
              <a:t>trends.</a:t>
            </a:r>
            <a:endParaRPr sz="1200">
              <a:latin typeface="Times New Roman"/>
              <a:cs typeface="Times New Roman"/>
            </a:endParaRPr>
          </a:p>
          <a:p>
            <a:pPr marL="165100" indent="-152400">
              <a:lnSpc>
                <a:spcPct val="100000"/>
              </a:lnSpc>
              <a:spcBef>
                <a:spcPts val="1345"/>
              </a:spcBef>
              <a:buAutoNum type="arabicPeriod"/>
              <a:tabLst>
                <a:tab pos="165100" algn="l"/>
              </a:tabLst>
            </a:pPr>
            <a:r>
              <a:rPr sz="1200" b="1" dirty="0">
                <a:latin typeface="Times New Roman"/>
                <a:cs typeface="Times New Roman"/>
              </a:rPr>
              <a:t>Feedback</a:t>
            </a:r>
            <a:r>
              <a:rPr sz="1200" b="1" spc="-3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Information</a:t>
            </a:r>
            <a:r>
              <a:rPr sz="1200" b="1" spc="-25" dirty="0">
                <a:latin typeface="Times New Roman"/>
                <a:cs typeface="Times New Roman"/>
              </a:rPr>
              <a:t> </a:t>
            </a:r>
            <a:r>
              <a:rPr sz="1200" b="1" spc="-20" dirty="0">
                <a:latin typeface="Times New Roman"/>
                <a:cs typeface="Times New Roman"/>
              </a:rPr>
              <a:t>Input</a:t>
            </a:r>
            <a:endParaRPr sz="1200">
              <a:latin typeface="Times New Roman"/>
              <a:cs typeface="Times New Roman"/>
            </a:endParaRPr>
          </a:p>
          <a:p>
            <a:pPr>
              <a:lnSpc>
                <a:spcPct val="100000"/>
              </a:lnSpc>
              <a:spcBef>
                <a:spcPts val="60"/>
              </a:spcBef>
              <a:buFont typeface="Times New Roman"/>
              <a:buAutoNum type="arabicPeriod"/>
            </a:pPr>
            <a:endParaRPr sz="1200">
              <a:latin typeface="Times New Roman"/>
              <a:cs typeface="Times New Roman"/>
            </a:endParaRPr>
          </a:p>
          <a:p>
            <a:pPr marL="469265" marR="11430" lvl="1" indent="-228600" algn="just">
              <a:lnSpc>
                <a:spcPts val="1380"/>
              </a:lnSpc>
              <a:buSzPct val="83333"/>
              <a:buFont typeface="Symbol"/>
              <a:buChar char=""/>
              <a:tabLst>
                <a:tab pos="469265" algn="l"/>
              </a:tabLst>
            </a:pPr>
            <a:r>
              <a:rPr sz="1200" dirty="0">
                <a:latin typeface="Times New Roman"/>
                <a:cs typeface="Times New Roman"/>
              </a:rPr>
              <a:t>Users</a:t>
            </a:r>
            <a:r>
              <a:rPr sz="1200" spc="60" dirty="0">
                <a:latin typeface="Times New Roman"/>
                <a:cs typeface="Times New Roman"/>
              </a:rPr>
              <a:t> </a:t>
            </a:r>
            <a:r>
              <a:rPr sz="1200" dirty="0">
                <a:latin typeface="Times New Roman"/>
                <a:cs typeface="Times New Roman"/>
              </a:rPr>
              <a:t>can</a:t>
            </a:r>
            <a:r>
              <a:rPr sz="1200" spc="65" dirty="0">
                <a:latin typeface="Times New Roman"/>
                <a:cs typeface="Times New Roman"/>
              </a:rPr>
              <a:t> </a:t>
            </a:r>
            <a:r>
              <a:rPr sz="1200" dirty="0">
                <a:latin typeface="Times New Roman"/>
                <a:cs typeface="Times New Roman"/>
              </a:rPr>
              <a:t>submit</a:t>
            </a:r>
            <a:r>
              <a:rPr sz="1200" spc="65" dirty="0">
                <a:latin typeface="Times New Roman"/>
                <a:cs typeface="Times New Roman"/>
              </a:rPr>
              <a:t> </a:t>
            </a:r>
            <a:r>
              <a:rPr sz="1200" dirty="0">
                <a:latin typeface="Times New Roman"/>
                <a:cs typeface="Times New Roman"/>
              </a:rPr>
              <a:t>property</a:t>
            </a:r>
            <a:r>
              <a:rPr sz="1200" spc="70" dirty="0">
                <a:latin typeface="Times New Roman"/>
                <a:cs typeface="Times New Roman"/>
              </a:rPr>
              <a:t> </a:t>
            </a:r>
            <a:r>
              <a:rPr sz="1200" dirty="0">
                <a:latin typeface="Times New Roman"/>
                <a:cs typeface="Times New Roman"/>
              </a:rPr>
              <a:t>descriptions,</a:t>
            </a:r>
            <a:r>
              <a:rPr sz="1200" spc="65" dirty="0">
                <a:latin typeface="Times New Roman"/>
                <a:cs typeface="Times New Roman"/>
              </a:rPr>
              <a:t> </a:t>
            </a:r>
            <a:r>
              <a:rPr sz="1200" dirty="0">
                <a:latin typeface="Times New Roman"/>
                <a:cs typeface="Times New Roman"/>
              </a:rPr>
              <a:t>legal</a:t>
            </a:r>
            <a:r>
              <a:rPr sz="1200" spc="70" dirty="0">
                <a:latin typeface="Times New Roman"/>
                <a:cs typeface="Times New Roman"/>
              </a:rPr>
              <a:t> </a:t>
            </a:r>
            <a:r>
              <a:rPr sz="1200" dirty="0">
                <a:latin typeface="Times New Roman"/>
                <a:cs typeface="Times New Roman"/>
              </a:rPr>
              <a:t>documents,</a:t>
            </a:r>
            <a:r>
              <a:rPr sz="1200" spc="6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details</a:t>
            </a:r>
            <a:r>
              <a:rPr sz="1200" spc="65" dirty="0">
                <a:latin typeface="Times New Roman"/>
                <a:cs typeface="Times New Roman"/>
              </a:rPr>
              <a:t> </a:t>
            </a:r>
            <a:r>
              <a:rPr sz="1200" dirty="0">
                <a:latin typeface="Times New Roman"/>
                <a:cs typeface="Times New Roman"/>
              </a:rPr>
              <a:t>via</a:t>
            </a:r>
            <a:r>
              <a:rPr sz="1200" spc="75" dirty="0">
                <a:latin typeface="Times New Roman"/>
                <a:cs typeface="Times New Roman"/>
              </a:rPr>
              <a:t> </a:t>
            </a:r>
            <a:r>
              <a:rPr sz="1200" spc="-10" dirty="0">
                <a:latin typeface="Times New Roman"/>
                <a:cs typeface="Times New Roman"/>
              </a:rPr>
              <a:t>interactive forms.</a:t>
            </a:r>
            <a:endParaRPr sz="1200">
              <a:latin typeface="Times New Roman"/>
              <a:cs typeface="Times New Roman"/>
            </a:endParaRPr>
          </a:p>
          <a:p>
            <a:pPr marL="469265" marR="10795" lvl="1" indent="-228600" algn="just">
              <a:lnSpc>
                <a:spcPts val="1380"/>
              </a:lnSpc>
              <a:buSzPct val="83333"/>
              <a:buFont typeface="Symbol"/>
              <a:buChar char=""/>
              <a:tabLst>
                <a:tab pos="469265" algn="l"/>
              </a:tabLst>
            </a:pPr>
            <a:r>
              <a:rPr sz="1200" dirty="0">
                <a:latin typeface="Times New Roman"/>
                <a:cs typeface="Times New Roman"/>
              </a:rPr>
              <a:t>Feedback</a:t>
            </a:r>
            <a:r>
              <a:rPr sz="1200" spc="170" dirty="0">
                <a:latin typeface="Times New Roman"/>
                <a:cs typeface="Times New Roman"/>
              </a:rPr>
              <a:t> </a:t>
            </a:r>
            <a:r>
              <a:rPr sz="1200" dirty="0">
                <a:latin typeface="Times New Roman"/>
                <a:cs typeface="Times New Roman"/>
              </a:rPr>
              <a:t>tools</a:t>
            </a:r>
            <a:r>
              <a:rPr sz="1200" spc="185" dirty="0">
                <a:latin typeface="Times New Roman"/>
                <a:cs typeface="Times New Roman"/>
              </a:rPr>
              <a:t> </a:t>
            </a:r>
            <a:r>
              <a:rPr sz="1200" dirty="0">
                <a:latin typeface="Times New Roman"/>
                <a:cs typeface="Times New Roman"/>
              </a:rPr>
              <a:t>will</a:t>
            </a:r>
            <a:r>
              <a:rPr sz="1200" spc="175" dirty="0">
                <a:latin typeface="Times New Roman"/>
                <a:cs typeface="Times New Roman"/>
              </a:rPr>
              <a:t> </a:t>
            </a:r>
            <a:r>
              <a:rPr sz="1200" dirty="0">
                <a:latin typeface="Times New Roman"/>
                <a:cs typeface="Times New Roman"/>
              </a:rPr>
              <a:t>allow</a:t>
            </a:r>
            <a:r>
              <a:rPr sz="1200" spc="175" dirty="0">
                <a:latin typeface="Times New Roman"/>
                <a:cs typeface="Times New Roman"/>
              </a:rPr>
              <a:t> </a:t>
            </a:r>
            <a:r>
              <a:rPr sz="1200" dirty="0">
                <a:latin typeface="Times New Roman"/>
                <a:cs typeface="Times New Roman"/>
              </a:rPr>
              <a:t>users</a:t>
            </a:r>
            <a:r>
              <a:rPr sz="1200" spc="170" dirty="0">
                <a:latin typeface="Times New Roman"/>
                <a:cs typeface="Times New Roman"/>
              </a:rPr>
              <a:t> </a:t>
            </a:r>
            <a:r>
              <a:rPr sz="1200" dirty="0">
                <a:latin typeface="Times New Roman"/>
                <a:cs typeface="Times New Roman"/>
              </a:rPr>
              <a:t>to</a:t>
            </a:r>
            <a:r>
              <a:rPr sz="1200" spc="185" dirty="0">
                <a:latin typeface="Times New Roman"/>
                <a:cs typeface="Times New Roman"/>
              </a:rPr>
              <a:t> </a:t>
            </a:r>
            <a:r>
              <a:rPr sz="1200" dirty="0">
                <a:latin typeface="Times New Roman"/>
                <a:cs typeface="Times New Roman"/>
              </a:rPr>
              <a:t>rate</a:t>
            </a:r>
            <a:r>
              <a:rPr sz="1200" spc="180" dirty="0">
                <a:latin typeface="Times New Roman"/>
                <a:cs typeface="Times New Roman"/>
              </a:rPr>
              <a:t> </a:t>
            </a:r>
            <a:r>
              <a:rPr sz="1200" dirty="0">
                <a:latin typeface="Times New Roman"/>
                <a:cs typeface="Times New Roman"/>
              </a:rPr>
              <a:t>auction</a:t>
            </a:r>
            <a:r>
              <a:rPr sz="1200" spc="185" dirty="0">
                <a:latin typeface="Times New Roman"/>
                <a:cs typeface="Times New Roman"/>
              </a:rPr>
              <a:t> </a:t>
            </a:r>
            <a:r>
              <a:rPr sz="1200" dirty="0">
                <a:latin typeface="Times New Roman"/>
                <a:cs typeface="Times New Roman"/>
              </a:rPr>
              <a:t>experiences</a:t>
            </a:r>
            <a:r>
              <a:rPr sz="1200" spc="185" dirty="0">
                <a:latin typeface="Times New Roman"/>
                <a:cs typeface="Times New Roman"/>
              </a:rPr>
              <a:t> </a:t>
            </a:r>
            <a:r>
              <a:rPr sz="1200" dirty="0">
                <a:latin typeface="Times New Roman"/>
                <a:cs typeface="Times New Roman"/>
              </a:rPr>
              <a:t>and</a:t>
            </a:r>
            <a:r>
              <a:rPr sz="1200" spc="170" dirty="0">
                <a:latin typeface="Times New Roman"/>
                <a:cs typeface="Times New Roman"/>
              </a:rPr>
              <a:t> </a:t>
            </a:r>
            <a:r>
              <a:rPr sz="1200" dirty="0">
                <a:latin typeface="Times New Roman"/>
                <a:cs typeface="Times New Roman"/>
              </a:rPr>
              <a:t>report</a:t>
            </a:r>
            <a:r>
              <a:rPr sz="1200" spc="170" dirty="0">
                <a:latin typeface="Times New Roman"/>
                <a:cs typeface="Times New Roman"/>
              </a:rPr>
              <a:t> </a:t>
            </a:r>
            <a:r>
              <a:rPr sz="1200" spc="-10" dirty="0">
                <a:latin typeface="Times New Roman"/>
                <a:cs typeface="Times New Roman"/>
              </a:rPr>
              <a:t>suspicious activity.</a:t>
            </a:r>
            <a:endParaRPr sz="1200">
              <a:latin typeface="Times New Roman"/>
              <a:cs typeface="Times New Roman"/>
            </a:endParaRPr>
          </a:p>
          <a:p>
            <a:pPr marL="165100" indent="-152400">
              <a:lnSpc>
                <a:spcPct val="100000"/>
              </a:lnSpc>
              <a:spcBef>
                <a:spcPts val="1300"/>
              </a:spcBef>
              <a:buAutoNum type="arabicPeriod"/>
              <a:tabLst>
                <a:tab pos="165100" algn="l"/>
              </a:tabLst>
            </a:pPr>
            <a:r>
              <a:rPr sz="1200" b="1" spc="-10" dirty="0">
                <a:latin typeface="Times New Roman"/>
                <a:cs typeface="Times New Roman"/>
              </a:rPr>
              <a:t>AI-</a:t>
            </a:r>
            <a:r>
              <a:rPr sz="1200" b="1" dirty="0">
                <a:latin typeface="Times New Roman"/>
                <a:cs typeface="Times New Roman"/>
              </a:rPr>
              <a:t>Powered</a:t>
            </a:r>
            <a:r>
              <a:rPr sz="1200" b="1" spc="-20" dirty="0">
                <a:latin typeface="Times New Roman"/>
                <a:cs typeface="Times New Roman"/>
              </a:rPr>
              <a:t> </a:t>
            </a:r>
            <a:r>
              <a:rPr sz="1200" b="1" dirty="0">
                <a:latin typeface="Times New Roman"/>
                <a:cs typeface="Times New Roman"/>
              </a:rPr>
              <a:t>Bidding</a:t>
            </a:r>
            <a:r>
              <a:rPr sz="1200" b="1" spc="-3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dirty="0">
                <a:latin typeface="Times New Roman"/>
                <a:cs typeface="Times New Roman"/>
              </a:rPr>
              <a:t>Pricing</a:t>
            </a:r>
            <a:r>
              <a:rPr sz="1200" b="1" spc="-15" dirty="0">
                <a:latin typeface="Times New Roman"/>
                <a:cs typeface="Times New Roman"/>
              </a:rPr>
              <a:t> </a:t>
            </a:r>
            <a:r>
              <a:rPr sz="1200" b="1" spc="-10" dirty="0">
                <a:latin typeface="Times New Roman"/>
                <a:cs typeface="Times New Roman"/>
              </a:rPr>
              <a:t>Models</a:t>
            </a:r>
            <a:endParaRPr sz="1200">
              <a:latin typeface="Times New Roman"/>
              <a:cs typeface="Times New Roman"/>
            </a:endParaRPr>
          </a:p>
          <a:p>
            <a:pPr marL="469265" lvl="1" indent="-228600">
              <a:lnSpc>
                <a:spcPts val="1410"/>
              </a:lnSpc>
              <a:spcBef>
                <a:spcPts val="1340"/>
              </a:spcBef>
              <a:buSzPct val="83333"/>
              <a:buFont typeface="Symbol"/>
              <a:buChar char=""/>
              <a:tabLst>
                <a:tab pos="469265" algn="l"/>
              </a:tabLst>
            </a:pPr>
            <a:r>
              <a:rPr sz="1200" dirty="0">
                <a:latin typeface="Times New Roman"/>
                <a:cs typeface="Times New Roman"/>
              </a:rPr>
              <a:t>AI</a:t>
            </a:r>
            <a:r>
              <a:rPr sz="1200" spc="-45"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offer</a:t>
            </a:r>
            <a:r>
              <a:rPr sz="1200" spc="-2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price</a:t>
            </a:r>
            <a:r>
              <a:rPr sz="1200" spc="-35" dirty="0">
                <a:latin typeface="Times New Roman"/>
                <a:cs typeface="Times New Roman"/>
              </a:rPr>
              <a:t> </a:t>
            </a:r>
            <a:r>
              <a:rPr sz="1200" dirty="0">
                <a:latin typeface="Times New Roman"/>
                <a:cs typeface="Times New Roman"/>
              </a:rPr>
              <a:t>predictions</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sellers</a:t>
            </a:r>
            <a:r>
              <a:rPr sz="1200" spc="-25" dirty="0">
                <a:latin typeface="Times New Roman"/>
                <a:cs typeface="Times New Roman"/>
              </a:rPr>
              <a:t> </a:t>
            </a:r>
            <a:r>
              <a:rPr sz="1200" dirty="0">
                <a:latin typeface="Times New Roman"/>
                <a:cs typeface="Times New Roman"/>
              </a:rPr>
              <a:t>set</a:t>
            </a:r>
            <a:r>
              <a:rPr sz="1200" spc="-30" dirty="0">
                <a:latin typeface="Times New Roman"/>
                <a:cs typeface="Times New Roman"/>
              </a:rPr>
              <a:t> </a:t>
            </a:r>
            <a:r>
              <a:rPr sz="1200" dirty="0">
                <a:latin typeface="Times New Roman"/>
                <a:cs typeface="Times New Roman"/>
              </a:rPr>
              <a:t>competitive</a:t>
            </a:r>
            <a:r>
              <a:rPr sz="1200" spc="-25" dirty="0">
                <a:latin typeface="Times New Roman"/>
                <a:cs typeface="Times New Roman"/>
              </a:rPr>
              <a:t> </a:t>
            </a:r>
            <a:r>
              <a:rPr sz="1200" dirty="0">
                <a:latin typeface="Times New Roman"/>
                <a:cs typeface="Times New Roman"/>
              </a:rPr>
              <a:t>starting</a:t>
            </a:r>
            <a:r>
              <a:rPr sz="1200" spc="-25" dirty="0">
                <a:latin typeface="Times New Roman"/>
                <a:cs typeface="Times New Roman"/>
              </a:rPr>
              <a:t> </a:t>
            </a:r>
            <a:r>
              <a:rPr sz="1200" spc="-10" dirty="0">
                <a:latin typeface="Times New Roman"/>
                <a:cs typeface="Times New Roman"/>
              </a:rPr>
              <a:t>prices.</a:t>
            </a:r>
            <a:endParaRPr sz="1200">
              <a:latin typeface="Times New Roman"/>
              <a:cs typeface="Times New Roman"/>
            </a:endParaRPr>
          </a:p>
          <a:p>
            <a:pPr marL="469265" lvl="1" indent="-228600">
              <a:lnSpc>
                <a:spcPts val="1410"/>
              </a:lnSpc>
              <a:buSzPct val="83333"/>
              <a:buFont typeface="Symbol"/>
              <a:buChar char=""/>
              <a:tabLst>
                <a:tab pos="469265" algn="l"/>
              </a:tabLst>
            </a:pP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will</a:t>
            </a:r>
            <a:r>
              <a:rPr sz="1200" spc="-40" dirty="0">
                <a:latin typeface="Times New Roman"/>
                <a:cs typeface="Times New Roman"/>
              </a:rPr>
              <a:t> </a:t>
            </a:r>
            <a:r>
              <a:rPr sz="1200" dirty="0">
                <a:latin typeface="Times New Roman"/>
                <a:cs typeface="Times New Roman"/>
              </a:rPr>
              <a:t>monitor</a:t>
            </a:r>
            <a:r>
              <a:rPr sz="1200" spc="-6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flag</a:t>
            </a:r>
            <a:r>
              <a:rPr sz="1200" spc="-45" dirty="0">
                <a:latin typeface="Times New Roman"/>
                <a:cs typeface="Times New Roman"/>
              </a:rPr>
              <a:t> </a:t>
            </a:r>
            <a:r>
              <a:rPr sz="1200" dirty="0">
                <a:latin typeface="Times New Roman"/>
                <a:cs typeface="Times New Roman"/>
              </a:rPr>
              <a:t>irregular</a:t>
            </a:r>
            <a:r>
              <a:rPr sz="1200" spc="-50" dirty="0">
                <a:latin typeface="Times New Roman"/>
                <a:cs typeface="Times New Roman"/>
              </a:rPr>
              <a:t> </a:t>
            </a:r>
            <a:r>
              <a:rPr sz="1200" dirty="0">
                <a:latin typeface="Times New Roman"/>
                <a:cs typeface="Times New Roman"/>
              </a:rPr>
              <a:t>bidding</a:t>
            </a:r>
            <a:r>
              <a:rPr sz="1200" spc="-45" dirty="0">
                <a:latin typeface="Times New Roman"/>
                <a:cs typeface="Times New Roman"/>
              </a:rPr>
              <a:t> </a:t>
            </a:r>
            <a:r>
              <a:rPr sz="1200" dirty="0">
                <a:latin typeface="Times New Roman"/>
                <a:cs typeface="Times New Roman"/>
              </a:rPr>
              <a:t>patterns</a:t>
            </a:r>
            <a:r>
              <a:rPr sz="1200" spc="-45" dirty="0">
                <a:latin typeface="Times New Roman"/>
                <a:cs typeface="Times New Roman"/>
              </a:rPr>
              <a:t> </a:t>
            </a:r>
            <a:r>
              <a:rPr sz="1200" dirty="0">
                <a:latin typeface="Times New Roman"/>
                <a:cs typeface="Times New Roman"/>
              </a:rPr>
              <a:t>indicating</a:t>
            </a:r>
            <a:r>
              <a:rPr sz="1200" spc="-45" dirty="0">
                <a:latin typeface="Times New Roman"/>
                <a:cs typeface="Times New Roman"/>
              </a:rPr>
              <a:t> </a:t>
            </a:r>
            <a:r>
              <a:rPr sz="1200" dirty="0">
                <a:latin typeface="Times New Roman"/>
                <a:cs typeface="Times New Roman"/>
              </a:rPr>
              <a:t>potential</a:t>
            </a:r>
            <a:r>
              <a:rPr sz="1200" spc="-50" dirty="0">
                <a:latin typeface="Times New Roman"/>
                <a:cs typeface="Times New Roman"/>
              </a:rPr>
              <a:t> </a:t>
            </a:r>
            <a:r>
              <a:rPr sz="1200" spc="-10" dirty="0">
                <a:latin typeface="Times New Roman"/>
                <a:cs typeface="Times New Roman"/>
              </a:rPr>
              <a:t>fraud.</a:t>
            </a:r>
            <a:endParaRPr sz="1200">
              <a:latin typeface="Times New Roman"/>
              <a:cs typeface="Times New Roman"/>
            </a:endParaRPr>
          </a:p>
          <a:p>
            <a:pPr marL="165100" indent="-152400">
              <a:lnSpc>
                <a:spcPct val="100000"/>
              </a:lnSpc>
              <a:spcBef>
                <a:spcPts val="1345"/>
              </a:spcBef>
              <a:buAutoNum type="arabicPeriod"/>
              <a:tabLst>
                <a:tab pos="165100" algn="l"/>
              </a:tabLst>
            </a:pPr>
            <a:r>
              <a:rPr sz="1200" b="1" dirty="0">
                <a:latin typeface="Times New Roman"/>
                <a:cs typeface="Times New Roman"/>
              </a:rPr>
              <a:t>User</a:t>
            </a:r>
            <a:r>
              <a:rPr sz="1200" b="1" spc="-25" dirty="0">
                <a:latin typeface="Times New Roman"/>
                <a:cs typeface="Times New Roman"/>
              </a:rPr>
              <a:t> </a:t>
            </a:r>
            <a:r>
              <a:rPr sz="1200" b="1" dirty="0">
                <a:latin typeface="Times New Roman"/>
                <a:cs typeface="Times New Roman"/>
              </a:rPr>
              <a:t>Feedback</a:t>
            </a:r>
            <a:r>
              <a:rPr sz="1200" b="1" spc="-2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Interaction</a:t>
            </a:r>
            <a:endParaRPr sz="1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16</a:t>
            </a:r>
          </a:p>
        </p:txBody>
      </p:sp>
      <p:sp>
        <p:nvSpPr>
          <p:cNvPr id="2" name="object 2"/>
          <p:cNvSpPr txBox="1"/>
          <p:nvPr/>
        </p:nvSpPr>
        <p:spPr>
          <a:xfrm>
            <a:off x="1176324" y="891285"/>
            <a:ext cx="5692775" cy="4079875"/>
          </a:xfrm>
          <a:prstGeom prst="rect">
            <a:avLst/>
          </a:prstGeom>
        </p:spPr>
        <p:txBody>
          <a:bodyPr vert="horz" wrap="square" lIns="0" tIns="24765" rIns="0" bIns="0" rtlCol="0">
            <a:spAutoFit/>
          </a:bodyPr>
          <a:lstStyle/>
          <a:p>
            <a:pPr marL="469265" marR="7620" indent="-228600">
              <a:lnSpc>
                <a:spcPts val="1380"/>
              </a:lnSpc>
              <a:spcBef>
                <a:spcPts val="195"/>
              </a:spcBef>
              <a:buSzPct val="83333"/>
              <a:buFont typeface="Symbol"/>
              <a:buChar char=""/>
              <a:tabLst>
                <a:tab pos="469265" algn="l"/>
              </a:tabLst>
            </a:pPr>
            <a:r>
              <a:rPr sz="1200" dirty="0">
                <a:latin typeface="Times New Roman"/>
                <a:cs typeface="Times New Roman"/>
              </a:rPr>
              <a:t>Buyers</a:t>
            </a:r>
            <a:r>
              <a:rPr sz="1200" spc="210"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dirty="0">
                <a:latin typeface="Times New Roman"/>
                <a:cs typeface="Times New Roman"/>
              </a:rPr>
              <a:t>sellers</a:t>
            </a:r>
            <a:r>
              <a:rPr sz="1200" spc="225" dirty="0">
                <a:latin typeface="Times New Roman"/>
                <a:cs typeface="Times New Roman"/>
              </a:rPr>
              <a:t> </a:t>
            </a:r>
            <a:r>
              <a:rPr sz="1200" dirty="0">
                <a:latin typeface="Times New Roman"/>
                <a:cs typeface="Times New Roman"/>
              </a:rPr>
              <a:t>can</a:t>
            </a:r>
            <a:r>
              <a:rPr sz="1200" spc="225" dirty="0">
                <a:latin typeface="Times New Roman"/>
                <a:cs typeface="Times New Roman"/>
              </a:rPr>
              <a:t> </a:t>
            </a:r>
            <a:r>
              <a:rPr sz="1200" dirty="0">
                <a:latin typeface="Times New Roman"/>
                <a:cs typeface="Times New Roman"/>
              </a:rPr>
              <a:t>share</a:t>
            </a:r>
            <a:r>
              <a:rPr sz="1200" spc="215" dirty="0">
                <a:latin typeface="Times New Roman"/>
                <a:cs typeface="Times New Roman"/>
              </a:rPr>
              <a:t> </a:t>
            </a:r>
            <a:r>
              <a:rPr sz="1200" dirty="0">
                <a:latin typeface="Times New Roman"/>
                <a:cs typeface="Times New Roman"/>
              </a:rPr>
              <a:t>feedback</a:t>
            </a:r>
            <a:r>
              <a:rPr sz="1200" spc="225" dirty="0">
                <a:latin typeface="Times New Roman"/>
                <a:cs typeface="Times New Roman"/>
              </a:rPr>
              <a:t> </a:t>
            </a:r>
            <a:r>
              <a:rPr sz="1200" dirty="0">
                <a:latin typeface="Times New Roman"/>
                <a:cs typeface="Times New Roman"/>
              </a:rPr>
              <a:t>on</a:t>
            </a:r>
            <a:r>
              <a:rPr sz="1200" spc="210" dirty="0">
                <a:latin typeface="Times New Roman"/>
                <a:cs typeface="Times New Roman"/>
              </a:rPr>
              <a:t> </a:t>
            </a:r>
            <a:r>
              <a:rPr sz="1200" dirty="0">
                <a:latin typeface="Times New Roman"/>
                <a:cs typeface="Times New Roman"/>
              </a:rPr>
              <a:t>pricing,</a:t>
            </a:r>
            <a:r>
              <a:rPr sz="1200" spc="215" dirty="0">
                <a:latin typeface="Times New Roman"/>
                <a:cs typeface="Times New Roman"/>
              </a:rPr>
              <a:t> </a:t>
            </a:r>
            <a:r>
              <a:rPr sz="1200" dirty="0">
                <a:latin typeface="Times New Roman"/>
                <a:cs typeface="Times New Roman"/>
              </a:rPr>
              <a:t>auction</a:t>
            </a:r>
            <a:r>
              <a:rPr sz="1200" spc="210" dirty="0">
                <a:latin typeface="Times New Roman"/>
                <a:cs typeface="Times New Roman"/>
              </a:rPr>
              <a:t> </a:t>
            </a:r>
            <a:r>
              <a:rPr sz="1200" dirty="0">
                <a:latin typeface="Times New Roman"/>
                <a:cs typeface="Times New Roman"/>
              </a:rPr>
              <a:t>fairness,</a:t>
            </a:r>
            <a:r>
              <a:rPr sz="1200" spc="225" dirty="0">
                <a:latin typeface="Times New Roman"/>
                <a:cs typeface="Times New Roman"/>
              </a:rPr>
              <a:t> </a:t>
            </a:r>
            <a:r>
              <a:rPr sz="1200" dirty="0">
                <a:latin typeface="Times New Roman"/>
                <a:cs typeface="Times New Roman"/>
              </a:rPr>
              <a:t>and</a:t>
            </a:r>
            <a:r>
              <a:rPr sz="1200" spc="215" dirty="0">
                <a:latin typeface="Times New Roman"/>
                <a:cs typeface="Times New Roman"/>
              </a:rPr>
              <a:t> </a:t>
            </a:r>
            <a:r>
              <a:rPr sz="1200" spc="-10" dirty="0">
                <a:latin typeface="Times New Roman"/>
                <a:cs typeface="Times New Roman"/>
              </a:rPr>
              <a:t>platform usability.</a:t>
            </a:r>
            <a:endParaRPr sz="1200" dirty="0">
              <a:latin typeface="Times New Roman"/>
              <a:cs typeface="Times New Roman"/>
            </a:endParaRPr>
          </a:p>
          <a:p>
            <a:pPr marL="469265" indent="-228600">
              <a:lnSpc>
                <a:spcPts val="1345"/>
              </a:lnSpc>
              <a:buSzPct val="83333"/>
              <a:buFont typeface="Symbol"/>
              <a:buChar char=""/>
              <a:tabLst>
                <a:tab pos="469265" algn="l"/>
              </a:tabLst>
            </a:pPr>
            <a:r>
              <a:rPr sz="1200" dirty="0">
                <a:latin typeface="Times New Roman"/>
                <a:cs typeface="Times New Roman"/>
              </a:rPr>
              <a:t>Machine</a:t>
            </a:r>
            <a:r>
              <a:rPr sz="1200" spc="-35" dirty="0">
                <a:latin typeface="Times New Roman"/>
                <a:cs typeface="Times New Roman"/>
              </a:rPr>
              <a:t> </a:t>
            </a:r>
            <a:r>
              <a:rPr sz="1200" dirty="0">
                <a:latin typeface="Times New Roman"/>
                <a:cs typeface="Times New Roman"/>
              </a:rPr>
              <a:t>learning</a:t>
            </a:r>
            <a:r>
              <a:rPr sz="1200" spc="-30" dirty="0">
                <a:latin typeface="Times New Roman"/>
                <a:cs typeface="Times New Roman"/>
              </a:rPr>
              <a:t> </a:t>
            </a:r>
            <a:r>
              <a:rPr sz="1200" dirty="0">
                <a:latin typeface="Times New Roman"/>
                <a:cs typeface="Times New Roman"/>
              </a:rPr>
              <a:t>will</a:t>
            </a:r>
            <a:r>
              <a:rPr sz="1200" spc="-30" dirty="0">
                <a:latin typeface="Times New Roman"/>
                <a:cs typeface="Times New Roman"/>
              </a:rPr>
              <a:t> </a:t>
            </a:r>
            <a:r>
              <a:rPr sz="1200" dirty="0">
                <a:latin typeface="Times New Roman"/>
                <a:cs typeface="Times New Roman"/>
              </a:rPr>
              <a:t>use</a:t>
            </a:r>
            <a:r>
              <a:rPr sz="1200" spc="-3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feedback</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refine</a:t>
            </a:r>
            <a:r>
              <a:rPr sz="1200" spc="-40" dirty="0">
                <a:latin typeface="Times New Roman"/>
                <a:cs typeface="Times New Roman"/>
              </a:rPr>
              <a:t> </a:t>
            </a:r>
            <a:r>
              <a:rPr sz="1200" dirty="0">
                <a:latin typeface="Times New Roman"/>
                <a:cs typeface="Times New Roman"/>
              </a:rPr>
              <a:t>future</a:t>
            </a:r>
            <a:r>
              <a:rPr sz="1200" spc="-40" dirty="0">
                <a:latin typeface="Times New Roman"/>
                <a:cs typeface="Times New Roman"/>
              </a:rPr>
              <a:t> </a:t>
            </a:r>
            <a:r>
              <a:rPr sz="1200" dirty="0">
                <a:latin typeface="Times New Roman"/>
                <a:cs typeface="Times New Roman"/>
              </a:rPr>
              <a:t>price</a:t>
            </a:r>
            <a:r>
              <a:rPr sz="1200" spc="-35" dirty="0">
                <a:latin typeface="Times New Roman"/>
                <a:cs typeface="Times New Roman"/>
              </a:rPr>
              <a:t> </a:t>
            </a:r>
            <a:r>
              <a:rPr sz="1200" spc="-10" dirty="0">
                <a:latin typeface="Times New Roman"/>
                <a:cs typeface="Times New Roman"/>
              </a:rPr>
              <a:t>predictions.</a:t>
            </a:r>
            <a:endParaRPr sz="1200" dirty="0">
              <a:latin typeface="Times New Roman"/>
              <a:cs typeface="Times New Roman"/>
            </a:endParaRPr>
          </a:p>
          <a:p>
            <a:pPr marL="165100" indent="-152400">
              <a:lnSpc>
                <a:spcPct val="100000"/>
              </a:lnSpc>
              <a:spcBef>
                <a:spcPts val="1345"/>
              </a:spcBef>
              <a:buAutoNum type="arabicPeriod" startAt="8"/>
              <a:tabLst>
                <a:tab pos="165100" algn="l"/>
              </a:tabLst>
            </a:pPr>
            <a:r>
              <a:rPr sz="1200" b="1" dirty="0">
                <a:latin typeface="Times New Roman"/>
                <a:cs typeface="Times New Roman"/>
              </a:rPr>
              <a:t>Admin </a:t>
            </a:r>
            <a:r>
              <a:rPr sz="1200" b="1" spc="-10" dirty="0">
                <a:latin typeface="Times New Roman"/>
                <a:cs typeface="Times New Roman"/>
              </a:rPr>
              <a:t>Functionality</a:t>
            </a:r>
            <a:endParaRPr sz="1200" dirty="0">
              <a:latin typeface="Times New Roman"/>
              <a:cs typeface="Times New Roman"/>
            </a:endParaRPr>
          </a:p>
          <a:p>
            <a:pPr>
              <a:lnSpc>
                <a:spcPct val="100000"/>
              </a:lnSpc>
              <a:spcBef>
                <a:spcPts val="45"/>
              </a:spcBef>
              <a:buFont typeface="Times New Roman"/>
              <a:buAutoNum type="arabicPeriod" startAt="8"/>
            </a:pPr>
            <a:endParaRPr sz="1200" dirty="0">
              <a:latin typeface="Times New Roman"/>
              <a:cs typeface="Times New Roman"/>
            </a:endParaRPr>
          </a:p>
          <a:p>
            <a:pPr marL="469265" marR="5080" lvl="1" indent="-228600">
              <a:lnSpc>
                <a:spcPts val="1380"/>
              </a:lnSpc>
              <a:buSzPct val="83333"/>
              <a:buFont typeface="Symbol"/>
              <a:buChar char=""/>
              <a:tabLst>
                <a:tab pos="469265" algn="l"/>
              </a:tabLst>
            </a:pPr>
            <a:r>
              <a:rPr sz="1200" dirty="0">
                <a:latin typeface="Times New Roman"/>
                <a:cs typeface="Times New Roman"/>
              </a:rPr>
              <a:t>Administrators</a:t>
            </a:r>
            <a:r>
              <a:rPr sz="1200" spc="110" dirty="0">
                <a:latin typeface="Times New Roman"/>
                <a:cs typeface="Times New Roman"/>
              </a:rPr>
              <a:t> </a:t>
            </a:r>
            <a:r>
              <a:rPr sz="1200" dirty="0">
                <a:latin typeface="Times New Roman"/>
                <a:cs typeface="Times New Roman"/>
              </a:rPr>
              <a:t>will</a:t>
            </a:r>
            <a:r>
              <a:rPr sz="1200" spc="114" dirty="0">
                <a:latin typeface="Times New Roman"/>
                <a:cs typeface="Times New Roman"/>
              </a:rPr>
              <a:t> </a:t>
            </a:r>
            <a:r>
              <a:rPr sz="1200" dirty="0">
                <a:latin typeface="Times New Roman"/>
                <a:cs typeface="Times New Roman"/>
              </a:rPr>
              <a:t>manage</a:t>
            </a:r>
            <a:r>
              <a:rPr sz="1200" spc="110" dirty="0">
                <a:latin typeface="Times New Roman"/>
                <a:cs typeface="Times New Roman"/>
              </a:rPr>
              <a:t> </a:t>
            </a:r>
            <a:r>
              <a:rPr sz="1200" dirty="0">
                <a:latin typeface="Times New Roman"/>
                <a:cs typeface="Times New Roman"/>
              </a:rPr>
              <a:t>user</a:t>
            </a:r>
            <a:r>
              <a:rPr sz="1200" spc="120" dirty="0">
                <a:latin typeface="Times New Roman"/>
                <a:cs typeface="Times New Roman"/>
              </a:rPr>
              <a:t> </a:t>
            </a:r>
            <a:r>
              <a:rPr sz="1200" dirty="0">
                <a:latin typeface="Times New Roman"/>
                <a:cs typeface="Times New Roman"/>
              </a:rPr>
              <a:t>accounts,</a:t>
            </a:r>
            <a:r>
              <a:rPr sz="1200" spc="110" dirty="0">
                <a:latin typeface="Times New Roman"/>
                <a:cs typeface="Times New Roman"/>
              </a:rPr>
              <a:t> </a:t>
            </a:r>
            <a:r>
              <a:rPr sz="1200" dirty="0">
                <a:latin typeface="Times New Roman"/>
                <a:cs typeface="Times New Roman"/>
              </a:rPr>
              <a:t>approve</a:t>
            </a:r>
            <a:r>
              <a:rPr sz="1200" spc="130" dirty="0">
                <a:latin typeface="Times New Roman"/>
                <a:cs typeface="Times New Roman"/>
              </a:rPr>
              <a:t> </a:t>
            </a:r>
            <a:r>
              <a:rPr sz="1200" dirty="0">
                <a:latin typeface="Times New Roman"/>
                <a:cs typeface="Times New Roman"/>
              </a:rPr>
              <a:t>listings,</a:t>
            </a:r>
            <a:r>
              <a:rPr sz="1200" spc="114"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maintain</a:t>
            </a:r>
            <a:r>
              <a:rPr sz="1200" spc="120" dirty="0">
                <a:latin typeface="Times New Roman"/>
                <a:cs typeface="Times New Roman"/>
              </a:rPr>
              <a:t> </a:t>
            </a:r>
            <a:r>
              <a:rPr sz="1200" spc="-10" dirty="0">
                <a:latin typeface="Times New Roman"/>
                <a:cs typeface="Times New Roman"/>
              </a:rPr>
              <a:t>platform security.</a:t>
            </a:r>
            <a:endParaRPr sz="1200" dirty="0">
              <a:latin typeface="Times New Roman"/>
              <a:cs typeface="Times New Roman"/>
            </a:endParaRPr>
          </a:p>
          <a:p>
            <a:pPr marL="469265" marR="7620" lvl="1" indent="-228600">
              <a:lnSpc>
                <a:spcPts val="1380"/>
              </a:lnSpc>
              <a:buSzPct val="83333"/>
              <a:buFont typeface="Symbol"/>
              <a:buChar char=""/>
              <a:tabLst>
                <a:tab pos="469265" algn="l"/>
              </a:tabLst>
            </a:pPr>
            <a:r>
              <a:rPr sz="1200" dirty="0">
                <a:latin typeface="Times New Roman"/>
                <a:cs typeface="Times New Roman"/>
              </a:rPr>
              <a:t>Admins</a:t>
            </a:r>
            <a:r>
              <a:rPr sz="1200" spc="100" dirty="0">
                <a:latin typeface="Times New Roman"/>
                <a:cs typeface="Times New Roman"/>
              </a:rPr>
              <a:t> </a:t>
            </a:r>
            <a:r>
              <a:rPr sz="1200" dirty="0">
                <a:latin typeface="Times New Roman"/>
                <a:cs typeface="Times New Roman"/>
              </a:rPr>
              <a:t>can</a:t>
            </a:r>
            <a:r>
              <a:rPr sz="1200" spc="105" dirty="0">
                <a:latin typeface="Times New Roman"/>
                <a:cs typeface="Times New Roman"/>
              </a:rPr>
              <a:t> </a:t>
            </a:r>
            <a:r>
              <a:rPr sz="1200" dirty="0">
                <a:latin typeface="Times New Roman"/>
                <a:cs typeface="Times New Roman"/>
              </a:rPr>
              <a:t>also</a:t>
            </a:r>
            <a:r>
              <a:rPr sz="1200" spc="100" dirty="0">
                <a:latin typeface="Times New Roman"/>
                <a:cs typeface="Times New Roman"/>
              </a:rPr>
              <a:t> </a:t>
            </a:r>
            <a:r>
              <a:rPr sz="1200" dirty="0">
                <a:latin typeface="Times New Roman"/>
                <a:cs typeface="Times New Roman"/>
              </a:rPr>
              <a:t>track</a:t>
            </a:r>
            <a:r>
              <a:rPr sz="1200" spc="105" dirty="0">
                <a:latin typeface="Times New Roman"/>
                <a:cs typeface="Times New Roman"/>
              </a:rPr>
              <a:t> </a:t>
            </a:r>
            <a:r>
              <a:rPr sz="1200" dirty="0">
                <a:latin typeface="Times New Roman"/>
                <a:cs typeface="Times New Roman"/>
              </a:rPr>
              <a:t>system</a:t>
            </a:r>
            <a:r>
              <a:rPr sz="1200" spc="100" dirty="0">
                <a:latin typeface="Times New Roman"/>
                <a:cs typeface="Times New Roman"/>
              </a:rPr>
              <a:t> </a:t>
            </a:r>
            <a:r>
              <a:rPr sz="1200" dirty="0">
                <a:latin typeface="Times New Roman"/>
                <a:cs typeface="Times New Roman"/>
              </a:rPr>
              <a:t>performance,</a:t>
            </a:r>
            <a:r>
              <a:rPr sz="1200" spc="105" dirty="0">
                <a:latin typeface="Times New Roman"/>
                <a:cs typeface="Times New Roman"/>
              </a:rPr>
              <a:t> </a:t>
            </a:r>
            <a:r>
              <a:rPr sz="1200" dirty="0">
                <a:latin typeface="Times New Roman"/>
                <a:cs typeface="Times New Roman"/>
              </a:rPr>
              <a:t>modify</a:t>
            </a:r>
            <a:r>
              <a:rPr sz="1200" spc="95" dirty="0">
                <a:latin typeface="Times New Roman"/>
                <a:cs typeface="Times New Roman"/>
              </a:rPr>
              <a:t> </a:t>
            </a:r>
            <a:r>
              <a:rPr sz="1200" dirty="0">
                <a:latin typeface="Times New Roman"/>
                <a:cs typeface="Times New Roman"/>
              </a:rPr>
              <a:t>auction</a:t>
            </a:r>
            <a:r>
              <a:rPr sz="1200" spc="105" dirty="0">
                <a:latin typeface="Times New Roman"/>
                <a:cs typeface="Times New Roman"/>
              </a:rPr>
              <a:t> </a:t>
            </a:r>
            <a:r>
              <a:rPr sz="1200" dirty="0">
                <a:latin typeface="Times New Roman"/>
                <a:cs typeface="Times New Roman"/>
              </a:rPr>
              <a:t>rules,</a:t>
            </a:r>
            <a:r>
              <a:rPr sz="1200" spc="105"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dirty="0">
                <a:latin typeface="Times New Roman"/>
                <a:cs typeface="Times New Roman"/>
              </a:rPr>
              <a:t>ensure</a:t>
            </a:r>
            <a:r>
              <a:rPr sz="1200" spc="95" dirty="0">
                <a:latin typeface="Times New Roman"/>
                <a:cs typeface="Times New Roman"/>
              </a:rPr>
              <a:t> </a:t>
            </a:r>
            <a:r>
              <a:rPr sz="1200" spc="-10" dirty="0">
                <a:latin typeface="Times New Roman"/>
                <a:cs typeface="Times New Roman"/>
              </a:rPr>
              <a:t>legal compliance.</a:t>
            </a:r>
            <a:endParaRPr sz="1200" dirty="0">
              <a:latin typeface="Times New Roman"/>
              <a:cs typeface="Times New Roman"/>
            </a:endParaRPr>
          </a:p>
          <a:p>
            <a:pPr marL="165100" indent="-152400">
              <a:lnSpc>
                <a:spcPct val="100000"/>
              </a:lnSpc>
              <a:spcBef>
                <a:spcPts val="1310"/>
              </a:spcBef>
              <a:buAutoNum type="arabicPeriod" startAt="8"/>
              <a:tabLst>
                <a:tab pos="165100" algn="l"/>
              </a:tabLst>
            </a:pPr>
            <a:r>
              <a:rPr sz="1200" b="1" dirty="0">
                <a:latin typeface="Times New Roman"/>
                <a:cs typeface="Times New Roman"/>
              </a:rPr>
              <a:t>Notification</a:t>
            </a:r>
            <a:r>
              <a:rPr sz="1200" b="1" spc="-35"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a:p>
            <a:pPr marL="469265" lvl="1" indent="-228600">
              <a:lnSpc>
                <a:spcPts val="1410"/>
              </a:lnSpc>
              <a:spcBef>
                <a:spcPts val="1345"/>
              </a:spcBef>
              <a:buSzPct val="83333"/>
              <a:buFont typeface="Symbol"/>
              <a:buChar char=""/>
              <a:tabLst>
                <a:tab pos="469265" algn="l"/>
              </a:tabLst>
            </a:pP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alerts</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sent</a:t>
            </a:r>
            <a:r>
              <a:rPr sz="1200" spc="-20" dirty="0">
                <a:latin typeface="Times New Roman"/>
                <a:cs typeface="Times New Roman"/>
              </a:rPr>
              <a:t> for:</a:t>
            </a:r>
            <a:endParaRPr sz="1200" dirty="0">
              <a:latin typeface="Times New Roman"/>
              <a:cs typeface="Times New Roman"/>
            </a:endParaRPr>
          </a:p>
          <a:p>
            <a:pPr marL="926465" lvl="2" indent="-228600">
              <a:lnSpc>
                <a:spcPts val="1380"/>
              </a:lnSpc>
              <a:buSzPct val="83333"/>
              <a:buFont typeface="Courier New"/>
              <a:buChar char="o"/>
              <a:tabLst>
                <a:tab pos="926465" algn="l"/>
              </a:tabLst>
            </a:pP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listings</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selected</a:t>
            </a:r>
            <a:r>
              <a:rPr sz="1200" spc="-25" dirty="0">
                <a:latin typeface="Times New Roman"/>
                <a:cs typeface="Times New Roman"/>
              </a:rPr>
              <a:t> </a:t>
            </a:r>
            <a:r>
              <a:rPr sz="1200" spc="-10" dirty="0">
                <a:latin typeface="Times New Roman"/>
                <a:cs typeface="Times New Roman"/>
              </a:rPr>
              <a:t>categories.</a:t>
            </a:r>
            <a:endParaRPr sz="1200" dirty="0">
              <a:latin typeface="Times New Roman"/>
              <a:cs typeface="Times New Roman"/>
            </a:endParaRPr>
          </a:p>
          <a:p>
            <a:pPr marL="926465" lvl="2" indent="-228600">
              <a:lnSpc>
                <a:spcPts val="1380"/>
              </a:lnSpc>
              <a:buSzPct val="83333"/>
              <a:buFont typeface="Courier New"/>
              <a:buChar char="o"/>
              <a:tabLst>
                <a:tab pos="926465" algn="l"/>
              </a:tabLst>
            </a:pPr>
            <a:r>
              <a:rPr sz="1200" dirty="0">
                <a:latin typeface="Times New Roman"/>
                <a:cs typeface="Times New Roman"/>
              </a:rPr>
              <a:t>Bid</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auction</a:t>
            </a:r>
            <a:r>
              <a:rPr sz="1200" spc="-10" dirty="0">
                <a:latin typeface="Times New Roman"/>
                <a:cs typeface="Times New Roman"/>
              </a:rPr>
              <a:t> </a:t>
            </a:r>
            <a:r>
              <a:rPr sz="1200" dirty="0">
                <a:latin typeface="Times New Roman"/>
                <a:cs typeface="Times New Roman"/>
              </a:rPr>
              <a:t>status</a:t>
            </a:r>
            <a:r>
              <a:rPr sz="1200" spc="-20" dirty="0">
                <a:latin typeface="Times New Roman"/>
                <a:cs typeface="Times New Roman"/>
              </a:rPr>
              <a:t> </a:t>
            </a:r>
            <a:r>
              <a:rPr sz="1200" spc="-10" dirty="0">
                <a:latin typeface="Times New Roman"/>
                <a:cs typeface="Times New Roman"/>
              </a:rPr>
              <a:t>changes.</a:t>
            </a:r>
            <a:endParaRPr sz="1200" dirty="0">
              <a:latin typeface="Times New Roman"/>
              <a:cs typeface="Times New Roman"/>
            </a:endParaRPr>
          </a:p>
          <a:p>
            <a:pPr marL="926465" lvl="2" indent="-228600">
              <a:lnSpc>
                <a:spcPts val="1410"/>
              </a:lnSpc>
              <a:buSzPct val="83333"/>
              <a:buFont typeface="Courier New"/>
              <a:buChar char="o"/>
              <a:tabLst>
                <a:tab pos="926465" algn="l"/>
              </a:tabLst>
            </a:pPr>
            <a:r>
              <a:rPr sz="1200" dirty="0">
                <a:latin typeface="Times New Roman"/>
                <a:cs typeface="Times New Roman"/>
              </a:rPr>
              <a:t>Fraud</a:t>
            </a:r>
            <a:r>
              <a:rPr sz="1200" spc="-30" dirty="0">
                <a:latin typeface="Times New Roman"/>
                <a:cs typeface="Times New Roman"/>
              </a:rPr>
              <a:t> </a:t>
            </a:r>
            <a:r>
              <a:rPr sz="1200" dirty="0">
                <a:latin typeface="Times New Roman"/>
                <a:cs typeface="Times New Roman"/>
              </a:rPr>
              <a:t>detection</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security</a:t>
            </a:r>
            <a:r>
              <a:rPr sz="1200" spc="-30" dirty="0">
                <a:latin typeface="Times New Roman"/>
                <a:cs typeface="Times New Roman"/>
              </a:rPr>
              <a:t> </a:t>
            </a:r>
            <a:r>
              <a:rPr sz="1200" spc="-10" dirty="0">
                <a:latin typeface="Times New Roman"/>
                <a:cs typeface="Times New Roman"/>
              </a:rPr>
              <a:t>warnings.</a:t>
            </a:r>
            <a:endParaRPr sz="1200" dirty="0">
              <a:latin typeface="Times New Roman"/>
              <a:cs typeface="Times New Roman"/>
            </a:endParaRPr>
          </a:p>
          <a:p>
            <a:pPr marL="241300" indent="-228600">
              <a:lnSpc>
                <a:spcPct val="100000"/>
              </a:lnSpc>
              <a:spcBef>
                <a:spcPts val="1335"/>
              </a:spcBef>
              <a:buAutoNum type="arabicPeriod" startAt="8"/>
              <a:tabLst>
                <a:tab pos="241300" algn="l"/>
              </a:tabLst>
            </a:pPr>
            <a:r>
              <a:rPr sz="1200" b="1" dirty="0">
                <a:latin typeface="Times New Roman"/>
                <a:cs typeface="Times New Roman"/>
              </a:rPr>
              <a:t>Progress</a:t>
            </a:r>
            <a:r>
              <a:rPr sz="1200" b="1" spc="-25" dirty="0">
                <a:latin typeface="Times New Roman"/>
                <a:cs typeface="Times New Roman"/>
              </a:rPr>
              <a:t> </a:t>
            </a:r>
            <a:r>
              <a:rPr sz="1200" b="1" dirty="0">
                <a:latin typeface="Times New Roman"/>
                <a:cs typeface="Times New Roman"/>
              </a:rPr>
              <a:t>Tracking</a:t>
            </a:r>
            <a:r>
              <a:rPr sz="1200" b="1" spc="-20" dirty="0">
                <a:latin typeface="Times New Roman"/>
                <a:cs typeface="Times New Roman"/>
              </a:rPr>
              <a:t> </a:t>
            </a:r>
            <a:r>
              <a:rPr sz="1200" b="1" dirty="0">
                <a:latin typeface="Times New Roman"/>
                <a:cs typeface="Times New Roman"/>
              </a:rPr>
              <a:t>and</a:t>
            </a:r>
            <a:r>
              <a:rPr sz="1200" b="1" spc="-20" dirty="0">
                <a:latin typeface="Times New Roman"/>
                <a:cs typeface="Times New Roman"/>
              </a:rPr>
              <a:t> </a:t>
            </a:r>
            <a:r>
              <a:rPr sz="1200" b="1" spc="-10" dirty="0">
                <a:latin typeface="Times New Roman"/>
                <a:cs typeface="Times New Roman"/>
              </a:rPr>
              <a:t>Reporting</a:t>
            </a:r>
            <a:endParaRPr sz="1200" dirty="0">
              <a:latin typeface="Times New Roman"/>
              <a:cs typeface="Times New Roman"/>
            </a:endParaRPr>
          </a:p>
          <a:p>
            <a:pPr marL="469265" lvl="1" indent="-228600">
              <a:lnSpc>
                <a:spcPts val="1410"/>
              </a:lnSpc>
              <a:spcBef>
                <a:spcPts val="1345"/>
              </a:spcBef>
              <a:buSzPct val="83333"/>
              <a:buFont typeface="Symbol"/>
              <a:buChar char=""/>
              <a:tabLst>
                <a:tab pos="469265" algn="l"/>
              </a:tabLst>
            </a:pPr>
            <a:r>
              <a:rPr sz="1200" dirty="0">
                <a:latin typeface="Times New Roman"/>
                <a:cs typeface="Times New Roman"/>
              </a:rPr>
              <a:t>Sellers</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monitor</a:t>
            </a:r>
            <a:r>
              <a:rPr sz="1200" spc="-20"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spc="-10" dirty="0">
                <a:latin typeface="Times New Roman"/>
                <a:cs typeface="Times New Roman"/>
              </a:rPr>
              <a:t>performance.</a:t>
            </a:r>
            <a:r>
              <a:rPr sz="1200" spc="-20" dirty="0">
                <a:latin typeface="Times New Roman"/>
                <a:cs typeface="Times New Roman"/>
              </a:rPr>
              <a:t> </a:t>
            </a:r>
            <a:r>
              <a:rPr sz="1200" dirty="0">
                <a:latin typeface="Times New Roman"/>
                <a:cs typeface="Times New Roman"/>
              </a:rPr>
              <a:t>Buyers</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view</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bidding</a:t>
            </a:r>
            <a:r>
              <a:rPr sz="1200" spc="-20" dirty="0">
                <a:latin typeface="Times New Roman"/>
                <a:cs typeface="Times New Roman"/>
              </a:rPr>
              <a:t> </a:t>
            </a:r>
            <a:r>
              <a:rPr sz="1200" spc="-10" dirty="0">
                <a:latin typeface="Times New Roman"/>
                <a:cs typeface="Times New Roman"/>
              </a:rPr>
              <a:t>history.</a:t>
            </a:r>
            <a:endParaRPr sz="1200" dirty="0">
              <a:latin typeface="Times New Roman"/>
              <a:cs typeface="Times New Roman"/>
            </a:endParaRPr>
          </a:p>
          <a:p>
            <a:pPr marL="469265" marR="6985" lvl="1" indent="-228600">
              <a:lnSpc>
                <a:spcPts val="1380"/>
              </a:lnSpc>
              <a:spcBef>
                <a:spcPts val="65"/>
              </a:spcBef>
              <a:buSzPct val="83333"/>
              <a:buFont typeface="Symbol"/>
              <a:buChar char=""/>
              <a:tabLst>
                <a:tab pos="469265" algn="l"/>
              </a:tabLst>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will</a:t>
            </a:r>
            <a:r>
              <a:rPr sz="1200" spc="40" dirty="0">
                <a:latin typeface="Times New Roman"/>
                <a:cs typeface="Times New Roman"/>
              </a:rPr>
              <a:t> </a:t>
            </a:r>
            <a:r>
              <a:rPr sz="1200" dirty="0">
                <a:latin typeface="Times New Roman"/>
                <a:cs typeface="Times New Roman"/>
              </a:rPr>
              <a:t>generate</a:t>
            </a:r>
            <a:r>
              <a:rPr sz="1200" spc="45" dirty="0">
                <a:latin typeface="Times New Roman"/>
                <a:cs typeface="Times New Roman"/>
              </a:rPr>
              <a:t> </a:t>
            </a:r>
            <a:r>
              <a:rPr sz="1200" dirty="0">
                <a:latin typeface="Times New Roman"/>
                <a:cs typeface="Times New Roman"/>
              </a:rPr>
              <a:t>detailed</a:t>
            </a:r>
            <a:r>
              <a:rPr sz="1200" spc="40" dirty="0">
                <a:latin typeface="Times New Roman"/>
                <a:cs typeface="Times New Roman"/>
              </a:rPr>
              <a:t> </a:t>
            </a:r>
            <a:r>
              <a:rPr sz="1200" dirty="0">
                <a:latin typeface="Times New Roman"/>
                <a:cs typeface="Times New Roman"/>
              </a:rPr>
              <a:t>reports</a:t>
            </a:r>
            <a:r>
              <a:rPr sz="1200" spc="4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activity,</a:t>
            </a:r>
            <a:r>
              <a:rPr sz="1200" spc="40" dirty="0">
                <a:latin typeface="Times New Roman"/>
                <a:cs typeface="Times New Roman"/>
              </a:rPr>
              <a:t> </a:t>
            </a:r>
            <a:r>
              <a:rPr sz="1200" dirty="0">
                <a:latin typeface="Times New Roman"/>
                <a:cs typeface="Times New Roman"/>
              </a:rPr>
              <a:t>trends,</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security</a:t>
            </a:r>
            <a:r>
              <a:rPr sz="1200" spc="50" dirty="0">
                <a:latin typeface="Times New Roman"/>
                <a:cs typeface="Times New Roman"/>
              </a:rPr>
              <a:t> </a:t>
            </a:r>
            <a:r>
              <a:rPr sz="1200" dirty="0">
                <a:latin typeface="Times New Roman"/>
                <a:cs typeface="Times New Roman"/>
              </a:rPr>
              <a:t>events</a:t>
            </a:r>
            <a:r>
              <a:rPr sz="1200" spc="45" dirty="0">
                <a:latin typeface="Times New Roman"/>
                <a:cs typeface="Times New Roman"/>
              </a:rPr>
              <a:t> </a:t>
            </a:r>
            <a:r>
              <a:rPr sz="1200" spc="-25" dirty="0">
                <a:latin typeface="Times New Roman"/>
                <a:cs typeface="Times New Roman"/>
              </a:rPr>
              <a:t>for </a:t>
            </a:r>
            <a:r>
              <a:rPr sz="1200" spc="-10" dirty="0">
                <a:latin typeface="Times New Roman"/>
                <a:cs typeface="Times New Roman"/>
              </a:rPr>
              <a:t>stakeholders.</a:t>
            </a:r>
            <a:endParaRPr sz="1200" dirty="0">
              <a:latin typeface="Times New Roman"/>
              <a:cs typeface="Times New Roman"/>
            </a:endParaRPr>
          </a:p>
        </p:txBody>
      </p:sp>
      <p:sp>
        <p:nvSpPr>
          <p:cNvPr id="3" name="object 3"/>
          <p:cNvSpPr txBox="1"/>
          <p:nvPr/>
        </p:nvSpPr>
        <p:spPr>
          <a:xfrm>
            <a:off x="1176324" y="5486400"/>
            <a:ext cx="5695950" cy="3632405"/>
          </a:xfrm>
          <a:prstGeom prst="rect">
            <a:avLst/>
          </a:prstGeom>
        </p:spPr>
        <p:txBody>
          <a:bodyPr vert="horz" wrap="square" lIns="0" tIns="13335" rIns="0" bIns="0" rtlCol="0">
            <a:spAutoFit/>
          </a:bodyPr>
          <a:lstStyle/>
          <a:p>
            <a:pPr marL="12700">
              <a:lnSpc>
                <a:spcPct val="100000"/>
              </a:lnSpc>
              <a:spcBef>
                <a:spcPts val="105"/>
              </a:spcBef>
            </a:pPr>
            <a:r>
              <a:rPr sz="1400" b="1" dirty="0">
                <a:latin typeface="Times New Roman"/>
                <a:cs typeface="Times New Roman"/>
              </a:rPr>
              <a:t>3.2.</a:t>
            </a:r>
            <a:r>
              <a:rPr sz="1400" b="1" spc="-55" dirty="0">
                <a:latin typeface="Times New Roman"/>
                <a:cs typeface="Times New Roman"/>
              </a:rPr>
              <a:t> </a:t>
            </a:r>
            <a:r>
              <a:rPr sz="1200" b="1" spc="-10" dirty="0">
                <a:latin typeface="Times New Roman"/>
                <a:cs typeface="Times New Roman"/>
              </a:rPr>
              <a:t>Non-</a:t>
            </a:r>
            <a:r>
              <a:rPr sz="1200" b="1" dirty="0">
                <a:latin typeface="Times New Roman"/>
                <a:cs typeface="Times New Roman"/>
              </a:rPr>
              <a:t>Functional</a:t>
            </a:r>
            <a:r>
              <a:rPr sz="1200" b="1" spc="5" dirty="0">
                <a:latin typeface="Times New Roman"/>
                <a:cs typeface="Times New Roman"/>
              </a:rPr>
              <a:t> </a:t>
            </a:r>
            <a:r>
              <a:rPr sz="1200" b="1" spc="-10" dirty="0">
                <a:latin typeface="Times New Roman"/>
                <a:cs typeface="Times New Roman"/>
              </a:rPr>
              <a:t>Requirements</a:t>
            </a:r>
            <a:endParaRPr sz="1200" dirty="0">
              <a:latin typeface="Times New Roman"/>
              <a:cs typeface="Times New Roman"/>
            </a:endParaRPr>
          </a:p>
          <a:p>
            <a:pPr>
              <a:lnSpc>
                <a:spcPct val="100000"/>
              </a:lnSpc>
              <a:spcBef>
                <a:spcPts val="55"/>
              </a:spcBef>
            </a:pPr>
            <a:endParaRPr sz="1200" dirty="0">
              <a:latin typeface="Times New Roman"/>
              <a:cs typeface="Times New Roman"/>
            </a:endParaRPr>
          </a:p>
          <a:p>
            <a:pPr marL="12700" marR="10795">
              <a:lnSpc>
                <a:spcPts val="1380"/>
              </a:lnSpc>
            </a:pPr>
            <a:r>
              <a:rPr sz="1200" dirty="0">
                <a:latin typeface="Times New Roman"/>
                <a:cs typeface="Times New Roman"/>
              </a:rPr>
              <a:t>These</a:t>
            </a:r>
            <a:r>
              <a:rPr sz="1200" spc="125" dirty="0">
                <a:latin typeface="Times New Roman"/>
                <a:cs typeface="Times New Roman"/>
              </a:rPr>
              <a:t>  </a:t>
            </a:r>
            <a:r>
              <a:rPr sz="1200" dirty="0">
                <a:latin typeface="Times New Roman"/>
                <a:cs typeface="Times New Roman"/>
              </a:rPr>
              <a:t>non-functional</a:t>
            </a:r>
            <a:r>
              <a:rPr sz="1200" spc="130" dirty="0">
                <a:latin typeface="Times New Roman"/>
                <a:cs typeface="Times New Roman"/>
              </a:rPr>
              <a:t>  </a:t>
            </a:r>
            <a:r>
              <a:rPr sz="1200" dirty="0">
                <a:latin typeface="Times New Roman"/>
                <a:cs typeface="Times New Roman"/>
              </a:rPr>
              <a:t>requirements</a:t>
            </a:r>
            <a:r>
              <a:rPr sz="1200" spc="135" dirty="0">
                <a:latin typeface="Times New Roman"/>
                <a:cs typeface="Times New Roman"/>
              </a:rPr>
              <a:t>  </a:t>
            </a:r>
            <a:r>
              <a:rPr sz="1200" dirty="0">
                <a:latin typeface="Times New Roman"/>
                <a:cs typeface="Times New Roman"/>
              </a:rPr>
              <a:t>ensure</a:t>
            </a:r>
            <a:r>
              <a:rPr sz="1200" spc="125"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overall</a:t>
            </a:r>
            <a:r>
              <a:rPr sz="1200" spc="135" dirty="0">
                <a:latin typeface="Times New Roman"/>
                <a:cs typeface="Times New Roman"/>
              </a:rPr>
              <a:t>  </a:t>
            </a:r>
            <a:r>
              <a:rPr sz="1200" dirty="0">
                <a:latin typeface="Times New Roman"/>
                <a:cs typeface="Times New Roman"/>
              </a:rPr>
              <a:t>efficiency,</a:t>
            </a:r>
            <a:r>
              <a:rPr sz="1200" spc="140" dirty="0">
                <a:latin typeface="Times New Roman"/>
                <a:cs typeface="Times New Roman"/>
              </a:rPr>
              <a:t>  </a:t>
            </a:r>
            <a:r>
              <a:rPr sz="1200" dirty="0">
                <a:latin typeface="Times New Roman"/>
                <a:cs typeface="Times New Roman"/>
              </a:rPr>
              <a:t>performance,</a:t>
            </a:r>
            <a:r>
              <a:rPr sz="1200" spc="13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compliance</a:t>
            </a:r>
            <a:r>
              <a:rPr sz="1200" spc="-2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Auction</a:t>
            </a:r>
            <a:r>
              <a:rPr sz="1200" spc="-10" dirty="0">
                <a:latin typeface="Times New Roman"/>
                <a:cs typeface="Times New Roman"/>
              </a:rPr>
              <a:t> </a:t>
            </a:r>
            <a:r>
              <a:rPr sz="1200" dirty="0">
                <a:latin typeface="Times New Roman"/>
                <a:cs typeface="Times New Roman"/>
              </a:rPr>
              <a:t>Abode</a:t>
            </a:r>
            <a:r>
              <a:rPr sz="1200" spc="-25" dirty="0">
                <a:latin typeface="Times New Roman"/>
                <a:cs typeface="Times New Roman"/>
              </a:rPr>
              <a:t> </a:t>
            </a:r>
            <a:r>
              <a:rPr sz="1200" spc="-10" dirty="0">
                <a:latin typeface="Times New Roman"/>
                <a:cs typeface="Times New Roman"/>
              </a:rPr>
              <a:t>platform.</a:t>
            </a:r>
            <a:endParaRPr sz="1200" dirty="0">
              <a:latin typeface="Times New Roman"/>
              <a:cs typeface="Times New Roman"/>
            </a:endParaRPr>
          </a:p>
          <a:p>
            <a:pPr marL="184150" indent="-171450">
              <a:lnSpc>
                <a:spcPct val="100000"/>
              </a:lnSpc>
              <a:spcBef>
                <a:spcPts val="1305"/>
              </a:spcBef>
              <a:buFont typeface="Arial" panose="020B0604020202020204" pitchFamily="34" charset="0"/>
              <a:buChar char="•"/>
              <a:tabLst>
                <a:tab pos="165100" algn="l"/>
              </a:tabLst>
            </a:pPr>
            <a:r>
              <a:rPr sz="1200" b="1" spc="-10" dirty="0">
                <a:latin typeface="Times New Roman"/>
                <a:cs typeface="Times New Roman"/>
              </a:rPr>
              <a:t>Usability</a:t>
            </a:r>
            <a:endParaRPr sz="1200" dirty="0">
              <a:latin typeface="Times New Roman"/>
              <a:cs typeface="Times New Roman"/>
            </a:endParaRPr>
          </a:p>
          <a:p>
            <a:pPr>
              <a:lnSpc>
                <a:spcPct val="100000"/>
              </a:lnSpc>
              <a:spcBef>
                <a:spcPts val="50"/>
              </a:spcBef>
              <a:buFont typeface="Times New Roman"/>
              <a:buAutoNum type="arabicPeriod"/>
            </a:pPr>
            <a:endParaRPr sz="1200" dirty="0">
              <a:latin typeface="Times New Roman"/>
              <a:cs typeface="Times New Roman"/>
            </a:endParaRPr>
          </a:p>
          <a:p>
            <a:pPr marL="469265" marR="5080" lvl="1" indent="-228600">
              <a:lnSpc>
                <a:spcPts val="1380"/>
              </a:lnSpc>
              <a:buSzPct val="83333"/>
              <a:buFont typeface="Symbol"/>
              <a:buChar char=""/>
              <a:tabLst>
                <a:tab pos="469265" algn="l"/>
              </a:tabLst>
            </a:pPr>
            <a:r>
              <a:rPr sz="1200" dirty="0">
                <a:latin typeface="Times New Roman"/>
                <a:cs typeface="Times New Roman"/>
              </a:rPr>
              <a:t>The</a:t>
            </a:r>
            <a:r>
              <a:rPr sz="1200" spc="204" dirty="0">
                <a:latin typeface="Times New Roman"/>
                <a:cs typeface="Times New Roman"/>
              </a:rPr>
              <a:t> </a:t>
            </a:r>
            <a:r>
              <a:rPr sz="1200" dirty="0">
                <a:latin typeface="Times New Roman"/>
                <a:cs typeface="Times New Roman"/>
              </a:rPr>
              <a:t>platform</a:t>
            </a:r>
            <a:r>
              <a:rPr sz="1200" spc="204" dirty="0">
                <a:latin typeface="Times New Roman"/>
                <a:cs typeface="Times New Roman"/>
              </a:rPr>
              <a:t> </a:t>
            </a:r>
            <a:r>
              <a:rPr sz="1200" dirty="0">
                <a:latin typeface="Times New Roman"/>
                <a:cs typeface="Times New Roman"/>
              </a:rPr>
              <a:t>must</a:t>
            </a:r>
            <a:r>
              <a:rPr sz="1200" spc="215" dirty="0">
                <a:latin typeface="Times New Roman"/>
                <a:cs typeface="Times New Roman"/>
              </a:rPr>
              <a:t> </a:t>
            </a:r>
            <a:r>
              <a:rPr sz="1200" dirty="0">
                <a:latin typeface="Times New Roman"/>
                <a:cs typeface="Times New Roman"/>
              </a:rPr>
              <a:t>provide</a:t>
            </a:r>
            <a:r>
              <a:rPr sz="1200" spc="204" dirty="0">
                <a:latin typeface="Times New Roman"/>
                <a:cs typeface="Times New Roman"/>
              </a:rPr>
              <a:t> </a:t>
            </a:r>
            <a:r>
              <a:rPr sz="1200" dirty="0">
                <a:latin typeface="Times New Roman"/>
                <a:cs typeface="Times New Roman"/>
              </a:rPr>
              <a:t>a</a:t>
            </a:r>
            <a:r>
              <a:rPr sz="1200" spc="204" dirty="0">
                <a:latin typeface="Times New Roman"/>
                <a:cs typeface="Times New Roman"/>
              </a:rPr>
              <a:t> </a:t>
            </a:r>
            <a:r>
              <a:rPr sz="1200" spc="-10" dirty="0">
                <a:latin typeface="Times New Roman"/>
                <a:cs typeface="Times New Roman"/>
              </a:rPr>
              <a:t>user-</a:t>
            </a:r>
            <a:r>
              <a:rPr sz="1200" dirty="0">
                <a:latin typeface="Times New Roman"/>
                <a:cs typeface="Times New Roman"/>
              </a:rPr>
              <a:t>friendly</a:t>
            </a:r>
            <a:r>
              <a:rPr sz="1200" spc="215" dirty="0">
                <a:latin typeface="Times New Roman"/>
                <a:cs typeface="Times New Roman"/>
              </a:rPr>
              <a:t> </a:t>
            </a:r>
            <a:r>
              <a:rPr sz="1200" dirty="0">
                <a:latin typeface="Times New Roman"/>
                <a:cs typeface="Times New Roman"/>
              </a:rPr>
              <a:t>interface</a:t>
            </a:r>
            <a:r>
              <a:rPr sz="1200" spc="220" dirty="0">
                <a:latin typeface="Times New Roman"/>
                <a:cs typeface="Times New Roman"/>
              </a:rPr>
              <a:t> </a:t>
            </a:r>
            <a:r>
              <a:rPr sz="1200" dirty="0">
                <a:latin typeface="Times New Roman"/>
                <a:cs typeface="Times New Roman"/>
              </a:rPr>
              <a:t>for</a:t>
            </a:r>
            <a:r>
              <a:rPr sz="1200" spc="204" dirty="0">
                <a:latin typeface="Times New Roman"/>
                <a:cs typeface="Times New Roman"/>
              </a:rPr>
              <a:t> </a:t>
            </a:r>
            <a:r>
              <a:rPr sz="1200" dirty="0">
                <a:latin typeface="Times New Roman"/>
                <a:cs typeface="Times New Roman"/>
              </a:rPr>
              <a:t>all</a:t>
            </a:r>
            <a:r>
              <a:rPr sz="1200" spc="215" dirty="0">
                <a:latin typeface="Times New Roman"/>
                <a:cs typeface="Times New Roman"/>
              </a:rPr>
              <a:t> </a:t>
            </a:r>
            <a:r>
              <a:rPr sz="1200" dirty="0">
                <a:latin typeface="Times New Roman"/>
                <a:cs typeface="Times New Roman"/>
              </a:rPr>
              <a:t>roles</a:t>
            </a:r>
            <a:r>
              <a:rPr sz="1200" spc="215" dirty="0">
                <a:latin typeface="Times New Roman"/>
                <a:cs typeface="Times New Roman"/>
              </a:rPr>
              <a:t> </a:t>
            </a:r>
            <a:r>
              <a:rPr sz="1200" dirty="0">
                <a:latin typeface="Times New Roman"/>
                <a:cs typeface="Times New Roman"/>
              </a:rPr>
              <a:t>(buyers,</a:t>
            </a:r>
            <a:r>
              <a:rPr sz="1200" spc="215" dirty="0">
                <a:latin typeface="Times New Roman"/>
                <a:cs typeface="Times New Roman"/>
              </a:rPr>
              <a:t> </a:t>
            </a:r>
            <a:r>
              <a:rPr sz="1200" spc="-10" dirty="0">
                <a:latin typeface="Times New Roman"/>
                <a:cs typeface="Times New Roman"/>
              </a:rPr>
              <a:t>sellers, admins).</a:t>
            </a:r>
            <a:endParaRPr sz="1200" dirty="0">
              <a:latin typeface="Times New Roman"/>
              <a:cs typeface="Times New Roman"/>
            </a:endParaRPr>
          </a:p>
          <a:p>
            <a:pPr marL="469265" marR="5715" lvl="1" indent="-228600">
              <a:lnSpc>
                <a:spcPts val="1380"/>
              </a:lnSpc>
              <a:buSzPct val="83333"/>
              <a:buFont typeface="Symbol"/>
              <a:buChar char=""/>
              <a:tabLst>
                <a:tab pos="469265" algn="l"/>
              </a:tabLst>
            </a:pPr>
            <a:r>
              <a:rPr sz="1200" dirty="0">
                <a:latin typeface="Times New Roman"/>
                <a:cs typeface="Times New Roman"/>
              </a:rPr>
              <a:t>Navigation</a:t>
            </a:r>
            <a:r>
              <a:rPr sz="1200" spc="484" dirty="0">
                <a:latin typeface="Times New Roman"/>
                <a:cs typeface="Times New Roman"/>
              </a:rPr>
              <a:t> </a:t>
            </a:r>
            <a:r>
              <a:rPr sz="1200" dirty="0">
                <a:latin typeface="Times New Roman"/>
                <a:cs typeface="Times New Roman"/>
              </a:rPr>
              <a:t>must</a:t>
            </a:r>
            <a:r>
              <a:rPr sz="1200" spc="484" dirty="0">
                <a:latin typeface="Times New Roman"/>
                <a:cs typeface="Times New Roman"/>
              </a:rPr>
              <a:t> </a:t>
            </a:r>
            <a:r>
              <a:rPr sz="1200" dirty="0">
                <a:latin typeface="Times New Roman"/>
                <a:cs typeface="Times New Roman"/>
              </a:rPr>
              <a:t>be</a:t>
            </a:r>
            <a:r>
              <a:rPr sz="1200" spc="490" dirty="0">
                <a:latin typeface="Times New Roman"/>
                <a:cs typeface="Times New Roman"/>
              </a:rPr>
              <a:t> </a:t>
            </a:r>
            <a:r>
              <a:rPr sz="1200" dirty="0">
                <a:latin typeface="Times New Roman"/>
                <a:cs typeface="Times New Roman"/>
              </a:rPr>
              <a:t>clear,</a:t>
            </a:r>
            <a:r>
              <a:rPr sz="1200" spc="495" dirty="0">
                <a:latin typeface="Times New Roman"/>
                <a:cs typeface="Times New Roman"/>
              </a:rPr>
              <a:t> </a:t>
            </a:r>
            <a:r>
              <a:rPr sz="1200" dirty="0">
                <a:latin typeface="Times New Roman"/>
                <a:cs typeface="Times New Roman"/>
              </a:rPr>
              <a:t>with</a:t>
            </a:r>
            <a:r>
              <a:rPr sz="1200" spc="484" dirty="0">
                <a:latin typeface="Times New Roman"/>
                <a:cs typeface="Times New Roman"/>
              </a:rPr>
              <a:t> </a:t>
            </a:r>
            <a:r>
              <a:rPr sz="1200" dirty="0">
                <a:latin typeface="Times New Roman"/>
                <a:cs typeface="Times New Roman"/>
              </a:rPr>
              <a:t>tooltips,</a:t>
            </a:r>
            <a:r>
              <a:rPr sz="1200" spc="480" dirty="0">
                <a:latin typeface="Times New Roman"/>
                <a:cs typeface="Times New Roman"/>
              </a:rPr>
              <a:t> </a:t>
            </a:r>
            <a:r>
              <a:rPr sz="1200" spc="-10" dirty="0">
                <a:latin typeface="Times New Roman"/>
                <a:cs typeface="Times New Roman"/>
              </a:rPr>
              <a:t>step-by-</a:t>
            </a:r>
            <a:r>
              <a:rPr sz="1200" dirty="0">
                <a:latin typeface="Times New Roman"/>
                <a:cs typeface="Times New Roman"/>
              </a:rPr>
              <a:t>step</a:t>
            </a:r>
            <a:r>
              <a:rPr sz="1200" spc="480" dirty="0">
                <a:latin typeface="Times New Roman"/>
                <a:cs typeface="Times New Roman"/>
              </a:rPr>
              <a:t> </a:t>
            </a:r>
            <a:r>
              <a:rPr sz="1200" dirty="0">
                <a:latin typeface="Times New Roman"/>
                <a:cs typeface="Times New Roman"/>
              </a:rPr>
              <a:t>workflows,</a:t>
            </a:r>
            <a:r>
              <a:rPr sz="1200" spc="100" dirty="0">
                <a:latin typeface="Times New Roman"/>
                <a:cs typeface="Times New Roman"/>
              </a:rPr>
              <a:t>  </a:t>
            </a:r>
            <a:r>
              <a:rPr sz="1200" dirty="0">
                <a:latin typeface="Times New Roman"/>
                <a:cs typeface="Times New Roman"/>
              </a:rPr>
              <a:t>and</a:t>
            </a:r>
            <a:r>
              <a:rPr sz="1200" spc="480" dirty="0">
                <a:latin typeface="Times New Roman"/>
                <a:cs typeface="Times New Roman"/>
              </a:rPr>
              <a:t> </a:t>
            </a:r>
            <a:r>
              <a:rPr sz="1200" spc="-10" dirty="0">
                <a:latin typeface="Times New Roman"/>
                <a:cs typeface="Times New Roman"/>
              </a:rPr>
              <a:t>guided instructions.</a:t>
            </a:r>
            <a:endParaRPr sz="1200" dirty="0">
              <a:latin typeface="Times New Roman"/>
              <a:cs typeface="Times New Roman"/>
            </a:endParaRPr>
          </a:p>
          <a:p>
            <a:pPr marL="184150" indent="-171450">
              <a:lnSpc>
                <a:spcPct val="100000"/>
              </a:lnSpc>
              <a:spcBef>
                <a:spcPts val="1310"/>
              </a:spcBef>
              <a:buFont typeface="Arial" panose="020B0604020202020204" pitchFamily="34" charset="0"/>
              <a:buChar char="•"/>
              <a:tabLst>
                <a:tab pos="165100" algn="l"/>
              </a:tabLst>
            </a:pPr>
            <a:r>
              <a:rPr sz="1200" b="1" spc="-10" dirty="0">
                <a:latin typeface="Times New Roman"/>
                <a:cs typeface="Times New Roman"/>
              </a:rPr>
              <a:t>Reliability</a:t>
            </a:r>
            <a:endParaRPr sz="1200" dirty="0">
              <a:latin typeface="Times New Roman"/>
              <a:cs typeface="Times New Roman"/>
            </a:endParaRPr>
          </a:p>
          <a:p>
            <a:pPr marL="469265" lvl="1" indent="-228600">
              <a:lnSpc>
                <a:spcPts val="1410"/>
              </a:lnSpc>
              <a:spcBef>
                <a:spcPts val="1345"/>
              </a:spcBef>
              <a:buSzPct val="83333"/>
              <a:buFont typeface="Symbol"/>
              <a:buChar char=""/>
              <a:tabLst>
                <a:tab pos="469265" algn="l"/>
              </a:tabLst>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maintain</a:t>
            </a:r>
            <a:r>
              <a:rPr sz="1200" spc="-15" dirty="0">
                <a:latin typeface="Times New Roman"/>
                <a:cs typeface="Times New Roman"/>
              </a:rPr>
              <a:t> </a:t>
            </a:r>
            <a:r>
              <a:rPr sz="1200" dirty="0">
                <a:latin typeface="Times New Roman"/>
                <a:cs typeface="Times New Roman"/>
              </a:rPr>
              <a:t>high</a:t>
            </a:r>
            <a:r>
              <a:rPr sz="1200" spc="-20" dirty="0">
                <a:latin typeface="Times New Roman"/>
                <a:cs typeface="Times New Roman"/>
              </a:rPr>
              <a:t> </a:t>
            </a:r>
            <a:r>
              <a:rPr sz="1200" spc="-10" dirty="0">
                <a:latin typeface="Times New Roman"/>
                <a:cs typeface="Times New Roman"/>
              </a:rPr>
              <a:t>availability</a:t>
            </a:r>
            <a:r>
              <a:rPr sz="1200" spc="-1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minimal</a:t>
            </a:r>
            <a:r>
              <a:rPr sz="1200" spc="-20" dirty="0">
                <a:latin typeface="Times New Roman"/>
                <a:cs typeface="Times New Roman"/>
              </a:rPr>
              <a:t> </a:t>
            </a:r>
            <a:r>
              <a:rPr sz="1200" spc="-10" dirty="0">
                <a:latin typeface="Times New Roman"/>
                <a:cs typeface="Times New Roman"/>
              </a:rPr>
              <a:t>downtime.</a:t>
            </a:r>
            <a:endParaRPr sz="1200" dirty="0">
              <a:latin typeface="Times New Roman"/>
              <a:cs typeface="Times New Roman"/>
            </a:endParaRPr>
          </a:p>
          <a:p>
            <a:pPr marL="469265" lvl="1" indent="-228600">
              <a:lnSpc>
                <a:spcPts val="1410"/>
              </a:lnSpc>
              <a:buSzPct val="83333"/>
              <a:buFont typeface="Symbol"/>
              <a:buChar char=""/>
              <a:tabLst>
                <a:tab pos="469265" algn="l"/>
              </a:tabLst>
            </a:pP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bid</a:t>
            </a:r>
            <a:r>
              <a:rPr sz="1200" spc="-30" dirty="0">
                <a:latin typeface="Times New Roman"/>
                <a:cs typeface="Times New Roman"/>
              </a:rPr>
              <a:t> </a:t>
            </a:r>
            <a:r>
              <a:rPr sz="1200" dirty="0">
                <a:latin typeface="Times New Roman"/>
                <a:cs typeface="Times New Roman"/>
              </a:rPr>
              <a:t>processing,</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transactions</a:t>
            </a:r>
            <a:r>
              <a:rPr sz="1200" spc="-25" dirty="0">
                <a:latin typeface="Times New Roman"/>
                <a:cs typeface="Times New Roman"/>
              </a:rPr>
              <a:t> </a:t>
            </a:r>
            <a:r>
              <a:rPr sz="1200" dirty="0">
                <a:latin typeface="Times New Roman"/>
                <a:cs typeface="Times New Roman"/>
              </a:rPr>
              <a:t>must</a:t>
            </a:r>
            <a:r>
              <a:rPr sz="1200" spc="-25" dirty="0">
                <a:latin typeface="Times New Roman"/>
                <a:cs typeface="Times New Roman"/>
              </a:rPr>
              <a:t> </a:t>
            </a:r>
            <a:r>
              <a:rPr sz="1200" dirty="0">
                <a:latin typeface="Times New Roman"/>
                <a:cs typeface="Times New Roman"/>
              </a:rPr>
              <a:t>happen</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real</a:t>
            </a:r>
            <a:r>
              <a:rPr sz="1200" spc="-30" dirty="0">
                <a:latin typeface="Times New Roman"/>
                <a:cs typeface="Times New Roman"/>
              </a:rPr>
              <a:t> </a:t>
            </a:r>
            <a:r>
              <a:rPr sz="1200" spc="-10" dirty="0">
                <a:latin typeface="Times New Roman"/>
                <a:cs typeface="Times New Roman"/>
              </a:rPr>
              <a:t>time.</a:t>
            </a:r>
            <a:endParaRPr sz="1200" dirty="0">
              <a:latin typeface="Times New Roman"/>
              <a:cs typeface="Times New Roman"/>
            </a:endParaRPr>
          </a:p>
          <a:p>
            <a:pPr marL="184150" indent="-171450">
              <a:lnSpc>
                <a:spcPct val="100000"/>
              </a:lnSpc>
              <a:spcBef>
                <a:spcPts val="1330"/>
              </a:spcBef>
              <a:buFont typeface="Arial" panose="020B0604020202020204" pitchFamily="34" charset="0"/>
              <a:buChar char="•"/>
              <a:tabLst>
                <a:tab pos="165100" algn="l"/>
              </a:tabLst>
            </a:pPr>
            <a:r>
              <a:rPr sz="1200" b="1" spc="-10" dirty="0">
                <a:latin typeface="Times New Roman"/>
                <a:cs typeface="Times New Roman"/>
              </a:rPr>
              <a:t>Performance</a:t>
            </a:r>
            <a:endParaRPr sz="1200" dirty="0">
              <a:latin typeface="Times New Roman"/>
              <a:cs typeface="Times New Roman"/>
            </a:endParaRPr>
          </a:p>
          <a:p>
            <a:pPr marL="469265" lvl="1" indent="-228600">
              <a:lnSpc>
                <a:spcPct val="100000"/>
              </a:lnSpc>
              <a:spcBef>
                <a:spcPts val="1345"/>
              </a:spcBef>
              <a:buSzPct val="83333"/>
              <a:buFont typeface="Symbol"/>
              <a:buChar char=""/>
              <a:tabLst>
                <a:tab pos="469265" algn="l"/>
              </a:tabLst>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must</a:t>
            </a:r>
            <a:r>
              <a:rPr sz="1200" spc="-25"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large</a:t>
            </a:r>
            <a:r>
              <a:rPr sz="1200" spc="-30" dirty="0">
                <a:latin typeface="Times New Roman"/>
                <a:cs typeface="Times New Roman"/>
              </a:rPr>
              <a:t> </a:t>
            </a:r>
            <a:r>
              <a:rPr sz="1200" dirty="0">
                <a:latin typeface="Times New Roman"/>
                <a:cs typeface="Times New Roman"/>
              </a:rPr>
              <a:t>numbers</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concurrent</a:t>
            </a:r>
            <a:r>
              <a:rPr sz="1200" spc="-2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auctions.</a:t>
            </a:r>
            <a:endParaRPr sz="1200"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17</a:t>
            </a:r>
          </a:p>
        </p:txBody>
      </p:sp>
      <p:sp>
        <p:nvSpPr>
          <p:cNvPr id="2" name="object 2"/>
          <p:cNvSpPr txBox="1"/>
          <p:nvPr/>
        </p:nvSpPr>
        <p:spPr>
          <a:xfrm>
            <a:off x="1176324" y="891285"/>
            <a:ext cx="5694045" cy="4438015"/>
          </a:xfrm>
          <a:prstGeom prst="rect">
            <a:avLst/>
          </a:prstGeom>
        </p:spPr>
        <p:txBody>
          <a:bodyPr vert="horz" wrap="square" lIns="0" tIns="12700" rIns="0" bIns="0" rtlCol="0">
            <a:spAutoFit/>
          </a:bodyPr>
          <a:lstStyle/>
          <a:p>
            <a:pPr marL="469265" indent="-228600">
              <a:lnSpc>
                <a:spcPct val="100000"/>
              </a:lnSpc>
              <a:spcBef>
                <a:spcPts val="100"/>
              </a:spcBef>
              <a:buSzPct val="83333"/>
              <a:buFont typeface="Symbol"/>
              <a:buChar char=""/>
              <a:tabLst>
                <a:tab pos="469265" algn="l"/>
              </a:tabLst>
            </a:pP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processed</a:t>
            </a:r>
            <a:r>
              <a:rPr sz="1200" spc="-20"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milliseconds</a:t>
            </a:r>
            <a:r>
              <a:rPr sz="1200" spc="-2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0" dirty="0">
                <a:latin typeface="Times New Roman"/>
                <a:cs typeface="Times New Roman"/>
              </a:rPr>
              <a:t> </a:t>
            </a:r>
            <a:r>
              <a:rPr sz="1200" spc="-10" dirty="0">
                <a:latin typeface="Times New Roman"/>
                <a:cs typeface="Times New Roman"/>
              </a:rPr>
              <a:t>accuracy.</a:t>
            </a:r>
            <a:endParaRPr sz="1200" dirty="0">
              <a:latin typeface="Times New Roman"/>
              <a:cs typeface="Times New Roman"/>
            </a:endParaRPr>
          </a:p>
          <a:p>
            <a:pPr marL="184150" indent="-171450">
              <a:lnSpc>
                <a:spcPct val="100000"/>
              </a:lnSpc>
              <a:spcBef>
                <a:spcPts val="1345"/>
              </a:spcBef>
              <a:buFont typeface="Arial" panose="020B0604020202020204" pitchFamily="34" charset="0"/>
              <a:buChar char="•"/>
              <a:tabLst>
                <a:tab pos="165100" algn="l"/>
              </a:tabLst>
            </a:pPr>
            <a:r>
              <a:rPr sz="1200" b="1" spc="-10" dirty="0">
                <a:latin typeface="Times New Roman"/>
                <a:cs typeface="Times New Roman"/>
              </a:rPr>
              <a:t>Supportability</a:t>
            </a:r>
            <a:endParaRPr sz="1200" dirty="0">
              <a:latin typeface="Times New Roman"/>
              <a:cs typeface="Times New Roman"/>
            </a:endParaRPr>
          </a:p>
          <a:p>
            <a:pPr marL="469265" lvl="1" indent="-228600">
              <a:lnSpc>
                <a:spcPts val="1410"/>
              </a:lnSpc>
              <a:spcBef>
                <a:spcPts val="1330"/>
              </a:spcBef>
              <a:buSzPct val="83333"/>
              <a:buFont typeface="Symbol"/>
              <a:buChar char=""/>
              <a:tabLst>
                <a:tab pos="469265" algn="l"/>
              </a:tabLst>
            </a:pPr>
            <a:r>
              <a:rPr sz="1200" spc="-10" dirty="0">
                <a:latin typeface="Times New Roman"/>
                <a:cs typeface="Times New Roman"/>
              </a:rPr>
              <a:t>Built-</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error</a:t>
            </a:r>
            <a:r>
              <a:rPr sz="1200" spc="-30" dirty="0">
                <a:latin typeface="Times New Roman"/>
                <a:cs typeface="Times New Roman"/>
              </a:rPr>
              <a:t> </a:t>
            </a:r>
            <a:r>
              <a:rPr sz="1200" dirty="0">
                <a:latin typeface="Times New Roman"/>
                <a:cs typeface="Times New Roman"/>
              </a:rPr>
              <a:t>handling</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recovery</a:t>
            </a:r>
            <a:r>
              <a:rPr sz="1200" spc="-20" dirty="0">
                <a:latin typeface="Times New Roman"/>
                <a:cs typeface="Times New Roman"/>
              </a:rPr>
              <a:t> </a:t>
            </a:r>
            <a:r>
              <a:rPr sz="1200" dirty="0">
                <a:latin typeface="Times New Roman"/>
                <a:cs typeface="Times New Roman"/>
              </a:rPr>
              <a:t>options</a:t>
            </a:r>
            <a:r>
              <a:rPr sz="1200" spc="-15"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assist users</a:t>
            </a:r>
            <a:r>
              <a:rPr sz="1200" spc="-20" dirty="0">
                <a:latin typeface="Times New Roman"/>
                <a:cs typeface="Times New Roman"/>
              </a:rPr>
              <a:t> </a:t>
            </a:r>
            <a:r>
              <a:rPr sz="1200" dirty="0">
                <a:latin typeface="Times New Roman"/>
                <a:cs typeface="Times New Roman"/>
              </a:rPr>
              <a:t>during</a:t>
            </a:r>
            <a:r>
              <a:rPr sz="1200" spc="-15" dirty="0">
                <a:latin typeface="Times New Roman"/>
                <a:cs typeface="Times New Roman"/>
              </a:rPr>
              <a:t> </a:t>
            </a:r>
            <a:r>
              <a:rPr sz="1200" spc="-10" dirty="0">
                <a:latin typeface="Times New Roman"/>
                <a:cs typeface="Times New Roman"/>
              </a:rPr>
              <a:t>issues.</a:t>
            </a:r>
            <a:endParaRPr sz="1200" dirty="0">
              <a:latin typeface="Times New Roman"/>
              <a:cs typeface="Times New Roman"/>
            </a:endParaRPr>
          </a:p>
          <a:p>
            <a:pPr marL="469265" lvl="1" indent="-228600">
              <a:lnSpc>
                <a:spcPts val="1410"/>
              </a:lnSpc>
              <a:buSzPct val="83333"/>
              <a:buFont typeface="Symbol"/>
              <a:buChar char=""/>
              <a:tabLst>
                <a:tab pos="469265" algn="l"/>
              </a:tabLst>
            </a:pPr>
            <a:r>
              <a:rPr sz="1200" dirty="0">
                <a:latin typeface="Times New Roman"/>
                <a:cs typeface="Times New Roman"/>
              </a:rPr>
              <a:t>Help</a:t>
            </a:r>
            <a:r>
              <a:rPr sz="1200" spc="-20" dirty="0">
                <a:latin typeface="Times New Roman"/>
                <a:cs typeface="Times New Roman"/>
              </a:rPr>
              <a:t> </a:t>
            </a:r>
            <a:r>
              <a:rPr sz="1200" dirty="0">
                <a:latin typeface="Times New Roman"/>
                <a:cs typeface="Times New Roman"/>
              </a:rPr>
              <a:t>resources</a:t>
            </a:r>
            <a:r>
              <a:rPr sz="1200" spc="-20" dirty="0">
                <a:latin typeface="Times New Roman"/>
                <a:cs typeface="Times New Roman"/>
              </a:rPr>
              <a:t> </a:t>
            </a:r>
            <a:r>
              <a:rPr sz="1200" dirty="0">
                <a:latin typeface="Times New Roman"/>
                <a:cs typeface="Times New Roman"/>
              </a:rPr>
              <a:t>like</a:t>
            </a:r>
            <a:r>
              <a:rPr sz="1200" spc="-15" dirty="0">
                <a:latin typeface="Times New Roman"/>
                <a:cs typeface="Times New Roman"/>
              </a:rPr>
              <a:t> </a:t>
            </a:r>
            <a:r>
              <a:rPr sz="1200" dirty="0">
                <a:latin typeface="Times New Roman"/>
                <a:cs typeface="Times New Roman"/>
              </a:rPr>
              <a:t>FAQs,</a:t>
            </a:r>
            <a:r>
              <a:rPr sz="1200" spc="-20" dirty="0">
                <a:latin typeface="Times New Roman"/>
                <a:cs typeface="Times New Roman"/>
              </a:rPr>
              <a:t> </a:t>
            </a:r>
            <a:r>
              <a:rPr sz="1200" dirty="0">
                <a:latin typeface="Times New Roman"/>
                <a:cs typeface="Times New Roman"/>
              </a:rPr>
              <a:t>tutorials,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live</a:t>
            </a:r>
            <a:r>
              <a:rPr sz="1200" spc="-25"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dirty="0">
                <a:latin typeface="Times New Roman"/>
                <a:cs typeface="Times New Roman"/>
              </a:rPr>
              <a:t>should</a:t>
            </a:r>
            <a:r>
              <a:rPr sz="1200" spc="-1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spc="-10" dirty="0">
                <a:latin typeface="Times New Roman"/>
                <a:cs typeface="Times New Roman"/>
              </a:rPr>
              <a:t>available.</a:t>
            </a:r>
            <a:endParaRPr sz="1200" dirty="0">
              <a:latin typeface="Times New Roman"/>
              <a:cs typeface="Times New Roman"/>
            </a:endParaRPr>
          </a:p>
          <a:p>
            <a:pPr marL="184150" indent="-171450">
              <a:lnSpc>
                <a:spcPct val="100000"/>
              </a:lnSpc>
              <a:spcBef>
                <a:spcPts val="1345"/>
              </a:spcBef>
              <a:buFont typeface="Arial" panose="020B0604020202020204" pitchFamily="34" charset="0"/>
              <a:buChar char="•"/>
              <a:tabLst>
                <a:tab pos="165100" algn="l"/>
              </a:tabLst>
            </a:pPr>
            <a:r>
              <a:rPr sz="1200" b="1" dirty="0">
                <a:latin typeface="Times New Roman"/>
                <a:cs typeface="Times New Roman"/>
              </a:rPr>
              <a:t>Design</a:t>
            </a:r>
            <a:r>
              <a:rPr sz="1200" b="1" spc="-20" dirty="0">
                <a:latin typeface="Times New Roman"/>
                <a:cs typeface="Times New Roman"/>
              </a:rPr>
              <a:t> </a:t>
            </a:r>
            <a:r>
              <a:rPr sz="1200" b="1" spc="-10" dirty="0">
                <a:latin typeface="Times New Roman"/>
                <a:cs typeface="Times New Roman"/>
              </a:rPr>
              <a:t>Constraints</a:t>
            </a:r>
            <a:endParaRPr sz="1200" dirty="0">
              <a:latin typeface="Times New Roman"/>
              <a:cs typeface="Times New Roman"/>
            </a:endParaRPr>
          </a:p>
          <a:p>
            <a:pPr marL="469265" lvl="1" indent="-228600">
              <a:lnSpc>
                <a:spcPts val="1410"/>
              </a:lnSpc>
              <a:spcBef>
                <a:spcPts val="1340"/>
              </a:spcBef>
              <a:buSzPct val="83333"/>
              <a:buFont typeface="Symbol"/>
              <a:buChar char=""/>
              <a:tabLst>
                <a:tab pos="469265" algn="l"/>
              </a:tabLst>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must</a:t>
            </a:r>
            <a:r>
              <a:rPr sz="1200" spc="-30" dirty="0">
                <a:latin typeface="Times New Roman"/>
                <a:cs typeface="Times New Roman"/>
              </a:rPr>
              <a:t> </a:t>
            </a:r>
            <a:r>
              <a:rPr sz="1200" dirty="0">
                <a:latin typeface="Times New Roman"/>
                <a:cs typeface="Times New Roman"/>
              </a:rPr>
              <a:t>comply</a:t>
            </a:r>
            <a:r>
              <a:rPr sz="1200" spc="-3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relevant</a:t>
            </a:r>
            <a:r>
              <a:rPr sz="1200" spc="-30" dirty="0">
                <a:latin typeface="Times New Roman"/>
                <a:cs typeface="Times New Roman"/>
              </a:rPr>
              <a:t> </a:t>
            </a:r>
            <a:r>
              <a:rPr sz="1200" dirty="0">
                <a:latin typeface="Times New Roman"/>
                <a:cs typeface="Times New Roman"/>
              </a:rPr>
              <a:t>legal</a:t>
            </a:r>
            <a:r>
              <a:rPr sz="1200" spc="-2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financial</a:t>
            </a:r>
            <a:r>
              <a:rPr sz="1200" spc="-30" dirty="0">
                <a:latin typeface="Times New Roman"/>
                <a:cs typeface="Times New Roman"/>
              </a:rPr>
              <a:t> </a:t>
            </a:r>
            <a:r>
              <a:rPr sz="1200" spc="-10" dirty="0">
                <a:latin typeface="Times New Roman"/>
                <a:cs typeface="Times New Roman"/>
              </a:rPr>
              <a:t>regulations.</a:t>
            </a:r>
            <a:endParaRPr sz="1200" dirty="0">
              <a:latin typeface="Times New Roman"/>
              <a:cs typeface="Times New Roman"/>
            </a:endParaRPr>
          </a:p>
          <a:p>
            <a:pPr marL="469265" lvl="1" indent="-228600">
              <a:lnSpc>
                <a:spcPts val="1410"/>
              </a:lnSpc>
              <a:buSzPct val="83333"/>
              <a:buFont typeface="Symbol"/>
              <a:buChar char=""/>
              <a:tabLst>
                <a:tab pos="469265" algn="l"/>
              </a:tabLst>
            </a:pP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should</a:t>
            </a:r>
            <a:r>
              <a:rPr sz="1200" spc="-30"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scalable</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modular</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future</a:t>
            </a:r>
            <a:r>
              <a:rPr sz="1200" spc="-35" dirty="0">
                <a:latin typeface="Times New Roman"/>
                <a:cs typeface="Times New Roman"/>
              </a:rPr>
              <a:t> </a:t>
            </a:r>
            <a:r>
              <a:rPr sz="1200" dirty="0">
                <a:latin typeface="Times New Roman"/>
                <a:cs typeface="Times New Roman"/>
              </a:rPr>
              <a:t>upgrades</a:t>
            </a:r>
            <a:r>
              <a:rPr sz="1200" spc="-25" dirty="0">
                <a:latin typeface="Times New Roman"/>
                <a:cs typeface="Times New Roman"/>
              </a:rPr>
              <a:t> </a:t>
            </a:r>
            <a:r>
              <a:rPr sz="1200" dirty="0">
                <a:latin typeface="Times New Roman"/>
                <a:cs typeface="Times New Roman"/>
              </a:rPr>
              <a:t>without</a:t>
            </a:r>
            <a:r>
              <a:rPr sz="1200" spc="-30" dirty="0">
                <a:latin typeface="Times New Roman"/>
                <a:cs typeface="Times New Roman"/>
              </a:rPr>
              <a:t> </a:t>
            </a:r>
            <a:r>
              <a:rPr sz="1200" dirty="0">
                <a:latin typeface="Times New Roman"/>
                <a:cs typeface="Times New Roman"/>
              </a:rPr>
              <a:t>major</a:t>
            </a:r>
            <a:r>
              <a:rPr sz="1200" spc="-15" dirty="0">
                <a:latin typeface="Times New Roman"/>
                <a:cs typeface="Times New Roman"/>
              </a:rPr>
              <a:t> </a:t>
            </a:r>
            <a:r>
              <a:rPr sz="1200" spc="-10" dirty="0">
                <a:latin typeface="Times New Roman"/>
                <a:cs typeface="Times New Roman"/>
              </a:rPr>
              <a:t>redesign.</a:t>
            </a:r>
            <a:endParaRPr sz="1200" dirty="0">
              <a:latin typeface="Times New Roman"/>
              <a:cs typeface="Times New Roman"/>
            </a:endParaRPr>
          </a:p>
          <a:p>
            <a:pPr marL="184150" indent="-171450">
              <a:lnSpc>
                <a:spcPct val="100000"/>
              </a:lnSpc>
              <a:spcBef>
                <a:spcPts val="1335"/>
              </a:spcBef>
              <a:buFont typeface="Arial" panose="020B0604020202020204" pitchFamily="34" charset="0"/>
              <a:buChar char="•"/>
              <a:tabLst>
                <a:tab pos="165100" algn="l"/>
              </a:tabLst>
            </a:pPr>
            <a:r>
              <a:rPr sz="1200" b="1" dirty="0">
                <a:latin typeface="Times New Roman"/>
                <a:cs typeface="Times New Roman"/>
              </a:rPr>
              <a:t>Licensing</a:t>
            </a:r>
            <a:r>
              <a:rPr sz="1200" b="1" spc="-20" dirty="0">
                <a:latin typeface="Times New Roman"/>
                <a:cs typeface="Times New Roman"/>
              </a:rPr>
              <a:t> </a:t>
            </a:r>
            <a:r>
              <a:rPr sz="1200" b="1" spc="-10" dirty="0">
                <a:latin typeface="Times New Roman"/>
                <a:cs typeface="Times New Roman"/>
              </a:rPr>
              <a:t>Requirements</a:t>
            </a:r>
            <a:endParaRPr sz="1200" dirty="0">
              <a:latin typeface="Times New Roman"/>
              <a:cs typeface="Times New Roman"/>
            </a:endParaRPr>
          </a:p>
          <a:p>
            <a:pPr>
              <a:lnSpc>
                <a:spcPct val="100000"/>
              </a:lnSpc>
              <a:spcBef>
                <a:spcPts val="60"/>
              </a:spcBef>
              <a:buFont typeface="Times New Roman"/>
              <a:buAutoNum type="arabicPeriod" startAt="4"/>
            </a:pPr>
            <a:endParaRPr sz="1200" dirty="0">
              <a:latin typeface="Times New Roman"/>
              <a:cs typeface="Times New Roman"/>
            </a:endParaRPr>
          </a:p>
          <a:p>
            <a:pPr marL="469265" marR="5080" lvl="1" indent="-228600">
              <a:lnSpc>
                <a:spcPts val="1380"/>
              </a:lnSpc>
              <a:spcBef>
                <a:spcPts val="5"/>
              </a:spcBef>
              <a:buSzPct val="83333"/>
              <a:buFont typeface="Symbol"/>
              <a:buChar char=""/>
              <a:tabLst>
                <a:tab pos="469265" algn="l"/>
              </a:tabLst>
            </a:pPr>
            <a:r>
              <a:rPr sz="1200" dirty="0">
                <a:latin typeface="Times New Roman"/>
                <a:cs typeface="Times New Roman"/>
              </a:rPr>
              <a:t>All</a:t>
            </a:r>
            <a:r>
              <a:rPr sz="1200" spc="-35" dirty="0">
                <a:latin typeface="Times New Roman"/>
                <a:cs typeface="Times New Roman"/>
              </a:rPr>
              <a:t> </a:t>
            </a:r>
            <a:r>
              <a:rPr sz="1200" spc="-10" dirty="0">
                <a:latin typeface="Times New Roman"/>
                <a:cs typeface="Times New Roman"/>
              </a:rPr>
              <a:t>third-</a:t>
            </a:r>
            <a:r>
              <a:rPr sz="1200" dirty="0">
                <a:latin typeface="Times New Roman"/>
                <a:cs typeface="Times New Roman"/>
              </a:rPr>
              <a:t>party</a:t>
            </a:r>
            <a:r>
              <a:rPr sz="1200" spc="-40" dirty="0">
                <a:latin typeface="Times New Roman"/>
                <a:cs typeface="Times New Roman"/>
              </a:rPr>
              <a:t> </a:t>
            </a:r>
            <a:r>
              <a:rPr sz="1200" dirty="0">
                <a:latin typeface="Times New Roman"/>
                <a:cs typeface="Times New Roman"/>
              </a:rPr>
              <a:t>tools,</a:t>
            </a:r>
            <a:r>
              <a:rPr sz="1200" spc="-40" dirty="0">
                <a:latin typeface="Times New Roman"/>
                <a:cs typeface="Times New Roman"/>
              </a:rPr>
              <a:t> </a:t>
            </a:r>
            <a:r>
              <a:rPr sz="1200" dirty="0">
                <a:latin typeface="Times New Roman"/>
                <a:cs typeface="Times New Roman"/>
              </a:rPr>
              <a:t>APIs,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cloud</a:t>
            </a:r>
            <a:r>
              <a:rPr sz="1200" spc="-35" dirty="0">
                <a:latin typeface="Times New Roman"/>
                <a:cs typeface="Times New Roman"/>
              </a:rPr>
              <a:t> </a:t>
            </a:r>
            <a:r>
              <a:rPr sz="1200" dirty="0">
                <a:latin typeface="Times New Roman"/>
                <a:cs typeface="Times New Roman"/>
              </a:rPr>
              <a:t>services</a:t>
            </a:r>
            <a:r>
              <a:rPr sz="1200" spc="-40" dirty="0">
                <a:latin typeface="Times New Roman"/>
                <a:cs typeface="Times New Roman"/>
              </a:rPr>
              <a:t> </a:t>
            </a:r>
            <a:r>
              <a:rPr sz="1200" dirty="0">
                <a:latin typeface="Times New Roman"/>
                <a:cs typeface="Times New Roman"/>
              </a:rPr>
              <a:t>used</a:t>
            </a:r>
            <a:r>
              <a:rPr sz="1200" spc="-40" dirty="0">
                <a:latin typeface="Times New Roman"/>
                <a:cs typeface="Times New Roman"/>
              </a:rPr>
              <a:t> </a:t>
            </a:r>
            <a:r>
              <a:rPr sz="1200" dirty="0">
                <a:latin typeface="Times New Roman"/>
                <a:cs typeface="Times New Roman"/>
              </a:rPr>
              <a:t>must</a:t>
            </a:r>
            <a:r>
              <a:rPr sz="1200" spc="-35" dirty="0">
                <a:latin typeface="Times New Roman"/>
                <a:cs typeface="Times New Roman"/>
              </a:rPr>
              <a:t> </a:t>
            </a:r>
            <a:r>
              <a:rPr sz="1200" dirty="0">
                <a:latin typeface="Times New Roman"/>
                <a:cs typeface="Times New Roman"/>
              </a:rPr>
              <a:t>have</a:t>
            </a:r>
            <a:r>
              <a:rPr sz="1200" spc="-45" dirty="0">
                <a:latin typeface="Times New Roman"/>
                <a:cs typeface="Times New Roman"/>
              </a:rPr>
              <a:t> </a:t>
            </a:r>
            <a:r>
              <a:rPr sz="1200" dirty="0">
                <a:latin typeface="Times New Roman"/>
                <a:cs typeface="Times New Roman"/>
              </a:rPr>
              <a:t>valid</a:t>
            </a:r>
            <a:r>
              <a:rPr sz="1200" spc="-35" dirty="0">
                <a:latin typeface="Times New Roman"/>
                <a:cs typeface="Times New Roman"/>
              </a:rPr>
              <a:t> </a:t>
            </a:r>
            <a:r>
              <a:rPr sz="1200" dirty="0">
                <a:latin typeface="Times New Roman"/>
                <a:cs typeface="Times New Roman"/>
              </a:rPr>
              <a:t>licenses,</a:t>
            </a:r>
            <a:r>
              <a:rPr sz="1200" spc="-40" dirty="0">
                <a:latin typeface="Times New Roman"/>
                <a:cs typeface="Times New Roman"/>
              </a:rPr>
              <a:t> </a:t>
            </a:r>
            <a:r>
              <a:rPr sz="1200" spc="-10" dirty="0">
                <a:latin typeface="Times New Roman"/>
                <a:cs typeface="Times New Roman"/>
              </a:rPr>
              <a:t>properly </a:t>
            </a:r>
            <a:r>
              <a:rPr sz="1200" dirty="0">
                <a:latin typeface="Times New Roman"/>
                <a:cs typeface="Times New Roman"/>
              </a:rPr>
              <a:t>documented</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maintained.</a:t>
            </a:r>
            <a:endParaRPr sz="1200" dirty="0">
              <a:latin typeface="Times New Roman"/>
              <a:cs typeface="Times New Roman"/>
            </a:endParaRPr>
          </a:p>
          <a:p>
            <a:pPr marL="184150" indent="-171450">
              <a:lnSpc>
                <a:spcPct val="100000"/>
              </a:lnSpc>
              <a:spcBef>
                <a:spcPts val="1305"/>
              </a:spcBef>
              <a:buFont typeface="Arial" panose="020B0604020202020204" pitchFamily="34" charset="0"/>
              <a:buChar char="•"/>
              <a:tabLst>
                <a:tab pos="165100" algn="l"/>
              </a:tabLst>
            </a:pPr>
            <a:r>
              <a:rPr sz="1200" b="1" dirty="0">
                <a:latin typeface="Times New Roman"/>
                <a:cs typeface="Times New Roman"/>
              </a:rPr>
              <a:t>Data</a:t>
            </a:r>
            <a:r>
              <a:rPr sz="1200" b="1" spc="-20" dirty="0">
                <a:latin typeface="Times New Roman"/>
                <a:cs typeface="Times New Roman"/>
              </a:rPr>
              <a:t> </a:t>
            </a:r>
            <a:r>
              <a:rPr sz="1200" b="1" dirty="0">
                <a:latin typeface="Times New Roman"/>
                <a:cs typeface="Times New Roman"/>
              </a:rPr>
              <a:t>Privacy</a:t>
            </a:r>
            <a:r>
              <a:rPr sz="1200" b="1" spc="-20" dirty="0">
                <a:latin typeface="Times New Roman"/>
                <a:cs typeface="Times New Roman"/>
              </a:rPr>
              <a:t> </a:t>
            </a:r>
            <a:r>
              <a:rPr sz="1200" b="1" dirty="0">
                <a:latin typeface="Times New Roman"/>
                <a:cs typeface="Times New Roman"/>
              </a:rPr>
              <a:t>and</a:t>
            </a:r>
            <a:r>
              <a:rPr sz="1200" b="1" spc="-15" dirty="0">
                <a:latin typeface="Times New Roman"/>
                <a:cs typeface="Times New Roman"/>
              </a:rPr>
              <a:t> </a:t>
            </a:r>
            <a:r>
              <a:rPr sz="1200" b="1" spc="-10" dirty="0">
                <a:latin typeface="Times New Roman"/>
                <a:cs typeface="Times New Roman"/>
              </a:rPr>
              <a:t>Security</a:t>
            </a:r>
            <a:endParaRPr sz="1200" dirty="0">
              <a:latin typeface="Times New Roman"/>
              <a:cs typeface="Times New Roman"/>
            </a:endParaRPr>
          </a:p>
          <a:p>
            <a:pPr marL="469265" lvl="1" indent="-228600">
              <a:lnSpc>
                <a:spcPts val="1410"/>
              </a:lnSpc>
              <a:spcBef>
                <a:spcPts val="1335"/>
              </a:spcBef>
              <a:buSzPct val="83333"/>
              <a:buFont typeface="Symbol"/>
              <a:buChar char=""/>
              <a:tabLst>
                <a:tab pos="469265" algn="l"/>
              </a:tabLst>
            </a:pP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encrypted</a:t>
            </a:r>
            <a:r>
              <a:rPr sz="1200" spc="-25" dirty="0">
                <a:latin typeface="Times New Roman"/>
                <a:cs typeface="Times New Roman"/>
              </a:rPr>
              <a:t> </a:t>
            </a:r>
            <a:r>
              <a:rPr sz="1200" spc="-10" dirty="0">
                <a:latin typeface="Times New Roman"/>
                <a:cs typeface="Times New Roman"/>
              </a:rPr>
              <a:t>(AES-</a:t>
            </a:r>
            <a:r>
              <a:rPr sz="1200" dirty="0">
                <a:latin typeface="Times New Roman"/>
                <a:cs typeface="Times New Roman"/>
              </a:rPr>
              <a:t>256)</a:t>
            </a:r>
            <a:r>
              <a:rPr sz="1200" spc="-25" dirty="0">
                <a:latin typeface="Times New Roman"/>
                <a:cs typeface="Times New Roman"/>
              </a:rPr>
              <a:t> </a:t>
            </a:r>
            <a:r>
              <a:rPr sz="1200" dirty="0">
                <a:latin typeface="Times New Roman"/>
                <a:cs typeface="Times New Roman"/>
              </a:rPr>
              <a:t>both</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transit</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10" dirty="0">
                <a:latin typeface="Times New Roman"/>
                <a:cs typeface="Times New Roman"/>
              </a:rPr>
              <a:t>rest.</a:t>
            </a:r>
            <a:endParaRPr sz="1200" dirty="0">
              <a:latin typeface="Times New Roman"/>
              <a:cs typeface="Times New Roman"/>
            </a:endParaRPr>
          </a:p>
          <a:p>
            <a:pPr marL="469265" marR="8255" lvl="1" indent="-228600">
              <a:lnSpc>
                <a:spcPts val="1380"/>
              </a:lnSpc>
              <a:spcBef>
                <a:spcPts val="65"/>
              </a:spcBef>
              <a:buSzPct val="83333"/>
              <a:buFont typeface="Symbol"/>
              <a:buChar char=""/>
              <a:tabLst>
                <a:tab pos="469265" algn="l"/>
              </a:tabLst>
            </a:pPr>
            <a:r>
              <a:rPr sz="1200" spc="-10" dirty="0">
                <a:latin typeface="Times New Roman"/>
                <a:cs typeface="Times New Roman"/>
              </a:rPr>
              <a:t>Role-</a:t>
            </a:r>
            <a:r>
              <a:rPr sz="1200" dirty="0">
                <a:latin typeface="Times New Roman"/>
                <a:cs typeface="Times New Roman"/>
              </a:rPr>
              <a:t>Based</a:t>
            </a:r>
            <a:r>
              <a:rPr sz="1200" spc="90" dirty="0">
                <a:latin typeface="Times New Roman"/>
                <a:cs typeface="Times New Roman"/>
              </a:rPr>
              <a:t> </a:t>
            </a:r>
            <a:r>
              <a:rPr sz="1200" dirty="0">
                <a:latin typeface="Times New Roman"/>
                <a:cs typeface="Times New Roman"/>
              </a:rPr>
              <a:t>Access</a:t>
            </a:r>
            <a:r>
              <a:rPr sz="1200" spc="90" dirty="0">
                <a:latin typeface="Times New Roman"/>
                <a:cs typeface="Times New Roman"/>
              </a:rPr>
              <a:t> </a:t>
            </a:r>
            <a:r>
              <a:rPr sz="1200" dirty="0">
                <a:latin typeface="Times New Roman"/>
                <a:cs typeface="Times New Roman"/>
              </a:rPr>
              <a:t>Control</a:t>
            </a:r>
            <a:r>
              <a:rPr sz="1200" spc="95" dirty="0">
                <a:latin typeface="Times New Roman"/>
                <a:cs typeface="Times New Roman"/>
              </a:rPr>
              <a:t> </a:t>
            </a:r>
            <a:r>
              <a:rPr sz="1200" dirty="0">
                <a:latin typeface="Times New Roman"/>
                <a:cs typeface="Times New Roman"/>
              </a:rPr>
              <a:t>(RBAC)</a:t>
            </a:r>
            <a:r>
              <a:rPr sz="1200" spc="90" dirty="0">
                <a:latin typeface="Times New Roman"/>
                <a:cs typeface="Times New Roman"/>
              </a:rPr>
              <a:t> </a:t>
            </a:r>
            <a:r>
              <a:rPr sz="1200" dirty="0">
                <a:latin typeface="Times New Roman"/>
                <a:cs typeface="Times New Roman"/>
              </a:rPr>
              <a:t>must</a:t>
            </a:r>
            <a:r>
              <a:rPr sz="1200" spc="95" dirty="0">
                <a:latin typeface="Times New Roman"/>
                <a:cs typeface="Times New Roman"/>
              </a:rPr>
              <a:t> </a:t>
            </a:r>
            <a:r>
              <a:rPr sz="1200" dirty="0">
                <a:latin typeface="Times New Roman"/>
                <a:cs typeface="Times New Roman"/>
              </a:rPr>
              <a:t>be</a:t>
            </a:r>
            <a:r>
              <a:rPr sz="1200" spc="85" dirty="0">
                <a:latin typeface="Times New Roman"/>
                <a:cs typeface="Times New Roman"/>
              </a:rPr>
              <a:t> </a:t>
            </a:r>
            <a:r>
              <a:rPr sz="1200" dirty="0">
                <a:latin typeface="Times New Roman"/>
                <a:cs typeface="Times New Roman"/>
              </a:rPr>
              <a:t>implemented</a:t>
            </a:r>
            <a:r>
              <a:rPr sz="1200" spc="90" dirty="0">
                <a:latin typeface="Times New Roman"/>
                <a:cs typeface="Times New Roman"/>
              </a:rPr>
              <a:t> </a:t>
            </a:r>
            <a:r>
              <a:rPr sz="1200" dirty="0">
                <a:latin typeface="Times New Roman"/>
                <a:cs typeface="Times New Roman"/>
              </a:rPr>
              <a:t>to</a:t>
            </a:r>
            <a:r>
              <a:rPr sz="1200" spc="95" dirty="0">
                <a:latin typeface="Times New Roman"/>
                <a:cs typeface="Times New Roman"/>
              </a:rPr>
              <a:t> </a:t>
            </a:r>
            <a:r>
              <a:rPr sz="1200" dirty="0">
                <a:latin typeface="Times New Roman"/>
                <a:cs typeface="Times New Roman"/>
              </a:rPr>
              <a:t>prevent</a:t>
            </a:r>
            <a:r>
              <a:rPr sz="1200" spc="95" dirty="0">
                <a:latin typeface="Times New Roman"/>
                <a:cs typeface="Times New Roman"/>
              </a:rPr>
              <a:t> </a:t>
            </a:r>
            <a:r>
              <a:rPr sz="1200" spc="-10" dirty="0">
                <a:latin typeface="Times New Roman"/>
                <a:cs typeface="Times New Roman"/>
              </a:rPr>
              <a:t>unauthorized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sensitive</a:t>
            </a:r>
            <a:r>
              <a:rPr sz="1200" spc="-30" dirty="0">
                <a:latin typeface="Times New Roman"/>
                <a:cs typeface="Times New Roman"/>
              </a:rPr>
              <a:t> </a:t>
            </a:r>
            <a:r>
              <a:rPr sz="1200" spc="-10" dirty="0">
                <a:latin typeface="Times New Roman"/>
                <a:cs typeface="Times New Roman"/>
              </a:rPr>
              <a:t>information.</a:t>
            </a:r>
            <a:endParaRPr sz="1200" dirty="0">
              <a:latin typeface="Times New Roman"/>
              <a:cs typeface="Times New Roman"/>
            </a:endParaRPr>
          </a:p>
          <a:p>
            <a:pPr>
              <a:lnSpc>
                <a:spcPct val="100000"/>
              </a:lnSpc>
              <a:spcBef>
                <a:spcPts val="20"/>
              </a:spcBef>
            </a:pPr>
            <a:endParaRPr sz="1200" dirty="0">
              <a:latin typeface="Times New Roman"/>
              <a:cs typeface="Times New Roman"/>
            </a:endParaRPr>
          </a:p>
          <a:p>
            <a:pPr marL="12700" marR="8255">
              <a:lnSpc>
                <a:spcPts val="1380"/>
              </a:lnSpc>
              <a:spcBef>
                <a:spcPts val="5"/>
              </a:spcBef>
            </a:pPr>
            <a:r>
              <a:rPr sz="1200" dirty="0">
                <a:latin typeface="Times New Roman"/>
                <a:cs typeface="Times New Roman"/>
              </a:rPr>
              <a:t>These</a:t>
            </a:r>
            <a:r>
              <a:rPr sz="1200" spc="5" dirty="0">
                <a:latin typeface="Times New Roman"/>
                <a:cs typeface="Times New Roman"/>
              </a:rPr>
              <a:t> </a:t>
            </a:r>
            <a:r>
              <a:rPr sz="1200" dirty="0">
                <a:latin typeface="Times New Roman"/>
                <a:cs typeface="Times New Roman"/>
              </a:rPr>
              <a:t>requirements</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essential</a:t>
            </a:r>
            <a:r>
              <a:rPr sz="1200" spc="15" dirty="0">
                <a:latin typeface="Times New Roman"/>
                <a:cs typeface="Times New Roman"/>
              </a:rPr>
              <a:t> </a:t>
            </a:r>
            <a:r>
              <a:rPr sz="1200" dirty="0">
                <a:latin typeface="Times New Roman"/>
                <a:cs typeface="Times New Roman"/>
              </a:rPr>
              <a:t>for building</a:t>
            </a:r>
            <a:r>
              <a:rPr sz="1200" spc="1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secure,</a:t>
            </a:r>
            <a:r>
              <a:rPr sz="1200" spc="15" dirty="0">
                <a:latin typeface="Times New Roman"/>
                <a:cs typeface="Times New Roman"/>
              </a:rPr>
              <a:t> </a:t>
            </a:r>
            <a:r>
              <a:rPr sz="1200" dirty="0">
                <a:latin typeface="Times New Roman"/>
                <a:cs typeface="Times New Roman"/>
              </a:rPr>
              <a:t>stable,</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legally</a:t>
            </a:r>
            <a:r>
              <a:rPr sz="1200" spc="10" dirty="0">
                <a:latin typeface="Times New Roman"/>
                <a:cs typeface="Times New Roman"/>
              </a:rPr>
              <a:t> </a:t>
            </a:r>
            <a:r>
              <a:rPr sz="1200" dirty="0">
                <a:latin typeface="Times New Roman"/>
                <a:cs typeface="Times New Roman"/>
              </a:rPr>
              <a:t>compliant</a:t>
            </a:r>
            <a:r>
              <a:rPr sz="1200" spc="15" dirty="0">
                <a:latin typeface="Times New Roman"/>
                <a:cs typeface="Times New Roman"/>
              </a:rPr>
              <a:t> </a:t>
            </a:r>
            <a:r>
              <a:rPr sz="1200" spc="-10" dirty="0">
                <a:latin typeface="Times New Roman"/>
                <a:cs typeface="Times New Roman"/>
              </a:rPr>
              <a:t>auction </a:t>
            </a:r>
            <a:r>
              <a:rPr sz="1200" dirty="0">
                <a:latin typeface="Times New Roman"/>
                <a:cs typeface="Times New Roman"/>
              </a:rPr>
              <a:t>platform</a:t>
            </a:r>
            <a:r>
              <a:rPr sz="1200" spc="-2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dirty="0">
                <a:latin typeface="Times New Roman"/>
                <a:cs typeface="Times New Roman"/>
              </a:rPr>
              <a:t>delivers</a:t>
            </a:r>
            <a:r>
              <a:rPr sz="1200" spc="-25" dirty="0">
                <a:latin typeface="Times New Roman"/>
                <a:cs typeface="Times New Roman"/>
              </a:rPr>
              <a:t> </a:t>
            </a:r>
            <a:r>
              <a:rPr sz="1200" spc="-10" dirty="0">
                <a:latin typeface="Times New Roman"/>
                <a:cs typeface="Times New Roman"/>
              </a:rPr>
              <a:t>long-</a:t>
            </a:r>
            <a:r>
              <a:rPr sz="1200" dirty="0">
                <a:latin typeface="Times New Roman"/>
                <a:cs typeface="Times New Roman"/>
              </a:rPr>
              <a:t>term</a:t>
            </a:r>
            <a:r>
              <a:rPr sz="1200" spc="-25" dirty="0">
                <a:latin typeface="Times New Roman"/>
                <a:cs typeface="Times New Roman"/>
              </a:rPr>
              <a:t> </a:t>
            </a:r>
            <a:r>
              <a:rPr sz="1200" dirty="0">
                <a:latin typeface="Times New Roman"/>
                <a:cs typeface="Times New Roman"/>
              </a:rPr>
              <a:t>value</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trust.</a:t>
            </a:r>
            <a:endParaRPr sz="1200" dirty="0">
              <a:latin typeface="Times New Roman"/>
              <a:cs typeface="Times New Roman"/>
            </a:endParaRPr>
          </a:p>
        </p:txBody>
      </p:sp>
      <p:sp>
        <p:nvSpPr>
          <p:cNvPr id="3" name="object 3"/>
          <p:cNvSpPr txBox="1"/>
          <p:nvPr/>
        </p:nvSpPr>
        <p:spPr>
          <a:xfrm>
            <a:off x="1176324" y="5828157"/>
            <a:ext cx="5695950" cy="2652008"/>
          </a:xfrm>
          <a:prstGeom prst="rect">
            <a:avLst/>
          </a:prstGeom>
        </p:spPr>
        <p:txBody>
          <a:bodyPr vert="horz" wrap="square" lIns="0" tIns="12700" rIns="0" bIns="0" rtlCol="0">
            <a:spAutoFit/>
          </a:bodyPr>
          <a:lstStyle/>
          <a:p>
            <a:pPr marL="241300" lvl="1" indent="-228600">
              <a:lnSpc>
                <a:spcPct val="100000"/>
              </a:lnSpc>
              <a:spcBef>
                <a:spcPts val="100"/>
              </a:spcBef>
              <a:buAutoNum type="arabicPeriod" startAt="3"/>
              <a:tabLst>
                <a:tab pos="241300" algn="l"/>
              </a:tabLst>
            </a:pPr>
            <a:r>
              <a:rPr sz="1200" b="1" dirty="0">
                <a:latin typeface="Times New Roman"/>
                <a:cs typeface="Times New Roman"/>
              </a:rPr>
              <a:t>Use</a:t>
            </a:r>
            <a:r>
              <a:rPr sz="1200" b="1" spc="-25" dirty="0">
                <a:latin typeface="Times New Roman"/>
                <a:cs typeface="Times New Roman"/>
              </a:rPr>
              <a:t> </a:t>
            </a:r>
            <a:r>
              <a:rPr sz="1200" b="1" dirty="0">
                <a:latin typeface="Times New Roman"/>
                <a:cs typeface="Times New Roman"/>
              </a:rPr>
              <a:t>Case</a:t>
            </a:r>
            <a:r>
              <a:rPr sz="1200" b="1" spc="-15" dirty="0">
                <a:latin typeface="Times New Roman"/>
                <a:cs typeface="Times New Roman"/>
              </a:rPr>
              <a:t> </a:t>
            </a:r>
            <a:r>
              <a:rPr sz="1200" b="1" spc="-20" dirty="0">
                <a:latin typeface="Times New Roman"/>
                <a:cs typeface="Times New Roman"/>
              </a:rPr>
              <a:t>Model</a:t>
            </a:r>
            <a:endParaRPr sz="1200" dirty="0">
              <a:latin typeface="Times New Roman"/>
              <a:cs typeface="Times New Roman"/>
            </a:endParaRPr>
          </a:p>
          <a:p>
            <a:pPr lvl="1">
              <a:lnSpc>
                <a:spcPct val="100000"/>
              </a:lnSpc>
              <a:spcBef>
                <a:spcPts val="45"/>
              </a:spcBef>
            </a:pPr>
            <a:endParaRPr sz="1200" dirty="0">
              <a:latin typeface="Times New Roman"/>
              <a:cs typeface="Times New Roman"/>
            </a:endParaRPr>
          </a:p>
          <a:p>
            <a:pPr marL="12700" marR="11430">
              <a:lnSpc>
                <a:spcPts val="1380"/>
              </a:lnSpc>
            </a:pP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Use</a:t>
            </a:r>
            <a:r>
              <a:rPr sz="1200" spc="75" dirty="0">
                <a:latin typeface="Times New Roman"/>
                <a:cs typeface="Times New Roman"/>
              </a:rPr>
              <a:t> </a:t>
            </a:r>
            <a:r>
              <a:rPr sz="1200" dirty="0">
                <a:latin typeface="Times New Roman"/>
                <a:cs typeface="Times New Roman"/>
              </a:rPr>
              <a:t>Case</a:t>
            </a:r>
            <a:r>
              <a:rPr sz="1200" spc="75" dirty="0">
                <a:latin typeface="Times New Roman"/>
                <a:cs typeface="Times New Roman"/>
              </a:rPr>
              <a:t> </a:t>
            </a:r>
            <a:r>
              <a:rPr sz="1200" dirty="0">
                <a:latin typeface="Times New Roman"/>
                <a:cs typeface="Times New Roman"/>
              </a:rPr>
              <a:t>Model</a:t>
            </a:r>
            <a:r>
              <a:rPr sz="1200" spc="80" dirty="0">
                <a:latin typeface="Times New Roman"/>
                <a:cs typeface="Times New Roman"/>
              </a:rPr>
              <a:t> </a:t>
            </a:r>
            <a:r>
              <a:rPr sz="1200" dirty="0">
                <a:latin typeface="Times New Roman"/>
                <a:cs typeface="Times New Roman"/>
              </a:rPr>
              <a:t>outlines</a:t>
            </a:r>
            <a:r>
              <a:rPr sz="1200" spc="80" dirty="0">
                <a:latin typeface="Times New Roman"/>
                <a:cs typeface="Times New Roman"/>
              </a:rPr>
              <a:t> </a:t>
            </a:r>
            <a:r>
              <a:rPr sz="1200" dirty="0">
                <a:latin typeface="Times New Roman"/>
                <a:cs typeface="Times New Roman"/>
              </a:rPr>
              <a:t>how</a:t>
            </a:r>
            <a:r>
              <a:rPr sz="1200" spc="70" dirty="0">
                <a:latin typeface="Times New Roman"/>
                <a:cs typeface="Times New Roman"/>
              </a:rPr>
              <a:t> </a:t>
            </a:r>
            <a:r>
              <a:rPr sz="1200" dirty="0">
                <a:latin typeface="Times New Roman"/>
                <a:cs typeface="Times New Roman"/>
              </a:rPr>
              <a:t>users</a:t>
            </a:r>
            <a:r>
              <a:rPr sz="1200" spc="75" dirty="0">
                <a:latin typeface="Times New Roman"/>
                <a:cs typeface="Times New Roman"/>
              </a:rPr>
              <a:t> </a:t>
            </a:r>
            <a:r>
              <a:rPr sz="1200" dirty="0">
                <a:latin typeface="Times New Roman"/>
                <a:cs typeface="Times New Roman"/>
              </a:rPr>
              <a:t>(actors)</a:t>
            </a:r>
            <a:r>
              <a:rPr sz="1200" spc="75" dirty="0">
                <a:latin typeface="Times New Roman"/>
                <a:cs typeface="Times New Roman"/>
              </a:rPr>
              <a:t> </a:t>
            </a:r>
            <a:r>
              <a:rPr sz="1200" dirty="0">
                <a:latin typeface="Times New Roman"/>
                <a:cs typeface="Times New Roman"/>
              </a:rPr>
              <a:t>interact</a:t>
            </a:r>
            <a:r>
              <a:rPr sz="1200" spc="80" dirty="0">
                <a:latin typeface="Times New Roman"/>
                <a:cs typeface="Times New Roman"/>
              </a:rPr>
              <a:t> </a:t>
            </a:r>
            <a:r>
              <a:rPr sz="1200" dirty="0">
                <a:latin typeface="Times New Roman"/>
                <a:cs typeface="Times New Roman"/>
              </a:rPr>
              <a:t>with</a:t>
            </a:r>
            <a:r>
              <a:rPr sz="1200" spc="80"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system's</a:t>
            </a:r>
            <a:r>
              <a:rPr sz="1200" spc="85" dirty="0">
                <a:latin typeface="Times New Roman"/>
                <a:cs typeface="Times New Roman"/>
              </a:rPr>
              <a:t> </a:t>
            </a:r>
            <a:r>
              <a:rPr sz="1200" dirty="0">
                <a:latin typeface="Times New Roman"/>
                <a:cs typeface="Times New Roman"/>
              </a:rPr>
              <a:t>functionalities.</a:t>
            </a:r>
            <a:r>
              <a:rPr sz="1200" spc="90" dirty="0">
                <a:latin typeface="Times New Roman"/>
                <a:cs typeface="Times New Roman"/>
              </a:rPr>
              <a:t> </a:t>
            </a:r>
            <a:r>
              <a:rPr sz="1200" spc="-25" dirty="0">
                <a:latin typeface="Times New Roman"/>
                <a:cs typeface="Times New Roman"/>
              </a:rPr>
              <a:t>It </a:t>
            </a:r>
            <a:r>
              <a:rPr sz="1200" spc="-10" dirty="0">
                <a:latin typeface="Times New Roman"/>
                <a:cs typeface="Times New Roman"/>
              </a:rPr>
              <a:t>includes:</a:t>
            </a:r>
            <a:endParaRPr sz="1200" dirty="0">
              <a:latin typeface="Times New Roman"/>
              <a:cs typeface="Times New Roman"/>
            </a:endParaRPr>
          </a:p>
          <a:p>
            <a:pPr marL="469265" indent="-228600">
              <a:lnSpc>
                <a:spcPts val="1410"/>
              </a:lnSpc>
              <a:spcBef>
                <a:spcPts val="1300"/>
              </a:spcBef>
              <a:buSzPct val="83333"/>
              <a:buFont typeface="Symbol"/>
              <a:buChar char=""/>
              <a:tabLst>
                <a:tab pos="469265" algn="l"/>
              </a:tabLst>
            </a:pP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Case</a:t>
            </a:r>
            <a:r>
              <a:rPr sz="1200" spc="-20" dirty="0">
                <a:latin typeface="Times New Roman"/>
                <a:cs typeface="Times New Roman"/>
              </a:rPr>
              <a:t> </a:t>
            </a:r>
            <a:r>
              <a:rPr sz="1200" spc="-10" dirty="0">
                <a:latin typeface="Times New Roman"/>
                <a:cs typeface="Times New Roman"/>
              </a:rPr>
              <a:t>Diagram</a:t>
            </a:r>
            <a:endParaRPr sz="1200" dirty="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description</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actors</a:t>
            </a:r>
            <a:r>
              <a:rPr sz="1200" spc="-25"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dirty="0">
                <a:latin typeface="Times New Roman"/>
                <a:cs typeface="Times New Roman"/>
              </a:rPr>
              <a:t>buyer,</a:t>
            </a:r>
            <a:r>
              <a:rPr sz="1200" spc="-25" dirty="0">
                <a:latin typeface="Times New Roman"/>
                <a:cs typeface="Times New Roman"/>
              </a:rPr>
              <a:t> </a:t>
            </a:r>
            <a:r>
              <a:rPr sz="1200" dirty="0">
                <a:latin typeface="Times New Roman"/>
                <a:cs typeface="Times New Roman"/>
              </a:rPr>
              <a:t>seller,</a:t>
            </a:r>
            <a:r>
              <a:rPr sz="1200" spc="-20" dirty="0">
                <a:latin typeface="Times New Roman"/>
                <a:cs typeface="Times New Roman"/>
              </a:rPr>
              <a:t> </a:t>
            </a:r>
            <a:r>
              <a:rPr sz="1200" spc="-10" dirty="0">
                <a:latin typeface="Times New Roman"/>
                <a:cs typeface="Times New Roman"/>
              </a:rPr>
              <a:t>admin)</a:t>
            </a:r>
            <a:endParaRPr sz="1200" dirty="0">
              <a:latin typeface="Times New Roman"/>
              <a:cs typeface="Times New Roman"/>
            </a:endParaRPr>
          </a:p>
          <a:p>
            <a:pPr marL="469265" marR="5080" indent="-228600">
              <a:lnSpc>
                <a:spcPts val="1380"/>
              </a:lnSpc>
              <a:spcBef>
                <a:spcPts val="65"/>
              </a:spcBef>
              <a:buSzPct val="83333"/>
              <a:buFont typeface="Symbol"/>
              <a:buChar char=""/>
              <a:tabLst>
                <a:tab pos="469265" algn="l"/>
              </a:tabLst>
            </a:pP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dirty="0">
                <a:latin typeface="Times New Roman"/>
                <a:cs typeface="Times New Roman"/>
              </a:rPr>
              <a:t>description</a:t>
            </a:r>
            <a:r>
              <a:rPr sz="1200" spc="-1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case</a:t>
            </a:r>
            <a:r>
              <a:rPr sz="1200" spc="-15" dirty="0">
                <a:latin typeface="Times New Roman"/>
                <a:cs typeface="Times New Roman"/>
              </a:rPr>
              <a:t> </a:t>
            </a:r>
            <a:r>
              <a:rPr sz="1200" dirty="0">
                <a:latin typeface="Times New Roman"/>
                <a:cs typeface="Times New Roman"/>
              </a:rPr>
              <a:t>such</a:t>
            </a:r>
            <a:r>
              <a:rPr sz="1200" spc="-5" dirty="0">
                <a:latin typeface="Times New Roman"/>
                <a:cs typeface="Times New Roman"/>
              </a:rPr>
              <a:t> </a:t>
            </a:r>
            <a:r>
              <a:rPr sz="1200" dirty="0">
                <a:latin typeface="Times New Roman"/>
                <a:cs typeface="Times New Roman"/>
              </a:rPr>
              <a:t>as</a:t>
            </a:r>
            <a:r>
              <a:rPr sz="1200" spc="-15" dirty="0">
                <a:latin typeface="Times New Roman"/>
                <a:cs typeface="Times New Roman"/>
              </a:rPr>
              <a:t> </a:t>
            </a:r>
            <a:r>
              <a:rPr sz="1200" dirty="0">
                <a:latin typeface="Times New Roman"/>
                <a:cs typeface="Times New Roman"/>
              </a:rPr>
              <a:t>login,</a:t>
            </a:r>
            <a:r>
              <a:rPr sz="1200" spc="15" dirty="0">
                <a:latin typeface="Times New Roman"/>
                <a:cs typeface="Times New Roman"/>
              </a:rPr>
              <a:t> </a:t>
            </a:r>
            <a:r>
              <a:rPr sz="1200" dirty="0">
                <a:latin typeface="Times New Roman"/>
                <a:cs typeface="Times New Roman"/>
              </a:rPr>
              <a:t>bid</a:t>
            </a:r>
            <a:r>
              <a:rPr sz="1200" spc="-15" dirty="0">
                <a:latin typeface="Times New Roman"/>
                <a:cs typeface="Times New Roman"/>
              </a:rPr>
              <a:t> </a:t>
            </a:r>
            <a:r>
              <a:rPr sz="1200" dirty="0">
                <a:latin typeface="Times New Roman"/>
                <a:cs typeface="Times New Roman"/>
              </a:rPr>
              <a:t>placement,</a:t>
            </a:r>
            <a:r>
              <a:rPr sz="1200" spc="-15" dirty="0">
                <a:latin typeface="Times New Roman"/>
                <a:cs typeface="Times New Roman"/>
              </a:rPr>
              <a:t> </a:t>
            </a:r>
            <a:r>
              <a:rPr sz="1200" dirty="0">
                <a:latin typeface="Times New Roman"/>
                <a:cs typeface="Times New Roman"/>
              </a:rPr>
              <a:t>property</a:t>
            </a:r>
            <a:r>
              <a:rPr sz="1200" spc="-10" dirty="0">
                <a:latin typeface="Times New Roman"/>
                <a:cs typeface="Times New Roman"/>
              </a:rPr>
              <a:t> listing,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feedback</a:t>
            </a:r>
            <a:r>
              <a:rPr sz="1200" spc="-25" dirty="0">
                <a:latin typeface="Times New Roman"/>
                <a:cs typeface="Times New Roman"/>
              </a:rPr>
              <a:t> </a:t>
            </a:r>
            <a:r>
              <a:rPr sz="1200" spc="-10" dirty="0">
                <a:latin typeface="Times New Roman"/>
                <a:cs typeface="Times New Roman"/>
              </a:rPr>
              <a:t>submission.</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135"/>
              </a:spcBef>
            </a:pPr>
            <a:endParaRPr sz="1200" dirty="0">
              <a:latin typeface="Times New Roman"/>
              <a:cs typeface="Times New Roman"/>
            </a:endParaRPr>
          </a:p>
          <a:p>
            <a:pPr marL="355600" lvl="2" indent="-342900">
              <a:lnSpc>
                <a:spcPct val="100000"/>
              </a:lnSpc>
              <a:buAutoNum type="arabicPeriod"/>
              <a:tabLst>
                <a:tab pos="355600" algn="l"/>
              </a:tabLst>
            </a:pPr>
            <a:r>
              <a:rPr sz="1200" dirty="0">
                <a:solidFill>
                  <a:srgbClr val="233E5F"/>
                </a:solidFill>
                <a:latin typeface="Times New Roman"/>
                <a:cs typeface="Times New Roman"/>
              </a:rPr>
              <a:t>Use</a:t>
            </a:r>
            <a:r>
              <a:rPr sz="1200" spc="-25" dirty="0">
                <a:solidFill>
                  <a:srgbClr val="233E5F"/>
                </a:solidFill>
                <a:latin typeface="Times New Roman"/>
                <a:cs typeface="Times New Roman"/>
              </a:rPr>
              <a:t> </a:t>
            </a:r>
            <a:r>
              <a:rPr sz="1200" dirty="0">
                <a:solidFill>
                  <a:srgbClr val="233E5F"/>
                </a:solidFill>
                <a:latin typeface="Times New Roman"/>
                <a:cs typeface="Times New Roman"/>
              </a:rPr>
              <a:t>Case</a:t>
            </a:r>
            <a:r>
              <a:rPr sz="1200" spc="-15" dirty="0">
                <a:solidFill>
                  <a:srgbClr val="233E5F"/>
                </a:solidFill>
                <a:latin typeface="Times New Roman"/>
                <a:cs typeface="Times New Roman"/>
              </a:rPr>
              <a:t> </a:t>
            </a:r>
            <a:r>
              <a:rPr sz="1200" spc="-10" dirty="0">
                <a:solidFill>
                  <a:srgbClr val="233E5F"/>
                </a:solidFill>
                <a:latin typeface="Times New Roman"/>
                <a:cs typeface="Times New Roman"/>
              </a:rPr>
              <a:t>Diagram</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12700">
              <a:lnSpc>
                <a:spcPct val="100000"/>
              </a:lnSpc>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Use</a:t>
            </a:r>
            <a:r>
              <a:rPr sz="1200" b="1" spc="-30" dirty="0">
                <a:latin typeface="Times New Roman"/>
                <a:cs typeface="Times New Roman"/>
              </a:rPr>
              <a:t> </a:t>
            </a:r>
            <a:r>
              <a:rPr sz="1200" b="1" dirty="0">
                <a:latin typeface="Times New Roman"/>
                <a:cs typeface="Times New Roman"/>
              </a:rPr>
              <a:t>Case</a:t>
            </a:r>
            <a:r>
              <a:rPr sz="1200" b="1" spc="-30" dirty="0">
                <a:latin typeface="Times New Roman"/>
                <a:cs typeface="Times New Roman"/>
              </a:rPr>
              <a:t> </a:t>
            </a:r>
            <a:r>
              <a:rPr sz="1200" b="1" dirty="0">
                <a:latin typeface="Times New Roman"/>
                <a:cs typeface="Times New Roman"/>
              </a:rPr>
              <a:t>Diagram</a:t>
            </a:r>
            <a:r>
              <a:rPr sz="1200" b="1" spc="-10" dirty="0">
                <a:latin typeface="Times New Roman"/>
                <a:cs typeface="Times New Roman"/>
              </a:rPr>
              <a:t> </a:t>
            </a:r>
            <a:r>
              <a:rPr sz="1200" dirty="0">
                <a:latin typeface="Times New Roman"/>
                <a:cs typeface="Times New Roman"/>
              </a:rPr>
              <a:t>shows</a:t>
            </a:r>
            <a:r>
              <a:rPr sz="1200" spc="-20" dirty="0">
                <a:latin typeface="Times New Roman"/>
                <a:cs typeface="Times New Roman"/>
              </a:rPr>
              <a:t> </a:t>
            </a:r>
            <a:r>
              <a:rPr sz="1200" dirty="0">
                <a:latin typeface="Times New Roman"/>
                <a:cs typeface="Times New Roman"/>
              </a:rPr>
              <a:t>different</a:t>
            </a:r>
            <a:r>
              <a:rPr sz="1200" spc="-10" dirty="0">
                <a:latin typeface="Times New Roman"/>
                <a:cs typeface="Times New Roman"/>
              </a:rPr>
              <a:t> </a:t>
            </a:r>
            <a:r>
              <a:rPr sz="1200" dirty="0">
                <a:latin typeface="Times New Roman"/>
                <a:cs typeface="Times New Roman"/>
              </a:rPr>
              <a:t>actors</a:t>
            </a:r>
            <a:r>
              <a:rPr sz="1200" spc="-1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interactions</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6071996"/>
            <a:ext cx="5696585" cy="196951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365F91"/>
                </a:solidFill>
                <a:latin typeface="Times New Roman"/>
                <a:cs typeface="Times New Roman"/>
              </a:rPr>
              <a:t>Diagram</a:t>
            </a:r>
            <a:r>
              <a:rPr sz="1200" spc="-60" dirty="0">
                <a:solidFill>
                  <a:srgbClr val="365F91"/>
                </a:solidFill>
                <a:latin typeface="Times New Roman"/>
                <a:cs typeface="Times New Roman"/>
              </a:rPr>
              <a:t> </a:t>
            </a:r>
            <a:r>
              <a:rPr sz="1200" spc="-10" dirty="0">
                <a:solidFill>
                  <a:srgbClr val="365F91"/>
                </a:solidFill>
                <a:latin typeface="Times New Roman"/>
                <a:cs typeface="Times New Roman"/>
              </a:rPr>
              <a:t>Explanation:</a:t>
            </a:r>
            <a:endParaRPr sz="1200" dirty="0">
              <a:latin typeface="Times New Roman"/>
              <a:cs typeface="Times New Roman"/>
            </a:endParaRPr>
          </a:p>
          <a:p>
            <a:pPr>
              <a:lnSpc>
                <a:spcPct val="100000"/>
              </a:lnSpc>
              <a:spcBef>
                <a:spcPts val="660"/>
              </a:spcBef>
            </a:pPr>
            <a:endParaRPr sz="1200" dirty="0">
              <a:latin typeface="Times New Roman"/>
              <a:cs typeface="Times New Roman"/>
            </a:endParaRPr>
          </a:p>
          <a:p>
            <a:pPr marL="469265" indent="-228600">
              <a:lnSpc>
                <a:spcPct val="100000"/>
              </a:lnSpc>
              <a:buSzPct val="83333"/>
              <a:buFont typeface="Symbol"/>
              <a:buChar char=""/>
              <a:tabLst>
                <a:tab pos="469265" algn="l"/>
              </a:tabLst>
            </a:pPr>
            <a:r>
              <a:rPr sz="1200" b="1" dirty="0">
                <a:latin typeface="Times New Roman"/>
                <a:cs typeface="Times New Roman"/>
              </a:rPr>
              <a:t>Actors:</a:t>
            </a:r>
            <a:r>
              <a:rPr sz="1200" b="1" spc="-40" dirty="0">
                <a:latin typeface="Times New Roman"/>
                <a:cs typeface="Times New Roman"/>
              </a:rPr>
              <a:t> </a:t>
            </a:r>
            <a:r>
              <a:rPr sz="1200" dirty="0">
                <a:latin typeface="Times New Roman"/>
                <a:cs typeface="Times New Roman"/>
              </a:rPr>
              <a:t>Represent</a:t>
            </a:r>
            <a:r>
              <a:rPr sz="1200" spc="-35" dirty="0">
                <a:latin typeface="Times New Roman"/>
                <a:cs typeface="Times New Roman"/>
              </a:rPr>
              <a:t> </a:t>
            </a:r>
            <a:r>
              <a:rPr sz="1200" dirty="0">
                <a:latin typeface="Times New Roman"/>
                <a:cs typeface="Times New Roman"/>
              </a:rPr>
              <a:t>different</a:t>
            </a:r>
            <a:r>
              <a:rPr sz="1200"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(Buyers,</a:t>
            </a:r>
            <a:r>
              <a:rPr sz="1200" spc="-40" dirty="0">
                <a:latin typeface="Times New Roman"/>
                <a:cs typeface="Times New Roman"/>
              </a:rPr>
              <a:t> </a:t>
            </a:r>
            <a:r>
              <a:rPr sz="1200" dirty="0">
                <a:latin typeface="Times New Roman"/>
                <a:cs typeface="Times New Roman"/>
              </a:rPr>
              <a:t>Sellers,</a:t>
            </a:r>
            <a:r>
              <a:rPr sz="1200" spc="-35" dirty="0">
                <a:latin typeface="Times New Roman"/>
                <a:cs typeface="Times New Roman"/>
              </a:rPr>
              <a:t> </a:t>
            </a:r>
            <a:r>
              <a:rPr sz="1200" spc="-10" dirty="0">
                <a:latin typeface="Times New Roman"/>
                <a:cs typeface="Times New Roman"/>
              </a:rPr>
              <a:t>Admin).</a:t>
            </a:r>
            <a:endParaRPr sz="1200" dirty="0">
              <a:latin typeface="Times New Roman"/>
              <a:cs typeface="Times New Roman"/>
            </a:endParaRPr>
          </a:p>
          <a:p>
            <a:pPr marL="469265" marR="5080" indent="-228600">
              <a:lnSpc>
                <a:spcPct val="143300"/>
              </a:lnSpc>
              <a:buSzPct val="83333"/>
              <a:buFont typeface="Symbol"/>
              <a:buChar char=""/>
              <a:tabLst>
                <a:tab pos="469265" algn="l"/>
              </a:tabLst>
            </a:pPr>
            <a:r>
              <a:rPr sz="1200" b="1" dirty="0">
                <a:latin typeface="Times New Roman"/>
                <a:cs typeface="Times New Roman"/>
              </a:rPr>
              <a:t>Use</a:t>
            </a:r>
            <a:r>
              <a:rPr sz="1200" b="1" spc="45" dirty="0">
                <a:latin typeface="Times New Roman"/>
                <a:cs typeface="Times New Roman"/>
              </a:rPr>
              <a:t> </a:t>
            </a:r>
            <a:r>
              <a:rPr sz="1200" b="1" dirty="0">
                <a:latin typeface="Times New Roman"/>
                <a:cs typeface="Times New Roman"/>
              </a:rPr>
              <a:t>Cases:</a:t>
            </a:r>
            <a:r>
              <a:rPr sz="1200" b="1" spc="50" dirty="0">
                <a:latin typeface="Times New Roman"/>
                <a:cs typeface="Times New Roman"/>
              </a:rPr>
              <a:t> </a:t>
            </a:r>
            <a:r>
              <a:rPr sz="1200" dirty="0">
                <a:latin typeface="Times New Roman"/>
                <a:cs typeface="Times New Roman"/>
              </a:rPr>
              <a:t>Represent</a:t>
            </a:r>
            <a:r>
              <a:rPr sz="1200" spc="55" dirty="0">
                <a:latin typeface="Times New Roman"/>
                <a:cs typeface="Times New Roman"/>
              </a:rPr>
              <a:t> </a:t>
            </a:r>
            <a:r>
              <a:rPr sz="1200" dirty="0">
                <a:latin typeface="Times New Roman"/>
                <a:cs typeface="Times New Roman"/>
              </a:rPr>
              <a:t>functionalities</a:t>
            </a:r>
            <a:r>
              <a:rPr sz="1200" spc="55" dirty="0">
                <a:latin typeface="Times New Roman"/>
                <a:cs typeface="Times New Roman"/>
              </a:rPr>
              <a:t> </a:t>
            </a:r>
            <a:r>
              <a:rPr sz="1200" dirty="0">
                <a:latin typeface="Times New Roman"/>
                <a:cs typeface="Times New Roman"/>
              </a:rPr>
              <a:t>like</a:t>
            </a:r>
            <a:r>
              <a:rPr sz="1200" spc="50" dirty="0">
                <a:latin typeface="Times New Roman"/>
                <a:cs typeface="Times New Roman"/>
              </a:rPr>
              <a:t> </a:t>
            </a:r>
            <a:r>
              <a:rPr sz="1200" dirty="0">
                <a:latin typeface="Times New Roman"/>
                <a:cs typeface="Times New Roman"/>
              </a:rPr>
              <a:t>User</a:t>
            </a:r>
            <a:r>
              <a:rPr sz="1200" spc="50" dirty="0">
                <a:latin typeface="Times New Roman"/>
                <a:cs typeface="Times New Roman"/>
              </a:rPr>
              <a:t> </a:t>
            </a:r>
            <a:r>
              <a:rPr sz="1200" dirty="0">
                <a:latin typeface="Times New Roman"/>
                <a:cs typeface="Times New Roman"/>
              </a:rPr>
              <a:t>Registration,</a:t>
            </a:r>
            <a:r>
              <a:rPr sz="1200" spc="50" dirty="0">
                <a:latin typeface="Times New Roman"/>
                <a:cs typeface="Times New Roman"/>
              </a:rPr>
              <a:t> </a:t>
            </a:r>
            <a:r>
              <a:rPr sz="1200" dirty="0">
                <a:latin typeface="Times New Roman"/>
                <a:cs typeface="Times New Roman"/>
              </a:rPr>
              <a:t>Property</a:t>
            </a:r>
            <a:r>
              <a:rPr sz="1200" spc="45" dirty="0">
                <a:latin typeface="Times New Roman"/>
                <a:cs typeface="Times New Roman"/>
              </a:rPr>
              <a:t> </a:t>
            </a:r>
            <a:r>
              <a:rPr sz="1200" dirty="0">
                <a:latin typeface="Times New Roman"/>
                <a:cs typeface="Times New Roman"/>
              </a:rPr>
              <a:t>Listing,</a:t>
            </a:r>
            <a:r>
              <a:rPr sz="1200" spc="55" dirty="0">
                <a:latin typeface="Times New Roman"/>
                <a:cs typeface="Times New Roman"/>
              </a:rPr>
              <a:t> </a:t>
            </a:r>
            <a:r>
              <a:rPr sz="1200" spc="-10" dirty="0">
                <a:latin typeface="Times New Roman"/>
                <a:cs typeface="Times New Roman"/>
              </a:rPr>
              <a:t>Real-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Bidding,</a:t>
            </a:r>
            <a:r>
              <a:rPr sz="1200" spc="-35" dirty="0">
                <a:latin typeface="Times New Roman"/>
                <a:cs typeface="Times New Roman"/>
              </a:rPr>
              <a:t> </a:t>
            </a:r>
            <a:r>
              <a:rPr sz="1200" dirty="0">
                <a:latin typeface="Times New Roman"/>
                <a:cs typeface="Times New Roman"/>
              </a:rPr>
              <a:t>AI</a:t>
            </a:r>
            <a:r>
              <a:rPr sz="1200" spc="-55" dirty="0">
                <a:latin typeface="Times New Roman"/>
                <a:cs typeface="Times New Roman"/>
              </a:rPr>
              <a:t> </a:t>
            </a:r>
            <a:r>
              <a:rPr sz="1200" dirty="0">
                <a:latin typeface="Times New Roman"/>
                <a:cs typeface="Times New Roman"/>
              </a:rPr>
              <a:t>Verification,</a:t>
            </a:r>
            <a:r>
              <a:rPr sz="1200" spc="-35" dirty="0">
                <a:latin typeface="Times New Roman"/>
                <a:cs typeface="Times New Roman"/>
              </a:rPr>
              <a:t> </a:t>
            </a:r>
            <a:r>
              <a:rPr sz="1200" dirty="0">
                <a:latin typeface="Times New Roman"/>
                <a:cs typeface="Times New Roman"/>
              </a:rPr>
              <a:t>Notifications,</a:t>
            </a:r>
            <a:r>
              <a:rPr sz="1200" spc="-35" dirty="0">
                <a:latin typeface="Times New Roman"/>
                <a:cs typeface="Times New Roman"/>
              </a:rPr>
              <a:t> </a:t>
            </a:r>
            <a:r>
              <a:rPr sz="1200" dirty="0">
                <a:latin typeface="Times New Roman"/>
                <a:cs typeface="Times New Roman"/>
              </a:rPr>
              <a:t>Payment,</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Bidder</a:t>
            </a:r>
            <a:r>
              <a:rPr sz="1200" spc="-45" dirty="0">
                <a:latin typeface="Times New Roman"/>
                <a:cs typeface="Times New Roman"/>
              </a:rPr>
              <a:t> </a:t>
            </a:r>
            <a:r>
              <a:rPr sz="1200" spc="-10" dirty="0">
                <a:latin typeface="Times New Roman"/>
                <a:cs typeface="Times New Roman"/>
              </a:rPr>
              <a:t>Reallocation.</a:t>
            </a:r>
            <a:endParaRPr sz="1200" dirty="0">
              <a:latin typeface="Times New Roman"/>
              <a:cs typeface="Times New Roman"/>
            </a:endParaRPr>
          </a:p>
          <a:p>
            <a:pPr marL="469265" indent="-228600">
              <a:lnSpc>
                <a:spcPct val="100000"/>
              </a:lnSpc>
              <a:spcBef>
                <a:spcPts val="640"/>
              </a:spcBef>
              <a:buSzPct val="83333"/>
              <a:buFont typeface="Symbol"/>
              <a:buChar char=""/>
              <a:tabLst>
                <a:tab pos="469265" algn="l"/>
              </a:tabLst>
            </a:pPr>
            <a:r>
              <a:rPr sz="1200" b="1" spc="-10" dirty="0">
                <a:latin typeface="Times New Roman"/>
                <a:cs typeface="Times New Roman"/>
              </a:rPr>
              <a:t>Relationships:</a:t>
            </a:r>
            <a:endParaRPr sz="1200" dirty="0">
              <a:latin typeface="Times New Roman"/>
              <a:cs typeface="Times New Roman"/>
            </a:endParaRPr>
          </a:p>
          <a:p>
            <a:pPr marL="926465" lvl="1" indent="-228600">
              <a:lnSpc>
                <a:spcPct val="100000"/>
              </a:lnSpc>
              <a:spcBef>
                <a:spcPts val="620"/>
              </a:spcBef>
              <a:buSzPct val="83333"/>
              <a:buFont typeface="Courier New"/>
              <a:buChar char="o"/>
              <a:tabLst>
                <a:tab pos="926465" algn="l"/>
              </a:tabLst>
            </a:pPr>
            <a:r>
              <a:rPr sz="1200" b="1" dirty="0">
                <a:latin typeface="Times New Roman"/>
                <a:cs typeface="Times New Roman"/>
              </a:rPr>
              <a:t>Direct</a:t>
            </a:r>
            <a:r>
              <a:rPr sz="1200" b="1" spc="-30" dirty="0">
                <a:latin typeface="Times New Roman"/>
                <a:cs typeface="Times New Roman"/>
              </a:rPr>
              <a:t> </a:t>
            </a:r>
            <a:r>
              <a:rPr sz="1200" b="1" dirty="0">
                <a:latin typeface="Times New Roman"/>
                <a:cs typeface="Times New Roman"/>
              </a:rPr>
              <a:t>interaction</a:t>
            </a:r>
            <a:r>
              <a:rPr sz="1200" b="1" spc="-15" dirty="0">
                <a:latin typeface="Times New Roman"/>
                <a:cs typeface="Times New Roman"/>
              </a:rPr>
              <a:t> </a:t>
            </a:r>
            <a:r>
              <a:rPr sz="1200" dirty="0">
                <a:latin typeface="Times New Roman"/>
                <a:cs typeface="Times New Roman"/>
              </a:rPr>
              <a:t>(solid</a:t>
            </a:r>
            <a:r>
              <a:rPr sz="1200" spc="-30" dirty="0">
                <a:latin typeface="Times New Roman"/>
                <a:cs typeface="Times New Roman"/>
              </a:rPr>
              <a:t> </a:t>
            </a:r>
            <a:r>
              <a:rPr sz="1200" dirty="0">
                <a:latin typeface="Times New Roman"/>
                <a:cs typeface="Times New Roman"/>
              </a:rPr>
              <a:t>lines)</a:t>
            </a:r>
            <a:r>
              <a:rPr sz="1200" spc="-25" dirty="0">
                <a:latin typeface="Times New Roman"/>
                <a:cs typeface="Times New Roman"/>
              </a:rPr>
              <a:t> </a:t>
            </a:r>
            <a:r>
              <a:rPr sz="1200" dirty="0">
                <a:latin typeface="Times New Roman"/>
                <a:cs typeface="Times New Roman"/>
              </a:rPr>
              <a:t>between</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spc="-10" dirty="0">
                <a:latin typeface="Times New Roman"/>
                <a:cs typeface="Times New Roman"/>
              </a:rPr>
              <a:t>functionalities.</a:t>
            </a:r>
            <a:endParaRPr sz="1200" dirty="0">
              <a:latin typeface="Times New Roman"/>
              <a:cs typeface="Times New Roman"/>
            </a:endParaRPr>
          </a:p>
          <a:p>
            <a:pPr marL="926465" lvl="1" indent="-228600">
              <a:lnSpc>
                <a:spcPct val="100000"/>
              </a:lnSpc>
              <a:spcBef>
                <a:spcPts val="640"/>
              </a:spcBef>
              <a:buSzPct val="83333"/>
              <a:buFont typeface="Courier New"/>
              <a:buChar char="o"/>
              <a:tabLst>
                <a:tab pos="926465" algn="l"/>
              </a:tabLst>
            </a:pPr>
            <a:r>
              <a:rPr sz="1200" b="1" dirty="0">
                <a:latin typeface="Times New Roman"/>
                <a:cs typeface="Times New Roman"/>
              </a:rPr>
              <a:t>System</a:t>
            </a:r>
            <a:r>
              <a:rPr sz="1200" b="1" spc="-35" dirty="0">
                <a:latin typeface="Times New Roman"/>
                <a:cs typeface="Times New Roman"/>
              </a:rPr>
              <a:t> </a:t>
            </a:r>
            <a:r>
              <a:rPr sz="1200" b="1" dirty="0">
                <a:latin typeface="Times New Roman"/>
                <a:cs typeface="Times New Roman"/>
              </a:rPr>
              <a:t>actions</a:t>
            </a:r>
            <a:r>
              <a:rPr sz="1200" b="1" spc="-30" dirty="0">
                <a:latin typeface="Times New Roman"/>
                <a:cs typeface="Times New Roman"/>
              </a:rPr>
              <a:t> </a:t>
            </a:r>
            <a:r>
              <a:rPr sz="1200" dirty="0">
                <a:latin typeface="Times New Roman"/>
                <a:cs typeface="Times New Roman"/>
              </a:rPr>
              <a:t>(dashed</a:t>
            </a:r>
            <a:r>
              <a:rPr sz="1200" spc="-40" dirty="0">
                <a:latin typeface="Times New Roman"/>
                <a:cs typeface="Times New Roman"/>
              </a:rPr>
              <a:t> </a:t>
            </a:r>
            <a:r>
              <a:rPr sz="1200" dirty="0">
                <a:latin typeface="Times New Roman"/>
                <a:cs typeface="Times New Roman"/>
              </a:rPr>
              <a:t>lines)</a:t>
            </a:r>
            <a:r>
              <a:rPr sz="1200" spc="-50" dirty="0">
                <a:latin typeface="Times New Roman"/>
                <a:cs typeface="Times New Roman"/>
              </a:rPr>
              <a:t> </a:t>
            </a:r>
            <a:r>
              <a:rPr sz="1200" dirty="0">
                <a:latin typeface="Times New Roman"/>
                <a:cs typeface="Times New Roman"/>
              </a:rPr>
              <a:t>where</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processes</a:t>
            </a:r>
            <a:r>
              <a:rPr sz="1200" spc="-4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automatically.</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914400"/>
            <a:ext cx="5669280" cy="490537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6F43F5A-1F7B-7482-5FAA-BDCB21F4DA42}"/>
              </a:ext>
            </a:extLst>
          </p:cNvPr>
          <p:cNvSpPr>
            <a:spLocks noGrp="1"/>
          </p:cNvSpPr>
          <p:nvPr>
            <p:ph type="title"/>
          </p:nvPr>
        </p:nvSpPr>
        <p:spPr>
          <a:xfrm>
            <a:off x="1189024" y="113011"/>
            <a:ext cx="5287976" cy="650240"/>
          </a:xfrm>
        </p:spPr>
        <p:txBody>
          <a:bodyPr/>
          <a:lstStyle/>
          <a:p>
            <a:pPr algn="ctr">
              <a:lnSpc>
                <a:spcPct val="100000"/>
              </a:lnSpc>
              <a:spcBef>
                <a:spcPts val="645"/>
              </a:spcBef>
            </a:pPr>
            <a:br>
              <a:rPr lang="en-US" sz="1200" dirty="0">
                <a:latin typeface="Times New Roman"/>
                <a:cs typeface="Times New Roman"/>
              </a:rPr>
            </a:br>
            <a:r>
              <a:rPr lang="en-US" sz="1200" dirty="0">
                <a:solidFill>
                  <a:srgbClr val="233E5F"/>
                </a:solidFill>
                <a:latin typeface="Times New Roman"/>
                <a:cs typeface="Times New Roman"/>
              </a:rPr>
              <a:t>3.3.2</a:t>
            </a:r>
            <a:r>
              <a:rPr lang="en-US" sz="1200" spc="-15" dirty="0">
                <a:solidFill>
                  <a:srgbClr val="233E5F"/>
                </a:solidFill>
                <a:latin typeface="Times New Roman"/>
                <a:cs typeface="Times New Roman"/>
              </a:rPr>
              <a:t> </a:t>
            </a:r>
            <a:r>
              <a:rPr lang="en-US" sz="1200" dirty="0">
                <a:solidFill>
                  <a:srgbClr val="233E5F"/>
                </a:solidFill>
                <a:latin typeface="Times New Roman"/>
                <a:cs typeface="Times New Roman"/>
              </a:rPr>
              <a:t>Actors</a:t>
            </a:r>
            <a:r>
              <a:rPr lang="en-US" sz="1200" spc="-10" dirty="0">
                <a:solidFill>
                  <a:srgbClr val="233E5F"/>
                </a:solidFill>
                <a:latin typeface="Times New Roman"/>
                <a:cs typeface="Times New Roman"/>
              </a:rPr>
              <a:t> Description</a:t>
            </a:r>
            <a:br>
              <a:rPr lang="en-US" sz="1200" dirty="0">
                <a:latin typeface="Times New Roman"/>
                <a:cs typeface="Times New Roman"/>
              </a:rPr>
            </a:br>
            <a:endParaRPr lang="en-US" sz="12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19</a:t>
            </a:r>
          </a:p>
        </p:txBody>
      </p:sp>
      <p:graphicFrame>
        <p:nvGraphicFramePr>
          <p:cNvPr id="2" name="object 2"/>
          <p:cNvGraphicFramePr>
            <a:graphicFrameLocks noGrp="1"/>
          </p:cNvGraphicFramePr>
          <p:nvPr>
            <p:extLst>
              <p:ext uri="{D42A27DB-BD31-4B8C-83A1-F6EECF244321}">
                <p14:modId xmlns:p14="http://schemas.microsoft.com/office/powerpoint/2010/main" val="3371681877"/>
              </p:ext>
            </p:extLst>
          </p:nvPr>
        </p:nvGraphicFramePr>
        <p:xfrm>
          <a:off x="1189024" y="914399"/>
          <a:ext cx="4227194" cy="1958975"/>
        </p:xfrm>
        <a:graphic>
          <a:graphicData uri="http://schemas.openxmlformats.org/drawingml/2006/table">
            <a:tbl>
              <a:tblPr firstRow="1" bandRow="1">
                <a:tableStyleId>{2D5ABB26-0587-4C30-8999-92F81FD0307C}</a:tableStyleId>
              </a:tblPr>
              <a:tblGrid>
                <a:gridCol w="586740">
                  <a:extLst>
                    <a:ext uri="{9D8B030D-6E8A-4147-A177-3AD203B41FA5}">
                      <a16:colId xmlns:a16="http://schemas.microsoft.com/office/drawing/2014/main" val="20000"/>
                    </a:ext>
                  </a:extLst>
                </a:gridCol>
                <a:gridCol w="1609724">
                  <a:extLst>
                    <a:ext uri="{9D8B030D-6E8A-4147-A177-3AD203B41FA5}">
                      <a16:colId xmlns:a16="http://schemas.microsoft.com/office/drawing/2014/main" val="20001"/>
                    </a:ext>
                  </a:extLst>
                </a:gridCol>
                <a:gridCol w="2030730">
                  <a:extLst>
                    <a:ext uri="{9D8B030D-6E8A-4147-A177-3AD203B41FA5}">
                      <a16:colId xmlns:a16="http://schemas.microsoft.com/office/drawing/2014/main" val="20002"/>
                    </a:ext>
                  </a:extLst>
                </a:gridCol>
              </a:tblGrid>
              <a:tr h="180975">
                <a:tc>
                  <a:txBody>
                    <a:bodyPr/>
                    <a:lstStyle/>
                    <a:p>
                      <a:pPr marL="67945">
                        <a:lnSpc>
                          <a:spcPts val="1330"/>
                        </a:lnSpc>
                      </a:pPr>
                      <a:r>
                        <a:rPr sz="1200" b="1" spc="-10" dirty="0">
                          <a:latin typeface="Times New Roman"/>
                          <a:cs typeface="Times New Roman"/>
                        </a:rPr>
                        <a:t>Actor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30"/>
                        </a:lnSpc>
                      </a:pPr>
                      <a:r>
                        <a:rPr sz="1200" b="1" spc="-20" dirty="0">
                          <a:latin typeface="Times New Roman"/>
                          <a:cs typeface="Times New Roman"/>
                        </a:rPr>
                        <a:t>Role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30"/>
                        </a:lnSpc>
                      </a:pPr>
                      <a:r>
                        <a:rPr sz="1200" b="1" spc="-10" dirty="0">
                          <a:latin typeface="Times New Roman"/>
                          <a:cs typeface="Times New Roman"/>
                        </a:rPr>
                        <a:t>Responsibilities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706755">
                <a:tc>
                  <a:txBody>
                    <a:bodyPr/>
                    <a:lstStyle/>
                    <a:p>
                      <a:pPr marL="67945">
                        <a:lnSpc>
                          <a:spcPts val="1380"/>
                        </a:lnSpc>
                      </a:pPr>
                      <a:r>
                        <a:rPr sz="1200" b="1" spc="-10" dirty="0">
                          <a:latin typeface="Times New Roman"/>
                          <a:cs typeface="Times New Roman"/>
                        </a:rPr>
                        <a:t>Buyer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Participates</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spc="-10" dirty="0">
                          <a:latin typeface="Times New Roman"/>
                          <a:cs typeface="Times New Roman"/>
                        </a:rPr>
                        <a:t>auctions.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89560" indent="-221615">
                        <a:lnSpc>
                          <a:spcPts val="1350"/>
                        </a:lnSpc>
                        <a:buChar char="-"/>
                        <a:tabLst>
                          <a:tab pos="289560" algn="l"/>
                          <a:tab pos="1000760" algn="l"/>
                          <a:tab pos="1348105" algn="l"/>
                        </a:tabLst>
                      </a:pPr>
                      <a:r>
                        <a:rPr sz="1200" spc="-10" dirty="0">
                          <a:latin typeface="Times New Roman"/>
                          <a:cs typeface="Times New Roman"/>
                        </a:rPr>
                        <a:t>Searches</a:t>
                      </a:r>
                      <a:r>
                        <a:rPr sz="1200" dirty="0">
                          <a:latin typeface="Times New Roman"/>
                          <a:cs typeface="Times New Roman"/>
                        </a:rPr>
                        <a:t>	</a:t>
                      </a:r>
                      <a:r>
                        <a:rPr sz="1200" spc="-25" dirty="0">
                          <a:latin typeface="Times New Roman"/>
                          <a:cs typeface="Times New Roman"/>
                        </a:rPr>
                        <a:t>for</a:t>
                      </a:r>
                      <a:r>
                        <a:rPr sz="1200" dirty="0">
                          <a:latin typeface="Times New Roman"/>
                          <a:cs typeface="Times New Roman"/>
                        </a:rPr>
                        <a:t>	</a:t>
                      </a:r>
                      <a:r>
                        <a:rPr sz="1200" spc="-10" dirty="0">
                          <a:latin typeface="Times New Roman"/>
                          <a:cs typeface="Times New Roman"/>
                        </a:rPr>
                        <a:t>properties</a:t>
                      </a:r>
                      <a:endParaRPr sz="1200">
                        <a:latin typeface="Times New Roman"/>
                        <a:cs typeface="Times New Roman"/>
                      </a:endParaRPr>
                    </a:p>
                    <a:p>
                      <a:pPr marL="233679" indent="-165735">
                        <a:lnSpc>
                          <a:spcPts val="1380"/>
                        </a:lnSpc>
                        <a:buChar char="-"/>
                        <a:tabLst>
                          <a:tab pos="233679" algn="l"/>
                        </a:tabLst>
                      </a:pPr>
                      <a:r>
                        <a:rPr sz="1200" dirty="0">
                          <a:latin typeface="Times New Roman"/>
                          <a:cs typeface="Times New Roman"/>
                        </a:rPr>
                        <a:t>Places</a:t>
                      </a:r>
                      <a:r>
                        <a:rPr sz="1200" spc="145" dirty="0">
                          <a:latin typeface="Times New Roman"/>
                          <a:cs typeface="Times New Roman"/>
                        </a:rPr>
                        <a:t>  </a:t>
                      </a:r>
                      <a:r>
                        <a:rPr sz="1200" dirty="0">
                          <a:latin typeface="Times New Roman"/>
                          <a:cs typeface="Times New Roman"/>
                        </a:rPr>
                        <a:t>bids</a:t>
                      </a:r>
                      <a:r>
                        <a:rPr sz="1200" spc="145" dirty="0">
                          <a:latin typeface="Times New Roman"/>
                          <a:cs typeface="Times New Roman"/>
                        </a:rPr>
                        <a:t>  </a:t>
                      </a:r>
                      <a:r>
                        <a:rPr sz="1200" dirty="0">
                          <a:latin typeface="Times New Roman"/>
                          <a:cs typeface="Times New Roman"/>
                        </a:rPr>
                        <a:t>in</a:t>
                      </a:r>
                      <a:r>
                        <a:rPr sz="1200" spc="145" dirty="0">
                          <a:latin typeface="Times New Roman"/>
                          <a:cs typeface="Times New Roman"/>
                        </a:rPr>
                        <a:t>  </a:t>
                      </a:r>
                      <a:r>
                        <a:rPr sz="1200" dirty="0">
                          <a:latin typeface="Times New Roman"/>
                          <a:cs typeface="Times New Roman"/>
                        </a:rPr>
                        <a:t>real</a:t>
                      </a:r>
                      <a:r>
                        <a:rPr sz="1200" spc="150"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384175" indent="-316230">
                        <a:lnSpc>
                          <a:spcPts val="1380"/>
                        </a:lnSpc>
                        <a:buChar char="-"/>
                        <a:tabLst>
                          <a:tab pos="384175" algn="l"/>
                          <a:tab pos="1197610" algn="l"/>
                        </a:tabLst>
                      </a:pPr>
                      <a:r>
                        <a:rPr sz="1200" spc="-10" dirty="0">
                          <a:latin typeface="Times New Roman"/>
                          <a:cs typeface="Times New Roman"/>
                        </a:rPr>
                        <a:t>Receives</a:t>
                      </a:r>
                      <a:r>
                        <a:rPr sz="1200" dirty="0">
                          <a:latin typeface="Times New Roman"/>
                          <a:cs typeface="Times New Roman"/>
                        </a:rPr>
                        <a:t>	</a:t>
                      </a:r>
                      <a:r>
                        <a:rPr sz="1200" spc="-10" dirty="0">
                          <a:latin typeface="Times New Roman"/>
                          <a:cs typeface="Times New Roman"/>
                        </a:rPr>
                        <a:t>notifications</a:t>
                      </a:r>
                      <a:endParaRPr sz="1200">
                        <a:latin typeface="Times New Roman"/>
                        <a:cs typeface="Times New Roman"/>
                      </a:endParaRPr>
                    </a:p>
                    <a:p>
                      <a:pPr marL="155575" indent="-87630">
                        <a:lnSpc>
                          <a:spcPts val="1360"/>
                        </a:lnSpc>
                        <a:buChar char="-"/>
                        <a:tabLst>
                          <a:tab pos="155575" algn="l"/>
                        </a:tabLst>
                      </a:pPr>
                      <a:r>
                        <a:rPr sz="1200" dirty="0">
                          <a:latin typeface="Times New Roman"/>
                          <a:cs typeface="Times New Roman"/>
                        </a:rPr>
                        <a:t>Completes</a:t>
                      </a:r>
                      <a:r>
                        <a:rPr sz="1200" spc="-50" dirty="0">
                          <a:latin typeface="Times New Roman"/>
                          <a:cs typeface="Times New Roman"/>
                        </a:rPr>
                        <a:t> </a:t>
                      </a:r>
                      <a:r>
                        <a:rPr sz="1200" spc="-10" dirty="0">
                          <a:latin typeface="Times New Roman"/>
                          <a:cs typeface="Times New Roman"/>
                        </a:rPr>
                        <a:t>payments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31495">
                <a:tc>
                  <a:txBody>
                    <a:bodyPr/>
                    <a:lstStyle/>
                    <a:p>
                      <a:pPr marL="67945">
                        <a:lnSpc>
                          <a:spcPts val="1380"/>
                        </a:lnSpc>
                      </a:pPr>
                      <a:r>
                        <a:rPr sz="1200" b="1" spc="-10" dirty="0">
                          <a:latin typeface="Times New Roman"/>
                          <a:cs typeface="Times New Roman"/>
                        </a:rPr>
                        <a:t>Seller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dirty="0">
                          <a:latin typeface="Times New Roman"/>
                          <a:cs typeface="Times New Roman"/>
                        </a:rPr>
                        <a:t>Lists</a:t>
                      </a:r>
                      <a:r>
                        <a:rPr sz="1200" spc="-35" dirty="0">
                          <a:latin typeface="Times New Roman"/>
                          <a:cs typeface="Times New Roman"/>
                        </a:rPr>
                        <a:t> </a:t>
                      </a:r>
                      <a:r>
                        <a:rPr sz="1200" dirty="0">
                          <a:latin typeface="Times New Roman"/>
                          <a:cs typeface="Times New Roman"/>
                        </a:rPr>
                        <a:t>properties</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20" dirty="0">
                          <a:latin typeface="Times New Roman"/>
                          <a:cs typeface="Times New Roman"/>
                        </a:rPr>
                        <a:t>sale.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20040" indent="-252095">
                        <a:lnSpc>
                          <a:spcPts val="1350"/>
                        </a:lnSpc>
                        <a:buChar char="-"/>
                        <a:tabLst>
                          <a:tab pos="320040" algn="l"/>
                          <a:tab pos="842644" algn="l"/>
                          <a:tab pos="1561465" algn="l"/>
                        </a:tabLst>
                      </a:pPr>
                      <a:r>
                        <a:rPr sz="1200" spc="-20" dirty="0">
                          <a:latin typeface="Times New Roman"/>
                          <a:cs typeface="Times New Roman"/>
                        </a:rPr>
                        <a:t>Adds</a:t>
                      </a:r>
                      <a:r>
                        <a:rPr sz="1200" dirty="0">
                          <a:latin typeface="Times New Roman"/>
                          <a:cs typeface="Times New Roman"/>
                        </a:rPr>
                        <a:t>	</a:t>
                      </a:r>
                      <a:r>
                        <a:rPr sz="1200" spc="-10" dirty="0">
                          <a:latin typeface="Times New Roman"/>
                          <a:cs typeface="Times New Roman"/>
                        </a:rPr>
                        <a:t>property</a:t>
                      </a:r>
                      <a:r>
                        <a:rPr sz="120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506095" indent="-438150">
                        <a:lnSpc>
                          <a:spcPts val="1380"/>
                        </a:lnSpc>
                        <a:buChar char="-"/>
                        <a:tabLst>
                          <a:tab pos="506095" algn="l"/>
                          <a:tab pos="1452245" algn="l"/>
                        </a:tabLst>
                      </a:pPr>
                      <a:r>
                        <a:rPr sz="1200" spc="-10" dirty="0">
                          <a:latin typeface="Times New Roman"/>
                          <a:cs typeface="Times New Roman"/>
                        </a:rPr>
                        <a:t>Monitors</a:t>
                      </a:r>
                      <a:r>
                        <a:rPr sz="1200" dirty="0">
                          <a:latin typeface="Times New Roman"/>
                          <a:cs typeface="Times New Roman"/>
                        </a:rPr>
                        <a:t>	</a:t>
                      </a:r>
                      <a:r>
                        <a:rPr sz="1200" spc="-10" dirty="0">
                          <a:latin typeface="Times New Roman"/>
                          <a:cs typeface="Times New Roman"/>
                        </a:rPr>
                        <a:t>auctions</a:t>
                      </a:r>
                      <a:endParaRPr sz="1200">
                        <a:latin typeface="Times New Roman"/>
                        <a:cs typeface="Times New Roman"/>
                      </a:endParaRPr>
                    </a:p>
                    <a:p>
                      <a:pPr marL="155575" indent="-87630">
                        <a:lnSpc>
                          <a:spcPts val="1360"/>
                        </a:lnSpc>
                        <a:buChar char="-"/>
                        <a:tabLst>
                          <a:tab pos="155575" algn="l"/>
                        </a:tabLst>
                      </a:pPr>
                      <a:r>
                        <a:rPr sz="1200" dirty="0">
                          <a:latin typeface="Times New Roman"/>
                          <a:cs typeface="Times New Roman"/>
                        </a:rPr>
                        <a:t>Manages</a:t>
                      </a:r>
                      <a:r>
                        <a:rPr sz="1200" spc="-55" dirty="0">
                          <a:latin typeface="Times New Roman"/>
                          <a:cs typeface="Times New Roman"/>
                        </a:rPr>
                        <a:t> </a:t>
                      </a:r>
                      <a:r>
                        <a:rPr sz="1200" spc="-10" dirty="0">
                          <a:latin typeface="Times New Roman"/>
                          <a:cs typeface="Times New Roman"/>
                        </a:rPr>
                        <a:t>listings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32765">
                <a:tc>
                  <a:txBody>
                    <a:bodyPr/>
                    <a:lstStyle/>
                    <a:p>
                      <a:pPr marL="67945">
                        <a:lnSpc>
                          <a:spcPts val="1390"/>
                        </a:lnSpc>
                      </a:pPr>
                      <a:r>
                        <a:rPr sz="1200" b="1" spc="-10" dirty="0">
                          <a:latin typeface="Times New Roman"/>
                          <a:cs typeface="Times New Roman"/>
                        </a:rPr>
                        <a:t>Admin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1200" dirty="0">
                          <a:latin typeface="Times New Roman"/>
                          <a:cs typeface="Times New Roman"/>
                        </a:rPr>
                        <a:t>Manages</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system.</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6240" indent="-328295">
                        <a:lnSpc>
                          <a:spcPts val="1360"/>
                        </a:lnSpc>
                        <a:buChar char="-"/>
                        <a:tabLst>
                          <a:tab pos="396240" algn="l"/>
                          <a:tab pos="1231265" algn="l"/>
                        </a:tabLst>
                      </a:pPr>
                      <a:r>
                        <a:rPr sz="1200" spc="-10" dirty="0">
                          <a:latin typeface="Times New Roman"/>
                          <a:cs typeface="Times New Roman"/>
                        </a:rPr>
                        <a:t>Oversees</a:t>
                      </a:r>
                      <a:r>
                        <a:rPr sz="1200" dirty="0">
                          <a:latin typeface="Times New Roman"/>
                          <a:cs typeface="Times New Roman"/>
                        </a:rPr>
                        <a:t>	</a:t>
                      </a:r>
                      <a:r>
                        <a:rPr sz="1200" spc="-10" dirty="0">
                          <a:latin typeface="Times New Roman"/>
                          <a:cs typeface="Times New Roman"/>
                        </a:rPr>
                        <a:t>transactions</a:t>
                      </a:r>
                      <a:endParaRPr sz="1200" dirty="0">
                        <a:latin typeface="Times New Roman"/>
                        <a:cs typeface="Times New Roman"/>
                      </a:endParaRPr>
                    </a:p>
                    <a:p>
                      <a:pPr marL="155575" indent="-87630">
                        <a:lnSpc>
                          <a:spcPts val="1380"/>
                        </a:lnSpc>
                        <a:buChar char="-"/>
                        <a:tabLst>
                          <a:tab pos="155575" algn="l"/>
                        </a:tabLst>
                      </a:pPr>
                      <a:r>
                        <a:rPr sz="1200" dirty="0">
                          <a:latin typeface="Times New Roman"/>
                          <a:cs typeface="Times New Roman"/>
                        </a:rPr>
                        <a:t>Verifies</a:t>
                      </a:r>
                      <a:r>
                        <a:rPr sz="1200" spc="-50" dirty="0">
                          <a:latin typeface="Times New Roman"/>
                          <a:cs typeface="Times New Roman"/>
                        </a:rPr>
                        <a:t> </a:t>
                      </a:r>
                      <a:r>
                        <a:rPr sz="1200" dirty="0">
                          <a:latin typeface="Times New Roman"/>
                          <a:cs typeface="Times New Roman"/>
                        </a:rPr>
                        <a:t>property</a:t>
                      </a:r>
                      <a:r>
                        <a:rPr sz="1200" spc="-40" dirty="0">
                          <a:latin typeface="Times New Roman"/>
                          <a:cs typeface="Times New Roman"/>
                        </a:rPr>
                        <a:t> </a:t>
                      </a:r>
                      <a:r>
                        <a:rPr sz="1200" spc="-10" dirty="0">
                          <a:latin typeface="Times New Roman"/>
                          <a:cs typeface="Times New Roman"/>
                        </a:rPr>
                        <a:t>authenticity</a:t>
                      </a:r>
                      <a:endParaRPr sz="1200" dirty="0">
                        <a:latin typeface="Times New Roman"/>
                        <a:cs typeface="Times New Roman"/>
                      </a:endParaRPr>
                    </a:p>
                    <a:p>
                      <a:pPr marL="155575" indent="-87630">
                        <a:lnSpc>
                          <a:spcPts val="1360"/>
                        </a:lnSpc>
                        <a:buChar char="-"/>
                        <a:tabLst>
                          <a:tab pos="155575" algn="l"/>
                        </a:tabLst>
                      </a:pPr>
                      <a:r>
                        <a:rPr sz="1200" dirty="0">
                          <a:latin typeface="Times New Roman"/>
                          <a:cs typeface="Times New Roman"/>
                        </a:rPr>
                        <a:t>Handles</a:t>
                      </a:r>
                      <a:r>
                        <a:rPr sz="1200" spc="-50" dirty="0">
                          <a:latin typeface="Times New Roman"/>
                          <a:cs typeface="Times New Roman"/>
                        </a:rPr>
                        <a:t> </a:t>
                      </a:r>
                      <a:r>
                        <a:rPr sz="1200" spc="-10" dirty="0">
                          <a:latin typeface="Times New Roman"/>
                          <a:cs typeface="Times New Roman"/>
                        </a:rPr>
                        <a:t>disputes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3" name="object 3"/>
          <p:cNvSpPr txBox="1"/>
          <p:nvPr/>
        </p:nvSpPr>
        <p:spPr>
          <a:xfrm>
            <a:off x="1176324" y="3189858"/>
            <a:ext cx="5662928" cy="650240"/>
          </a:xfrm>
          <a:prstGeom prst="rect">
            <a:avLst/>
          </a:prstGeom>
        </p:spPr>
        <p:txBody>
          <a:bodyPr vert="horz" wrap="square" lIns="0" tIns="12700" rIns="0" bIns="0" rtlCol="0">
            <a:spAutoFit/>
          </a:bodyPr>
          <a:lstStyle/>
          <a:p>
            <a:pPr marL="12700" algn="ctr">
              <a:lnSpc>
                <a:spcPct val="100000"/>
              </a:lnSpc>
              <a:spcBef>
                <a:spcPts val="100"/>
              </a:spcBef>
            </a:pPr>
            <a:r>
              <a:rPr sz="1200" dirty="0">
                <a:solidFill>
                  <a:srgbClr val="233E5F"/>
                </a:solidFill>
                <a:latin typeface="Times New Roman"/>
                <a:cs typeface="Times New Roman"/>
              </a:rPr>
              <a:t>3.3.3</a:t>
            </a:r>
            <a:r>
              <a:rPr sz="1200" spc="-10" dirty="0">
                <a:solidFill>
                  <a:srgbClr val="233E5F"/>
                </a:solidFill>
                <a:latin typeface="Times New Roman"/>
                <a:cs typeface="Times New Roman"/>
              </a:rPr>
              <a:t> </a:t>
            </a:r>
            <a:r>
              <a:rPr sz="1200" dirty="0">
                <a:solidFill>
                  <a:srgbClr val="233E5F"/>
                </a:solidFill>
                <a:latin typeface="Times New Roman"/>
                <a:cs typeface="Times New Roman"/>
              </a:rPr>
              <a:t>Use</a:t>
            </a:r>
            <a:r>
              <a:rPr sz="1200" spc="-15" dirty="0">
                <a:solidFill>
                  <a:srgbClr val="233E5F"/>
                </a:solidFill>
                <a:latin typeface="Times New Roman"/>
                <a:cs typeface="Times New Roman"/>
              </a:rPr>
              <a:t> </a:t>
            </a:r>
            <a:r>
              <a:rPr sz="1200" dirty="0">
                <a:solidFill>
                  <a:srgbClr val="233E5F"/>
                </a:solidFill>
                <a:latin typeface="Times New Roman"/>
                <a:cs typeface="Times New Roman"/>
              </a:rPr>
              <a:t>Case</a:t>
            </a:r>
            <a:r>
              <a:rPr sz="1200" spc="-15" dirty="0">
                <a:solidFill>
                  <a:srgbClr val="233E5F"/>
                </a:solidFill>
                <a:latin typeface="Times New Roman"/>
                <a:cs typeface="Times New Roman"/>
              </a:rPr>
              <a:t> </a:t>
            </a:r>
            <a:r>
              <a:rPr sz="1200" spc="-10" dirty="0">
                <a:solidFill>
                  <a:srgbClr val="233E5F"/>
                </a:solidFill>
                <a:latin typeface="Times New Roman"/>
                <a:cs typeface="Times New Roman"/>
              </a:rPr>
              <a:t>Description</a:t>
            </a:r>
            <a:endParaRPr sz="1200" dirty="0">
              <a:latin typeface="Times New Roman"/>
              <a:cs typeface="Times New Roman"/>
            </a:endParaRPr>
          </a:p>
          <a:p>
            <a:pPr>
              <a:lnSpc>
                <a:spcPct val="100000"/>
              </a:lnSpc>
              <a:spcBef>
                <a:spcPts val="660"/>
              </a:spcBef>
            </a:pPr>
            <a:endParaRPr sz="1200" dirty="0">
              <a:latin typeface="Times New Roman"/>
              <a:cs typeface="Times New Roman"/>
            </a:endParaRPr>
          </a:p>
          <a:p>
            <a:pPr marL="12700">
              <a:lnSpc>
                <a:spcPct val="100000"/>
              </a:lnSpc>
            </a:pPr>
            <a:r>
              <a:rPr sz="1200" dirty="0">
                <a:latin typeface="Times New Roman"/>
                <a:cs typeface="Times New Roman"/>
              </a:rPr>
              <a:t>Each</a:t>
            </a:r>
            <a:r>
              <a:rPr sz="1200" spc="-30" dirty="0">
                <a:latin typeface="Times New Roman"/>
                <a:cs typeface="Times New Roman"/>
              </a:rPr>
              <a:t> </a:t>
            </a:r>
            <a:r>
              <a:rPr sz="1200" b="1" dirty="0">
                <a:latin typeface="Times New Roman"/>
                <a:cs typeface="Times New Roman"/>
              </a:rPr>
              <a:t>use</a:t>
            </a:r>
            <a:r>
              <a:rPr sz="1200" b="1" spc="-30" dirty="0">
                <a:latin typeface="Times New Roman"/>
                <a:cs typeface="Times New Roman"/>
              </a:rPr>
              <a:t> </a:t>
            </a:r>
            <a:r>
              <a:rPr sz="1200" b="1" dirty="0">
                <a:latin typeface="Times New Roman"/>
                <a:cs typeface="Times New Roman"/>
              </a:rPr>
              <a:t>case</a:t>
            </a:r>
            <a:r>
              <a:rPr sz="1200" b="1" spc="-20" dirty="0">
                <a:latin typeface="Times New Roman"/>
                <a:cs typeface="Times New Roman"/>
              </a:rPr>
              <a:t> </a:t>
            </a:r>
            <a:r>
              <a:rPr sz="1200" dirty="0">
                <a:latin typeface="Times New Roman"/>
                <a:cs typeface="Times New Roman"/>
              </a:rPr>
              <a:t>represents</a:t>
            </a:r>
            <a:r>
              <a:rPr sz="1200" spc="-15"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dirty="0">
                <a:latin typeface="Times New Roman"/>
                <a:cs typeface="Times New Roman"/>
              </a:rPr>
              <a:t>interaction</a:t>
            </a:r>
            <a:r>
              <a:rPr sz="1200" spc="-25" dirty="0">
                <a:latin typeface="Times New Roman"/>
                <a:cs typeface="Times New Roman"/>
              </a:rPr>
              <a:t> </a:t>
            </a:r>
            <a:r>
              <a:rPr sz="1200" dirty="0">
                <a:latin typeface="Times New Roman"/>
                <a:cs typeface="Times New Roman"/>
              </a:rPr>
              <a:t>between</a:t>
            </a:r>
            <a:r>
              <a:rPr sz="1200" spc="-15" dirty="0">
                <a:latin typeface="Times New Roman"/>
                <a:cs typeface="Times New Roman"/>
              </a:rPr>
              <a:t> </a:t>
            </a:r>
            <a:r>
              <a:rPr sz="1200" dirty="0">
                <a:latin typeface="Times New Roman"/>
                <a:cs typeface="Times New Roman"/>
              </a:rPr>
              <a:t>an</a:t>
            </a:r>
            <a:r>
              <a:rPr sz="1200" spc="-30" dirty="0">
                <a:latin typeface="Times New Roman"/>
                <a:cs typeface="Times New Roman"/>
              </a:rPr>
              <a:t> </a:t>
            </a:r>
            <a:r>
              <a:rPr sz="1200" dirty="0">
                <a:latin typeface="Times New Roman"/>
                <a:cs typeface="Times New Roman"/>
              </a:rPr>
              <a:t>actor</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system.</a:t>
            </a:r>
            <a:endParaRPr sz="1200" dirty="0">
              <a:latin typeface="Times New Roman"/>
              <a:cs typeface="Times New Roman"/>
            </a:endParaRPr>
          </a:p>
        </p:txBody>
      </p:sp>
      <p:graphicFrame>
        <p:nvGraphicFramePr>
          <p:cNvPr id="4" name="object 4"/>
          <p:cNvGraphicFramePr>
            <a:graphicFrameLocks noGrp="1"/>
          </p:cNvGraphicFramePr>
          <p:nvPr/>
        </p:nvGraphicFramePr>
        <p:xfrm>
          <a:off x="1189024" y="4095622"/>
          <a:ext cx="5662928" cy="4981575"/>
        </p:xfrm>
        <a:graphic>
          <a:graphicData uri="http://schemas.openxmlformats.org/drawingml/2006/table">
            <a:tbl>
              <a:tblPr firstRow="1" bandRow="1">
                <a:tableStyleId>{2D5ABB26-0587-4C30-8999-92F81FD0307C}</a:tableStyleId>
              </a:tblPr>
              <a:tblGrid>
                <a:gridCol w="1054735">
                  <a:extLst>
                    <a:ext uri="{9D8B030D-6E8A-4147-A177-3AD203B41FA5}">
                      <a16:colId xmlns:a16="http://schemas.microsoft.com/office/drawing/2014/main" val="20000"/>
                    </a:ext>
                  </a:extLst>
                </a:gridCol>
                <a:gridCol w="706754">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59">
                  <a:extLst>
                    <a:ext uri="{9D8B030D-6E8A-4147-A177-3AD203B41FA5}">
                      <a16:colId xmlns:a16="http://schemas.microsoft.com/office/drawing/2014/main" val="20003"/>
                    </a:ext>
                  </a:extLst>
                </a:gridCol>
                <a:gridCol w="1203960">
                  <a:extLst>
                    <a:ext uri="{9D8B030D-6E8A-4147-A177-3AD203B41FA5}">
                      <a16:colId xmlns:a16="http://schemas.microsoft.com/office/drawing/2014/main" val="20004"/>
                    </a:ext>
                  </a:extLst>
                </a:gridCol>
              </a:tblGrid>
              <a:tr h="356235">
                <a:tc>
                  <a:txBody>
                    <a:bodyPr/>
                    <a:lstStyle/>
                    <a:p>
                      <a:pPr marL="67945" marR="61594">
                        <a:lnSpc>
                          <a:spcPts val="1380"/>
                        </a:lnSpc>
                        <a:tabLst>
                          <a:tab pos="671830" algn="l"/>
                        </a:tabLst>
                      </a:pPr>
                      <a:r>
                        <a:rPr sz="1200" b="1" spc="-25" dirty="0">
                          <a:latin typeface="Times New Roman"/>
                          <a:cs typeface="Times New Roman"/>
                        </a:rPr>
                        <a:t>Use</a:t>
                      </a:r>
                      <a:r>
                        <a:rPr sz="1200" b="1" dirty="0">
                          <a:latin typeface="Times New Roman"/>
                          <a:cs typeface="Times New Roman"/>
                        </a:rPr>
                        <a:t>	</a:t>
                      </a:r>
                      <a:r>
                        <a:rPr sz="1200" b="1" spc="-20" dirty="0">
                          <a:latin typeface="Times New Roman"/>
                          <a:cs typeface="Times New Roman"/>
                        </a:rPr>
                        <a:t>Case 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b="1" spc="-10" dirty="0">
                          <a:latin typeface="Times New Roman"/>
                          <a:cs typeface="Times New Roman"/>
                        </a:rPr>
                        <a:t>Actors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380"/>
                        </a:lnSpc>
                      </a:pPr>
                      <a:r>
                        <a:rPr sz="1200" b="1" spc="-10" dirty="0">
                          <a:latin typeface="Times New Roman"/>
                          <a:cs typeface="Times New Roman"/>
                        </a:rPr>
                        <a:t>Preconditions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b="1" dirty="0">
                          <a:latin typeface="Times New Roman"/>
                          <a:cs typeface="Times New Roman"/>
                        </a:rPr>
                        <a:t>Flow</a:t>
                      </a:r>
                      <a:r>
                        <a:rPr sz="1200" b="1" spc="-20" dirty="0">
                          <a:latin typeface="Times New Roman"/>
                          <a:cs typeface="Times New Roman"/>
                        </a:rPr>
                        <a:t> </a:t>
                      </a:r>
                      <a:r>
                        <a:rPr sz="1200" b="1" dirty="0">
                          <a:latin typeface="Times New Roman"/>
                          <a:cs typeface="Times New Roman"/>
                        </a:rPr>
                        <a:t>of</a:t>
                      </a:r>
                      <a:r>
                        <a:rPr sz="1200" b="1" spc="-25" dirty="0">
                          <a:latin typeface="Times New Roman"/>
                          <a:cs typeface="Times New Roman"/>
                        </a:rPr>
                        <a:t> </a:t>
                      </a:r>
                      <a:r>
                        <a:rPr sz="1200" b="1" spc="-10" dirty="0">
                          <a:latin typeface="Times New Roman"/>
                          <a:cs typeface="Times New Roman"/>
                        </a:rPr>
                        <a:t>Events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b="1" spc="-10" dirty="0">
                          <a:latin typeface="Times New Roman"/>
                          <a:cs typeface="Times New Roman"/>
                        </a:rPr>
                        <a:t>Postconditions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82650">
                <a:tc>
                  <a:txBody>
                    <a:bodyPr/>
                    <a:lstStyle/>
                    <a:p>
                      <a:pPr marL="67945" marR="175895">
                        <a:lnSpc>
                          <a:spcPts val="1380"/>
                        </a:lnSpc>
                        <a:spcBef>
                          <a:spcPts val="35"/>
                        </a:spcBef>
                      </a:pPr>
                      <a:r>
                        <a:rPr sz="1200" b="1" spc="-20" dirty="0">
                          <a:latin typeface="Times New Roman"/>
                          <a:cs typeface="Times New Roman"/>
                        </a:rPr>
                        <a:t>User </a:t>
                      </a:r>
                      <a:r>
                        <a:rPr sz="1200" b="1" spc="-10" dirty="0">
                          <a:latin typeface="Times New Roman"/>
                          <a:cs typeface="Times New Roman"/>
                        </a:rPr>
                        <a:t>Registration </a:t>
                      </a:r>
                      <a:r>
                        <a:rPr sz="1200" b="1" dirty="0">
                          <a:latin typeface="Times New Roman"/>
                          <a:cs typeface="Times New Roman"/>
                        </a:rPr>
                        <a:t>&amp;</a:t>
                      </a:r>
                      <a:r>
                        <a:rPr sz="1200" b="1" spc="-15" dirty="0">
                          <a:latin typeface="Times New Roman"/>
                          <a:cs typeface="Times New Roman"/>
                        </a:rPr>
                        <a:t> </a:t>
                      </a:r>
                      <a:r>
                        <a:rPr sz="1200" b="1" spc="-10" dirty="0">
                          <a:latin typeface="Times New Roman"/>
                          <a:cs typeface="Times New Roman"/>
                        </a:rPr>
                        <a:t>Login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07010" algn="just">
                        <a:lnSpc>
                          <a:spcPts val="1380"/>
                        </a:lnSpc>
                        <a:spcBef>
                          <a:spcPts val="35"/>
                        </a:spcBef>
                      </a:pPr>
                      <a:r>
                        <a:rPr sz="1200" spc="-10" dirty="0">
                          <a:latin typeface="Times New Roman"/>
                          <a:cs typeface="Times New Roman"/>
                        </a:rPr>
                        <a:t>Buyer, Seller, Admin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2865">
                        <a:lnSpc>
                          <a:spcPts val="1380"/>
                        </a:lnSpc>
                        <a:spcBef>
                          <a:spcPts val="35"/>
                        </a:spcBef>
                      </a:pPr>
                      <a:r>
                        <a:rPr sz="1200" dirty="0">
                          <a:latin typeface="Times New Roman"/>
                          <a:cs typeface="Times New Roman"/>
                        </a:rPr>
                        <a:t>User</a:t>
                      </a:r>
                      <a:r>
                        <a:rPr sz="1200" spc="-55" dirty="0">
                          <a:latin typeface="Times New Roman"/>
                          <a:cs typeface="Times New Roman"/>
                        </a:rPr>
                        <a:t> </a:t>
                      </a:r>
                      <a:r>
                        <a:rPr sz="1200" dirty="0">
                          <a:latin typeface="Times New Roman"/>
                          <a:cs typeface="Times New Roman"/>
                        </a:rPr>
                        <a:t>must</a:t>
                      </a:r>
                      <a:r>
                        <a:rPr sz="1200" spc="-40" dirty="0">
                          <a:latin typeface="Times New Roman"/>
                          <a:cs typeface="Times New Roman"/>
                        </a:rPr>
                        <a:t> </a:t>
                      </a:r>
                      <a:r>
                        <a:rPr sz="1200" dirty="0">
                          <a:latin typeface="Times New Roman"/>
                          <a:cs typeface="Times New Roman"/>
                        </a:rPr>
                        <a:t>have</a:t>
                      </a:r>
                      <a:r>
                        <a:rPr sz="1200" spc="-55" dirty="0">
                          <a:latin typeface="Times New Roman"/>
                          <a:cs typeface="Times New Roman"/>
                        </a:rPr>
                        <a:t> </a:t>
                      </a:r>
                      <a:r>
                        <a:rPr sz="1200" spc="-20" dirty="0">
                          <a:latin typeface="Times New Roman"/>
                          <a:cs typeface="Times New Roman"/>
                        </a:rPr>
                        <a:t>valid </a:t>
                      </a:r>
                      <a:r>
                        <a:rPr sz="1200" spc="-10" dirty="0">
                          <a:latin typeface="Times New Roman"/>
                          <a:cs typeface="Times New Roman"/>
                        </a:rPr>
                        <a:t>email/credentials.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960" indent="303530">
                        <a:lnSpc>
                          <a:spcPts val="1380"/>
                        </a:lnSpc>
                        <a:spcBef>
                          <a:spcPts val="35"/>
                        </a:spcBef>
                        <a:buAutoNum type="arabicPeriod"/>
                        <a:tabLst>
                          <a:tab pos="371475" algn="l"/>
                          <a:tab pos="846455" algn="l"/>
                        </a:tabLst>
                      </a:pPr>
                      <a:r>
                        <a:rPr sz="1200" spc="-20" dirty="0">
                          <a:latin typeface="Times New Roman"/>
                          <a:cs typeface="Times New Roman"/>
                        </a:rPr>
                        <a:t>User</a:t>
                      </a:r>
                      <a:r>
                        <a:rPr sz="1200" dirty="0">
                          <a:latin typeface="Times New Roman"/>
                          <a:cs typeface="Times New Roman"/>
                        </a:rPr>
                        <a:t>	</a:t>
                      </a:r>
                      <a:r>
                        <a:rPr sz="1200" spc="-10" dirty="0">
                          <a:latin typeface="Times New Roman"/>
                          <a:cs typeface="Times New Roman"/>
                        </a:rPr>
                        <a:t>enters details.</a:t>
                      </a:r>
                      <a:endParaRPr sz="1200">
                        <a:latin typeface="Times New Roman"/>
                        <a:cs typeface="Times New Roman"/>
                      </a:endParaRPr>
                    </a:p>
                    <a:p>
                      <a:pPr marL="67945" marR="59690" indent="176530">
                        <a:lnSpc>
                          <a:spcPts val="1380"/>
                        </a:lnSpc>
                        <a:buAutoNum type="arabicPeriod"/>
                        <a:tabLst>
                          <a:tab pos="244475" algn="l"/>
                        </a:tabLst>
                      </a:pPr>
                      <a:r>
                        <a:rPr sz="1200" dirty="0">
                          <a:latin typeface="Times New Roman"/>
                          <a:cs typeface="Times New Roman"/>
                        </a:rPr>
                        <a:t>System</a:t>
                      </a:r>
                      <a:r>
                        <a:rPr sz="1200" spc="160" dirty="0">
                          <a:latin typeface="Times New Roman"/>
                          <a:cs typeface="Times New Roman"/>
                        </a:rPr>
                        <a:t> </a:t>
                      </a:r>
                      <a:r>
                        <a:rPr sz="1200" spc="-10" dirty="0">
                          <a:latin typeface="Times New Roman"/>
                          <a:cs typeface="Times New Roman"/>
                        </a:rPr>
                        <a:t>verifies credentials.</a:t>
                      </a:r>
                      <a:endParaRPr sz="1200">
                        <a:latin typeface="Times New Roman"/>
                        <a:cs typeface="Times New Roman"/>
                      </a:endParaRPr>
                    </a:p>
                    <a:p>
                      <a:pPr marL="220345" indent="-152400">
                        <a:lnSpc>
                          <a:spcPts val="1295"/>
                        </a:lnSpc>
                        <a:buAutoNum type="arabicPeriod"/>
                        <a:tabLst>
                          <a:tab pos="220345" algn="l"/>
                        </a:tabLst>
                      </a:pP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logs</a:t>
                      </a:r>
                      <a:r>
                        <a:rPr sz="1200" spc="-5" dirty="0">
                          <a:latin typeface="Times New Roman"/>
                          <a:cs typeface="Times New Roman"/>
                        </a:rPr>
                        <a:t> </a:t>
                      </a:r>
                      <a:r>
                        <a:rPr sz="1200" spc="-25" dirty="0">
                          <a:latin typeface="Times New Roman"/>
                          <a:cs typeface="Times New Roman"/>
                        </a:rPr>
                        <a:t>in.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3500">
                        <a:lnSpc>
                          <a:spcPts val="1380"/>
                        </a:lnSpc>
                        <a:spcBef>
                          <a:spcPts val="35"/>
                        </a:spcBef>
                      </a:pPr>
                      <a:r>
                        <a:rPr sz="1200" dirty="0">
                          <a:latin typeface="Times New Roman"/>
                          <a:cs typeface="Times New Roman"/>
                        </a:rPr>
                        <a:t>User</a:t>
                      </a:r>
                      <a:r>
                        <a:rPr sz="1200" spc="380" dirty="0">
                          <a:latin typeface="Times New Roman"/>
                          <a:cs typeface="Times New Roman"/>
                        </a:rPr>
                        <a:t> </a:t>
                      </a:r>
                      <a:r>
                        <a:rPr sz="1200" dirty="0">
                          <a:latin typeface="Times New Roman"/>
                          <a:cs typeface="Times New Roman"/>
                        </a:rPr>
                        <a:t>can</a:t>
                      </a:r>
                      <a:r>
                        <a:rPr sz="1200" spc="390" dirty="0">
                          <a:latin typeface="Times New Roman"/>
                          <a:cs typeface="Times New Roman"/>
                        </a:rPr>
                        <a:t> </a:t>
                      </a:r>
                      <a:r>
                        <a:rPr sz="1200" spc="-10" dirty="0">
                          <a:latin typeface="Times New Roman"/>
                          <a:cs typeface="Times New Roman"/>
                        </a:rPr>
                        <a:t>access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882015">
                <a:tc>
                  <a:txBody>
                    <a:bodyPr/>
                    <a:lstStyle/>
                    <a:p>
                      <a:pPr marL="67945" marR="396240">
                        <a:lnSpc>
                          <a:spcPts val="1380"/>
                        </a:lnSpc>
                        <a:spcBef>
                          <a:spcPts val="35"/>
                        </a:spcBef>
                      </a:pPr>
                      <a:r>
                        <a:rPr sz="1200" b="1" spc="-10" dirty="0">
                          <a:latin typeface="Times New Roman"/>
                          <a:cs typeface="Times New Roman"/>
                        </a:rPr>
                        <a:t>Property Listing</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0"/>
                        </a:lnSpc>
                      </a:pPr>
                      <a:r>
                        <a:rPr sz="1200" spc="-10" dirty="0">
                          <a:latin typeface="Times New Roman"/>
                          <a:cs typeface="Times New Roman"/>
                        </a:rPr>
                        <a:t>Seller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2865">
                        <a:lnSpc>
                          <a:spcPts val="1380"/>
                        </a:lnSpc>
                        <a:spcBef>
                          <a:spcPts val="35"/>
                        </a:spcBef>
                        <a:tabLst>
                          <a:tab pos="663575" algn="l"/>
                          <a:tab pos="1202690" algn="l"/>
                        </a:tabLst>
                      </a:pPr>
                      <a:r>
                        <a:rPr sz="1200" spc="-10" dirty="0">
                          <a:latin typeface="Times New Roman"/>
                          <a:cs typeface="Times New Roman"/>
                        </a:rPr>
                        <a:t>Seller</a:t>
                      </a:r>
                      <a:r>
                        <a:rPr sz="1200" dirty="0">
                          <a:latin typeface="Times New Roman"/>
                          <a:cs typeface="Times New Roman"/>
                        </a:rPr>
                        <a:t>	</a:t>
                      </a:r>
                      <a:r>
                        <a:rPr sz="1200" spc="-20" dirty="0">
                          <a:latin typeface="Times New Roman"/>
                          <a:cs typeface="Times New Roman"/>
                        </a:rPr>
                        <a:t>must</a:t>
                      </a:r>
                      <a:r>
                        <a:rPr sz="1200" dirty="0">
                          <a:latin typeface="Times New Roman"/>
                          <a:cs typeface="Times New Roman"/>
                        </a:rPr>
                        <a:t>	</a:t>
                      </a:r>
                      <a:r>
                        <a:rPr sz="1200" spc="-25" dirty="0">
                          <a:latin typeface="Times New Roman"/>
                          <a:cs typeface="Times New Roman"/>
                        </a:rPr>
                        <a:t>be </a:t>
                      </a:r>
                      <a:r>
                        <a:rPr sz="1200" dirty="0">
                          <a:latin typeface="Times New Roman"/>
                          <a:cs typeface="Times New Roman"/>
                        </a:rPr>
                        <a:t>logged</a:t>
                      </a:r>
                      <a:r>
                        <a:rPr sz="1200" spc="-35" dirty="0">
                          <a:latin typeface="Times New Roman"/>
                          <a:cs typeface="Times New Roman"/>
                        </a:rPr>
                        <a:t> </a:t>
                      </a:r>
                      <a:r>
                        <a:rPr sz="1200" spc="-25" dirty="0">
                          <a:latin typeface="Times New Roman"/>
                          <a:cs typeface="Times New Roman"/>
                        </a:rPr>
                        <a:t>in.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325" indent="214629" algn="just">
                        <a:lnSpc>
                          <a:spcPts val="1380"/>
                        </a:lnSpc>
                        <a:spcBef>
                          <a:spcPts val="35"/>
                        </a:spcBef>
                        <a:buAutoNum type="arabicPeriod"/>
                        <a:tabLst>
                          <a:tab pos="282575" algn="l"/>
                        </a:tabLst>
                      </a:pPr>
                      <a:r>
                        <a:rPr sz="1200" dirty="0">
                          <a:latin typeface="Times New Roman"/>
                          <a:cs typeface="Times New Roman"/>
                        </a:rPr>
                        <a:t>Seller</a:t>
                      </a:r>
                      <a:r>
                        <a:rPr sz="1200" spc="445" dirty="0">
                          <a:latin typeface="Times New Roman"/>
                          <a:cs typeface="Times New Roman"/>
                        </a:rPr>
                        <a:t> </a:t>
                      </a:r>
                      <a:r>
                        <a:rPr sz="1200" spc="-10" dirty="0">
                          <a:latin typeface="Times New Roman"/>
                          <a:cs typeface="Times New Roman"/>
                        </a:rPr>
                        <a:t>uploads </a:t>
                      </a:r>
                      <a:r>
                        <a:rPr sz="1200" dirty="0">
                          <a:latin typeface="Times New Roman"/>
                          <a:cs typeface="Times New Roman"/>
                        </a:rPr>
                        <a:t>property</a:t>
                      </a:r>
                      <a:r>
                        <a:rPr sz="1200" spc="42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67945" marR="59690" indent="176530" algn="just">
                        <a:lnSpc>
                          <a:spcPts val="1380"/>
                        </a:lnSpc>
                        <a:buAutoNum type="arabicPeriod"/>
                        <a:tabLst>
                          <a:tab pos="244475" algn="l"/>
                        </a:tabLst>
                      </a:pPr>
                      <a:r>
                        <a:rPr sz="1200" dirty="0">
                          <a:latin typeface="Times New Roman"/>
                          <a:cs typeface="Times New Roman"/>
                        </a:rPr>
                        <a:t>System</a:t>
                      </a:r>
                      <a:r>
                        <a:rPr sz="1200" spc="165" dirty="0">
                          <a:latin typeface="Times New Roman"/>
                          <a:cs typeface="Times New Roman"/>
                        </a:rPr>
                        <a:t> </a:t>
                      </a:r>
                      <a:r>
                        <a:rPr sz="1200" spc="-10" dirty="0">
                          <a:latin typeface="Times New Roman"/>
                          <a:cs typeface="Times New Roman"/>
                        </a:rPr>
                        <a:t>verifies </a:t>
                      </a:r>
                      <a:r>
                        <a:rPr sz="1200" dirty="0">
                          <a:latin typeface="Times New Roman"/>
                          <a:cs typeface="Times New Roman"/>
                        </a:rPr>
                        <a:t>and</a:t>
                      </a:r>
                      <a:r>
                        <a:rPr sz="1200" spc="490" dirty="0">
                          <a:latin typeface="Times New Roman"/>
                          <a:cs typeface="Times New Roman"/>
                        </a:rPr>
                        <a:t>  </a:t>
                      </a:r>
                      <a:r>
                        <a:rPr sz="1200" dirty="0">
                          <a:latin typeface="Times New Roman"/>
                          <a:cs typeface="Times New Roman"/>
                        </a:rPr>
                        <a:t>saves</a:t>
                      </a:r>
                      <a:r>
                        <a:rPr sz="1200" spc="49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listing.</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1594">
                        <a:lnSpc>
                          <a:spcPts val="1380"/>
                        </a:lnSpc>
                        <a:spcBef>
                          <a:spcPts val="35"/>
                        </a:spcBef>
                      </a:pPr>
                      <a:r>
                        <a:rPr sz="1200" dirty="0">
                          <a:latin typeface="Times New Roman"/>
                          <a:cs typeface="Times New Roman"/>
                        </a:rPr>
                        <a:t>Property</a:t>
                      </a:r>
                      <a:r>
                        <a:rPr sz="1200" spc="100" dirty="0">
                          <a:latin typeface="Times New Roman"/>
                          <a:cs typeface="Times New Roman"/>
                        </a:rPr>
                        <a:t> </a:t>
                      </a:r>
                      <a:r>
                        <a:rPr sz="1200" dirty="0">
                          <a:latin typeface="Times New Roman"/>
                          <a:cs typeface="Times New Roman"/>
                        </a:rPr>
                        <a:t>is</a:t>
                      </a:r>
                      <a:r>
                        <a:rPr sz="1200" spc="110" dirty="0">
                          <a:latin typeface="Times New Roman"/>
                          <a:cs typeface="Times New Roman"/>
                        </a:rPr>
                        <a:t> </a:t>
                      </a:r>
                      <a:r>
                        <a:rPr sz="1200" spc="-10" dirty="0">
                          <a:latin typeface="Times New Roman"/>
                          <a:cs typeface="Times New Roman"/>
                        </a:rPr>
                        <a:t>listed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auction.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057275">
                <a:tc>
                  <a:txBody>
                    <a:bodyPr/>
                    <a:lstStyle/>
                    <a:p>
                      <a:pPr marL="67945" marR="293370">
                        <a:lnSpc>
                          <a:spcPts val="1380"/>
                        </a:lnSpc>
                        <a:spcBef>
                          <a:spcPts val="35"/>
                        </a:spcBef>
                      </a:pPr>
                      <a:r>
                        <a:rPr sz="1200" b="1" spc="-10" dirty="0">
                          <a:latin typeface="Times New Roman"/>
                          <a:cs typeface="Times New Roman"/>
                        </a:rPr>
                        <a:t>Real-</a:t>
                      </a:r>
                      <a:r>
                        <a:rPr sz="1200" b="1" spc="-20" dirty="0">
                          <a:latin typeface="Times New Roman"/>
                          <a:cs typeface="Times New Roman"/>
                        </a:rPr>
                        <a:t>Time </a:t>
                      </a:r>
                      <a:r>
                        <a:rPr sz="1200" b="1" spc="-10" dirty="0">
                          <a:latin typeface="Times New Roman"/>
                          <a:cs typeface="Times New Roman"/>
                        </a:rPr>
                        <a:t>Bidding</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81610" algn="just">
                        <a:lnSpc>
                          <a:spcPts val="1380"/>
                        </a:lnSpc>
                        <a:spcBef>
                          <a:spcPts val="35"/>
                        </a:spcBef>
                      </a:pPr>
                      <a:r>
                        <a:rPr sz="1200" spc="-10" dirty="0">
                          <a:latin typeface="Times New Roman"/>
                          <a:cs typeface="Times New Roman"/>
                        </a:rPr>
                        <a:t>Buyer, Seller, System</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2230" algn="just">
                        <a:lnSpc>
                          <a:spcPts val="1380"/>
                        </a:lnSpc>
                        <a:spcBef>
                          <a:spcPts val="35"/>
                        </a:spcBef>
                      </a:pP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must</a:t>
                      </a:r>
                      <a:r>
                        <a:rPr sz="1200" spc="4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logged </a:t>
                      </a:r>
                      <a:r>
                        <a:rPr sz="1200" dirty="0">
                          <a:latin typeface="Times New Roman"/>
                          <a:cs typeface="Times New Roman"/>
                        </a:rPr>
                        <a:t>in,</a:t>
                      </a:r>
                      <a:r>
                        <a:rPr sz="1200" spc="95"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auction</a:t>
                      </a:r>
                      <a:r>
                        <a:rPr sz="1200" spc="95" dirty="0">
                          <a:latin typeface="Times New Roman"/>
                          <a:cs typeface="Times New Roman"/>
                        </a:rPr>
                        <a:t> </a:t>
                      </a:r>
                      <a:r>
                        <a:rPr sz="1200" spc="-20" dirty="0">
                          <a:latin typeface="Times New Roman"/>
                          <a:cs typeface="Times New Roman"/>
                        </a:rPr>
                        <a:t>must </a:t>
                      </a:r>
                      <a:r>
                        <a:rPr sz="1200" dirty="0">
                          <a:latin typeface="Times New Roman"/>
                          <a:cs typeface="Times New Roman"/>
                        </a:rPr>
                        <a:t>be</a:t>
                      </a:r>
                      <a:r>
                        <a:rPr sz="1200" spc="-20" dirty="0">
                          <a:latin typeface="Times New Roman"/>
                          <a:cs typeface="Times New Roman"/>
                        </a:rPr>
                        <a:t> </a:t>
                      </a:r>
                      <a:r>
                        <a:rPr sz="1200" spc="-10" dirty="0">
                          <a:latin typeface="Times New Roman"/>
                          <a:cs typeface="Times New Roman"/>
                        </a:rPr>
                        <a:t>active.</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960" indent="184150">
                        <a:lnSpc>
                          <a:spcPts val="1380"/>
                        </a:lnSpc>
                        <a:spcBef>
                          <a:spcPts val="35"/>
                        </a:spcBef>
                        <a:buAutoNum type="arabicPeriod"/>
                        <a:tabLst>
                          <a:tab pos="252095" algn="l"/>
                        </a:tabLst>
                      </a:pPr>
                      <a:r>
                        <a:rPr sz="1200" dirty="0">
                          <a:latin typeface="Times New Roman"/>
                          <a:cs typeface="Times New Roman"/>
                        </a:rPr>
                        <a:t>Buyer</a:t>
                      </a:r>
                      <a:r>
                        <a:rPr sz="1200" spc="210" dirty="0">
                          <a:latin typeface="Times New Roman"/>
                          <a:cs typeface="Times New Roman"/>
                        </a:rPr>
                        <a:t> </a:t>
                      </a:r>
                      <a:r>
                        <a:rPr sz="1200" dirty="0">
                          <a:latin typeface="Times New Roman"/>
                          <a:cs typeface="Times New Roman"/>
                        </a:rPr>
                        <a:t>places</a:t>
                      </a:r>
                      <a:r>
                        <a:rPr sz="1200" spc="215" dirty="0">
                          <a:latin typeface="Times New Roman"/>
                          <a:cs typeface="Times New Roman"/>
                        </a:rPr>
                        <a:t> </a:t>
                      </a:r>
                      <a:r>
                        <a:rPr sz="1200" spc="-50" dirty="0">
                          <a:latin typeface="Times New Roman"/>
                          <a:cs typeface="Times New Roman"/>
                        </a:rPr>
                        <a:t>a </a:t>
                      </a:r>
                      <a:r>
                        <a:rPr sz="1200" spc="-20" dirty="0">
                          <a:latin typeface="Times New Roman"/>
                          <a:cs typeface="Times New Roman"/>
                        </a:rPr>
                        <a:t>bid.</a:t>
                      </a:r>
                      <a:endParaRPr sz="1200">
                        <a:latin typeface="Times New Roman"/>
                        <a:cs typeface="Times New Roman"/>
                      </a:endParaRPr>
                    </a:p>
                    <a:p>
                      <a:pPr marL="67945" marR="60960" indent="188595">
                        <a:lnSpc>
                          <a:spcPts val="1380"/>
                        </a:lnSpc>
                        <a:buAutoNum type="arabicPeriod"/>
                        <a:tabLst>
                          <a:tab pos="256540" algn="l"/>
                          <a:tab pos="901700" algn="l"/>
                        </a:tabLst>
                      </a:pPr>
                      <a:r>
                        <a:rPr sz="1200" dirty="0">
                          <a:latin typeface="Times New Roman"/>
                          <a:cs typeface="Times New Roman"/>
                        </a:rPr>
                        <a:t>Bid</a:t>
                      </a:r>
                      <a:r>
                        <a:rPr sz="1200" spc="254" dirty="0">
                          <a:latin typeface="Times New Roman"/>
                          <a:cs typeface="Times New Roman"/>
                        </a:rPr>
                        <a:t> </a:t>
                      </a:r>
                      <a:r>
                        <a:rPr sz="1200" dirty="0">
                          <a:latin typeface="Times New Roman"/>
                          <a:cs typeface="Times New Roman"/>
                        </a:rPr>
                        <a:t>updates</a:t>
                      </a:r>
                      <a:r>
                        <a:rPr sz="1200" spc="260" dirty="0">
                          <a:latin typeface="Times New Roman"/>
                          <a:cs typeface="Times New Roman"/>
                        </a:rPr>
                        <a:t> </a:t>
                      </a:r>
                      <a:r>
                        <a:rPr sz="1200" spc="-25" dirty="0">
                          <a:latin typeface="Times New Roman"/>
                          <a:cs typeface="Times New Roman"/>
                        </a:rPr>
                        <a:t>in </a:t>
                      </a:r>
                      <a:r>
                        <a:rPr sz="1200" spc="-20" dirty="0">
                          <a:latin typeface="Times New Roman"/>
                          <a:cs typeface="Times New Roman"/>
                        </a:rPr>
                        <a:t>real</a:t>
                      </a:r>
                      <a:r>
                        <a:rPr sz="1200" dirty="0">
                          <a:latin typeface="Times New Roman"/>
                          <a:cs typeface="Times New Roman"/>
                        </a:rPr>
                        <a:t>	</a:t>
                      </a:r>
                      <a:r>
                        <a:rPr sz="1200" spc="-10" dirty="0">
                          <a:latin typeface="Times New Roman"/>
                          <a:cs typeface="Times New Roman"/>
                        </a:rPr>
                        <a:t>time.</a:t>
                      </a:r>
                      <a:endParaRPr sz="1200">
                        <a:latin typeface="Times New Roman"/>
                        <a:cs typeface="Times New Roman"/>
                      </a:endParaRPr>
                    </a:p>
                    <a:p>
                      <a:pPr marL="67945" marR="60325" indent="200660">
                        <a:lnSpc>
                          <a:spcPts val="1380"/>
                        </a:lnSpc>
                        <a:buAutoNum type="arabicPeriod"/>
                        <a:tabLst>
                          <a:tab pos="268605" algn="l"/>
                        </a:tabLst>
                      </a:pPr>
                      <a:r>
                        <a:rPr sz="1200" dirty="0">
                          <a:latin typeface="Times New Roman"/>
                          <a:cs typeface="Times New Roman"/>
                        </a:rPr>
                        <a:t>Highest</a:t>
                      </a:r>
                      <a:r>
                        <a:rPr sz="1200" spc="360" dirty="0">
                          <a:latin typeface="Times New Roman"/>
                          <a:cs typeface="Times New Roman"/>
                        </a:rPr>
                        <a:t> </a:t>
                      </a:r>
                      <a:r>
                        <a:rPr sz="1200" dirty="0">
                          <a:latin typeface="Times New Roman"/>
                          <a:cs typeface="Times New Roman"/>
                        </a:rPr>
                        <a:t>bid</a:t>
                      </a:r>
                      <a:r>
                        <a:rPr sz="1200" spc="360" dirty="0">
                          <a:latin typeface="Times New Roman"/>
                          <a:cs typeface="Times New Roman"/>
                        </a:rPr>
                        <a:t> </a:t>
                      </a:r>
                      <a:r>
                        <a:rPr sz="1200" spc="-25" dirty="0">
                          <a:latin typeface="Times New Roman"/>
                          <a:cs typeface="Times New Roman"/>
                        </a:rPr>
                        <a:t>is </a:t>
                      </a:r>
                      <a:r>
                        <a:rPr sz="1200" spc="-10" dirty="0">
                          <a:latin typeface="Times New Roman"/>
                          <a:cs typeface="Times New Roman"/>
                        </a:rPr>
                        <a:t>displayed.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2865" algn="just">
                        <a:lnSpc>
                          <a:spcPts val="1380"/>
                        </a:lnSpc>
                        <a:spcBef>
                          <a:spcPts val="35"/>
                        </a:spcBef>
                      </a:pPr>
                      <a:r>
                        <a:rPr sz="1200" dirty="0">
                          <a:latin typeface="Times New Roman"/>
                          <a:cs typeface="Times New Roman"/>
                        </a:rPr>
                        <a:t>Auction</a:t>
                      </a:r>
                      <a:r>
                        <a:rPr sz="1200" spc="105" dirty="0">
                          <a:latin typeface="Times New Roman"/>
                          <a:cs typeface="Times New Roman"/>
                        </a:rPr>
                        <a:t>  </a:t>
                      </a:r>
                      <a:r>
                        <a:rPr sz="1200" spc="-10" dirty="0">
                          <a:latin typeface="Times New Roman"/>
                          <a:cs typeface="Times New Roman"/>
                        </a:rPr>
                        <a:t>updates </a:t>
                      </a:r>
                      <a:r>
                        <a:rPr sz="1200" dirty="0">
                          <a:latin typeface="Times New Roman"/>
                          <a:cs typeface="Times New Roman"/>
                        </a:rPr>
                        <a:t>with</a:t>
                      </a:r>
                      <a:r>
                        <a:rPr sz="1200" spc="250" dirty="0">
                          <a:latin typeface="Times New Roman"/>
                          <a:cs typeface="Times New Roman"/>
                        </a:rPr>
                        <a:t>  </a:t>
                      </a:r>
                      <a:r>
                        <a:rPr sz="1200" dirty="0">
                          <a:latin typeface="Times New Roman"/>
                          <a:cs typeface="Times New Roman"/>
                        </a:rPr>
                        <a:t>the</a:t>
                      </a:r>
                      <a:r>
                        <a:rPr sz="1200" spc="250" dirty="0">
                          <a:latin typeface="Times New Roman"/>
                          <a:cs typeface="Times New Roman"/>
                        </a:rPr>
                        <a:t>  </a:t>
                      </a:r>
                      <a:r>
                        <a:rPr sz="1200" spc="-10" dirty="0">
                          <a:latin typeface="Times New Roman"/>
                          <a:cs typeface="Times New Roman"/>
                        </a:rPr>
                        <a:t>latest </a:t>
                      </a:r>
                      <a:r>
                        <a:rPr sz="1200" spc="-20" dirty="0">
                          <a:latin typeface="Times New Roman"/>
                          <a:cs typeface="Times New Roman"/>
                        </a:rPr>
                        <a:t>bid.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057910">
                <a:tc>
                  <a:txBody>
                    <a:bodyPr/>
                    <a:lstStyle/>
                    <a:p>
                      <a:pPr marL="67945">
                        <a:lnSpc>
                          <a:spcPts val="1355"/>
                        </a:lnSpc>
                      </a:pPr>
                      <a:r>
                        <a:rPr sz="1200" b="1" spc="-25" dirty="0">
                          <a:latin typeface="Times New Roman"/>
                          <a:cs typeface="Times New Roman"/>
                        </a:rPr>
                        <a:t>AI</a:t>
                      </a:r>
                      <a:endParaRPr sz="1200">
                        <a:latin typeface="Times New Roman"/>
                        <a:cs typeface="Times New Roman"/>
                      </a:endParaRPr>
                    </a:p>
                    <a:p>
                      <a:pPr marL="67945">
                        <a:lnSpc>
                          <a:spcPts val="1410"/>
                        </a:lnSpc>
                      </a:pPr>
                      <a:r>
                        <a:rPr sz="1200" b="1" spc="-10" dirty="0">
                          <a:latin typeface="Times New Roman"/>
                          <a:cs typeface="Times New Roman"/>
                        </a:rPr>
                        <a:t>Verification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85"/>
                        </a:lnSpc>
                      </a:pPr>
                      <a:r>
                        <a:rPr sz="1200" spc="-10"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2865">
                        <a:lnSpc>
                          <a:spcPts val="1380"/>
                        </a:lnSpc>
                        <a:spcBef>
                          <a:spcPts val="35"/>
                        </a:spcBef>
                      </a:pPr>
                      <a:r>
                        <a:rPr sz="1200" dirty="0">
                          <a:latin typeface="Times New Roman"/>
                          <a:cs typeface="Times New Roman"/>
                        </a:rPr>
                        <a:t>Property</a:t>
                      </a:r>
                      <a:r>
                        <a:rPr sz="1200" spc="405" dirty="0">
                          <a:latin typeface="Times New Roman"/>
                          <a:cs typeface="Times New Roman"/>
                        </a:rPr>
                        <a:t> </a:t>
                      </a:r>
                      <a:r>
                        <a:rPr sz="1200" spc="-10" dirty="0">
                          <a:latin typeface="Times New Roman"/>
                          <a:cs typeface="Times New Roman"/>
                        </a:rPr>
                        <a:t>documents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spc="-10" dirty="0">
                          <a:latin typeface="Times New Roman"/>
                          <a:cs typeface="Times New Roman"/>
                        </a:rPr>
                        <a:t>uploaded.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1594" indent="238760">
                        <a:lnSpc>
                          <a:spcPts val="1380"/>
                        </a:lnSpc>
                        <a:spcBef>
                          <a:spcPts val="35"/>
                        </a:spcBef>
                        <a:buAutoNum type="arabicPeriod"/>
                        <a:tabLst>
                          <a:tab pos="306705" algn="l"/>
                        </a:tabLst>
                      </a:pPr>
                      <a:r>
                        <a:rPr sz="1200" dirty="0">
                          <a:latin typeface="Times New Roman"/>
                          <a:cs typeface="Times New Roman"/>
                        </a:rPr>
                        <a:t>System</a:t>
                      </a:r>
                      <a:r>
                        <a:rPr sz="1200" spc="175" dirty="0">
                          <a:latin typeface="Times New Roman"/>
                          <a:cs typeface="Times New Roman"/>
                        </a:rPr>
                        <a:t>  </a:t>
                      </a:r>
                      <a:r>
                        <a:rPr sz="1200" spc="-20" dirty="0">
                          <a:latin typeface="Times New Roman"/>
                          <a:cs typeface="Times New Roman"/>
                        </a:rPr>
                        <a:t>scans </a:t>
                      </a:r>
                      <a:r>
                        <a:rPr sz="1200" spc="-10" dirty="0">
                          <a:latin typeface="Times New Roman"/>
                          <a:cs typeface="Times New Roman"/>
                        </a:rPr>
                        <a:t>documents.</a:t>
                      </a:r>
                      <a:endParaRPr sz="1200">
                        <a:latin typeface="Times New Roman"/>
                        <a:cs typeface="Times New Roman"/>
                      </a:endParaRPr>
                    </a:p>
                    <a:p>
                      <a:pPr marL="67945" marR="62230" indent="205104">
                        <a:lnSpc>
                          <a:spcPts val="1380"/>
                        </a:lnSpc>
                        <a:buAutoNum type="arabicPeriod"/>
                        <a:tabLst>
                          <a:tab pos="273050" algn="l"/>
                        </a:tabLst>
                      </a:pPr>
                      <a:r>
                        <a:rPr sz="1200" dirty="0">
                          <a:latin typeface="Times New Roman"/>
                          <a:cs typeface="Times New Roman"/>
                        </a:rPr>
                        <a:t>AI</a:t>
                      </a:r>
                      <a:r>
                        <a:rPr sz="1200" spc="400" dirty="0">
                          <a:latin typeface="Times New Roman"/>
                          <a:cs typeface="Times New Roman"/>
                        </a:rPr>
                        <a:t> </a:t>
                      </a:r>
                      <a:r>
                        <a:rPr sz="1200" dirty="0">
                          <a:latin typeface="Times New Roman"/>
                          <a:cs typeface="Times New Roman"/>
                        </a:rPr>
                        <a:t>checks</a:t>
                      </a:r>
                      <a:r>
                        <a:rPr sz="1200" spc="405" dirty="0">
                          <a:latin typeface="Times New Roman"/>
                          <a:cs typeface="Times New Roman"/>
                        </a:rPr>
                        <a:t> </a:t>
                      </a:r>
                      <a:r>
                        <a:rPr sz="1200" spc="-25" dirty="0">
                          <a:latin typeface="Times New Roman"/>
                          <a:cs typeface="Times New Roman"/>
                        </a:rPr>
                        <a:t>for </a:t>
                      </a:r>
                      <a:r>
                        <a:rPr sz="1200" spc="-10" dirty="0">
                          <a:latin typeface="Times New Roman"/>
                          <a:cs typeface="Times New Roman"/>
                        </a:rPr>
                        <a:t>fraud.</a:t>
                      </a:r>
                      <a:endParaRPr sz="1200">
                        <a:latin typeface="Times New Roman"/>
                        <a:cs typeface="Times New Roman"/>
                      </a:endParaRPr>
                    </a:p>
                    <a:p>
                      <a:pPr marL="67945" marR="60325" indent="391795">
                        <a:lnSpc>
                          <a:spcPts val="1380"/>
                        </a:lnSpc>
                        <a:buAutoNum type="arabicPeriod"/>
                        <a:tabLst>
                          <a:tab pos="459740" algn="l"/>
                          <a:tab pos="1109980" algn="l"/>
                        </a:tabLst>
                      </a:pPr>
                      <a:r>
                        <a:rPr sz="1200" spc="-10" dirty="0">
                          <a:latin typeface="Times New Roman"/>
                          <a:cs typeface="Times New Roman"/>
                        </a:rPr>
                        <a:t>Status</a:t>
                      </a:r>
                      <a:r>
                        <a:rPr sz="1200" dirty="0">
                          <a:latin typeface="Times New Roman"/>
                          <a:cs typeface="Times New Roman"/>
                        </a:rPr>
                        <a:t>	</a:t>
                      </a:r>
                      <a:r>
                        <a:rPr sz="1200" spc="-25" dirty="0">
                          <a:latin typeface="Times New Roman"/>
                          <a:cs typeface="Times New Roman"/>
                        </a:rPr>
                        <a:t>is </a:t>
                      </a:r>
                      <a:r>
                        <a:rPr sz="1200" spc="-10" dirty="0">
                          <a:latin typeface="Times New Roman"/>
                          <a:cs typeface="Times New Roman"/>
                        </a:rPr>
                        <a:t>updated.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3500">
                        <a:lnSpc>
                          <a:spcPts val="1380"/>
                        </a:lnSpc>
                        <a:spcBef>
                          <a:spcPts val="35"/>
                        </a:spcBef>
                        <a:tabLst>
                          <a:tab pos="1030605" algn="l"/>
                        </a:tabLst>
                      </a:pPr>
                      <a:r>
                        <a:rPr sz="1200" spc="-10" dirty="0">
                          <a:latin typeface="Times New Roman"/>
                          <a:cs typeface="Times New Roman"/>
                        </a:rPr>
                        <a:t>Property verification</a:t>
                      </a:r>
                      <a:r>
                        <a:rPr sz="1200" dirty="0">
                          <a:latin typeface="Times New Roman"/>
                          <a:cs typeface="Times New Roman"/>
                        </a:rPr>
                        <a:t>	</a:t>
                      </a:r>
                      <a:r>
                        <a:rPr sz="1200" spc="-25" dirty="0">
                          <a:latin typeface="Times New Roman"/>
                          <a:cs typeface="Times New Roman"/>
                        </a:rPr>
                        <a:t>is </a:t>
                      </a:r>
                      <a:r>
                        <a:rPr sz="1200" spc="-10" dirty="0">
                          <a:latin typeface="Times New Roman"/>
                          <a:cs typeface="Times New Roman"/>
                        </a:rPr>
                        <a:t>completed.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706755">
                <a:tc>
                  <a:txBody>
                    <a:bodyPr/>
                    <a:lstStyle/>
                    <a:p>
                      <a:pPr marL="67945" marR="149860">
                        <a:lnSpc>
                          <a:spcPts val="1380"/>
                        </a:lnSpc>
                        <a:spcBef>
                          <a:spcPts val="35"/>
                        </a:spcBef>
                      </a:pPr>
                      <a:r>
                        <a:rPr sz="1200" b="1" spc="-10" dirty="0">
                          <a:latin typeface="Times New Roman"/>
                          <a:cs typeface="Times New Roman"/>
                        </a:rPr>
                        <a:t>Notifications </a:t>
                      </a:r>
                      <a:r>
                        <a:rPr sz="1200" b="1" dirty="0">
                          <a:latin typeface="Times New Roman"/>
                          <a:cs typeface="Times New Roman"/>
                        </a:rPr>
                        <a:t>&amp;</a:t>
                      </a:r>
                      <a:r>
                        <a:rPr sz="1200" b="1" spc="-15" dirty="0">
                          <a:latin typeface="Times New Roman"/>
                          <a:cs typeface="Times New Roman"/>
                        </a:rPr>
                        <a:t> </a:t>
                      </a:r>
                      <a:r>
                        <a:rPr sz="1200" b="1" spc="-10" dirty="0">
                          <a:latin typeface="Times New Roman"/>
                          <a:cs typeface="Times New Roman"/>
                        </a:rPr>
                        <a:t>Alerts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20345">
                        <a:lnSpc>
                          <a:spcPts val="1380"/>
                        </a:lnSpc>
                        <a:spcBef>
                          <a:spcPts val="35"/>
                        </a:spcBef>
                      </a:pPr>
                      <a:r>
                        <a:rPr sz="1200" spc="-10" dirty="0">
                          <a:latin typeface="Times New Roman"/>
                          <a:cs typeface="Times New Roman"/>
                        </a:rPr>
                        <a:t>Buyer, Seller</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2865" algn="just">
                        <a:lnSpc>
                          <a:spcPts val="1380"/>
                        </a:lnSpc>
                        <a:spcBef>
                          <a:spcPts val="35"/>
                        </a:spcBef>
                      </a:pPr>
                      <a:r>
                        <a:rPr sz="1200" dirty="0">
                          <a:latin typeface="Times New Roman"/>
                          <a:cs typeface="Times New Roman"/>
                        </a:rPr>
                        <a:t>User</a:t>
                      </a:r>
                      <a:r>
                        <a:rPr sz="1200" spc="415" dirty="0">
                          <a:latin typeface="Times New Roman"/>
                          <a:cs typeface="Times New Roman"/>
                        </a:rPr>
                        <a:t>   </a:t>
                      </a:r>
                      <a:r>
                        <a:rPr sz="1200" dirty="0">
                          <a:latin typeface="Times New Roman"/>
                          <a:cs typeface="Times New Roman"/>
                        </a:rPr>
                        <a:t>must</a:t>
                      </a:r>
                      <a:r>
                        <a:rPr sz="1200" spc="420" dirty="0">
                          <a:latin typeface="Times New Roman"/>
                          <a:cs typeface="Times New Roman"/>
                        </a:rPr>
                        <a:t>   </a:t>
                      </a:r>
                      <a:r>
                        <a:rPr sz="1200" spc="-25" dirty="0">
                          <a:latin typeface="Times New Roman"/>
                          <a:cs typeface="Times New Roman"/>
                        </a:rPr>
                        <a:t>be </a:t>
                      </a:r>
                      <a:r>
                        <a:rPr sz="1200" dirty="0">
                          <a:latin typeface="Times New Roman"/>
                          <a:cs typeface="Times New Roman"/>
                        </a:rPr>
                        <a:t>subscribed</a:t>
                      </a:r>
                      <a:r>
                        <a:rPr sz="1200" spc="405" dirty="0">
                          <a:latin typeface="Times New Roman"/>
                          <a:cs typeface="Times New Roman"/>
                        </a:rPr>
                        <a:t>  </a:t>
                      </a:r>
                      <a:r>
                        <a:rPr sz="1200" dirty="0">
                          <a:latin typeface="Times New Roman"/>
                          <a:cs typeface="Times New Roman"/>
                        </a:rPr>
                        <a:t>to</a:t>
                      </a:r>
                      <a:r>
                        <a:rPr sz="1200" spc="409" dirty="0">
                          <a:latin typeface="Times New Roman"/>
                          <a:cs typeface="Times New Roman"/>
                        </a:rPr>
                        <a:t>  </a:t>
                      </a:r>
                      <a:r>
                        <a:rPr sz="1200" spc="-25" dirty="0">
                          <a:latin typeface="Times New Roman"/>
                          <a:cs typeface="Times New Roman"/>
                        </a:rPr>
                        <a:t>an </a:t>
                      </a:r>
                      <a:r>
                        <a:rPr sz="1200" spc="-10" dirty="0">
                          <a:latin typeface="Times New Roman"/>
                          <a:cs typeface="Times New Roman"/>
                        </a:rPr>
                        <a:t>auction.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325" indent="193040" algn="just">
                        <a:lnSpc>
                          <a:spcPts val="1380"/>
                        </a:lnSpc>
                        <a:spcBef>
                          <a:spcPts val="35"/>
                        </a:spcBef>
                        <a:buAutoNum type="arabicPeriod"/>
                        <a:tabLst>
                          <a:tab pos="260985" algn="l"/>
                        </a:tabLst>
                      </a:pPr>
                      <a:r>
                        <a:rPr sz="1200" dirty="0">
                          <a:latin typeface="Times New Roman"/>
                          <a:cs typeface="Times New Roman"/>
                        </a:rPr>
                        <a:t>System</a:t>
                      </a:r>
                      <a:r>
                        <a:rPr sz="1200" spc="290" dirty="0">
                          <a:latin typeface="Times New Roman"/>
                          <a:cs typeface="Times New Roman"/>
                        </a:rPr>
                        <a:t> </a:t>
                      </a:r>
                      <a:r>
                        <a:rPr sz="1200" spc="-10" dirty="0">
                          <a:latin typeface="Times New Roman"/>
                          <a:cs typeface="Times New Roman"/>
                        </a:rPr>
                        <a:t>detects </a:t>
                      </a:r>
                      <a:r>
                        <a:rPr sz="1200" dirty="0">
                          <a:latin typeface="Times New Roman"/>
                          <a:cs typeface="Times New Roman"/>
                        </a:rPr>
                        <a:t>an</a:t>
                      </a:r>
                      <a:r>
                        <a:rPr sz="1200" spc="245" dirty="0">
                          <a:latin typeface="Times New Roman"/>
                          <a:cs typeface="Times New Roman"/>
                        </a:rPr>
                        <a:t>   </a:t>
                      </a:r>
                      <a:r>
                        <a:rPr sz="1200" dirty="0">
                          <a:latin typeface="Times New Roman"/>
                          <a:cs typeface="Times New Roman"/>
                        </a:rPr>
                        <a:t>event</a:t>
                      </a:r>
                      <a:r>
                        <a:rPr sz="1200" spc="250" dirty="0">
                          <a:latin typeface="Times New Roman"/>
                          <a:cs typeface="Times New Roman"/>
                        </a:rPr>
                        <a:t>   </a:t>
                      </a:r>
                      <a:r>
                        <a:rPr sz="1200" spc="-20" dirty="0">
                          <a:latin typeface="Times New Roman"/>
                          <a:cs typeface="Times New Roman"/>
                        </a:rPr>
                        <a:t>(bid </a:t>
                      </a:r>
                      <a:r>
                        <a:rPr sz="1200" dirty="0">
                          <a:latin typeface="Times New Roman"/>
                          <a:cs typeface="Times New Roman"/>
                        </a:rPr>
                        <a:t>placed,</a:t>
                      </a:r>
                      <a:r>
                        <a:rPr sz="1200" spc="365" dirty="0">
                          <a:latin typeface="Times New Roman"/>
                          <a:cs typeface="Times New Roman"/>
                        </a:rPr>
                        <a:t>   </a:t>
                      </a:r>
                      <a:r>
                        <a:rPr sz="1200" spc="-10" dirty="0">
                          <a:latin typeface="Times New Roman"/>
                          <a:cs typeface="Times New Roman"/>
                        </a:rPr>
                        <a:t>auction</a:t>
                      </a:r>
                      <a:endParaRPr sz="1200">
                        <a:latin typeface="Times New Roman"/>
                        <a:cs typeface="Times New Roman"/>
                      </a:endParaRPr>
                    </a:p>
                    <a:p>
                      <a:pPr marL="67945" algn="just">
                        <a:lnSpc>
                          <a:spcPts val="1290"/>
                        </a:lnSpc>
                      </a:pPr>
                      <a:r>
                        <a:rPr sz="1200" dirty="0">
                          <a:latin typeface="Times New Roman"/>
                          <a:cs typeface="Times New Roman"/>
                        </a:rPr>
                        <a:t>start,</a:t>
                      </a:r>
                      <a:r>
                        <a:rPr sz="1200" spc="315" dirty="0">
                          <a:latin typeface="Times New Roman"/>
                          <a:cs typeface="Times New Roman"/>
                        </a:rPr>
                        <a:t>    </a:t>
                      </a:r>
                      <a:r>
                        <a:rPr sz="1200" spc="-10" dirty="0">
                          <a:latin typeface="Times New Roman"/>
                          <a:cs typeface="Times New Roman"/>
                        </a:rPr>
                        <a:t>payment</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2865">
                        <a:lnSpc>
                          <a:spcPts val="1380"/>
                        </a:lnSpc>
                        <a:spcBef>
                          <a:spcPts val="35"/>
                        </a:spcBef>
                      </a:pPr>
                      <a:r>
                        <a:rPr sz="1200" dirty="0">
                          <a:latin typeface="Times New Roman"/>
                          <a:cs typeface="Times New Roman"/>
                        </a:rPr>
                        <a:t>User</a:t>
                      </a:r>
                      <a:r>
                        <a:rPr sz="1200" spc="200" dirty="0">
                          <a:latin typeface="Times New Roman"/>
                          <a:cs typeface="Times New Roman"/>
                        </a:rPr>
                        <a:t> </a:t>
                      </a:r>
                      <a:r>
                        <a:rPr sz="1200" dirty="0">
                          <a:latin typeface="Times New Roman"/>
                          <a:cs typeface="Times New Roman"/>
                        </a:rPr>
                        <a:t>receives</a:t>
                      </a:r>
                      <a:r>
                        <a:rPr sz="1200" spc="204" dirty="0">
                          <a:latin typeface="Times New Roman"/>
                          <a:cs typeface="Times New Roman"/>
                        </a:rPr>
                        <a:t> </a:t>
                      </a:r>
                      <a:r>
                        <a:rPr sz="1200" spc="-25" dirty="0">
                          <a:latin typeface="Times New Roman"/>
                          <a:cs typeface="Times New Roman"/>
                        </a:rPr>
                        <a:t>an </a:t>
                      </a:r>
                      <a:r>
                        <a:rPr sz="1200" spc="-10" dirty="0">
                          <a:latin typeface="Times New Roman"/>
                          <a:cs typeface="Times New Roman"/>
                        </a:rPr>
                        <a:t>update.</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20</a:t>
            </a:r>
          </a:p>
        </p:txBody>
      </p:sp>
      <p:graphicFrame>
        <p:nvGraphicFramePr>
          <p:cNvPr id="2" name="object 2"/>
          <p:cNvGraphicFramePr>
            <a:graphicFrameLocks noGrp="1"/>
          </p:cNvGraphicFramePr>
          <p:nvPr/>
        </p:nvGraphicFramePr>
        <p:xfrm>
          <a:off x="1189024" y="914399"/>
          <a:ext cx="5662928" cy="2320290"/>
        </p:xfrm>
        <a:graphic>
          <a:graphicData uri="http://schemas.openxmlformats.org/drawingml/2006/table">
            <a:tbl>
              <a:tblPr firstRow="1" bandRow="1">
                <a:tableStyleId>{2D5ABB26-0587-4C30-8999-92F81FD0307C}</a:tableStyleId>
              </a:tblPr>
              <a:tblGrid>
                <a:gridCol w="1054735">
                  <a:extLst>
                    <a:ext uri="{9D8B030D-6E8A-4147-A177-3AD203B41FA5}">
                      <a16:colId xmlns:a16="http://schemas.microsoft.com/office/drawing/2014/main" val="20000"/>
                    </a:ext>
                  </a:extLst>
                </a:gridCol>
                <a:gridCol w="706754">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59">
                  <a:extLst>
                    <a:ext uri="{9D8B030D-6E8A-4147-A177-3AD203B41FA5}">
                      <a16:colId xmlns:a16="http://schemas.microsoft.com/office/drawing/2014/main" val="20003"/>
                    </a:ext>
                  </a:extLst>
                </a:gridCol>
                <a:gridCol w="1203960">
                  <a:extLst>
                    <a:ext uri="{9D8B030D-6E8A-4147-A177-3AD203B41FA5}">
                      <a16:colId xmlns:a16="http://schemas.microsoft.com/office/drawing/2014/main" val="20004"/>
                    </a:ext>
                  </a:extLst>
                </a:gridCol>
              </a:tblGrid>
              <a:tr h="531495">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50"/>
                        </a:lnSpc>
                      </a:pPr>
                      <a:r>
                        <a:rPr sz="1200" spc="-20" dirty="0">
                          <a:latin typeface="Times New Roman"/>
                          <a:cs typeface="Times New Roman"/>
                        </a:rPr>
                        <a:t>due).</a:t>
                      </a:r>
                      <a:endParaRPr sz="1200">
                        <a:latin typeface="Times New Roman"/>
                        <a:cs typeface="Times New Roman"/>
                      </a:endParaRPr>
                    </a:p>
                    <a:p>
                      <a:pPr marL="67945" marR="60960">
                        <a:lnSpc>
                          <a:spcPts val="1380"/>
                        </a:lnSpc>
                        <a:tabLst>
                          <a:tab pos="481330" algn="l"/>
                          <a:tab pos="1143635" algn="l"/>
                        </a:tabLst>
                      </a:pPr>
                      <a:r>
                        <a:rPr sz="1200" spc="-25" dirty="0">
                          <a:latin typeface="Times New Roman"/>
                          <a:cs typeface="Times New Roman"/>
                        </a:rPr>
                        <a:t>2.</a:t>
                      </a:r>
                      <a:r>
                        <a:rPr sz="1200" dirty="0">
                          <a:latin typeface="Times New Roman"/>
                          <a:cs typeface="Times New Roman"/>
                        </a:rPr>
                        <a:t>	</a:t>
                      </a:r>
                      <a:r>
                        <a:rPr sz="1200" spc="-10" dirty="0">
                          <a:latin typeface="Times New Roman"/>
                          <a:cs typeface="Times New Roman"/>
                        </a:rPr>
                        <a:t>Sends</a:t>
                      </a:r>
                      <a:r>
                        <a:rPr sz="1200" dirty="0">
                          <a:latin typeface="Times New Roman"/>
                          <a:cs typeface="Times New Roman"/>
                        </a:rPr>
                        <a:t>	</a:t>
                      </a:r>
                      <a:r>
                        <a:rPr sz="1200" spc="-50" dirty="0">
                          <a:latin typeface="Times New Roman"/>
                          <a:cs typeface="Times New Roman"/>
                        </a:rPr>
                        <a:t>a </a:t>
                      </a:r>
                      <a:r>
                        <a:rPr sz="1200" spc="-10" dirty="0">
                          <a:latin typeface="Times New Roman"/>
                          <a:cs typeface="Times New Roman"/>
                        </a:rPr>
                        <a:t>notification.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82015">
                <a:tc>
                  <a:txBody>
                    <a:bodyPr/>
                    <a:lstStyle/>
                    <a:p>
                      <a:pPr marL="67945" marR="285115">
                        <a:lnSpc>
                          <a:spcPts val="1380"/>
                        </a:lnSpc>
                        <a:spcBef>
                          <a:spcPts val="35"/>
                        </a:spcBef>
                      </a:pPr>
                      <a:r>
                        <a:rPr sz="1200" b="1" spc="-10" dirty="0">
                          <a:latin typeface="Times New Roman"/>
                          <a:cs typeface="Times New Roman"/>
                        </a:rPr>
                        <a:t>Payment Processing</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81610">
                        <a:lnSpc>
                          <a:spcPts val="1380"/>
                        </a:lnSpc>
                        <a:spcBef>
                          <a:spcPts val="35"/>
                        </a:spcBef>
                      </a:pPr>
                      <a:r>
                        <a:rPr sz="1200" spc="-10" dirty="0">
                          <a:latin typeface="Times New Roman"/>
                          <a:cs typeface="Times New Roman"/>
                        </a:rPr>
                        <a:t>Buyer, System</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0960">
                        <a:lnSpc>
                          <a:spcPts val="1380"/>
                        </a:lnSpc>
                        <a:spcBef>
                          <a:spcPts val="35"/>
                        </a:spcBef>
                        <a:tabLst>
                          <a:tab pos="732155" algn="l"/>
                          <a:tab pos="1204595" algn="l"/>
                        </a:tabLst>
                      </a:pPr>
                      <a:r>
                        <a:rPr sz="1200" spc="-10" dirty="0">
                          <a:latin typeface="Times New Roman"/>
                          <a:cs typeface="Times New Roman"/>
                        </a:rPr>
                        <a:t>Auction</a:t>
                      </a:r>
                      <a:r>
                        <a:rPr sz="1200" dirty="0">
                          <a:latin typeface="Times New Roman"/>
                          <a:cs typeface="Times New Roman"/>
                        </a:rPr>
                        <a:t>	</a:t>
                      </a:r>
                      <a:r>
                        <a:rPr sz="1200" spc="-20" dirty="0">
                          <a:latin typeface="Times New Roman"/>
                          <a:cs typeface="Times New Roman"/>
                        </a:rPr>
                        <a:t>must</a:t>
                      </a:r>
                      <a:r>
                        <a:rPr sz="1200" dirty="0">
                          <a:latin typeface="Times New Roman"/>
                          <a:cs typeface="Times New Roman"/>
                        </a:rPr>
                        <a:t>	</a:t>
                      </a:r>
                      <a:r>
                        <a:rPr sz="1200" spc="-25" dirty="0">
                          <a:latin typeface="Times New Roman"/>
                          <a:cs typeface="Times New Roman"/>
                        </a:rPr>
                        <a:t>be </a:t>
                      </a:r>
                      <a:r>
                        <a:rPr sz="1200" spc="-10" dirty="0">
                          <a:latin typeface="Times New Roman"/>
                          <a:cs typeface="Times New Roman"/>
                        </a:rPr>
                        <a:t>completed.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1594" indent="174625">
                        <a:lnSpc>
                          <a:spcPts val="1380"/>
                        </a:lnSpc>
                        <a:spcBef>
                          <a:spcPts val="35"/>
                        </a:spcBef>
                        <a:buAutoNum type="arabicPeriod"/>
                        <a:tabLst>
                          <a:tab pos="242570" algn="l"/>
                        </a:tabLst>
                      </a:pPr>
                      <a:r>
                        <a:rPr sz="1200" dirty="0">
                          <a:latin typeface="Times New Roman"/>
                          <a:cs typeface="Times New Roman"/>
                        </a:rPr>
                        <a:t>Buyer</a:t>
                      </a:r>
                      <a:r>
                        <a:rPr sz="1200" spc="140" dirty="0">
                          <a:latin typeface="Times New Roman"/>
                          <a:cs typeface="Times New Roman"/>
                        </a:rPr>
                        <a:t> </a:t>
                      </a:r>
                      <a:r>
                        <a:rPr sz="1200" dirty="0">
                          <a:latin typeface="Times New Roman"/>
                          <a:cs typeface="Times New Roman"/>
                        </a:rPr>
                        <a:t>selects</a:t>
                      </a:r>
                      <a:r>
                        <a:rPr sz="1200" spc="145" dirty="0">
                          <a:latin typeface="Times New Roman"/>
                          <a:cs typeface="Times New Roman"/>
                        </a:rPr>
                        <a:t> </a:t>
                      </a:r>
                      <a:r>
                        <a:rPr sz="1200" spc="-50" dirty="0">
                          <a:latin typeface="Times New Roman"/>
                          <a:cs typeface="Times New Roman"/>
                        </a:rPr>
                        <a:t>a </a:t>
                      </a:r>
                      <a:r>
                        <a:rPr sz="1200" dirty="0">
                          <a:latin typeface="Times New Roman"/>
                          <a:cs typeface="Times New Roman"/>
                        </a:rPr>
                        <a:t>payment</a:t>
                      </a:r>
                      <a:r>
                        <a:rPr sz="1200" spc="160" dirty="0">
                          <a:latin typeface="Times New Roman"/>
                          <a:cs typeface="Times New Roman"/>
                        </a:rPr>
                        <a:t>  </a:t>
                      </a:r>
                      <a:r>
                        <a:rPr sz="1200" spc="-10" dirty="0">
                          <a:latin typeface="Times New Roman"/>
                          <a:cs typeface="Times New Roman"/>
                        </a:rPr>
                        <a:t>method.</a:t>
                      </a:r>
                      <a:endParaRPr sz="1200">
                        <a:latin typeface="Times New Roman"/>
                        <a:cs typeface="Times New Roman"/>
                      </a:endParaRPr>
                    </a:p>
                    <a:p>
                      <a:pPr marL="67945" marR="61594" indent="311150">
                        <a:lnSpc>
                          <a:spcPts val="1380"/>
                        </a:lnSpc>
                        <a:buAutoNum type="arabicPeriod"/>
                        <a:tabLst>
                          <a:tab pos="379095" algn="l"/>
                          <a:tab pos="1109345" algn="l"/>
                        </a:tabLst>
                      </a:pPr>
                      <a:r>
                        <a:rPr sz="1200" spc="-10" dirty="0">
                          <a:latin typeface="Times New Roman"/>
                          <a:cs typeface="Times New Roman"/>
                        </a:rPr>
                        <a:t>Payment</a:t>
                      </a:r>
                      <a:r>
                        <a:rPr sz="1200" dirty="0">
                          <a:latin typeface="Times New Roman"/>
                          <a:cs typeface="Times New Roman"/>
                        </a:rPr>
                        <a:t>	</a:t>
                      </a:r>
                      <a:r>
                        <a:rPr sz="1200" spc="-25" dirty="0">
                          <a:latin typeface="Times New Roman"/>
                          <a:cs typeface="Times New Roman"/>
                        </a:rPr>
                        <a:t>is </a:t>
                      </a:r>
                      <a:r>
                        <a:rPr sz="1200" spc="-10" dirty="0">
                          <a:latin typeface="Times New Roman"/>
                          <a:cs typeface="Times New Roman"/>
                        </a:rPr>
                        <a:t>processed</a:t>
                      </a:r>
                      <a:r>
                        <a:rPr sz="1200" spc="500" dirty="0">
                          <a:latin typeface="Times New Roman"/>
                          <a:cs typeface="Times New Roman"/>
                        </a:rPr>
                        <a:t> </a:t>
                      </a:r>
                      <a:r>
                        <a:rPr sz="1200" spc="-10" dirty="0">
                          <a:latin typeface="Times New Roman"/>
                          <a:cs typeface="Times New Roman"/>
                        </a:rPr>
                        <a:t>securely.</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3500">
                        <a:lnSpc>
                          <a:spcPts val="1380"/>
                        </a:lnSpc>
                        <a:spcBef>
                          <a:spcPts val="35"/>
                        </a:spcBef>
                        <a:tabLst>
                          <a:tab pos="1031240" algn="l"/>
                        </a:tabLst>
                      </a:pPr>
                      <a:r>
                        <a:rPr sz="1200" spc="-10" dirty="0">
                          <a:latin typeface="Times New Roman"/>
                          <a:cs typeface="Times New Roman"/>
                        </a:rPr>
                        <a:t>Transaction</a:t>
                      </a:r>
                      <a:r>
                        <a:rPr sz="1200" dirty="0">
                          <a:latin typeface="Times New Roman"/>
                          <a:cs typeface="Times New Roman"/>
                        </a:rPr>
                        <a:t>	</a:t>
                      </a:r>
                      <a:r>
                        <a:rPr sz="1200" spc="-25" dirty="0">
                          <a:latin typeface="Times New Roman"/>
                          <a:cs typeface="Times New Roman"/>
                        </a:rPr>
                        <a:t>is </a:t>
                      </a:r>
                      <a:r>
                        <a:rPr sz="1200" spc="-10" dirty="0">
                          <a:latin typeface="Times New Roman"/>
                          <a:cs typeface="Times New Roman"/>
                        </a:rPr>
                        <a:t>completed.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883919">
                <a:tc>
                  <a:txBody>
                    <a:bodyPr/>
                    <a:lstStyle/>
                    <a:p>
                      <a:pPr marL="67945" marR="167005">
                        <a:lnSpc>
                          <a:spcPts val="1380"/>
                        </a:lnSpc>
                        <a:spcBef>
                          <a:spcPts val="35"/>
                        </a:spcBef>
                      </a:pPr>
                      <a:r>
                        <a:rPr sz="1200" b="1" spc="-10" dirty="0">
                          <a:latin typeface="Times New Roman"/>
                          <a:cs typeface="Times New Roman"/>
                        </a:rPr>
                        <a:t>Bidder Reallocation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43510">
                        <a:lnSpc>
                          <a:spcPts val="1380"/>
                        </a:lnSpc>
                        <a:spcBef>
                          <a:spcPts val="35"/>
                        </a:spcBef>
                      </a:pPr>
                      <a:r>
                        <a:rPr sz="1200" spc="-10" dirty="0">
                          <a:latin typeface="Times New Roman"/>
                          <a:cs typeface="Times New Roman"/>
                        </a:rPr>
                        <a:t>System, Buyer</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marR="64135">
                        <a:lnSpc>
                          <a:spcPts val="1380"/>
                        </a:lnSpc>
                        <a:spcBef>
                          <a:spcPts val="35"/>
                        </a:spcBef>
                        <a:tabLst>
                          <a:tab pos="922655" algn="l"/>
                        </a:tabLst>
                      </a:pPr>
                      <a:r>
                        <a:rPr sz="1200" spc="-10" dirty="0">
                          <a:latin typeface="Times New Roman"/>
                          <a:cs typeface="Times New Roman"/>
                        </a:rPr>
                        <a:t>Original</a:t>
                      </a:r>
                      <a:r>
                        <a:rPr sz="1200" dirty="0">
                          <a:latin typeface="Times New Roman"/>
                          <a:cs typeface="Times New Roman"/>
                        </a:rPr>
                        <a:t>	</a:t>
                      </a:r>
                      <a:r>
                        <a:rPr sz="1200" spc="-10" dirty="0">
                          <a:latin typeface="Times New Roman"/>
                          <a:cs typeface="Times New Roman"/>
                        </a:rPr>
                        <a:t>winner withdraws.</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0325" indent="200660" algn="just">
                        <a:lnSpc>
                          <a:spcPts val="1380"/>
                        </a:lnSpc>
                        <a:spcBef>
                          <a:spcPts val="35"/>
                        </a:spcBef>
                        <a:buAutoNum type="arabicPeriod"/>
                        <a:tabLst>
                          <a:tab pos="268605" algn="l"/>
                        </a:tabLst>
                      </a:pPr>
                      <a:r>
                        <a:rPr sz="1200" dirty="0">
                          <a:latin typeface="Times New Roman"/>
                          <a:cs typeface="Times New Roman"/>
                        </a:rPr>
                        <a:t>System</a:t>
                      </a:r>
                      <a:r>
                        <a:rPr sz="1200" spc="350" dirty="0">
                          <a:latin typeface="Times New Roman"/>
                          <a:cs typeface="Times New Roman"/>
                        </a:rPr>
                        <a:t> </a:t>
                      </a:r>
                      <a:r>
                        <a:rPr sz="1200" spc="-10" dirty="0">
                          <a:latin typeface="Times New Roman"/>
                          <a:cs typeface="Times New Roman"/>
                        </a:rPr>
                        <a:t>selects </a:t>
                      </a:r>
                      <a:r>
                        <a:rPr sz="1200" dirty="0">
                          <a:latin typeface="Times New Roman"/>
                          <a:cs typeface="Times New Roman"/>
                        </a:rPr>
                        <a:t>the</a:t>
                      </a:r>
                      <a:r>
                        <a:rPr sz="1200" spc="185" dirty="0">
                          <a:latin typeface="Times New Roman"/>
                          <a:cs typeface="Times New Roman"/>
                        </a:rPr>
                        <a:t>  </a:t>
                      </a:r>
                      <a:r>
                        <a:rPr sz="1200" dirty="0">
                          <a:latin typeface="Times New Roman"/>
                          <a:cs typeface="Times New Roman"/>
                        </a:rPr>
                        <a:t>next</a:t>
                      </a:r>
                      <a:r>
                        <a:rPr sz="1200" spc="195" dirty="0">
                          <a:latin typeface="Times New Roman"/>
                          <a:cs typeface="Times New Roman"/>
                        </a:rPr>
                        <a:t>  </a:t>
                      </a:r>
                      <a:r>
                        <a:rPr sz="1200" spc="-10" dirty="0">
                          <a:latin typeface="Times New Roman"/>
                          <a:cs typeface="Times New Roman"/>
                        </a:rPr>
                        <a:t>highest bidder.</a:t>
                      </a:r>
                      <a:endParaRPr sz="1200">
                        <a:latin typeface="Times New Roman"/>
                        <a:cs typeface="Times New Roman"/>
                      </a:endParaRPr>
                    </a:p>
                    <a:p>
                      <a:pPr marL="67945" marR="60960" indent="412750" algn="just">
                        <a:lnSpc>
                          <a:spcPts val="1380"/>
                        </a:lnSpc>
                        <a:buAutoNum type="arabicPeriod"/>
                        <a:tabLst>
                          <a:tab pos="480695" algn="l"/>
                        </a:tabLst>
                      </a:pPr>
                      <a:r>
                        <a:rPr sz="1200" dirty="0">
                          <a:latin typeface="Times New Roman"/>
                          <a:cs typeface="Times New Roman"/>
                        </a:rPr>
                        <a:t>Sends</a:t>
                      </a:r>
                      <a:r>
                        <a:rPr sz="1200" spc="475" dirty="0">
                          <a:latin typeface="Times New Roman"/>
                          <a:cs typeface="Times New Roman"/>
                        </a:rPr>
                        <a:t>   </a:t>
                      </a:r>
                      <a:r>
                        <a:rPr sz="1200" spc="-50" dirty="0">
                          <a:latin typeface="Times New Roman"/>
                          <a:cs typeface="Times New Roman"/>
                        </a:rPr>
                        <a:t>a </a:t>
                      </a:r>
                      <a:r>
                        <a:rPr sz="1200" spc="-10" dirty="0">
                          <a:latin typeface="Times New Roman"/>
                          <a:cs typeface="Times New Roman"/>
                        </a:rPr>
                        <a:t>confirmation.</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3500">
                        <a:lnSpc>
                          <a:spcPts val="1380"/>
                        </a:lnSpc>
                        <a:spcBef>
                          <a:spcPts val="35"/>
                        </a:spcBef>
                      </a:pPr>
                      <a:r>
                        <a:rPr sz="1200" dirty="0">
                          <a:latin typeface="Times New Roman"/>
                          <a:cs typeface="Times New Roman"/>
                        </a:rPr>
                        <a:t>The</a:t>
                      </a:r>
                      <a:r>
                        <a:rPr sz="1200" spc="490" dirty="0">
                          <a:latin typeface="Times New Roman"/>
                          <a:cs typeface="Times New Roman"/>
                        </a:rPr>
                        <a:t> </a:t>
                      </a:r>
                      <a:r>
                        <a:rPr sz="1200" dirty="0">
                          <a:latin typeface="Times New Roman"/>
                          <a:cs typeface="Times New Roman"/>
                        </a:rPr>
                        <a:t>property</a:t>
                      </a:r>
                      <a:r>
                        <a:rPr sz="1200" spc="495" dirty="0">
                          <a:latin typeface="Times New Roman"/>
                          <a:cs typeface="Times New Roman"/>
                        </a:rPr>
                        <a:t> </a:t>
                      </a:r>
                      <a:r>
                        <a:rPr sz="1200" spc="-25" dirty="0">
                          <a:latin typeface="Times New Roman"/>
                          <a:cs typeface="Times New Roman"/>
                        </a:rPr>
                        <a:t>is </a:t>
                      </a:r>
                      <a:r>
                        <a:rPr sz="1200" spc="-10" dirty="0">
                          <a:latin typeface="Times New Roman"/>
                          <a:cs typeface="Times New Roman"/>
                        </a:rPr>
                        <a:t>reassigned.</a:t>
                      </a:r>
                      <a:endParaRPr sz="1200">
                        <a:latin typeface="Times New Roman"/>
                        <a:cs typeface="Times New Roman"/>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21</a:t>
            </a:r>
          </a:p>
        </p:txBody>
      </p:sp>
      <p:sp>
        <p:nvSpPr>
          <p:cNvPr id="2" name="object 2"/>
          <p:cNvSpPr txBox="1"/>
          <p:nvPr/>
        </p:nvSpPr>
        <p:spPr>
          <a:xfrm>
            <a:off x="1176324" y="1455165"/>
            <a:ext cx="5696585" cy="5953125"/>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Chapter</a:t>
            </a:r>
            <a:r>
              <a:rPr sz="1600" b="1" spc="-60" dirty="0">
                <a:latin typeface="Times New Roman"/>
                <a:cs typeface="Times New Roman"/>
              </a:rPr>
              <a:t> </a:t>
            </a:r>
            <a:r>
              <a:rPr sz="1600" b="1" dirty="0">
                <a:latin typeface="Times New Roman"/>
                <a:cs typeface="Times New Roman"/>
              </a:rPr>
              <a:t>4:</a:t>
            </a:r>
            <a:r>
              <a:rPr sz="1600" b="1" spc="-15" dirty="0">
                <a:latin typeface="Times New Roman"/>
                <a:cs typeface="Times New Roman"/>
              </a:rPr>
              <a:t> </a:t>
            </a:r>
            <a:r>
              <a:rPr sz="1600" b="1" dirty="0">
                <a:latin typeface="Times New Roman"/>
                <a:cs typeface="Times New Roman"/>
              </a:rPr>
              <a:t>Design</a:t>
            </a:r>
            <a:r>
              <a:rPr sz="1600" b="1" spc="-25" dirty="0">
                <a:latin typeface="Times New Roman"/>
                <a:cs typeface="Times New Roman"/>
              </a:rPr>
              <a:t> </a:t>
            </a:r>
            <a:r>
              <a:rPr sz="1600" b="1" spc="-10" dirty="0">
                <a:latin typeface="Times New Roman"/>
                <a:cs typeface="Times New Roman"/>
              </a:rPr>
              <a:t>and</a:t>
            </a:r>
            <a:r>
              <a:rPr sz="1600" b="1" spc="-90" dirty="0">
                <a:latin typeface="Times New Roman"/>
                <a:cs typeface="Times New Roman"/>
              </a:rPr>
              <a:t> </a:t>
            </a:r>
            <a:r>
              <a:rPr sz="1600" b="1" spc="-10" dirty="0">
                <a:latin typeface="Times New Roman"/>
                <a:cs typeface="Times New Roman"/>
              </a:rPr>
              <a:t>Architecture</a:t>
            </a:r>
            <a:endParaRPr sz="1600">
              <a:latin typeface="Times New Roman"/>
              <a:cs typeface="Times New Roman"/>
            </a:endParaRPr>
          </a:p>
          <a:p>
            <a:pPr>
              <a:lnSpc>
                <a:spcPct val="100000"/>
              </a:lnSpc>
              <a:spcBef>
                <a:spcPts val="1675"/>
              </a:spcBef>
            </a:pPr>
            <a:endParaRPr sz="1600">
              <a:latin typeface="Times New Roman"/>
              <a:cs typeface="Times New Roman"/>
            </a:endParaRPr>
          </a:p>
          <a:p>
            <a:pPr marL="12700" marR="6350" algn="just">
              <a:lnSpc>
                <a:spcPct val="143700"/>
              </a:lnSpc>
            </a:pPr>
            <a:r>
              <a:rPr sz="1200" dirty="0">
                <a:latin typeface="Times New Roman"/>
                <a:cs typeface="Times New Roman"/>
              </a:rPr>
              <a:t>This</a:t>
            </a:r>
            <a:r>
              <a:rPr sz="1200" spc="400" dirty="0">
                <a:latin typeface="Times New Roman"/>
                <a:cs typeface="Times New Roman"/>
              </a:rPr>
              <a:t> </a:t>
            </a:r>
            <a:r>
              <a:rPr sz="1200" dirty="0">
                <a:latin typeface="Times New Roman"/>
                <a:cs typeface="Times New Roman"/>
              </a:rPr>
              <a:t>chapter</a:t>
            </a:r>
            <a:r>
              <a:rPr sz="1200" spc="395" dirty="0">
                <a:latin typeface="Times New Roman"/>
                <a:cs typeface="Times New Roman"/>
              </a:rPr>
              <a:t> </a:t>
            </a:r>
            <a:r>
              <a:rPr sz="1200" dirty="0">
                <a:latin typeface="Times New Roman"/>
                <a:cs typeface="Times New Roman"/>
              </a:rPr>
              <a:t>explores</a:t>
            </a:r>
            <a:r>
              <a:rPr sz="1200" spc="405" dirty="0">
                <a:latin typeface="Times New Roman"/>
                <a:cs typeface="Times New Roman"/>
              </a:rPr>
              <a:t> </a:t>
            </a:r>
            <a:r>
              <a:rPr sz="1200" dirty="0">
                <a:latin typeface="Times New Roman"/>
                <a:cs typeface="Times New Roman"/>
              </a:rPr>
              <a:t>the</a:t>
            </a:r>
            <a:r>
              <a:rPr sz="1200" spc="400" dirty="0">
                <a:latin typeface="Times New Roman"/>
                <a:cs typeface="Times New Roman"/>
              </a:rPr>
              <a:t> </a:t>
            </a:r>
            <a:r>
              <a:rPr sz="1200" dirty="0">
                <a:latin typeface="Times New Roman"/>
                <a:cs typeface="Times New Roman"/>
              </a:rPr>
              <a:t>design</a:t>
            </a:r>
            <a:r>
              <a:rPr sz="1200" spc="405"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dirty="0">
                <a:latin typeface="Times New Roman"/>
                <a:cs typeface="Times New Roman"/>
              </a:rPr>
              <a:t>architecture</a:t>
            </a:r>
            <a:r>
              <a:rPr sz="1200" spc="395" dirty="0">
                <a:latin typeface="Times New Roman"/>
                <a:cs typeface="Times New Roman"/>
              </a:rPr>
              <a:t> </a:t>
            </a:r>
            <a:r>
              <a:rPr sz="1200" dirty="0">
                <a:latin typeface="Times New Roman"/>
                <a:cs typeface="Times New Roman"/>
              </a:rPr>
              <a:t>of</a:t>
            </a:r>
            <a:r>
              <a:rPr sz="1200" spc="400" dirty="0">
                <a:latin typeface="Times New Roman"/>
                <a:cs typeface="Times New Roman"/>
              </a:rPr>
              <a:t> </a:t>
            </a:r>
            <a:r>
              <a:rPr sz="1200" dirty="0">
                <a:latin typeface="Times New Roman"/>
                <a:cs typeface="Times New Roman"/>
              </a:rPr>
              <a:t>the</a:t>
            </a:r>
            <a:r>
              <a:rPr sz="1200" spc="430" dirty="0">
                <a:latin typeface="Times New Roman"/>
                <a:cs typeface="Times New Roman"/>
              </a:rPr>
              <a:t> </a:t>
            </a:r>
            <a:r>
              <a:rPr sz="1200" dirty="0">
                <a:latin typeface="Times New Roman"/>
                <a:cs typeface="Times New Roman"/>
              </a:rPr>
              <a:t>"Auction</a:t>
            </a:r>
            <a:r>
              <a:rPr sz="1200" spc="415" dirty="0">
                <a:latin typeface="Times New Roman"/>
                <a:cs typeface="Times New Roman"/>
              </a:rPr>
              <a:t> </a:t>
            </a:r>
            <a:r>
              <a:rPr sz="1200" dirty="0">
                <a:latin typeface="Times New Roman"/>
                <a:cs typeface="Times New Roman"/>
              </a:rPr>
              <a:t>Abode</a:t>
            </a:r>
            <a:r>
              <a:rPr sz="1200" spc="395" dirty="0">
                <a:latin typeface="Times New Roman"/>
                <a:cs typeface="Times New Roman"/>
              </a:rPr>
              <a:t> </a:t>
            </a:r>
            <a:r>
              <a:rPr sz="1200" dirty="0">
                <a:latin typeface="Times New Roman"/>
                <a:cs typeface="Times New Roman"/>
              </a:rPr>
              <a:t>"</a:t>
            </a:r>
            <a:r>
              <a:rPr sz="1200" spc="405" dirty="0">
                <a:latin typeface="Times New Roman"/>
                <a:cs typeface="Times New Roman"/>
              </a:rPr>
              <a:t> </a:t>
            </a:r>
            <a:r>
              <a:rPr sz="1200" spc="-10" dirty="0">
                <a:latin typeface="Times New Roman"/>
                <a:cs typeface="Times New Roman"/>
              </a:rPr>
              <a:t>system, emphasizing</a:t>
            </a:r>
            <a:r>
              <a:rPr sz="1200" spc="-50" dirty="0">
                <a:latin typeface="Times New Roman"/>
                <a:cs typeface="Times New Roman"/>
              </a:rPr>
              <a:t> </a:t>
            </a:r>
            <a:r>
              <a:rPr sz="1200" dirty="0">
                <a:latin typeface="Times New Roman"/>
                <a:cs typeface="Times New Roman"/>
              </a:rPr>
              <a:t>key</a:t>
            </a:r>
            <a:r>
              <a:rPr sz="1200" spc="-40" dirty="0">
                <a:latin typeface="Times New Roman"/>
                <a:cs typeface="Times New Roman"/>
              </a:rPr>
              <a:t> </a:t>
            </a:r>
            <a:r>
              <a:rPr sz="1200" dirty="0">
                <a:latin typeface="Times New Roman"/>
                <a:cs typeface="Times New Roman"/>
              </a:rPr>
              <a:t>principles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decisions</a:t>
            </a:r>
            <a:r>
              <a:rPr sz="1200" spc="-40" dirty="0">
                <a:latin typeface="Times New Roman"/>
                <a:cs typeface="Times New Roman"/>
              </a:rPr>
              <a:t> </a:t>
            </a:r>
            <a:r>
              <a:rPr sz="1200" dirty="0">
                <a:latin typeface="Times New Roman"/>
                <a:cs typeface="Times New Roman"/>
              </a:rPr>
              <a:t>vital</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project</a:t>
            </a:r>
            <a:r>
              <a:rPr sz="1200" spc="-40" dirty="0">
                <a:latin typeface="Times New Roman"/>
                <a:cs typeface="Times New Roman"/>
              </a:rPr>
              <a:t> </a:t>
            </a:r>
            <a:r>
              <a:rPr sz="1200" dirty="0">
                <a:latin typeface="Times New Roman"/>
                <a:cs typeface="Times New Roman"/>
              </a:rPr>
              <a:t>success.</a:t>
            </a:r>
            <a:r>
              <a:rPr sz="1200" spc="-30"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outlines</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significance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thoughtful</a:t>
            </a:r>
            <a:r>
              <a:rPr sz="1200" spc="110" dirty="0">
                <a:latin typeface="Times New Roman"/>
                <a:cs typeface="Times New Roman"/>
              </a:rPr>
              <a:t>  </a:t>
            </a:r>
            <a:r>
              <a:rPr sz="1200" dirty="0">
                <a:latin typeface="Times New Roman"/>
                <a:cs typeface="Times New Roman"/>
              </a:rPr>
              <a:t>design</a:t>
            </a:r>
            <a:r>
              <a:rPr sz="1200" spc="114" dirty="0">
                <a:latin typeface="Times New Roman"/>
                <a:cs typeface="Times New Roman"/>
              </a:rPr>
              <a:t>  </a:t>
            </a:r>
            <a:r>
              <a:rPr sz="1200" dirty="0">
                <a:latin typeface="Times New Roman"/>
                <a:cs typeface="Times New Roman"/>
              </a:rPr>
              <a:t>considerations</a:t>
            </a:r>
            <a:r>
              <a:rPr sz="1200" spc="110" dirty="0">
                <a:latin typeface="Times New Roman"/>
                <a:cs typeface="Times New Roman"/>
              </a:rPr>
              <a:t>  </a:t>
            </a:r>
            <a:r>
              <a:rPr sz="1200" dirty="0">
                <a:latin typeface="Times New Roman"/>
                <a:cs typeface="Times New Roman"/>
              </a:rPr>
              <a:t>in</a:t>
            </a:r>
            <a:r>
              <a:rPr sz="1200" spc="110" dirty="0">
                <a:latin typeface="Times New Roman"/>
                <a:cs typeface="Times New Roman"/>
              </a:rPr>
              <a:t>  </a:t>
            </a:r>
            <a:r>
              <a:rPr sz="1200" dirty="0">
                <a:latin typeface="Times New Roman"/>
                <a:cs typeface="Times New Roman"/>
              </a:rPr>
              <a:t>meeting</a:t>
            </a:r>
            <a:r>
              <a:rPr sz="1200" spc="110" dirty="0">
                <a:latin typeface="Times New Roman"/>
                <a:cs typeface="Times New Roman"/>
              </a:rPr>
              <a:t>  </a:t>
            </a:r>
            <a:r>
              <a:rPr sz="1200" dirty="0">
                <a:latin typeface="Times New Roman"/>
                <a:cs typeface="Times New Roman"/>
              </a:rPr>
              <a:t>project</a:t>
            </a:r>
            <a:r>
              <a:rPr sz="1200" spc="114" dirty="0">
                <a:latin typeface="Times New Roman"/>
                <a:cs typeface="Times New Roman"/>
              </a:rPr>
              <a:t>  </a:t>
            </a:r>
            <a:r>
              <a:rPr sz="1200" dirty="0">
                <a:latin typeface="Times New Roman"/>
                <a:cs typeface="Times New Roman"/>
              </a:rPr>
              <a:t>objectives</a:t>
            </a:r>
            <a:r>
              <a:rPr sz="1200" spc="110" dirty="0">
                <a:latin typeface="Times New Roman"/>
                <a:cs typeface="Times New Roman"/>
              </a:rPr>
              <a:t>  </a:t>
            </a:r>
            <a:r>
              <a:rPr sz="1200" dirty="0">
                <a:latin typeface="Times New Roman"/>
                <a:cs typeface="Times New Roman"/>
              </a:rPr>
              <a:t>efficiently.</a:t>
            </a:r>
            <a:r>
              <a:rPr sz="1200" spc="110" dirty="0">
                <a:latin typeface="Times New Roman"/>
                <a:cs typeface="Times New Roman"/>
              </a:rPr>
              <a:t>  </a:t>
            </a:r>
            <a:r>
              <a:rPr sz="1200" spc="-20" dirty="0">
                <a:latin typeface="Times New Roman"/>
                <a:cs typeface="Times New Roman"/>
              </a:rPr>
              <a:t>From </a:t>
            </a:r>
            <a:r>
              <a:rPr sz="1200" spc="-10" dirty="0">
                <a:latin typeface="Times New Roman"/>
                <a:cs typeface="Times New Roman"/>
              </a:rPr>
              <a:t>conceptualizing</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structure</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detailing</a:t>
            </a:r>
            <a:r>
              <a:rPr sz="1200" spc="-35" dirty="0">
                <a:latin typeface="Times New Roman"/>
                <a:cs typeface="Times New Roman"/>
              </a:rPr>
              <a:t> </a:t>
            </a:r>
            <a:r>
              <a:rPr sz="1200" spc="-10" dirty="0">
                <a:latin typeface="Times New Roman"/>
                <a:cs typeface="Times New Roman"/>
              </a:rPr>
              <a:t>architectural</a:t>
            </a:r>
            <a:r>
              <a:rPr sz="1200" spc="-30" dirty="0">
                <a:latin typeface="Times New Roman"/>
                <a:cs typeface="Times New Roman"/>
              </a:rPr>
              <a:t> </a:t>
            </a:r>
            <a:r>
              <a:rPr sz="1200" spc="-10" dirty="0">
                <a:latin typeface="Times New Roman"/>
                <a:cs typeface="Times New Roman"/>
              </a:rPr>
              <a:t>components,</a:t>
            </a:r>
            <a:r>
              <a:rPr sz="1200" spc="-3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spc="-10" dirty="0">
                <a:latin typeface="Times New Roman"/>
                <a:cs typeface="Times New Roman"/>
              </a:rPr>
              <a:t>serves</a:t>
            </a:r>
            <a:r>
              <a:rPr sz="1200" spc="-3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blueprint </a:t>
            </a:r>
            <a:r>
              <a:rPr sz="1200" dirty="0">
                <a:latin typeface="Times New Roman"/>
                <a:cs typeface="Times New Roman"/>
              </a:rPr>
              <a:t>for</a:t>
            </a:r>
            <a:r>
              <a:rPr sz="1200" spc="80" dirty="0">
                <a:latin typeface="Times New Roman"/>
                <a:cs typeface="Times New Roman"/>
              </a:rPr>
              <a:t> </a:t>
            </a:r>
            <a:r>
              <a:rPr sz="1200" dirty="0">
                <a:latin typeface="Times New Roman"/>
                <a:cs typeface="Times New Roman"/>
              </a:rPr>
              <a:t>translating</a:t>
            </a:r>
            <a:r>
              <a:rPr sz="1200" spc="90" dirty="0">
                <a:latin typeface="Times New Roman"/>
                <a:cs typeface="Times New Roman"/>
              </a:rPr>
              <a:t> </a:t>
            </a:r>
            <a:r>
              <a:rPr sz="1200" dirty="0">
                <a:latin typeface="Times New Roman"/>
                <a:cs typeface="Times New Roman"/>
              </a:rPr>
              <a:t>requirements</a:t>
            </a:r>
            <a:r>
              <a:rPr sz="1200" spc="95" dirty="0">
                <a:latin typeface="Times New Roman"/>
                <a:cs typeface="Times New Roman"/>
              </a:rPr>
              <a:t> </a:t>
            </a:r>
            <a:r>
              <a:rPr sz="1200" dirty="0">
                <a:latin typeface="Times New Roman"/>
                <a:cs typeface="Times New Roman"/>
              </a:rPr>
              <a:t>into</a:t>
            </a:r>
            <a:r>
              <a:rPr sz="1200" spc="90" dirty="0">
                <a:latin typeface="Times New Roman"/>
                <a:cs typeface="Times New Roman"/>
              </a:rPr>
              <a:t> </a:t>
            </a:r>
            <a:r>
              <a:rPr sz="1200" dirty="0">
                <a:latin typeface="Times New Roman"/>
                <a:cs typeface="Times New Roman"/>
              </a:rPr>
              <a:t>a</a:t>
            </a:r>
            <a:r>
              <a:rPr sz="1200" spc="85" dirty="0">
                <a:latin typeface="Times New Roman"/>
                <a:cs typeface="Times New Roman"/>
              </a:rPr>
              <a:t> </a:t>
            </a:r>
            <a:r>
              <a:rPr sz="1200" dirty="0">
                <a:latin typeface="Times New Roman"/>
                <a:cs typeface="Times New Roman"/>
              </a:rPr>
              <a:t>functional</a:t>
            </a:r>
            <a:r>
              <a:rPr sz="1200" spc="90" dirty="0">
                <a:latin typeface="Times New Roman"/>
                <a:cs typeface="Times New Roman"/>
              </a:rPr>
              <a:t> </a:t>
            </a:r>
            <a:r>
              <a:rPr sz="1200" dirty="0">
                <a:latin typeface="Times New Roman"/>
                <a:cs typeface="Times New Roman"/>
              </a:rPr>
              <a:t>solution.</a:t>
            </a:r>
            <a:r>
              <a:rPr sz="1200" spc="90" dirty="0">
                <a:latin typeface="Times New Roman"/>
                <a:cs typeface="Times New Roman"/>
              </a:rPr>
              <a:t> </a:t>
            </a:r>
            <a:r>
              <a:rPr sz="1200" dirty="0">
                <a:latin typeface="Times New Roman"/>
                <a:cs typeface="Times New Roman"/>
              </a:rPr>
              <a:t>Providing</a:t>
            </a:r>
            <a:r>
              <a:rPr sz="1200" spc="95" dirty="0">
                <a:latin typeface="Times New Roman"/>
                <a:cs typeface="Times New Roman"/>
              </a:rPr>
              <a:t> </a:t>
            </a:r>
            <a:r>
              <a:rPr sz="1200" dirty="0">
                <a:latin typeface="Times New Roman"/>
                <a:cs typeface="Times New Roman"/>
              </a:rPr>
              <a:t>insights</a:t>
            </a:r>
            <a:r>
              <a:rPr sz="1200" spc="85" dirty="0">
                <a:latin typeface="Times New Roman"/>
                <a:cs typeface="Times New Roman"/>
              </a:rPr>
              <a:t> </a:t>
            </a:r>
            <a:r>
              <a:rPr sz="1200" dirty="0">
                <a:latin typeface="Times New Roman"/>
                <a:cs typeface="Times New Roman"/>
              </a:rPr>
              <a:t>into</a:t>
            </a:r>
            <a:r>
              <a:rPr sz="1200" spc="90"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spc="-10" dirty="0">
                <a:latin typeface="Times New Roman"/>
                <a:cs typeface="Times New Roman"/>
              </a:rPr>
              <a:t>project's </a:t>
            </a:r>
            <a:r>
              <a:rPr sz="1200" dirty="0">
                <a:latin typeface="Times New Roman"/>
                <a:cs typeface="Times New Roman"/>
              </a:rPr>
              <a:t>technical</a:t>
            </a:r>
            <a:r>
              <a:rPr sz="1200" spc="-30" dirty="0">
                <a:latin typeface="Times New Roman"/>
                <a:cs typeface="Times New Roman"/>
              </a:rPr>
              <a:t> </a:t>
            </a:r>
            <a:r>
              <a:rPr sz="1200" dirty="0">
                <a:latin typeface="Times New Roman"/>
                <a:cs typeface="Times New Roman"/>
              </a:rPr>
              <a:t>foundation,</a:t>
            </a:r>
            <a:r>
              <a:rPr sz="1200" spc="-2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dirty="0">
                <a:latin typeface="Times New Roman"/>
                <a:cs typeface="Times New Roman"/>
              </a:rPr>
              <a:t>fosters</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deeper</a:t>
            </a:r>
            <a:r>
              <a:rPr sz="1200" spc="-25" dirty="0">
                <a:latin typeface="Times New Roman"/>
                <a:cs typeface="Times New Roman"/>
              </a:rPr>
              <a:t> </a:t>
            </a:r>
            <a:r>
              <a:rPr sz="1200" dirty="0">
                <a:latin typeface="Times New Roman"/>
                <a:cs typeface="Times New Roman"/>
              </a:rPr>
              <a:t>understanding</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design</a:t>
            </a:r>
            <a:r>
              <a:rPr sz="1200" spc="-25" dirty="0">
                <a:latin typeface="Times New Roman"/>
                <a:cs typeface="Times New Roman"/>
              </a:rPr>
              <a:t> </a:t>
            </a:r>
            <a:r>
              <a:rPr sz="1200" spc="-10" dirty="0">
                <a:latin typeface="Times New Roman"/>
                <a:cs typeface="Times New Roman"/>
              </a:rPr>
              <a:t>process.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65"/>
              </a:spcBef>
            </a:pPr>
            <a:endParaRPr sz="1200">
              <a:latin typeface="Times New Roman"/>
              <a:cs typeface="Times New Roman"/>
            </a:endParaRPr>
          </a:p>
          <a:p>
            <a:pPr marL="12700">
              <a:lnSpc>
                <a:spcPct val="100000"/>
              </a:lnSpc>
              <a:spcBef>
                <a:spcPts val="5"/>
              </a:spcBef>
              <a:tabLst>
                <a:tab pos="469265" algn="l"/>
              </a:tabLst>
            </a:pPr>
            <a:r>
              <a:rPr sz="1400" b="1" spc="-20" dirty="0">
                <a:latin typeface="Times New Roman"/>
                <a:cs typeface="Times New Roman"/>
              </a:rPr>
              <a:t>4.1.</a:t>
            </a:r>
            <a:r>
              <a:rPr sz="1400" b="1" dirty="0">
                <a:latin typeface="Times New Roman"/>
                <a:cs typeface="Times New Roman"/>
              </a:rPr>
              <a:t>	</a:t>
            </a:r>
            <a:r>
              <a:rPr sz="1200" b="1" dirty="0">
                <a:latin typeface="Times New Roman"/>
                <a:cs typeface="Times New Roman"/>
              </a:rPr>
              <a:t>System</a:t>
            </a:r>
            <a:r>
              <a:rPr sz="1200" b="1" spc="-3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a:p>
            <a:pPr marL="12700" marR="5080" algn="just">
              <a:lnSpc>
                <a:spcPct val="143700"/>
              </a:lnSpc>
              <a:spcBef>
                <a:spcPts val="1355"/>
              </a:spcBef>
            </a:pP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Auction</a:t>
            </a:r>
            <a:r>
              <a:rPr sz="1200" spc="-35" dirty="0">
                <a:latin typeface="Times New Roman"/>
                <a:cs typeface="Times New Roman"/>
              </a:rPr>
              <a:t> </a:t>
            </a:r>
            <a:r>
              <a:rPr sz="1200" spc="-10" dirty="0">
                <a:latin typeface="Times New Roman"/>
                <a:cs typeface="Times New Roman"/>
              </a:rPr>
              <a:t>Abode</a:t>
            </a:r>
            <a:r>
              <a:rPr sz="1200" spc="-4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follows</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three-</a:t>
            </a:r>
            <a:r>
              <a:rPr sz="1200" dirty="0">
                <a:latin typeface="Times New Roman"/>
                <a:cs typeface="Times New Roman"/>
              </a:rPr>
              <a:t>tier</a:t>
            </a:r>
            <a:r>
              <a:rPr sz="1200" spc="-35" dirty="0">
                <a:latin typeface="Times New Roman"/>
                <a:cs typeface="Times New Roman"/>
              </a:rPr>
              <a:t> </a:t>
            </a:r>
            <a:r>
              <a:rPr sz="1200" spc="-10" dirty="0">
                <a:latin typeface="Times New Roman"/>
                <a:cs typeface="Times New Roman"/>
              </a:rPr>
              <a:t>architecture</a:t>
            </a:r>
            <a:r>
              <a:rPr sz="1200" spc="-45" dirty="0">
                <a:latin typeface="Times New Roman"/>
                <a:cs typeface="Times New Roman"/>
              </a:rPr>
              <a:t> </a:t>
            </a:r>
            <a:r>
              <a:rPr sz="1200" dirty="0">
                <a:latin typeface="Times New Roman"/>
                <a:cs typeface="Times New Roman"/>
              </a:rPr>
              <a:t>consisting</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front-</a:t>
            </a:r>
            <a:r>
              <a:rPr sz="1200" dirty="0">
                <a:latin typeface="Times New Roman"/>
                <a:cs typeface="Times New Roman"/>
              </a:rPr>
              <a:t>end,</a:t>
            </a:r>
            <a:r>
              <a:rPr sz="1200" spc="-35" dirty="0">
                <a:latin typeface="Times New Roman"/>
                <a:cs typeface="Times New Roman"/>
              </a:rPr>
              <a:t> </a:t>
            </a:r>
            <a:r>
              <a:rPr sz="1200" spc="-10" dirty="0">
                <a:latin typeface="Times New Roman"/>
                <a:cs typeface="Times New Roman"/>
              </a:rPr>
              <a:t>back-</a:t>
            </a:r>
            <a:r>
              <a:rPr sz="1200" spc="-20" dirty="0">
                <a:latin typeface="Times New Roman"/>
                <a:cs typeface="Times New Roman"/>
              </a:rPr>
              <a:t>end,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database</a:t>
            </a:r>
            <a:r>
              <a:rPr sz="1200" spc="70" dirty="0">
                <a:latin typeface="Times New Roman"/>
                <a:cs typeface="Times New Roman"/>
              </a:rPr>
              <a:t> </a:t>
            </a:r>
            <a:r>
              <a:rPr sz="1200" dirty="0">
                <a:latin typeface="Times New Roman"/>
                <a:cs typeface="Times New Roman"/>
              </a:rPr>
              <a:t>layers,</a:t>
            </a:r>
            <a:r>
              <a:rPr sz="1200" spc="85" dirty="0">
                <a:latin typeface="Times New Roman"/>
                <a:cs typeface="Times New Roman"/>
              </a:rPr>
              <a:t> </a:t>
            </a:r>
            <a:r>
              <a:rPr sz="1200" dirty="0">
                <a:latin typeface="Times New Roman"/>
                <a:cs typeface="Times New Roman"/>
              </a:rPr>
              <a:t>ensuring</a:t>
            </a:r>
            <a:r>
              <a:rPr sz="1200" spc="75" dirty="0">
                <a:latin typeface="Times New Roman"/>
                <a:cs typeface="Times New Roman"/>
              </a:rPr>
              <a:t> </a:t>
            </a:r>
            <a:r>
              <a:rPr sz="1200" dirty="0">
                <a:latin typeface="Times New Roman"/>
                <a:cs typeface="Times New Roman"/>
              </a:rPr>
              <a:t>scalability,</a:t>
            </a:r>
            <a:r>
              <a:rPr sz="1200" spc="70" dirty="0">
                <a:latin typeface="Times New Roman"/>
                <a:cs typeface="Times New Roman"/>
              </a:rPr>
              <a:t> </a:t>
            </a:r>
            <a:r>
              <a:rPr sz="1200" dirty="0">
                <a:latin typeface="Times New Roman"/>
                <a:cs typeface="Times New Roman"/>
              </a:rPr>
              <a:t>efficiency,</a:t>
            </a:r>
            <a:r>
              <a:rPr sz="1200" spc="75"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70" dirty="0">
                <a:latin typeface="Times New Roman"/>
                <a:cs typeface="Times New Roman"/>
              </a:rPr>
              <a:t> </a:t>
            </a:r>
            <a:r>
              <a:rPr sz="1200" dirty="0">
                <a:latin typeface="Times New Roman"/>
                <a:cs typeface="Times New Roman"/>
              </a:rPr>
              <a:t>performance.</a:t>
            </a:r>
            <a:r>
              <a:rPr sz="1200" spc="7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spc="-10" dirty="0">
                <a:latin typeface="Times New Roman"/>
                <a:cs typeface="Times New Roman"/>
              </a:rPr>
              <a:t>front- </a:t>
            </a:r>
            <a:r>
              <a:rPr sz="1200" dirty="0">
                <a:latin typeface="Times New Roman"/>
                <a:cs typeface="Times New Roman"/>
              </a:rPr>
              <a:t>end</a:t>
            </a:r>
            <a:r>
              <a:rPr sz="1200" spc="-15" dirty="0">
                <a:latin typeface="Times New Roman"/>
                <a:cs typeface="Times New Roman"/>
              </a:rPr>
              <a:t> </a:t>
            </a:r>
            <a:r>
              <a:rPr sz="1200" dirty="0">
                <a:latin typeface="Times New Roman"/>
                <a:cs typeface="Times New Roman"/>
              </a:rPr>
              <a:t>(React.js)</a:t>
            </a:r>
            <a:r>
              <a:rPr sz="1200" spc="-10" dirty="0">
                <a:latin typeface="Times New Roman"/>
                <a:cs typeface="Times New Roman"/>
              </a:rPr>
              <a:t> </a:t>
            </a:r>
            <a:r>
              <a:rPr sz="1200" dirty="0">
                <a:latin typeface="Times New Roman"/>
                <a:cs typeface="Times New Roman"/>
              </a:rPr>
              <a:t>manages</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interface</a:t>
            </a:r>
            <a:r>
              <a:rPr sz="1200" spc="-15" dirty="0">
                <a:latin typeface="Times New Roman"/>
                <a:cs typeface="Times New Roman"/>
              </a:rPr>
              <a:t> </a:t>
            </a:r>
            <a:r>
              <a:rPr sz="1200" dirty="0">
                <a:latin typeface="Times New Roman"/>
                <a:cs typeface="Times New Roman"/>
              </a:rPr>
              <a:t>with a</a:t>
            </a:r>
            <a:r>
              <a:rPr sz="1200" spc="-20" dirty="0">
                <a:latin typeface="Times New Roman"/>
                <a:cs typeface="Times New Roman"/>
              </a:rPr>
              <a:t> </a:t>
            </a:r>
            <a:r>
              <a:rPr sz="1200" dirty="0">
                <a:latin typeface="Times New Roman"/>
                <a:cs typeface="Times New Roman"/>
              </a:rPr>
              <a:t>responsive</a:t>
            </a:r>
            <a:r>
              <a:rPr sz="1200" spc="-15" dirty="0">
                <a:latin typeface="Times New Roman"/>
                <a:cs typeface="Times New Roman"/>
              </a:rPr>
              <a:t> </a:t>
            </a:r>
            <a:r>
              <a:rPr sz="1200" dirty="0">
                <a:latin typeface="Times New Roman"/>
                <a:cs typeface="Times New Roman"/>
              </a:rPr>
              <a:t>design, allowing</a:t>
            </a:r>
            <a:r>
              <a:rPr sz="1200" spc="-1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to </a:t>
            </a:r>
            <a:r>
              <a:rPr sz="1200" spc="-10" dirty="0">
                <a:latin typeface="Times New Roman"/>
                <a:cs typeface="Times New Roman"/>
              </a:rPr>
              <a:t>browse </a:t>
            </a:r>
            <a:r>
              <a:rPr sz="1200" dirty="0">
                <a:latin typeface="Times New Roman"/>
                <a:cs typeface="Times New Roman"/>
              </a:rPr>
              <a:t>properties,</a:t>
            </a:r>
            <a:r>
              <a:rPr sz="1200" spc="160" dirty="0">
                <a:latin typeface="Times New Roman"/>
                <a:cs typeface="Times New Roman"/>
              </a:rPr>
              <a:t> </a:t>
            </a:r>
            <a:r>
              <a:rPr sz="1200" dirty="0">
                <a:latin typeface="Times New Roman"/>
                <a:cs typeface="Times New Roman"/>
              </a:rPr>
              <a:t>place</a:t>
            </a:r>
            <a:r>
              <a:rPr sz="1200" spc="155" dirty="0">
                <a:latin typeface="Times New Roman"/>
                <a:cs typeface="Times New Roman"/>
              </a:rPr>
              <a:t> </a:t>
            </a:r>
            <a:r>
              <a:rPr sz="1200" dirty="0">
                <a:latin typeface="Times New Roman"/>
                <a:cs typeface="Times New Roman"/>
              </a:rPr>
              <a:t>bids,</a:t>
            </a:r>
            <a:r>
              <a:rPr sz="1200" spc="165" dirty="0">
                <a:latin typeface="Times New Roman"/>
                <a:cs typeface="Times New Roman"/>
              </a:rPr>
              <a:t> </a:t>
            </a:r>
            <a:r>
              <a:rPr sz="1200" dirty="0">
                <a:latin typeface="Times New Roman"/>
                <a:cs typeface="Times New Roman"/>
              </a:rPr>
              <a:t>and</a:t>
            </a:r>
            <a:r>
              <a:rPr sz="1200" spc="160" dirty="0">
                <a:latin typeface="Times New Roman"/>
                <a:cs typeface="Times New Roman"/>
              </a:rPr>
              <a:t> </a:t>
            </a:r>
            <a:r>
              <a:rPr sz="1200" dirty="0">
                <a:latin typeface="Times New Roman"/>
                <a:cs typeface="Times New Roman"/>
              </a:rPr>
              <a:t>receive</a:t>
            </a:r>
            <a:r>
              <a:rPr sz="1200" spc="16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55" dirty="0">
                <a:latin typeface="Times New Roman"/>
                <a:cs typeface="Times New Roman"/>
              </a:rPr>
              <a:t> </a:t>
            </a:r>
            <a:r>
              <a:rPr sz="1200" dirty="0">
                <a:latin typeface="Times New Roman"/>
                <a:cs typeface="Times New Roman"/>
              </a:rPr>
              <a:t>updates</a:t>
            </a:r>
            <a:r>
              <a:rPr sz="1200" spc="160" dirty="0">
                <a:latin typeface="Times New Roman"/>
                <a:cs typeface="Times New Roman"/>
              </a:rPr>
              <a:t> </a:t>
            </a:r>
            <a:r>
              <a:rPr sz="1200" dirty="0">
                <a:latin typeface="Times New Roman"/>
                <a:cs typeface="Times New Roman"/>
              </a:rPr>
              <a:t>via</a:t>
            </a:r>
            <a:r>
              <a:rPr sz="1200" spc="155" dirty="0">
                <a:latin typeface="Times New Roman"/>
                <a:cs typeface="Times New Roman"/>
              </a:rPr>
              <a:t> </a:t>
            </a:r>
            <a:r>
              <a:rPr sz="1200" dirty="0">
                <a:latin typeface="Times New Roman"/>
                <a:cs typeface="Times New Roman"/>
              </a:rPr>
              <a:t>WebSocket’s</a:t>
            </a:r>
            <a:r>
              <a:rPr sz="1200" spc="165" dirty="0">
                <a:latin typeface="Times New Roman"/>
                <a:cs typeface="Times New Roman"/>
              </a:rPr>
              <a:t> </a:t>
            </a:r>
            <a:r>
              <a:rPr sz="1200" dirty="0">
                <a:latin typeface="Times New Roman"/>
                <a:cs typeface="Times New Roman"/>
              </a:rPr>
              <a:t>(Socket.io).</a:t>
            </a:r>
            <a:r>
              <a:rPr sz="1200" spc="155" dirty="0">
                <a:latin typeface="Times New Roman"/>
                <a:cs typeface="Times New Roman"/>
              </a:rPr>
              <a:t> </a:t>
            </a:r>
            <a:r>
              <a:rPr sz="1200" spc="-10" dirty="0">
                <a:latin typeface="Times New Roman"/>
                <a:cs typeface="Times New Roman"/>
              </a:rPr>
              <a:t>Redux </a:t>
            </a:r>
            <a:r>
              <a:rPr sz="1200" dirty="0">
                <a:latin typeface="Times New Roman"/>
                <a:cs typeface="Times New Roman"/>
              </a:rPr>
              <a:t>handles</a:t>
            </a:r>
            <a:r>
              <a:rPr sz="1200" spc="35" dirty="0">
                <a:latin typeface="Times New Roman"/>
                <a:cs typeface="Times New Roman"/>
              </a:rPr>
              <a:t> </a:t>
            </a:r>
            <a:r>
              <a:rPr sz="1200" dirty="0">
                <a:latin typeface="Times New Roman"/>
                <a:cs typeface="Times New Roman"/>
              </a:rPr>
              <a:t>state</a:t>
            </a:r>
            <a:r>
              <a:rPr sz="1200" spc="4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smooth</a:t>
            </a:r>
            <a:r>
              <a:rPr sz="1200" spc="4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flow.</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back-</a:t>
            </a:r>
            <a:r>
              <a:rPr sz="1200" dirty="0">
                <a:latin typeface="Times New Roman"/>
                <a:cs typeface="Times New Roman"/>
              </a:rPr>
              <a:t>end</a:t>
            </a:r>
            <a:r>
              <a:rPr sz="1200" spc="45" dirty="0">
                <a:latin typeface="Times New Roman"/>
                <a:cs typeface="Times New Roman"/>
              </a:rPr>
              <a:t> </a:t>
            </a:r>
            <a:r>
              <a:rPr sz="1200" dirty="0">
                <a:latin typeface="Times New Roman"/>
                <a:cs typeface="Times New Roman"/>
              </a:rPr>
              <a:t>(Node.js,</a:t>
            </a:r>
            <a:r>
              <a:rPr sz="1200" spc="55" dirty="0">
                <a:latin typeface="Times New Roman"/>
                <a:cs typeface="Times New Roman"/>
              </a:rPr>
              <a:t> </a:t>
            </a:r>
            <a:r>
              <a:rPr sz="1200" dirty="0">
                <a:latin typeface="Times New Roman"/>
                <a:cs typeface="Times New Roman"/>
              </a:rPr>
              <a:t>Express.js)</a:t>
            </a:r>
            <a:r>
              <a:rPr sz="1200" spc="35" dirty="0">
                <a:latin typeface="Times New Roman"/>
                <a:cs typeface="Times New Roman"/>
              </a:rPr>
              <a:t> </a:t>
            </a:r>
            <a:r>
              <a:rPr sz="1200" dirty="0">
                <a:latin typeface="Times New Roman"/>
                <a:cs typeface="Times New Roman"/>
              </a:rPr>
              <a:t>acts</a:t>
            </a:r>
            <a:r>
              <a:rPr sz="1200" spc="40" dirty="0">
                <a:latin typeface="Times New Roman"/>
                <a:cs typeface="Times New Roman"/>
              </a:rPr>
              <a:t> </a:t>
            </a:r>
            <a:r>
              <a:rPr sz="1200" spc="-25" dirty="0">
                <a:latin typeface="Times New Roman"/>
                <a:cs typeface="Times New Roman"/>
              </a:rPr>
              <a:t>as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API</a:t>
            </a:r>
            <a:r>
              <a:rPr sz="1200" spc="110" dirty="0">
                <a:latin typeface="Times New Roman"/>
                <a:cs typeface="Times New Roman"/>
              </a:rPr>
              <a:t>  </a:t>
            </a:r>
            <a:r>
              <a:rPr sz="1200" dirty="0">
                <a:latin typeface="Times New Roman"/>
                <a:cs typeface="Times New Roman"/>
              </a:rPr>
              <a:t>gateway,</a:t>
            </a:r>
            <a:r>
              <a:rPr sz="1200" spc="120" dirty="0">
                <a:latin typeface="Times New Roman"/>
                <a:cs typeface="Times New Roman"/>
              </a:rPr>
              <a:t>  </a:t>
            </a:r>
            <a:r>
              <a:rPr sz="1200" dirty="0">
                <a:latin typeface="Times New Roman"/>
                <a:cs typeface="Times New Roman"/>
              </a:rPr>
              <a:t>handling</a:t>
            </a:r>
            <a:r>
              <a:rPr sz="1200" spc="114" dirty="0">
                <a:latin typeface="Times New Roman"/>
                <a:cs typeface="Times New Roman"/>
              </a:rPr>
              <a:t>  </a:t>
            </a:r>
            <a:r>
              <a:rPr sz="1200" dirty="0">
                <a:latin typeface="Times New Roman"/>
                <a:cs typeface="Times New Roman"/>
              </a:rPr>
              <a:t>authentication</a:t>
            </a:r>
            <a:r>
              <a:rPr sz="1200" spc="114" dirty="0">
                <a:latin typeface="Times New Roman"/>
                <a:cs typeface="Times New Roman"/>
              </a:rPr>
              <a:t>  </a:t>
            </a:r>
            <a:r>
              <a:rPr sz="1200" dirty="0">
                <a:latin typeface="Times New Roman"/>
                <a:cs typeface="Times New Roman"/>
              </a:rPr>
              <a:t>(JWT),</a:t>
            </a:r>
            <a:r>
              <a:rPr sz="1200" spc="120" dirty="0">
                <a:latin typeface="Times New Roman"/>
                <a:cs typeface="Times New Roman"/>
              </a:rPr>
              <a:t>  </a:t>
            </a:r>
            <a:r>
              <a:rPr sz="1200" dirty="0">
                <a:latin typeface="Times New Roman"/>
                <a:cs typeface="Times New Roman"/>
              </a:rPr>
              <a:t>auction</a:t>
            </a:r>
            <a:r>
              <a:rPr sz="1200" spc="120" dirty="0">
                <a:latin typeface="Times New Roman"/>
                <a:cs typeface="Times New Roman"/>
              </a:rPr>
              <a:t>  </a:t>
            </a:r>
            <a:r>
              <a:rPr sz="1200" dirty="0">
                <a:latin typeface="Times New Roman"/>
                <a:cs typeface="Times New Roman"/>
              </a:rPr>
              <a:t>logic,</a:t>
            </a:r>
            <a:r>
              <a:rPr sz="1200" spc="120" dirty="0">
                <a:latin typeface="Times New Roman"/>
                <a:cs typeface="Times New Roman"/>
              </a:rPr>
              <a:t>  </a:t>
            </a:r>
            <a:r>
              <a:rPr sz="1200" dirty="0">
                <a:latin typeface="Times New Roman"/>
                <a:cs typeface="Times New Roman"/>
              </a:rPr>
              <a:t>AI-based</a:t>
            </a:r>
            <a:r>
              <a:rPr sz="1200" spc="120" dirty="0">
                <a:latin typeface="Times New Roman"/>
                <a:cs typeface="Times New Roman"/>
              </a:rPr>
              <a:t>  </a:t>
            </a:r>
            <a:r>
              <a:rPr sz="1200" spc="-10" dirty="0">
                <a:latin typeface="Times New Roman"/>
                <a:cs typeface="Times New Roman"/>
              </a:rPr>
              <a:t>property </a:t>
            </a:r>
            <a:r>
              <a:rPr sz="1200" dirty="0">
                <a:latin typeface="Times New Roman"/>
                <a:cs typeface="Times New Roman"/>
              </a:rPr>
              <a:t>verification,</a:t>
            </a:r>
            <a:r>
              <a:rPr sz="1200" spc="75"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dirty="0">
                <a:latin typeface="Times New Roman"/>
                <a:cs typeface="Times New Roman"/>
              </a:rPr>
              <a:t>payment</a:t>
            </a:r>
            <a:r>
              <a:rPr sz="1200" spc="85" dirty="0">
                <a:latin typeface="Times New Roman"/>
                <a:cs typeface="Times New Roman"/>
              </a:rPr>
              <a:t> </a:t>
            </a:r>
            <a:r>
              <a:rPr sz="1200" dirty="0">
                <a:latin typeface="Times New Roman"/>
                <a:cs typeface="Times New Roman"/>
              </a:rPr>
              <a:t>processing.</a:t>
            </a:r>
            <a:r>
              <a:rPr sz="1200" spc="80" dirty="0">
                <a:latin typeface="Times New Roman"/>
                <a:cs typeface="Times New Roman"/>
              </a:rPr>
              <a:t> </a:t>
            </a:r>
            <a:r>
              <a:rPr sz="1200" dirty="0">
                <a:latin typeface="Times New Roman"/>
                <a:cs typeface="Times New Roman"/>
              </a:rPr>
              <a:t>It</a:t>
            </a:r>
            <a:r>
              <a:rPr sz="1200" spc="85" dirty="0">
                <a:latin typeface="Times New Roman"/>
                <a:cs typeface="Times New Roman"/>
              </a:rPr>
              <a:t> </a:t>
            </a:r>
            <a:r>
              <a:rPr sz="1200" dirty="0">
                <a:latin typeface="Times New Roman"/>
                <a:cs typeface="Times New Roman"/>
              </a:rPr>
              <a:t>also</a:t>
            </a:r>
            <a:r>
              <a:rPr sz="1200" spc="85" dirty="0">
                <a:latin typeface="Times New Roman"/>
                <a:cs typeface="Times New Roman"/>
              </a:rPr>
              <a:t> </a:t>
            </a:r>
            <a:r>
              <a:rPr sz="1200" dirty="0">
                <a:latin typeface="Times New Roman"/>
                <a:cs typeface="Times New Roman"/>
              </a:rPr>
              <a:t>integrates</a:t>
            </a:r>
            <a:r>
              <a:rPr sz="1200" spc="80" dirty="0">
                <a:latin typeface="Times New Roman"/>
                <a:cs typeface="Times New Roman"/>
              </a:rPr>
              <a:t> </a:t>
            </a:r>
            <a:r>
              <a:rPr sz="1200" dirty="0">
                <a:latin typeface="Times New Roman"/>
                <a:cs typeface="Times New Roman"/>
              </a:rPr>
              <a:t>with</a:t>
            </a:r>
            <a:r>
              <a:rPr sz="1200" spc="8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notification</a:t>
            </a:r>
            <a:r>
              <a:rPr sz="1200" spc="80" dirty="0">
                <a:latin typeface="Times New Roman"/>
                <a:cs typeface="Times New Roman"/>
              </a:rPr>
              <a:t> </a:t>
            </a:r>
            <a:r>
              <a:rPr sz="1200" dirty="0">
                <a:latin typeface="Times New Roman"/>
                <a:cs typeface="Times New Roman"/>
              </a:rPr>
              <a:t>service</a:t>
            </a:r>
            <a:r>
              <a:rPr sz="1200" spc="75" dirty="0">
                <a:latin typeface="Times New Roman"/>
                <a:cs typeface="Times New Roman"/>
              </a:rPr>
              <a:t> </a:t>
            </a:r>
            <a:r>
              <a:rPr sz="1200" dirty="0">
                <a:latin typeface="Times New Roman"/>
                <a:cs typeface="Times New Roman"/>
              </a:rPr>
              <a:t>for</a:t>
            </a:r>
            <a:r>
              <a:rPr sz="1200" spc="75" dirty="0">
                <a:latin typeface="Times New Roman"/>
                <a:cs typeface="Times New Roman"/>
              </a:rPr>
              <a:t> </a:t>
            </a:r>
            <a:r>
              <a:rPr sz="1200" spc="-10" dirty="0">
                <a:latin typeface="Times New Roman"/>
                <a:cs typeface="Times New Roman"/>
              </a:rPr>
              <a:t>real- </a:t>
            </a:r>
            <a:r>
              <a:rPr sz="1200" dirty="0">
                <a:latin typeface="Times New Roman"/>
                <a:cs typeface="Times New Roman"/>
              </a:rPr>
              <a:t>time</a:t>
            </a:r>
            <a:r>
              <a:rPr sz="1200" spc="75" dirty="0">
                <a:latin typeface="Times New Roman"/>
                <a:cs typeface="Times New Roman"/>
              </a:rPr>
              <a:t> </a:t>
            </a:r>
            <a:r>
              <a:rPr sz="1200" dirty="0">
                <a:latin typeface="Times New Roman"/>
                <a:cs typeface="Times New Roman"/>
              </a:rPr>
              <a:t>alerts.</a:t>
            </a:r>
            <a:r>
              <a:rPr sz="1200" spc="9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database</a:t>
            </a:r>
            <a:r>
              <a:rPr sz="1200" spc="85" dirty="0">
                <a:latin typeface="Times New Roman"/>
                <a:cs typeface="Times New Roman"/>
              </a:rPr>
              <a:t> </a:t>
            </a:r>
            <a:r>
              <a:rPr sz="1200" dirty="0">
                <a:latin typeface="Times New Roman"/>
                <a:cs typeface="Times New Roman"/>
              </a:rPr>
              <a:t>layer</a:t>
            </a:r>
            <a:r>
              <a:rPr sz="1200" spc="90" dirty="0">
                <a:latin typeface="Times New Roman"/>
                <a:cs typeface="Times New Roman"/>
              </a:rPr>
              <a:t> </a:t>
            </a:r>
            <a:r>
              <a:rPr sz="1200" dirty="0">
                <a:latin typeface="Times New Roman"/>
                <a:cs typeface="Times New Roman"/>
              </a:rPr>
              <a:t>(MongoDB)</a:t>
            </a:r>
            <a:r>
              <a:rPr sz="1200" spc="90" dirty="0">
                <a:latin typeface="Times New Roman"/>
                <a:cs typeface="Times New Roman"/>
              </a:rPr>
              <a:t> </a:t>
            </a:r>
            <a:r>
              <a:rPr sz="1200" dirty="0">
                <a:latin typeface="Times New Roman"/>
                <a:cs typeface="Times New Roman"/>
              </a:rPr>
              <a:t>stores</a:t>
            </a:r>
            <a:r>
              <a:rPr sz="1200" spc="85" dirty="0">
                <a:latin typeface="Times New Roman"/>
                <a:cs typeface="Times New Roman"/>
              </a:rPr>
              <a:t> </a:t>
            </a:r>
            <a:r>
              <a:rPr sz="1200" dirty="0">
                <a:latin typeface="Times New Roman"/>
                <a:cs typeface="Times New Roman"/>
              </a:rPr>
              <a:t>users,</a:t>
            </a:r>
            <a:r>
              <a:rPr sz="1200" spc="75" dirty="0">
                <a:latin typeface="Times New Roman"/>
                <a:cs typeface="Times New Roman"/>
              </a:rPr>
              <a:t> </a:t>
            </a:r>
            <a:r>
              <a:rPr sz="1200" dirty="0">
                <a:latin typeface="Times New Roman"/>
                <a:cs typeface="Times New Roman"/>
              </a:rPr>
              <a:t>properties,</a:t>
            </a:r>
            <a:r>
              <a:rPr sz="1200" spc="95" dirty="0">
                <a:latin typeface="Times New Roman"/>
                <a:cs typeface="Times New Roman"/>
              </a:rPr>
              <a:t> </a:t>
            </a:r>
            <a:r>
              <a:rPr sz="1200" dirty="0">
                <a:latin typeface="Times New Roman"/>
                <a:cs typeface="Times New Roman"/>
              </a:rPr>
              <a:t>bids,</a:t>
            </a:r>
            <a:r>
              <a:rPr sz="1200" spc="100"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spc="-10" dirty="0">
                <a:latin typeface="Times New Roman"/>
                <a:cs typeface="Times New Roman"/>
              </a:rPr>
              <a:t>transactions, </a:t>
            </a:r>
            <a:r>
              <a:rPr sz="1200" dirty="0">
                <a:latin typeface="Times New Roman"/>
                <a:cs typeface="Times New Roman"/>
              </a:rPr>
              <a:t>supporting</a:t>
            </a:r>
            <a:r>
              <a:rPr sz="1200" spc="20" dirty="0">
                <a:latin typeface="Times New Roman"/>
                <a:cs typeface="Times New Roman"/>
              </a:rPr>
              <a:t> </a:t>
            </a:r>
            <a:r>
              <a:rPr sz="1200" spc="-10" dirty="0">
                <a:latin typeface="Times New Roman"/>
                <a:cs typeface="Times New Roman"/>
              </a:rPr>
              <a:t>high-</a:t>
            </a:r>
            <a:r>
              <a:rPr sz="1200" dirty="0">
                <a:latin typeface="Times New Roman"/>
                <a:cs typeface="Times New Roman"/>
              </a:rPr>
              <a:t>speed</a:t>
            </a:r>
            <a:r>
              <a:rPr sz="1200" spc="20" dirty="0">
                <a:latin typeface="Times New Roman"/>
                <a:cs typeface="Times New Roman"/>
              </a:rPr>
              <a:t> </a:t>
            </a:r>
            <a:r>
              <a:rPr sz="1200" dirty="0">
                <a:latin typeface="Times New Roman"/>
                <a:cs typeface="Times New Roman"/>
              </a:rPr>
              <a:t>queries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efficient</a:t>
            </a:r>
            <a:r>
              <a:rPr sz="1200" spc="20" dirty="0">
                <a:latin typeface="Times New Roman"/>
                <a:cs typeface="Times New Roman"/>
              </a:rPr>
              <a:t> </a:t>
            </a:r>
            <a:r>
              <a:rPr sz="1200" dirty="0">
                <a:latin typeface="Times New Roman"/>
                <a:cs typeface="Times New Roman"/>
              </a:rPr>
              <a:t>auction</a:t>
            </a:r>
            <a:r>
              <a:rPr sz="1200" spc="20"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spc="-20" dirty="0">
                <a:latin typeface="Times New Roman"/>
                <a:cs typeface="Times New Roman"/>
              </a:rPr>
              <a:t>This </a:t>
            </a:r>
            <a:r>
              <a:rPr sz="1200" spc="-10" dirty="0">
                <a:latin typeface="Times New Roman"/>
                <a:cs typeface="Times New Roman"/>
              </a:rPr>
              <a:t>three-</a:t>
            </a:r>
            <a:r>
              <a:rPr sz="1200" dirty="0">
                <a:latin typeface="Times New Roman"/>
                <a:cs typeface="Times New Roman"/>
              </a:rPr>
              <a:t>tier</a:t>
            </a:r>
            <a:r>
              <a:rPr sz="1200" spc="95" dirty="0">
                <a:latin typeface="Times New Roman"/>
                <a:cs typeface="Times New Roman"/>
              </a:rPr>
              <a:t> </a:t>
            </a:r>
            <a:r>
              <a:rPr sz="1200" dirty="0">
                <a:latin typeface="Times New Roman"/>
                <a:cs typeface="Times New Roman"/>
              </a:rPr>
              <a:t>structure</a:t>
            </a:r>
            <a:r>
              <a:rPr sz="1200" spc="100" dirty="0">
                <a:latin typeface="Times New Roman"/>
                <a:cs typeface="Times New Roman"/>
              </a:rPr>
              <a:t> </a:t>
            </a:r>
            <a:r>
              <a:rPr sz="1200" dirty="0">
                <a:latin typeface="Times New Roman"/>
                <a:cs typeface="Times New Roman"/>
              </a:rPr>
              <a:t>ensures</a:t>
            </a:r>
            <a:r>
              <a:rPr sz="1200" spc="100" dirty="0">
                <a:latin typeface="Times New Roman"/>
                <a:cs typeface="Times New Roman"/>
              </a:rPr>
              <a:t> </a:t>
            </a:r>
            <a:r>
              <a:rPr sz="1200" dirty="0">
                <a:latin typeface="Times New Roman"/>
                <a:cs typeface="Times New Roman"/>
              </a:rPr>
              <a:t>a</a:t>
            </a:r>
            <a:r>
              <a:rPr sz="1200" spc="95" dirty="0">
                <a:latin typeface="Times New Roman"/>
                <a:cs typeface="Times New Roman"/>
              </a:rPr>
              <a:t> </a:t>
            </a:r>
            <a:r>
              <a:rPr sz="1200" dirty="0">
                <a:latin typeface="Times New Roman"/>
                <a:cs typeface="Times New Roman"/>
              </a:rPr>
              <a:t>secure,</a:t>
            </a:r>
            <a:r>
              <a:rPr sz="1200" spc="95" dirty="0">
                <a:latin typeface="Times New Roman"/>
                <a:cs typeface="Times New Roman"/>
              </a:rPr>
              <a:t> </a:t>
            </a:r>
            <a:r>
              <a:rPr sz="1200" dirty="0">
                <a:latin typeface="Times New Roman"/>
                <a:cs typeface="Times New Roman"/>
              </a:rPr>
              <a:t>scalable,</a:t>
            </a:r>
            <a:r>
              <a:rPr sz="1200" spc="100"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spc="-10" dirty="0">
                <a:latin typeface="Times New Roman"/>
                <a:cs typeface="Times New Roman"/>
              </a:rPr>
              <a:t>high-</a:t>
            </a:r>
            <a:r>
              <a:rPr sz="1200" dirty="0">
                <a:latin typeface="Times New Roman"/>
                <a:cs typeface="Times New Roman"/>
              </a:rPr>
              <a:t>performance</a:t>
            </a:r>
            <a:r>
              <a:rPr sz="1200" spc="90" dirty="0">
                <a:latin typeface="Times New Roman"/>
                <a:cs typeface="Times New Roman"/>
              </a:rPr>
              <a:t> </a:t>
            </a:r>
            <a:r>
              <a:rPr sz="1200" dirty="0">
                <a:latin typeface="Times New Roman"/>
                <a:cs typeface="Times New Roman"/>
              </a:rPr>
              <a:t>platform</a:t>
            </a:r>
            <a:r>
              <a:rPr sz="1200" spc="100" dirty="0">
                <a:latin typeface="Times New Roman"/>
                <a:cs typeface="Times New Roman"/>
              </a:rPr>
              <a:t> </a:t>
            </a:r>
            <a:r>
              <a:rPr sz="1200" dirty="0">
                <a:latin typeface="Times New Roman"/>
                <a:cs typeface="Times New Roman"/>
              </a:rPr>
              <a:t>for</a:t>
            </a:r>
            <a:r>
              <a:rPr sz="1200" spc="90" dirty="0">
                <a:latin typeface="Times New Roman"/>
                <a:cs typeface="Times New Roman"/>
              </a:rPr>
              <a:t> </a:t>
            </a:r>
            <a:r>
              <a:rPr sz="1200" spc="-10" dirty="0">
                <a:latin typeface="Times New Roman"/>
                <a:cs typeface="Times New Roman"/>
              </a:rPr>
              <a:t>real-</a:t>
            </a:r>
            <a:r>
              <a:rPr sz="1200" spc="-20" dirty="0">
                <a:latin typeface="Times New Roman"/>
                <a:cs typeface="Times New Roman"/>
              </a:rPr>
              <a:t>time </a:t>
            </a:r>
            <a:r>
              <a:rPr sz="1200" dirty="0">
                <a:latin typeface="Times New Roman"/>
                <a:cs typeface="Times New Roman"/>
              </a:rPr>
              <a:t>property</a:t>
            </a:r>
            <a:r>
              <a:rPr sz="1200" spc="-55" dirty="0">
                <a:latin typeface="Times New Roman"/>
                <a:cs typeface="Times New Roman"/>
              </a:rPr>
              <a:t> </a:t>
            </a:r>
            <a:r>
              <a:rPr sz="1200" spc="-10" dirty="0">
                <a:latin typeface="Times New Roman"/>
                <a:cs typeface="Times New Roman"/>
              </a:rPr>
              <a:t>bidding.</a:t>
            </a:r>
            <a:endParaRPr sz="12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80130" y="3462654"/>
            <a:ext cx="188722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25" dirty="0">
                <a:latin typeface="Times New Roman"/>
                <a:cs typeface="Times New Roman"/>
              </a:rPr>
              <a:t> </a:t>
            </a:r>
            <a:r>
              <a:rPr sz="1200" b="1" dirty="0">
                <a:latin typeface="Times New Roman"/>
                <a:cs typeface="Times New Roman"/>
              </a:rPr>
              <a:t>4.1:</a:t>
            </a:r>
            <a:r>
              <a:rPr sz="1200" b="1" spc="-25" dirty="0">
                <a:latin typeface="Times New Roman"/>
                <a:cs typeface="Times New Roman"/>
              </a:rPr>
              <a:t> </a:t>
            </a:r>
            <a:r>
              <a:rPr sz="1200" b="1" dirty="0">
                <a:latin typeface="Times New Roman"/>
                <a:cs typeface="Times New Roman"/>
              </a:rPr>
              <a:t>System</a:t>
            </a:r>
            <a:r>
              <a:rPr sz="1200" b="1" spc="-1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p:txBody>
      </p:sp>
      <p:sp>
        <p:nvSpPr>
          <p:cNvPr id="3" name="object 3"/>
          <p:cNvSpPr txBox="1"/>
          <p:nvPr/>
        </p:nvSpPr>
        <p:spPr>
          <a:xfrm>
            <a:off x="1176324" y="4468495"/>
            <a:ext cx="5696585" cy="3465829"/>
          </a:xfrm>
          <a:prstGeom prst="rect">
            <a:avLst/>
          </a:prstGeom>
        </p:spPr>
        <p:txBody>
          <a:bodyPr vert="horz" wrap="square" lIns="0" tIns="13335" rIns="0" bIns="0" rtlCol="0">
            <a:spAutoFit/>
          </a:bodyPr>
          <a:lstStyle/>
          <a:p>
            <a:pPr marL="12700" algn="just">
              <a:lnSpc>
                <a:spcPct val="100000"/>
              </a:lnSpc>
              <a:spcBef>
                <a:spcPts val="105"/>
              </a:spcBef>
            </a:pPr>
            <a:r>
              <a:rPr sz="1400" b="1" dirty="0">
                <a:latin typeface="Times New Roman"/>
                <a:cs typeface="Times New Roman"/>
              </a:rPr>
              <a:t>4.2.</a:t>
            </a:r>
            <a:r>
              <a:rPr sz="1400" b="1" spc="375" dirty="0">
                <a:latin typeface="Times New Roman"/>
                <a:cs typeface="Times New Roman"/>
              </a:rPr>
              <a:t>  </a:t>
            </a:r>
            <a:r>
              <a:rPr sz="1200" b="1" dirty="0">
                <a:latin typeface="Times New Roman"/>
                <a:cs typeface="Times New Roman"/>
              </a:rPr>
              <a:t>System </a:t>
            </a:r>
            <a:r>
              <a:rPr sz="1200" b="1" spc="-10" dirty="0">
                <a:latin typeface="Times New Roman"/>
                <a:cs typeface="Times New Roman"/>
              </a:rPr>
              <a:t>Design</a:t>
            </a:r>
            <a:endParaRPr sz="1200">
              <a:latin typeface="Times New Roman"/>
              <a:cs typeface="Times New Roman"/>
            </a:endParaRPr>
          </a:p>
          <a:p>
            <a:pPr marL="12700" marR="5080" algn="just">
              <a:lnSpc>
                <a:spcPct val="143800"/>
              </a:lnSpc>
              <a:spcBef>
                <a:spcPts val="55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Abode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follows</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modular,</a:t>
            </a:r>
            <a:r>
              <a:rPr sz="1200" spc="25" dirty="0">
                <a:latin typeface="Times New Roman"/>
                <a:cs typeface="Times New Roman"/>
              </a:rPr>
              <a:t> </a:t>
            </a:r>
            <a:r>
              <a:rPr sz="1200" dirty="0">
                <a:latin typeface="Times New Roman"/>
                <a:cs typeface="Times New Roman"/>
              </a:rPr>
              <a:t>scalable,</a:t>
            </a:r>
            <a:r>
              <a:rPr sz="1200" spc="2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efficient</a:t>
            </a:r>
            <a:r>
              <a:rPr sz="1200" spc="25" dirty="0">
                <a:latin typeface="Times New Roman"/>
                <a:cs typeface="Times New Roman"/>
              </a:rPr>
              <a:t> </a:t>
            </a:r>
            <a:r>
              <a:rPr sz="1200" dirty="0">
                <a:latin typeface="Times New Roman"/>
                <a:cs typeface="Times New Roman"/>
              </a:rPr>
              <a:t>architecture,</a:t>
            </a:r>
            <a:r>
              <a:rPr sz="1200" spc="25" dirty="0">
                <a:latin typeface="Times New Roman"/>
                <a:cs typeface="Times New Roman"/>
              </a:rPr>
              <a:t> </a:t>
            </a:r>
            <a:r>
              <a:rPr sz="1200" spc="-10" dirty="0">
                <a:latin typeface="Times New Roman"/>
                <a:cs typeface="Times New Roman"/>
              </a:rPr>
              <a:t>ensuring seamless</a:t>
            </a:r>
            <a:r>
              <a:rPr sz="1200" spc="-35" dirty="0">
                <a:latin typeface="Times New Roman"/>
                <a:cs typeface="Times New Roman"/>
              </a:rPr>
              <a:t> </a:t>
            </a:r>
            <a:r>
              <a:rPr sz="1200" spc="-10" dirty="0">
                <a:latin typeface="Times New Roman"/>
                <a:cs typeface="Times New Roman"/>
              </a:rPr>
              <a:t>user</a:t>
            </a:r>
            <a:r>
              <a:rPr sz="1200" spc="-35" dirty="0">
                <a:latin typeface="Times New Roman"/>
                <a:cs typeface="Times New Roman"/>
              </a:rPr>
              <a:t> </a:t>
            </a:r>
            <a:r>
              <a:rPr sz="1200" spc="-10" dirty="0">
                <a:latin typeface="Times New Roman"/>
                <a:cs typeface="Times New Roman"/>
              </a:rPr>
              <a:t>interactions,</a:t>
            </a:r>
            <a:r>
              <a:rPr sz="1200" spc="-30" dirty="0">
                <a:latin typeface="Times New Roman"/>
                <a:cs typeface="Times New Roman"/>
              </a:rPr>
              <a:t> </a:t>
            </a:r>
            <a:r>
              <a:rPr sz="1200" spc="-10" dirty="0">
                <a:latin typeface="Times New Roman"/>
                <a:cs typeface="Times New Roman"/>
              </a:rPr>
              <a:t>business</a:t>
            </a:r>
            <a:r>
              <a:rPr sz="1200" spc="-35" dirty="0">
                <a:latin typeface="Times New Roman"/>
                <a:cs typeface="Times New Roman"/>
              </a:rPr>
              <a:t> </a:t>
            </a:r>
            <a:r>
              <a:rPr sz="1200" spc="-10" dirty="0">
                <a:latin typeface="Times New Roman"/>
                <a:cs typeface="Times New Roman"/>
              </a:rPr>
              <a:t>logic,</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management.</a:t>
            </a:r>
            <a:r>
              <a:rPr sz="1200" spc="-30"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user</a:t>
            </a:r>
            <a:r>
              <a:rPr sz="1200" spc="-35" dirty="0">
                <a:latin typeface="Times New Roman"/>
                <a:cs typeface="Times New Roman"/>
              </a:rPr>
              <a:t> </a:t>
            </a:r>
            <a:r>
              <a:rPr sz="1200" spc="-10" dirty="0">
                <a:latin typeface="Times New Roman"/>
                <a:cs typeface="Times New Roman"/>
              </a:rPr>
              <a:t>interface,</a:t>
            </a:r>
            <a:r>
              <a:rPr sz="1200" spc="-30" dirty="0">
                <a:latin typeface="Times New Roman"/>
                <a:cs typeface="Times New Roman"/>
              </a:rPr>
              <a:t> </a:t>
            </a:r>
            <a:r>
              <a:rPr sz="1200" spc="-10" dirty="0">
                <a:latin typeface="Times New Roman"/>
                <a:cs typeface="Times New Roman"/>
              </a:rPr>
              <a:t>built</a:t>
            </a:r>
            <a:r>
              <a:rPr sz="1200" spc="-35" dirty="0">
                <a:latin typeface="Times New Roman"/>
                <a:cs typeface="Times New Roman"/>
              </a:rPr>
              <a:t> </a:t>
            </a:r>
            <a:r>
              <a:rPr sz="1200" spc="-20" dirty="0">
                <a:latin typeface="Times New Roman"/>
                <a:cs typeface="Times New Roman"/>
              </a:rPr>
              <a:t>with </a:t>
            </a:r>
            <a:r>
              <a:rPr sz="1200" dirty="0">
                <a:latin typeface="Times New Roman"/>
                <a:cs typeface="Times New Roman"/>
              </a:rPr>
              <a:t>React.js,</a:t>
            </a:r>
            <a:r>
              <a:rPr sz="1200" spc="400" dirty="0">
                <a:latin typeface="Times New Roman"/>
                <a:cs typeface="Times New Roman"/>
              </a:rPr>
              <a:t> </a:t>
            </a:r>
            <a:r>
              <a:rPr sz="1200" dirty="0">
                <a:latin typeface="Times New Roman"/>
                <a:cs typeface="Times New Roman"/>
              </a:rPr>
              <a:t>provides</a:t>
            </a:r>
            <a:r>
              <a:rPr sz="1200" spc="409" dirty="0">
                <a:latin typeface="Times New Roman"/>
                <a:cs typeface="Times New Roman"/>
              </a:rPr>
              <a:t> </a:t>
            </a:r>
            <a:r>
              <a:rPr sz="1200" dirty="0">
                <a:latin typeface="Times New Roman"/>
                <a:cs typeface="Times New Roman"/>
              </a:rPr>
              <a:t>a</a:t>
            </a:r>
            <a:r>
              <a:rPr sz="1200" spc="400" dirty="0">
                <a:latin typeface="Times New Roman"/>
                <a:cs typeface="Times New Roman"/>
              </a:rPr>
              <a:t> </a:t>
            </a:r>
            <a:r>
              <a:rPr sz="1200" dirty="0">
                <a:latin typeface="Times New Roman"/>
                <a:cs typeface="Times New Roman"/>
              </a:rPr>
              <a:t>responsive</a:t>
            </a:r>
            <a:r>
              <a:rPr sz="1200" spc="395"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dirty="0">
                <a:latin typeface="Times New Roman"/>
                <a:cs typeface="Times New Roman"/>
              </a:rPr>
              <a:t>interactive</a:t>
            </a:r>
            <a:r>
              <a:rPr sz="1200" spc="400" dirty="0">
                <a:latin typeface="Times New Roman"/>
                <a:cs typeface="Times New Roman"/>
              </a:rPr>
              <a:t> </a:t>
            </a:r>
            <a:r>
              <a:rPr sz="1200" dirty="0">
                <a:latin typeface="Times New Roman"/>
                <a:cs typeface="Times New Roman"/>
              </a:rPr>
              <a:t>experience,</a:t>
            </a:r>
            <a:r>
              <a:rPr sz="1200" spc="400" dirty="0">
                <a:latin typeface="Times New Roman"/>
                <a:cs typeface="Times New Roman"/>
              </a:rPr>
              <a:t> </a:t>
            </a:r>
            <a:r>
              <a:rPr sz="1200" dirty="0">
                <a:latin typeface="Times New Roman"/>
                <a:cs typeface="Times New Roman"/>
              </a:rPr>
              <a:t>allowing</a:t>
            </a:r>
            <a:r>
              <a:rPr sz="1200" spc="409" dirty="0">
                <a:latin typeface="Times New Roman"/>
                <a:cs typeface="Times New Roman"/>
              </a:rPr>
              <a:t> </a:t>
            </a:r>
            <a:r>
              <a:rPr sz="1200" dirty="0">
                <a:latin typeface="Times New Roman"/>
                <a:cs typeface="Times New Roman"/>
              </a:rPr>
              <a:t>users</a:t>
            </a:r>
            <a:r>
              <a:rPr sz="1200" spc="400" dirty="0">
                <a:latin typeface="Times New Roman"/>
                <a:cs typeface="Times New Roman"/>
              </a:rPr>
              <a:t> </a:t>
            </a:r>
            <a:r>
              <a:rPr sz="1200" dirty="0">
                <a:latin typeface="Times New Roman"/>
                <a:cs typeface="Times New Roman"/>
              </a:rPr>
              <a:t>to</a:t>
            </a:r>
            <a:r>
              <a:rPr sz="1200" spc="400" dirty="0">
                <a:latin typeface="Times New Roman"/>
                <a:cs typeface="Times New Roman"/>
              </a:rPr>
              <a:t> </a:t>
            </a:r>
            <a:r>
              <a:rPr sz="1200" spc="-10" dirty="0">
                <a:latin typeface="Times New Roman"/>
                <a:cs typeface="Times New Roman"/>
              </a:rPr>
              <a:t>browse </a:t>
            </a:r>
            <a:r>
              <a:rPr sz="1200" dirty="0">
                <a:latin typeface="Times New Roman"/>
                <a:cs typeface="Times New Roman"/>
              </a:rPr>
              <a:t>properties,</a:t>
            </a:r>
            <a:r>
              <a:rPr sz="1200" spc="135" dirty="0">
                <a:latin typeface="Times New Roman"/>
                <a:cs typeface="Times New Roman"/>
              </a:rPr>
              <a:t> </a:t>
            </a:r>
            <a:r>
              <a:rPr sz="1200" dirty="0">
                <a:latin typeface="Times New Roman"/>
                <a:cs typeface="Times New Roman"/>
              </a:rPr>
              <a:t>place</a:t>
            </a:r>
            <a:r>
              <a:rPr sz="1200" spc="135" dirty="0">
                <a:latin typeface="Times New Roman"/>
                <a:cs typeface="Times New Roman"/>
              </a:rPr>
              <a:t> </a:t>
            </a:r>
            <a:r>
              <a:rPr sz="1200" dirty="0">
                <a:latin typeface="Times New Roman"/>
                <a:cs typeface="Times New Roman"/>
              </a:rPr>
              <a:t>bids,</a:t>
            </a:r>
            <a:r>
              <a:rPr sz="1200" spc="140"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manage</a:t>
            </a:r>
            <a:r>
              <a:rPr sz="1200" spc="130" dirty="0">
                <a:latin typeface="Times New Roman"/>
                <a:cs typeface="Times New Roman"/>
              </a:rPr>
              <a:t> </a:t>
            </a:r>
            <a:r>
              <a:rPr sz="1200" dirty="0">
                <a:latin typeface="Times New Roman"/>
                <a:cs typeface="Times New Roman"/>
              </a:rPr>
              <a:t>their</a:t>
            </a:r>
            <a:r>
              <a:rPr sz="1200" spc="145" dirty="0">
                <a:latin typeface="Times New Roman"/>
                <a:cs typeface="Times New Roman"/>
              </a:rPr>
              <a:t> </a:t>
            </a:r>
            <a:r>
              <a:rPr sz="1200" dirty="0">
                <a:latin typeface="Times New Roman"/>
                <a:cs typeface="Times New Roman"/>
              </a:rPr>
              <a:t>accounts.</a:t>
            </a:r>
            <a:r>
              <a:rPr sz="1200" spc="140" dirty="0">
                <a:latin typeface="Times New Roman"/>
                <a:cs typeface="Times New Roman"/>
              </a:rPr>
              <a:t> </a:t>
            </a:r>
            <a:r>
              <a:rPr sz="1200" dirty="0">
                <a:latin typeface="Times New Roman"/>
                <a:cs typeface="Times New Roman"/>
              </a:rPr>
              <a:t>State</a:t>
            </a:r>
            <a:r>
              <a:rPr sz="1200" spc="135" dirty="0">
                <a:latin typeface="Times New Roman"/>
                <a:cs typeface="Times New Roman"/>
              </a:rPr>
              <a:t> </a:t>
            </a:r>
            <a:r>
              <a:rPr sz="1200" dirty="0">
                <a:latin typeface="Times New Roman"/>
                <a:cs typeface="Times New Roman"/>
              </a:rPr>
              <a:t>management</a:t>
            </a:r>
            <a:r>
              <a:rPr sz="1200" spc="135" dirty="0">
                <a:latin typeface="Times New Roman"/>
                <a:cs typeface="Times New Roman"/>
              </a:rPr>
              <a:t> </a:t>
            </a:r>
            <a:r>
              <a:rPr sz="1200" dirty="0">
                <a:latin typeface="Times New Roman"/>
                <a:cs typeface="Times New Roman"/>
              </a:rPr>
              <a:t>with</a:t>
            </a:r>
            <a:r>
              <a:rPr sz="1200" spc="140" dirty="0">
                <a:latin typeface="Times New Roman"/>
                <a:cs typeface="Times New Roman"/>
              </a:rPr>
              <a:t> </a:t>
            </a:r>
            <a:r>
              <a:rPr sz="1200" dirty="0">
                <a:latin typeface="Times New Roman"/>
                <a:cs typeface="Times New Roman"/>
              </a:rPr>
              <a:t>Redux</a:t>
            </a:r>
            <a:r>
              <a:rPr sz="1200" spc="135" dirty="0">
                <a:latin typeface="Times New Roman"/>
                <a:cs typeface="Times New Roman"/>
              </a:rPr>
              <a:t> </a:t>
            </a:r>
            <a:r>
              <a:rPr sz="1200" spc="-10" dirty="0">
                <a:latin typeface="Times New Roman"/>
                <a:cs typeface="Times New Roman"/>
              </a:rPr>
              <a:t>ensures </a:t>
            </a:r>
            <a:r>
              <a:rPr sz="1200" dirty="0">
                <a:latin typeface="Times New Roman"/>
                <a:cs typeface="Times New Roman"/>
              </a:rPr>
              <a:t>smooth</a:t>
            </a:r>
            <a:r>
              <a:rPr sz="1200" spc="210" dirty="0">
                <a:latin typeface="Times New Roman"/>
                <a:cs typeface="Times New Roman"/>
              </a:rPr>
              <a:t> </a:t>
            </a:r>
            <a:r>
              <a:rPr sz="1200" dirty="0">
                <a:latin typeface="Times New Roman"/>
                <a:cs typeface="Times New Roman"/>
              </a:rPr>
              <a:t>data</a:t>
            </a:r>
            <a:r>
              <a:rPr sz="1200" spc="210" dirty="0">
                <a:latin typeface="Times New Roman"/>
                <a:cs typeface="Times New Roman"/>
              </a:rPr>
              <a:t> </a:t>
            </a:r>
            <a:r>
              <a:rPr sz="1200" dirty="0">
                <a:latin typeface="Times New Roman"/>
                <a:cs typeface="Times New Roman"/>
              </a:rPr>
              <a:t>handling,</a:t>
            </a:r>
            <a:r>
              <a:rPr sz="1200" spc="220" dirty="0">
                <a:latin typeface="Times New Roman"/>
                <a:cs typeface="Times New Roman"/>
              </a:rPr>
              <a:t> </a:t>
            </a:r>
            <a:r>
              <a:rPr sz="1200" dirty="0">
                <a:latin typeface="Times New Roman"/>
                <a:cs typeface="Times New Roman"/>
              </a:rPr>
              <a:t>while</a:t>
            </a:r>
            <a:r>
              <a:rPr sz="1200" spc="204" dirty="0">
                <a:latin typeface="Times New Roman"/>
                <a:cs typeface="Times New Roman"/>
              </a:rPr>
              <a:t> </a:t>
            </a:r>
            <a:r>
              <a:rPr sz="1200" dirty="0">
                <a:latin typeface="Times New Roman"/>
                <a:cs typeface="Times New Roman"/>
              </a:rPr>
              <a:t>WebSocket’s</a:t>
            </a:r>
            <a:r>
              <a:rPr sz="1200" spc="210" dirty="0">
                <a:latin typeface="Times New Roman"/>
                <a:cs typeface="Times New Roman"/>
              </a:rPr>
              <a:t> </a:t>
            </a:r>
            <a:r>
              <a:rPr sz="1200" dirty="0">
                <a:latin typeface="Times New Roman"/>
                <a:cs typeface="Times New Roman"/>
              </a:rPr>
              <a:t>(Socket.io)</a:t>
            </a:r>
            <a:r>
              <a:rPr sz="1200" spc="210" dirty="0">
                <a:latin typeface="Times New Roman"/>
                <a:cs typeface="Times New Roman"/>
              </a:rPr>
              <a:t> </a:t>
            </a:r>
            <a:r>
              <a:rPr sz="1200" dirty="0">
                <a:latin typeface="Times New Roman"/>
                <a:cs typeface="Times New Roman"/>
              </a:rPr>
              <a:t>enable</a:t>
            </a:r>
            <a:r>
              <a:rPr sz="1200" spc="204"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20" dirty="0">
                <a:latin typeface="Times New Roman"/>
                <a:cs typeface="Times New Roman"/>
              </a:rPr>
              <a:t> </a:t>
            </a:r>
            <a:r>
              <a:rPr sz="1200" dirty="0">
                <a:latin typeface="Times New Roman"/>
                <a:cs typeface="Times New Roman"/>
              </a:rPr>
              <a:t>bid</a:t>
            </a:r>
            <a:r>
              <a:rPr sz="1200" spc="210" dirty="0">
                <a:latin typeface="Times New Roman"/>
                <a:cs typeface="Times New Roman"/>
              </a:rPr>
              <a:t> </a:t>
            </a:r>
            <a:r>
              <a:rPr sz="1200" dirty="0">
                <a:latin typeface="Times New Roman"/>
                <a:cs typeface="Times New Roman"/>
              </a:rPr>
              <a:t>updates.</a:t>
            </a:r>
            <a:r>
              <a:rPr sz="1200" spc="210" dirty="0">
                <a:latin typeface="Times New Roman"/>
                <a:cs typeface="Times New Roman"/>
              </a:rPr>
              <a:t> </a:t>
            </a:r>
            <a:r>
              <a:rPr sz="1200" spc="-25" dirty="0">
                <a:latin typeface="Times New Roman"/>
                <a:cs typeface="Times New Roman"/>
              </a:rPr>
              <a:t>The </a:t>
            </a:r>
            <a:r>
              <a:rPr sz="1200" dirty="0">
                <a:latin typeface="Times New Roman"/>
                <a:cs typeface="Times New Roman"/>
              </a:rPr>
              <a:t>backend</a:t>
            </a:r>
            <a:r>
              <a:rPr sz="1200" spc="90" dirty="0">
                <a:latin typeface="Times New Roman"/>
                <a:cs typeface="Times New Roman"/>
              </a:rPr>
              <a:t> </a:t>
            </a:r>
            <a:r>
              <a:rPr sz="1200" dirty="0">
                <a:latin typeface="Times New Roman"/>
                <a:cs typeface="Times New Roman"/>
              </a:rPr>
              <a:t>API,</a:t>
            </a:r>
            <a:r>
              <a:rPr sz="1200" spc="85" dirty="0">
                <a:latin typeface="Times New Roman"/>
                <a:cs typeface="Times New Roman"/>
              </a:rPr>
              <a:t> </a:t>
            </a:r>
            <a:r>
              <a:rPr sz="1200" dirty="0">
                <a:latin typeface="Times New Roman"/>
                <a:cs typeface="Times New Roman"/>
              </a:rPr>
              <a:t>developed</a:t>
            </a:r>
            <a:r>
              <a:rPr sz="1200" spc="95" dirty="0">
                <a:latin typeface="Times New Roman"/>
                <a:cs typeface="Times New Roman"/>
              </a:rPr>
              <a:t> </a:t>
            </a:r>
            <a:r>
              <a:rPr sz="1200" dirty="0">
                <a:latin typeface="Times New Roman"/>
                <a:cs typeface="Times New Roman"/>
              </a:rPr>
              <a:t>using</a:t>
            </a:r>
            <a:r>
              <a:rPr sz="1200" spc="85" dirty="0">
                <a:latin typeface="Times New Roman"/>
                <a:cs typeface="Times New Roman"/>
              </a:rPr>
              <a:t> </a:t>
            </a:r>
            <a:r>
              <a:rPr sz="1200" dirty="0">
                <a:latin typeface="Times New Roman"/>
                <a:cs typeface="Times New Roman"/>
              </a:rPr>
              <a:t>Node.js</a:t>
            </a:r>
            <a:r>
              <a:rPr sz="1200" spc="100"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dirty="0">
                <a:latin typeface="Times New Roman"/>
                <a:cs typeface="Times New Roman"/>
              </a:rPr>
              <a:t>Express.js,</a:t>
            </a:r>
            <a:r>
              <a:rPr sz="1200" spc="80" dirty="0">
                <a:latin typeface="Times New Roman"/>
                <a:cs typeface="Times New Roman"/>
              </a:rPr>
              <a:t> </a:t>
            </a:r>
            <a:r>
              <a:rPr sz="1200" dirty="0">
                <a:latin typeface="Times New Roman"/>
                <a:cs typeface="Times New Roman"/>
              </a:rPr>
              <a:t>acts</a:t>
            </a:r>
            <a:r>
              <a:rPr sz="1200" spc="100" dirty="0">
                <a:latin typeface="Times New Roman"/>
                <a:cs typeface="Times New Roman"/>
              </a:rPr>
              <a:t> </a:t>
            </a:r>
            <a:r>
              <a:rPr sz="1200" dirty="0">
                <a:latin typeface="Times New Roman"/>
                <a:cs typeface="Times New Roman"/>
              </a:rPr>
              <a:t>as</a:t>
            </a:r>
            <a:r>
              <a:rPr sz="1200" spc="85"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API</a:t>
            </a:r>
            <a:r>
              <a:rPr sz="1200" spc="70" dirty="0">
                <a:latin typeface="Times New Roman"/>
                <a:cs typeface="Times New Roman"/>
              </a:rPr>
              <a:t> </a:t>
            </a:r>
            <a:r>
              <a:rPr sz="1200" dirty="0">
                <a:latin typeface="Times New Roman"/>
                <a:cs typeface="Times New Roman"/>
              </a:rPr>
              <a:t>gateway,</a:t>
            </a:r>
            <a:r>
              <a:rPr sz="1200" spc="95" dirty="0">
                <a:latin typeface="Times New Roman"/>
                <a:cs typeface="Times New Roman"/>
              </a:rPr>
              <a:t> </a:t>
            </a:r>
            <a:r>
              <a:rPr sz="1200" spc="-10" dirty="0">
                <a:latin typeface="Times New Roman"/>
                <a:cs typeface="Times New Roman"/>
              </a:rPr>
              <a:t>managing </a:t>
            </a:r>
            <a:r>
              <a:rPr sz="1200" dirty="0">
                <a:latin typeface="Times New Roman"/>
                <a:cs typeface="Times New Roman"/>
              </a:rPr>
              <a:t>authentication</a:t>
            </a:r>
            <a:r>
              <a:rPr sz="1200" spc="495" dirty="0">
                <a:latin typeface="Times New Roman"/>
                <a:cs typeface="Times New Roman"/>
              </a:rPr>
              <a:t> </a:t>
            </a:r>
            <a:r>
              <a:rPr sz="1200" dirty="0">
                <a:latin typeface="Times New Roman"/>
                <a:cs typeface="Times New Roman"/>
              </a:rPr>
              <a:t>(JWT),</a:t>
            </a:r>
            <a:r>
              <a:rPr sz="1200" spc="105" dirty="0">
                <a:latin typeface="Times New Roman"/>
                <a:cs typeface="Times New Roman"/>
              </a:rPr>
              <a:t>  </a:t>
            </a:r>
            <a:r>
              <a:rPr sz="1200" dirty="0">
                <a:latin typeface="Times New Roman"/>
                <a:cs typeface="Times New Roman"/>
              </a:rPr>
              <a:t>bidding</a:t>
            </a:r>
            <a:r>
              <a:rPr sz="1200" spc="100" dirty="0">
                <a:latin typeface="Times New Roman"/>
                <a:cs typeface="Times New Roman"/>
              </a:rPr>
              <a:t>  </a:t>
            </a:r>
            <a:r>
              <a:rPr sz="1200" dirty="0">
                <a:latin typeface="Times New Roman"/>
                <a:cs typeface="Times New Roman"/>
              </a:rPr>
              <a:t>logic,</a:t>
            </a:r>
            <a:r>
              <a:rPr sz="1200" spc="100" dirty="0">
                <a:latin typeface="Times New Roman"/>
                <a:cs typeface="Times New Roman"/>
              </a:rPr>
              <a:t>  </a:t>
            </a:r>
            <a:r>
              <a:rPr sz="1200" spc="-10" dirty="0">
                <a:latin typeface="Times New Roman"/>
                <a:cs typeface="Times New Roman"/>
              </a:rPr>
              <a:t>AI-</a:t>
            </a:r>
            <a:r>
              <a:rPr sz="1200" dirty="0">
                <a:latin typeface="Times New Roman"/>
                <a:cs typeface="Times New Roman"/>
              </a:rPr>
              <a:t>based</a:t>
            </a:r>
            <a:r>
              <a:rPr sz="1200" spc="100" dirty="0">
                <a:latin typeface="Times New Roman"/>
                <a:cs typeface="Times New Roman"/>
              </a:rPr>
              <a:t>  </a:t>
            </a:r>
            <a:r>
              <a:rPr sz="1200" dirty="0">
                <a:latin typeface="Times New Roman"/>
                <a:cs typeface="Times New Roman"/>
              </a:rPr>
              <a:t>property</a:t>
            </a:r>
            <a:r>
              <a:rPr sz="1200" spc="105" dirty="0">
                <a:latin typeface="Times New Roman"/>
                <a:cs typeface="Times New Roman"/>
              </a:rPr>
              <a:t>  </a:t>
            </a:r>
            <a:r>
              <a:rPr sz="1200" dirty="0">
                <a:latin typeface="Times New Roman"/>
                <a:cs typeface="Times New Roman"/>
              </a:rPr>
              <a:t>verification,</a:t>
            </a:r>
            <a:r>
              <a:rPr sz="1200" spc="100"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spc="-10" dirty="0">
                <a:latin typeface="Times New Roman"/>
                <a:cs typeface="Times New Roman"/>
              </a:rPr>
              <a:t>transaction </a:t>
            </a:r>
            <a:r>
              <a:rPr sz="1200" dirty="0">
                <a:latin typeface="Times New Roman"/>
                <a:cs typeface="Times New Roman"/>
              </a:rPr>
              <a:t>processing.</a:t>
            </a:r>
            <a:r>
              <a:rPr sz="1200" spc="65" dirty="0">
                <a:latin typeface="Times New Roman"/>
                <a:cs typeface="Times New Roman"/>
              </a:rPr>
              <a:t> </a:t>
            </a:r>
            <a:r>
              <a:rPr sz="1200" dirty="0">
                <a:latin typeface="Times New Roman"/>
                <a:cs typeface="Times New Roman"/>
              </a:rPr>
              <a:t>It</a:t>
            </a:r>
            <a:r>
              <a:rPr sz="1200" spc="55" dirty="0">
                <a:latin typeface="Times New Roman"/>
                <a:cs typeface="Times New Roman"/>
              </a:rPr>
              <a:t> </a:t>
            </a:r>
            <a:r>
              <a:rPr sz="1200" dirty="0">
                <a:latin typeface="Times New Roman"/>
                <a:cs typeface="Times New Roman"/>
              </a:rPr>
              <a:t>also</a:t>
            </a:r>
            <a:r>
              <a:rPr sz="1200" spc="55" dirty="0">
                <a:latin typeface="Times New Roman"/>
                <a:cs typeface="Times New Roman"/>
              </a:rPr>
              <a:t> </a:t>
            </a:r>
            <a:r>
              <a:rPr sz="1200" dirty="0">
                <a:latin typeface="Times New Roman"/>
                <a:cs typeface="Times New Roman"/>
              </a:rPr>
              <a:t>integrates</a:t>
            </a:r>
            <a:r>
              <a:rPr sz="1200" spc="55" dirty="0">
                <a:latin typeface="Times New Roman"/>
                <a:cs typeface="Times New Roman"/>
              </a:rPr>
              <a:t> </a:t>
            </a:r>
            <a:r>
              <a:rPr sz="1200" dirty="0">
                <a:latin typeface="Times New Roman"/>
                <a:cs typeface="Times New Roman"/>
              </a:rPr>
              <a:t>with</a:t>
            </a:r>
            <a:r>
              <a:rPr sz="1200" spc="55" dirty="0">
                <a:latin typeface="Times New Roman"/>
                <a:cs typeface="Times New Roman"/>
              </a:rPr>
              <a:t> </a:t>
            </a:r>
            <a:r>
              <a:rPr sz="1200" dirty="0">
                <a:latin typeface="Times New Roman"/>
                <a:cs typeface="Times New Roman"/>
              </a:rPr>
              <a:t>external</a:t>
            </a:r>
            <a:r>
              <a:rPr sz="1200" spc="60" dirty="0">
                <a:latin typeface="Times New Roman"/>
                <a:cs typeface="Times New Roman"/>
              </a:rPr>
              <a:t> </a:t>
            </a:r>
            <a:r>
              <a:rPr sz="1200" dirty="0">
                <a:latin typeface="Times New Roman"/>
                <a:cs typeface="Times New Roman"/>
              </a:rPr>
              <a:t>services</a:t>
            </a:r>
            <a:r>
              <a:rPr sz="1200" spc="55" dirty="0">
                <a:latin typeface="Times New Roman"/>
                <a:cs typeface="Times New Roman"/>
              </a:rPr>
              <a:t> </a:t>
            </a:r>
            <a:r>
              <a:rPr sz="1200" dirty="0">
                <a:latin typeface="Times New Roman"/>
                <a:cs typeface="Times New Roman"/>
              </a:rPr>
              <a:t>like</a:t>
            </a:r>
            <a:r>
              <a:rPr sz="1200" spc="50" dirty="0">
                <a:latin typeface="Times New Roman"/>
                <a:cs typeface="Times New Roman"/>
              </a:rPr>
              <a:t> </a:t>
            </a:r>
            <a:r>
              <a:rPr sz="1200" dirty="0">
                <a:latin typeface="Times New Roman"/>
                <a:cs typeface="Times New Roman"/>
              </a:rPr>
              <a:t>payment</a:t>
            </a:r>
            <a:r>
              <a:rPr sz="1200" spc="55" dirty="0">
                <a:latin typeface="Times New Roman"/>
                <a:cs typeface="Times New Roman"/>
              </a:rPr>
              <a:t> </a:t>
            </a:r>
            <a:r>
              <a:rPr sz="1200" dirty="0">
                <a:latin typeface="Times New Roman"/>
                <a:cs typeface="Times New Roman"/>
              </a:rPr>
              <a:t>gateways</a:t>
            </a:r>
            <a:r>
              <a:rPr sz="1200" spc="55" dirty="0">
                <a:latin typeface="Times New Roman"/>
                <a:cs typeface="Times New Roman"/>
              </a:rPr>
              <a:t> </a:t>
            </a:r>
            <a:r>
              <a:rPr sz="1200" dirty="0">
                <a:latin typeface="Times New Roman"/>
                <a:cs typeface="Times New Roman"/>
              </a:rPr>
              <a:t>(Stripe,</a:t>
            </a:r>
            <a:r>
              <a:rPr sz="1200" spc="55" dirty="0">
                <a:latin typeface="Times New Roman"/>
                <a:cs typeface="Times New Roman"/>
              </a:rPr>
              <a:t> </a:t>
            </a:r>
            <a:r>
              <a:rPr sz="1200" spc="-10" dirty="0">
                <a:latin typeface="Times New Roman"/>
                <a:cs typeface="Times New Roman"/>
              </a:rPr>
              <a:t>PayPal) </a:t>
            </a:r>
            <a:r>
              <a:rPr sz="1200" dirty="0">
                <a:latin typeface="Times New Roman"/>
                <a:cs typeface="Times New Roman"/>
              </a:rPr>
              <a:t>for</a:t>
            </a:r>
            <a:r>
              <a:rPr sz="1200" spc="300" dirty="0">
                <a:latin typeface="Times New Roman"/>
                <a:cs typeface="Times New Roman"/>
              </a:rPr>
              <a:t> </a:t>
            </a:r>
            <a:r>
              <a:rPr sz="1200" dirty="0">
                <a:latin typeface="Times New Roman"/>
                <a:cs typeface="Times New Roman"/>
              </a:rPr>
              <a:t>secure</a:t>
            </a:r>
            <a:r>
              <a:rPr sz="1200" spc="310" dirty="0">
                <a:latin typeface="Times New Roman"/>
                <a:cs typeface="Times New Roman"/>
              </a:rPr>
              <a:t> </a:t>
            </a:r>
            <a:r>
              <a:rPr sz="1200" dirty="0">
                <a:latin typeface="Times New Roman"/>
                <a:cs typeface="Times New Roman"/>
              </a:rPr>
              <a:t>transactions</a:t>
            </a:r>
            <a:r>
              <a:rPr sz="1200" spc="310" dirty="0">
                <a:latin typeface="Times New Roman"/>
                <a:cs typeface="Times New Roman"/>
              </a:rPr>
              <a:t> </a:t>
            </a:r>
            <a:r>
              <a:rPr sz="1200" dirty="0">
                <a:latin typeface="Times New Roman"/>
                <a:cs typeface="Times New Roman"/>
              </a:rPr>
              <a:t>and</a:t>
            </a:r>
            <a:r>
              <a:rPr sz="1200" spc="315" dirty="0">
                <a:latin typeface="Times New Roman"/>
                <a:cs typeface="Times New Roman"/>
              </a:rPr>
              <a:t> </a:t>
            </a:r>
            <a:r>
              <a:rPr sz="1200" dirty="0">
                <a:latin typeface="Times New Roman"/>
                <a:cs typeface="Times New Roman"/>
              </a:rPr>
              <a:t>notification</a:t>
            </a:r>
            <a:r>
              <a:rPr sz="1200" spc="310" dirty="0">
                <a:latin typeface="Times New Roman"/>
                <a:cs typeface="Times New Roman"/>
              </a:rPr>
              <a:t> </a:t>
            </a:r>
            <a:r>
              <a:rPr sz="1200" dirty="0">
                <a:latin typeface="Times New Roman"/>
                <a:cs typeface="Times New Roman"/>
              </a:rPr>
              <a:t>services</a:t>
            </a:r>
            <a:r>
              <a:rPr sz="1200" spc="315" dirty="0">
                <a:latin typeface="Times New Roman"/>
                <a:cs typeface="Times New Roman"/>
              </a:rPr>
              <a:t> </a:t>
            </a:r>
            <a:r>
              <a:rPr sz="1200" dirty="0">
                <a:latin typeface="Times New Roman"/>
                <a:cs typeface="Times New Roman"/>
              </a:rPr>
              <a:t>(Email/SMS)</a:t>
            </a:r>
            <a:r>
              <a:rPr sz="1200" spc="295" dirty="0">
                <a:latin typeface="Times New Roman"/>
                <a:cs typeface="Times New Roman"/>
              </a:rPr>
              <a:t> </a:t>
            </a:r>
            <a:r>
              <a:rPr sz="1200" dirty="0">
                <a:latin typeface="Times New Roman"/>
                <a:cs typeface="Times New Roman"/>
              </a:rPr>
              <a:t>for</a:t>
            </a:r>
            <a:r>
              <a:rPr sz="1200" spc="30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10" dirty="0">
                <a:latin typeface="Times New Roman"/>
                <a:cs typeface="Times New Roman"/>
              </a:rPr>
              <a:t> </a:t>
            </a:r>
            <a:r>
              <a:rPr sz="1200" dirty="0">
                <a:latin typeface="Times New Roman"/>
                <a:cs typeface="Times New Roman"/>
              </a:rPr>
              <a:t>alerts.</a:t>
            </a:r>
            <a:r>
              <a:rPr sz="1200" spc="320" dirty="0">
                <a:latin typeface="Times New Roman"/>
                <a:cs typeface="Times New Roman"/>
              </a:rPr>
              <a:t> </a:t>
            </a:r>
            <a:r>
              <a:rPr sz="1200" spc="-25" dirty="0">
                <a:latin typeface="Times New Roman"/>
                <a:cs typeface="Times New Roman"/>
              </a:rPr>
              <a:t>The </a:t>
            </a:r>
            <a:r>
              <a:rPr sz="1200" dirty="0">
                <a:latin typeface="Times New Roman"/>
                <a:cs typeface="Times New Roman"/>
              </a:rPr>
              <a:t>database</a:t>
            </a:r>
            <a:r>
              <a:rPr sz="1200" spc="405" dirty="0">
                <a:latin typeface="Times New Roman"/>
                <a:cs typeface="Times New Roman"/>
              </a:rPr>
              <a:t> </a:t>
            </a:r>
            <a:r>
              <a:rPr sz="1200" dirty="0">
                <a:latin typeface="Times New Roman"/>
                <a:cs typeface="Times New Roman"/>
              </a:rPr>
              <a:t>layer,</a:t>
            </a:r>
            <a:r>
              <a:rPr sz="1200" spc="405" dirty="0">
                <a:latin typeface="Times New Roman"/>
                <a:cs typeface="Times New Roman"/>
              </a:rPr>
              <a:t> </a:t>
            </a:r>
            <a:r>
              <a:rPr sz="1200" dirty="0">
                <a:latin typeface="Times New Roman"/>
                <a:cs typeface="Times New Roman"/>
              </a:rPr>
              <a:t>powered</a:t>
            </a:r>
            <a:r>
              <a:rPr sz="1200" spc="409" dirty="0">
                <a:latin typeface="Times New Roman"/>
                <a:cs typeface="Times New Roman"/>
              </a:rPr>
              <a:t> </a:t>
            </a:r>
            <a:r>
              <a:rPr sz="1200" dirty="0">
                <a:latin typeface="Times New Roman"/>
                <a:cs typeface="Times New Roman"/>
              </a:rPr>
              <a:t>by</a:t>
            </a:r>
            <a:r>
              <a:rPr sz="1200" spc="409" dirty="0">
                <a:latin typeface="Times New Roman"/>
                <a:cs typeface="Times New Roman"/>
              </a:rPr>
              <a:t> </a:t>
            </a:r>
            <a:r>
              <a:rPr sz="1200" dirty="0">
                <a:latin typeface="Times New Roman"/>
                <a:cs typeface="Times New Roman"/>
              </a:rPr>
              <a:t>MongoDB,</a:t>
            </a:r>
            <a:r>
              <a:rPr sz="1200" spc="415" dirty="0">
                <a:latin typeface="Times New Roman"/>
                <a:cs typeface="Times New Roman"/>
              </a:rPr>
              <a:t> </a:t>
            </a:r>
            <a:r>
              <a:rPr sz="1200" dirty="0">
                <a:latin typeface="Times New Roman"/>
                <a:cs typeface="Times New Roman"/>
              </a:rPr>
              <a:t>efficiently</a:t>
            </a:r>
            <a:r>
              <a:rPr sz="1200" spc="409" dirty="0">
                <a:latin typeface="Times New Roman"/>
                <a:cs typeface="Times New Roman"/>
              </a:rPr>
              <a:t> </a:t>
            </a:r>
            <a:r>
              <a:rPr sz="1200" dirty="0">
                <a:latin typeface="Times New Roman"/>
                <a:cs typeface="Times New Roman"/>
              </a:rPr>
              <a:t>stores</a:t>
            </a:r>
            <a:r>
              <a:rPr sz="1200" spc="409" dirty="0">
                <a:latin typeface="Times New Roman"/>
                <a:cs typeface="Times New Roman"/>
              </a:rPr>
              <a:t> </a:t>
            </a:r>
            <a:r>
              <a:rPr sz="1200" dirty="0">
                <a:latin typeface="Times New Roman"/>
                <a:cs typeface="Times New Roman"/>
              </a:rPr>
              <a:t>users,</a:t>
            </a:r>
            <a:r>
              <a:rPr sz="1200" spc="409" dirty="0">
                <a:latin typeface="Times New Roman"/>
                <a:cs typeface="Times New Roman"/>
              </a:rPr>
              <a:t> </a:t>
            </a:r>
            <a:r>
              <a:rPr sz="1200" dirty="0">
                <a:latin typeface="Times New Roman"/>
                <a:cs typeface="Times New Roman"/>
              </a:rPr>
              <a:t>properties,</a:t>
            </a:r>
            <a:r>
              <a:rPr sz="1200" spc="409" dirty="0">
                <a:latin typeface="Times New Roman"/>
                <a:cs typeface="Times New Roman"/>
              </a:rPr>
              <a:t> </a:t>
            </a:r>
            <a:r>
              <a:rPr sz="1200" dirty="0">
                <a:latin typeface="Times New Roman"/>
                <a:cs typeface="Times New Roman"/>
              </a:rPr>
              <a:t>bids,</a:t>
            </a:r>
            <a:r>
              <a:rPr sz="1200" spc="415" dirty="0">
                <a:latin typeface="Times New Roman"/>
                <a:cs typeface="Times New Roman"/>
              </a:rPr>
              <a:t> </a:t>
            </a:r>
            <a:r>
              <a:rPr sz="1200" spc="-25" dirty="0">
                <a:latin typeface="Times New Roman"/>
                <a:cs typeface="Times New Roman"/>
              </a:rPr>
              <a:t>and </a:t>
            </a:r>
            <a:r>
              <a:rPr sz="1200" dirty="0">
                <a:latin typeface="Times New Roman"/>
                <a:cs typeface="Times New Roman"/>
              </a:rPr>
              <a:t>transactions,</a:t>
            </a:r>
            <a:r>
              <a:rPr sz="1200" spc="240" dirty="0">
                <a:latin typeface="Times New Roman"/>
                <a:cs typeface="Times New Roman"/>
              </a:rPr>
              <a:t> </a:t>
            </a:r>
            <a:r>
              <a:rPr sz="1200" dirty="0">
                <a:latin typeface="Times New Roman"/>
                <a:cs typeface="Times New Roman"/>
              </a:rPr>
              <a:t>ensuring</a:t>
            </a:r>
            <a:r>
              <a:rPr sz="1200" spc="235" dirty="0">
                <a:latin typeface="Times New Roman"/>
                <a:cs typeface="Times New Roman"/>
              </a:rPr>
              <a:t> </a:t>
            </a:r>
            <a:r>
              <a:rPr sz="1200" dirty="0">
                <a:latin typeface="Times New Roman"/>
                <a:cs typeface="Times New Roman"/>
              </a:rPr>
              <a:t>fast</a:t>
            </a:r>
            <a:r>
              <a:rPr sz="1200" spc="245" dirty="0">
                <a:latin typeface="Times New Roman"/>
                <a:cs typeface="Times New Roman"/>
              </a:rPr>
              <a:t> </a:t>
            </a:r>
            <a:r>
              <a:rPr sz="1200" dirty="0">
                <a:latin typeface="Times New Roman"/>
                <a:cs typeface="Times New Roman"/>
              </a:rPr>
              <a:t>queries</a:t>
            </a:r>
            <a:r>
              <a:rPr sz="1200" spc="240" dirty="0">
                <a:latin typeface="Times New Roman"/>
                <a:cs typeface="Times New Roman"/>
              </a:rPr>
              <a:t> </a:t>
            </a:r>
            <a:r>
              <a:rPr sz="1200" dirty="0">
                <a:latin typeface="Times New Roman"/>
                <a:cs typeface="Times New Roman"/>
              </a:rPr>
              <a:t>and</a:t>
            </a:r>
            <a:r>
              <a:rPr sz="1200" spc="24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45" dirty="0">
                <a:latin typeface="Times New Roman"/>
                <a:cs typeface="Times New Roman"/>
              </a:rPr>
              <a:t> </a:t>
            </a:r>
            <a:r>
              <a:rPr sz="1200" dirty="0">
                <a:latin typeface="Times New Roman"/>
                <a:cs typeface="Times New Roman"/>
              </a:rPr>
              <a:t>synchronization.</a:t>
            </a:r>
            <a:r>
              <a:rPr sz="1200" spc="235" dirty="0">
                <a:latin typeface="Times New Roman"/>
                <a:cs typeface="Times New Roman"/>
              </a:rPr>
              <a:t> </a:t>
            </a:r>
            <a:r>
              <a:rPr sz="1200" dirty="0">
                <a:latin typeface="Times New Roman"/>
                <a:cs typeface="Times New Roman"/>
              </a:rPr>
              <a:t>This</a:t>
            </a:r>
            <a:r>
              <a:rPr sz="1200" spc="254" dirty="0">
                <a:latin typeface="Times New Roman"/>
                <a:cs typeface="Times New Roman"/>
              </a:rPr>
              <a:t> </a:t>
            </a:r>
            <a:r>
              <a:rPr sz="1200" dirty="0">
                <a:latin typeface="Times New Roman"/>
                <a:cs typeface="Times New Roman"/>
              </a:rPr>
              <a:t>structured</a:t>
            </a:r>
            <a:r>
              <a:rPr sz="1200" spc="235" dirty="0">
                <a:latin typeface="Times New Roman"/>
                <a:cs typeface="Times New Roman"/>
              </a:rPr>
              <a:t> </a:t>
            </a:r>
            <a:r>
              <a:rPr sz="1200" spc="-10" dirty="0">
                <a:latin typeface="Times New Roman"/>
                <a:cs typeface="Times New Roman"/>
              </a:rPr>
              <a:t>design </a:t>
            </a:r>
            <a:r>
              <a:rPr sz="1200" dirty="0">
                <a:latin typeface="Times New Roman"/>
                <a:cs typeface="Times New Roman"/>
              </a:rPr>
              <a:t>guarantees</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high-performance,</a:t>
            </a:r>
            <a:r>
              <a:rPr sz="1200" spc="-15" dirty="0">
                <a:latin typeface="Times New Roman"/>
                <a:cs typeface="Times New Roman"/>
              </a:rPr>
              <a:t> </a:t>
            </a:r>
            <a:r>
              <a:rPr sz="1200" dirty="0">
                <a:latin typeface="Times New Roman"/>
                <a:cs typeface="Times New Roman"/>
              </a:rPr>
              <a:t>secure,</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property</a:t>
            </a:r>
            <a:r>
              <a:rPr sz="1200" spc="-15" dirty="0">
                <a:latin typeface="Times New Roman"/>
                <a:cs typeface="Times New Roman"/>
              </a:rPr>
              <a:t> </a:t>
            </a:r>
            <a:r>
              <a:rPr sz="1200" dirty="0">
                <a:latin typeface="Times New Roman"/>
                <a:cs typeface="Times New Roman"/>
              </a:rPr>
              <a:t>auction</a:t>
            </a:r>
            <a:r>
              <a:rPr sz="1200" spc="-10" dirty="0">
                <a:latin typeface="Times New Roman"/>
                <a:cs typeface="Times New Roman"/>
              </a:rPr>
              <a:t> experience.</a:t>
            </a:r>
            <a:endParaRPr sz="1200">
              <a:latin typeface="Times New Roman"/>
              <a:cs typeface="Times New Roman"/>
            </a:endParaRPr>
          </a:p>
        </p:txBody>
      </p:sp>
      <p:pic>
        <p:nvPicPr>
          <p:cNvPr id="4" name="object 4"/>
          <p:cNvPicPr/>
          <p:nvPr/>
        </p:nvPicPr>
        <p:blipFill>
          <a:blip r:embed="rId2" cstate="print"/>
          <a:stretch>
            <a:fillRect/>
          </a:stretch>
        </p:blipFill>
        <p:spPr>
          <a:xfrm>
            <a:off x="1188719" y="914400"/>
            <a:ext cx="5669280" cy="230441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891285"/>
            <a:ext cx="5694680" cy="2607945"/>
          </a:xfrm>
          <a:prstGeom prst="rect">
            <a:avLst/>
          </a:prstGeom>
        </p:spPr>
        <p:txBody>
          <a:bodyPr vert="horz" wrap="square" lIns="0" tIns="12700" rIns="0" bIns="0" rtlCol="0">
            <a:spAutoFit/>
          </a:bodyPr>
          <a:lstStyle/>
          <a:p>
            <a:pPr marL="241300" lvl="2" indent="-228600" algn="just">
              <a:lnSpc>
                <a:spcPct val="100000"/>
              </a:lnSpc>
              <a:spcBef>
                <a:spcPts val="100"/>
              </a:spcBef>
              <a:buFont typeface="+mj-lt"/>
              <a:buAutoNum type="arabicPeriod" startAt="3"/>
              <a:tabLst>
                <a:tab pos="393065" algn="l"/>
              </a:tabLst>
            </a:pPr>
            <a:r>
              <a:rPr sz="1200" b="1" dirty="0">
                <a:latin typeface="Times New Roman"/>
                <a:cs typeface="Times New Roman"/>
              </a:rPr>
              <a:t>UML</a:t>
            </a:r>
            <a:r>
              <a:rPr sz="1200" b="1" spc="-40" dirty="0">
                <a:latin typeface="Times New Roman"/>
                <a:cs typeface="Times New Roman"/>
              </a:rPr>
              <a:t> </a:t>
            </a:r>
            <a:r>
              <a:rPr sz="1200" b="1" dirty="0">
                <a:latin typeface="Times New Roman"/>
                <a:cs typeface="Times New Roman"/>
              </a:rPr>
              <a:t>Behavioral</a:t>
            </a:r>
            <a:r>
              <a:rPr sz="1200" b="1" spc="-40" dirty="0">
                <a:latin typeface="Times New Roman"/>
                <a:cs typeface="Times New Roman"/>
              </a:rPr>
              <a:t> </a:t>
            </a:r>
            <a:r>
              <a:rPr sz="1200" b="1" spc="-10" dirty="0">
                <a:latin typeface="Times New Roman"/>
                <a:cs typeface="Times New Roman"/>
              </a:rPr>
              <a:t>Diagrams</a:t>
            </a:r>
            <a:endParaRPr sz="1200" dirty="0">
              <a:latin typeface="Times New Roman"/>
              <a:cs typeface="Times New Roman"/>
            </a:endParaRPr>
          </a:p>
          <a:p>
            <a:pPr lvl="2">
              <a:lnSpc>
                <a:spcPct val="100000"/>
              </a:lnSpc>
              <a:spcBef>
                <a:spcPts val="15"/>
              </a:spcBef>
              <a:buFont typeface="Times New Roman"/>
              <a:buAutoNum type="arabicPeriod" startAt="3"/>
            </a:pPr>
            <a:endParaRPr sz="1200" dirty="0">
              <a:latin typeface="Times New Roman"/>
              <a:cs typeface="Times New Roman"/>
            </a:endParaRPr>
          </a:p>
          <a:p>
            <a:pPr marL="12700" marR="6985" algn="just">
              <a:lnSpc>
                <a:spcPct val="143800"/>
              </a:lnSpc>
            </a:pPr>
            <a:r>
              <a:rPr sz="1200" dirty="0">
                <a:latin typeface="Times New Roman"/>
                <a:cs typeface="Times New Roman"/>
              </a:rPr>
              <a:t>UML</a:t>
            </a:r>
            <a:r>
              <a:rPr sz="1200" spc="35" dirty="0">
                <a:latin typeface="Times New Roman"/>
                <a:cs typeface="Times New Roman"/>
              </a:rPr>
              <a:t> </a:t>
            </a:r>
            <a:r>
              <a:rPr sz="1200" dirty="0">
                <a:latin typeface="Times New Roman"/>
                <a:cs typeface="Times New Roman"/>
              </a:rPr>
              <a:t>(Unified</a:t>
            </a:r>
            <a:r>
              <a:rPr sz="1200" spc="40" dirty="0">
                <a:latin typeface="Times New Roman"/>
                <a:cs typeface="Times New Roman"/>
              </a:rPr>
              <a:t> </a:t>
            </a:r>
            <a:r>
              <a:rPr sz="1200" dirty="0">
                <a:latin typeface="Times New Roman"/>
                <a:cs typeface="Times New Roman"/>
              </a:rPr>
              <a:t>Modeling</a:t>
            </a:r>
            <a:r>
              <a:rPr sz="1200" spc="40" dirty="0">
                <a:latin typeface="Times New Roman"/>
                <a:cs typeface="Times New Roman"/>
              </a:rPr>
              <a:t> </a:t>
            </a:r>
            <a:r>
              <a:rPr sz="1200" dirty="0">
                <a:latin typeface="Times New Roman"/>
                <a:cs typeface="Times New Roman"/>
              </a:rPr>
              <a:t>Language)</a:t>
            </a:r>
            <a:r>
              <a:rPr sz="1200" spc="30" dirty="0">
                <a:latin typeface="Times New Roman"/>
                <a:cs typeface="Times New Roman"/>
              </a:rPr>
              <a:t> </a:t>
            </a:r>
            <a:r>
              <a:rPr sz="1200" dirty="0">
                <a:latin typeface="Times New Roman"/>
                <a:cs typeface="Times New Roman"/>
              </a:rPr>
              <a:t>behavioral</a:t>
            </a:r>
            <a:r>
              <a:rPr sz="1200" spc="45" dirty="0">
                <a:latin typeface="Times New Roman"/>
                <a:cs typeface="Times New Roman"/>
              </a:rPr>
              <a:t> </a:t>
            </a:r>
            <a:r>
              <a:rPr sz="1200" dirty="0">
                <a:latin typeface="Times New Roman"/>
                <a:cs typeface="Times New Roman"/>
              </a:rPr>
              <a:t>diagrams</a:t>
            </a:r>
            <a:r>
              <a:rPr sz="1200" spc="45" dirty="0">
                <a:latin typeface="Times New Roman"/>
                <a:cs typeface="Times New Roman"/>
              </a:rPr>
              <a:t> </a:t>
            </a:r>
            <a:r>
              <a:rPr sz="1200" dirty="0">
                <a:latin typeface="Times New Roman"/>
                <a:cs typeface="Times New Roman"/>
              </a:rPr>
              <a:t>provide</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visual</a:t>
            </a:r>
            <a:r>
              <a:rPr sz="1200" spc="40" dirty="0">
                <a:latin typeface="Times New Roman"/>
                <a:cs typeface="Times New Roman"/>
              </a:rPr>
              <a:t> </a:t>
            </a:r>
            <a:r>
              <a:rPr sz="1200" dirty="0">
                <a:latin typeface="Times New Roman"/>
                <a:cs typeface="Times New Roman"/>
              </a:rPr>
              <a:t>representation</a:t>
            </a:r>
            <a:r>
              <a:rPr sz="1200" spc="45" dirty="0">
                <a:latin typeface="Times New Roman"/>
                <a:cs typeface="Times New Roman"/>
              </a:rPr>
              <a:t> </a:t>
            </a:r>
            <a:r>
              <a:rPr sz="1200" spc="-25" dirty="0">
                <a:latin typeface="Times New Roman"/>
                <a:cs typeface="Times New Roman"/>
              </a:rPr>
              <a:t>of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system’s</a:t>
            </a:r>
            <a:r>
              <a:rPr sz="1200" spc="10" dirty="0">
                <a:latin typeface="Times New Roman"/>
                <a:cs typeface="Times New Roman"/>
              </a:rPr>
              <a:t> </a:t>
            </a:r>
            <a:r>
              <a:rPr sz="1200" dirty="0">
                <a:latin typeface="Times New Roman"/>
                <a:cs typeface="Times New Roman"/>
              </a:rPr>
              <a:t>structure</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interactions.</a:t>
            </a:r>
            <a:r>
              <a:rPr sz="1200" spc="10" dirty="0">
                <a:latin typeface="Times New Roman"/>
                <a:cs typeface="Times New Roman"/>
              </a:rPr>
              <a:t> </a:t>
            </a:r>
            <a:r>
              <a:rPr sz="1200" dirty="0">
                <a:latin typeface="Times New Roman"/>
                <a:cs typeface="Times New Roman"/>
              </a:rPr>
              <a:t>These</a:t>
            </a:r>
            <a:r>
              <a:rPr sz="1200" spc="10" dirty="0">
                <a:latin typeface="Times New Roman"/>
                <a:cs typeface="Times New Roman"/>
              </a:rPr>
              <a:t> </a:t>
            </a:r>
            <a:r>
              <a:rPr sz="1200" dirty="0">
                <a:latin typeface="Times New Roman"/>
                <a:cs typeface="Times New Roman"/>
              </a:rPr>
              <a:t>diagrams</a:t>
            </a:r>
            <a:r>
              <a:rPr sz="1200" spc="15" dirty="0">
                <a:latin typeface="Times New Roman"/>
                <a:cs typeface="Times New Roman"/>
              </a:rPr>
              <a:t> </a:t>
            </a:r>
            <a:r>
              <a:rPr sz="1200" dirty="0">
                <a:latin typeface="Times New Roman"/>
                <a:cs typeface="Times New Roman"/>
              </a:rPr>
              <a:t>illustrate</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dynamic</a:t>
            </a:r>
            <a:r>
              <a:rPr sz="1200" spc="5" dirty="0">
                <a:latin typeface="Times New Roman"/>
                <a:cs typeface="Times New Roman"/>
              </a:rPr>
              <a:t> </a:t>
            </a:r>
            <a:r>
              <a:rPr sz="1200" dirty="0">
                <a:latin typeface="Times New Roman"/>
                <a:cs typeface="Times New Roman"/>
              </a:rPr>
              <a:t>aspects</a:t>
            </a:r>
            <a:r>
              <a:rPr sz="1200" spc="2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25" dirty="0">
                <a:latin typeface="Times New Roman"/>
                <a:cs typeface="Times New Roman"/>
              </a:rPr>
              <a:t>the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focusing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how</a:t>
            </a:r>
            <a:r>
              <a:rPr sz="1200" spc="-25" dirty="0">
                <a:latin typeface="Times New Roman"/>
                <a:cs typeface="Times New Roman"/>
              </a:rPr>
              <a:t> </a:t>
            </a:r>
            <a:r>
              <a:rPr sz="1200" dirty="0">
                <a:latin typeface="Times New Roman"/>
                <a:cs typeface="Times New Roman"/>
              </a:rPr>
              <a:t>components</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actors</a:t>
            </a:r>
            <a:r>
              <a:rPr sz="1200" spc="-25" dirty="0">
                <a:latin typeface="Times New Roman"/>
                <a:cs typeface="Times New Roman"/>
              </a:rPr>
              <a:t> </a:t>
            </a:r>
            <a:r>
              <a:rPr sz="1200" dirty="0">
                <a:latin typeface="Times New Roman"/>
                <a:cs typeface="Times New Roman"/>
              </a:rPr>
              <a:t>interact</a:t>
            </a:r>
            <a:r>
              <a:rPr sz="1200" spc="-25"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spc="-10" dirty="0">
                <a:latin typeface="Times New Roman"/>
                <a:cs typeface="Times New Roman"/>
              </a:rPr>
              <a:t>operation.</a:t>
            </a:r>
            <a:endParaRPr lang="en-US" sz="1200" dirty="0">
              <a:latin typeface="Times New Roman"/>
              <a:cs typeface="Times New Roman"/>
            </a:endParaRPr>
          </a:p>
          <a:p>
            <a:pPr>
              <a:lnSpc>
                <a:spcPct val="100000"/>
              </a:lnSpc>
            </a:pPr>
            <a:endParaRPr lang="en-US" sz="1200" dirty="0">
              <a:latin typeface="Times New Roman"/>
              <a:cs typeface="Times New Roman"/>
            </a:endParaRPr>
          </a:p>
          <a:p>
            <a:pPr>
              <a:lnSpc>
                <a:spcPct val="100000"/>
              </a:lnSpc>
              <a:spcBef>
                <a:spcPts val="275"/>
              </a:spcBef>
            </a:pPr>
            <a:endParaRPr lang="en-US" sz="1200" dirty="0">
              <a:latin typeface="Times New Roman"/>
              <a:cs typeface="Times New Roman"/>
            </a:endParaRPr>
          </a:p>
          <a:p>
            <a:pPr marL="299085" lvl="3" indent="-228600" algn="just">
              <a:lnSpc>
                <a:spcPct val="100000"/>
              </a:lnSpc>
              <a:buFont typeface="+mj-lt"/>
              <a:buAutoNum type="arabicPeriod" startAt="4"/>
              <a:tabLst>
                <a:tab pos="527050" algn="l"/>
              </a:tabLst>
            </a:pPr>
            <a:r>
              <a:rPr lang="en-US" sz="1200" b="1" dirty="0">
                <a:latin typeface="Times New Roman"/>
                <a:cs typeface="Times New Roman"/>
              </a:rPr>
              <a:t>Component</a:t>
            </a:r>
            <a:r>
              <a:rPr lang="en-US" sz="1200" b="1" spc="-15" dirty="0">
                <a:latin typeface="Times New Roman"/>
                <a:cs typeface="Times New Roman"/>
              </a:rPr>
              <a:t> </a:t>
            </a:r>
            <a:r>
              <a:rPr lang="en-US" sz="1200" b="1" spc="-10" dirty="0">
                <a:latin typeface="Times New Roman"/>
                <a:cs typeface="Times New Roman"/>
              </a:rPr>
              <a:t>Diagram:</a:t>
            </a:r>
            <a:endParaRPr lang="en-US" sz="1200" dirty="0">
              <a:latin typeface="Times New Roman"/>
              <a:cs typeface="Times New Roman"/>
            </a:endParaRPr>
          </a:p>
          <a:p>
            <a:pPr marL="12700" marR="5080" algn="just">
              <a:lnSpc>
                <a:spcPct val="143900"/>
              </a:lnSpc>
              <a:spcBef>
                <a:spcPts val="595"/>
              </a:spcBef>
            </a:pPr>
            <a:r>
              <a:rPr sz="1200" dirty="0">
                <a:latin typeface="Times New Roman"/>
                <a:cs typeface="Times New Roman"/>
              </a:rPr>
              <a:t>This</a:t>
            </a:r>
            <a:r>
              <a:rPr sz="1200" spc="165" dirty="0">
                <a:latin typeface="Times New Roman"/>
                <a:cs typeface="Times New Roman"/>
              </a:rPr>
              <a:t> </a:t>
            </a:r>
            <a:r>
              <a:rPr sz="1200" dirty="0">
                <a:latin typeface="Times New Roman"/>
                <a:cs typeface="Times New Roman"/>
              </a:rPr>
              <a:t>diagram</a:t>
            </a:r>
            <a:r>
              <a:rPr sz="1200" spc="170" dirty="0">
                <a:latin typeface="Times New Roman"/>
                <a:cs typeface="Times New Roman"/>
              </a:rPr>
              <a:t> </a:t>
            </a:r>
            <a:r>
              <a:rPr sz="1200" dirty="0">
                <a:latin typeface="Times New Roman"/>
                <a:cs typeface="Times New Roman"/>
              </a:rPr>
              <a:t>illustrates</a:t>
            </a:r>
            <a:r>
              <a:rPr sz="1200" spc="165"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dirty="0">
                <a:latin typeface="Times New Roman"/>
                <a:cs typeface="Times New Roman"/>
              </a:rPr>
              <a:t>system's</a:t>
            </a:r>
            <a:r>
              <a:rPr sz="1200" spc="170" dirty="0">
                <a:latin typeface="Times New Roman"/>
                <a:cs typeface="Times New Roman"/>
              </a:rPr>
              <a:t> </a:t>
            </a:r>
            <a:r>
              <a:rPr sz="1200" dirty="0">
                <a:latin typeface="Times New Roman"/>
                <a:cs typeface="Times New Roman"/>
              </a:rPr>
              <a:t>components</a:t>
            </a:r>
            <a:r>
              <a:rPr sz="1200" spc="165"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their</a:t>
            </a:r>
            <a:r>
              <a:rPr sz="1200" spc="160" dirty="0">
                <a:latin typeface="Times New Roman"/>
                <a:cs typeface="Times New Roman"/>
              </a:rPr>
              <a:t> </a:t>
            </a:r>
            <a:r>
              <a:rPr sz="1200" dirty="0">
                <a:latin typeface="Times New Roman"/>
                <a:cs typeface="Times New Roman"/>
              </a:rPr>
              <a:t>interactions,</a:t>
            </a:r>
            <a:r>
              <a:rPr sz="1200" spc="175" dirty="0">
                <a:latin typeface="Times New Roman"/>
                <a:cs typeface="Times New Roman"/>
              </a:rPr>
              <a:t> </a:t>
            </a:r>
            <a:r>
              <a:rPr sz="1200" dirty="0">
                <a:latin typeface="Times New Roman"/>
                <a:cs typeface="Times New Roman"/>
              </a:rPr>
              <a:t>offering</a:t>
            </a:r>
            <a:r>
              <a:rPr sz="1200" spc="165" dirty="0">
                <a:latin typeface="Times New Roman"/>
                <a:cs typeface="Times New Roman"/>
              </a:rPr>
              <a:t> </a:t>
            </a:r>
            <a:r>
              <a:rPr sz="1200" dirty="0">
                <a:latin typeface="Times New Roman"/>
                <a:cs typeface="Times New Roman"/>
              </a:rPr>
              <a:t>a</a:t>
            </a:r>
            <a:r>
              <a:rPr sz="1200" spc="160" dirty="0">
                <a:latin typeface="Times New Roman"/>
                <a:cs typeface="Times New Roman"/>
              </a:rPr>
              <a:t> </a:t>
            </a:r>
            <a:r>
              <a:rPr sz="1200" spc="-10" dirty="0">
                <a:latin typeface="Times New Roman"/>
                <a:cs typeface="Times New Roman"/>
              </a:rPr>
              <a:t>visual representation</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system's</a:t>
            </a:r>
            <a:r>
              <a:rPr sz="1200" spc="-10" dirty="0">
                <a:latin typeface="Times New Roman"/>
                <a:cs typeface="Times New Roman"/>
              </a:rPr>
              <a:t> architecture.</a:t>
            </a:r>
            <a:r>
              <a:rPr sz="1200" spc="-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showcases</a:t>
            </a:r>
            <a:r>
              <a:rPr sz="1200" spc="-20" dirty="0">
                <a:latin typeface="Times New Roman"/>
                <a:cs typeface="Times New Roman"/>
              </a:rPr>
              <a:t> </a:t>
            </a:r>
            <a:r>
              <a:rPr sz="1200" dirty="0">
                <a:latin typeface="Times New Roman"/>
                <a:cs typeface="Times New Roman"/>
              </a:rPr>
              <a:t>how</a:t>
            </a:r>
            <a:r>
              <a:rPr sz="1200" spc="-20" dirty="0">
                <a:latin typeface="Times New Roman"/>
                <a:cs typeface="Times New Roman"/>
              </a:rPr>
              <a:t> </a:t>
            </a:r>
            <a:r>
              <a:rPr sz="1200" dirty="0">
                <a:latin typeface="Times New Roman"/>
                <a:cs typeface="Times New Roman"/>
              </a:rPr>
              <a:t>various</a:t>
            </a:r>
            <a:r>
              <a:rPr sz="1200" spc="-15" dirty="0">
                <a:latin typeface="Times New Roman"/>
                <a:cs typeface="Times New Roman"/>
              </a:rPr>
              <a:t> </a:t>
            </a:r>
            <a:r>
              <a:rPr sz="1200" dirty="0">
                <a:latin typeface="Times New Roman"/>
                <a:cs typeface="Times New Roman"/>
              </a:rPr>
              <a:t>components</a:t>
            </a:r>
            <a:r>
              <a:rPr sz="1200" spc="-15" dirty="0">
                <a:latin typeface="Times New Roman"/>
                <a:cs typeface="Times New Roman"/>
              </a:rPr>
              <a:t> </a:t>
            </a:r>
            <a:r>
              <a:rPr sz="1200" spc="-10" dirty="0">
                <a:latin typeface="Times New Roman"/>
                <a:cs typeface="Times New Roman"/>
              </a:rPr>
              <a:t>collaborate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achieve</a:t>
            </a:r>
            <a:r>
              <a:rPr sz="1200" spc="-20" dirty="0">
                <a:latin typeface="Times New Roman"/>
                <a:cs typeface="Times New Roman"/>
              </a:rPr>
              <a:t> </a:t>
            </a:r>
            <a:r>
              <a:rPr sz="1200" dirty="0">
                <a:latin typeface="Times New Roman"/>
                <a:cs typeface="Times New Roman"/>
              </a:rPr>
              <a:t>system</a:t>
            </a:r>
            <a:r>
              <a:rPr sz="1200" spc="-10" dirty="0">
                <a:latin typeface="Times New Roman"/>
                <a:cs typeface="Times New Roman"/>
              </a:rPr>
              <a:t> functionality</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highlights</a:t>
            </a:r>
            <a:r>
              <a:rPr sz="1200" spc="-10" dirty="0">
                <a:latin typeface="Times New Roman"/>
                <a:cs typeface="Times New Roman"/>
              </a:rPr>
              <a:t> dependencies</a:t>
            </a:r>
            <a:r>
              <a:rPr sz="1200" spc="-5" dirty="0">
                <a:latin typeface="Times New Roman"/>
                <a:cs typeface="Times New Roman"/>
              </a:rPr>
              <a:t> </a:t>
            </a:r>
            <a:r>
              <a:rPr sz="1200" dirty="0">
                <a:latin typeface="Times New Roman"/>
                <a:cs typeface="Times New Roman"/>
              </a:rPr>
              <a:t>between</a:t>
            </a:r>
            <a:r>
              <a:rPr sz="1200" spc="-10" dirty="0">
                <a:latin typeface="Times New Roman"/>
                <a:cs typeface="Times New Roman"/>
              </a:rPr>
              <a:t> them.</a:t>
            </a:r>
            <a:endParaRPr sz="1200" dirty="0">
              <a:latin typeface="Times New Roman"/>
              <a:cs typeface="Times New Roman"/>
            </a:endParaRPr>
          </a:p>
        </p:txBody>
      </p:sp>
      <p:sp>
        <p:nvSpPr>
          <p:cNvPr id="3" name="object 3"/>
          <p:cNvSpPr txBox="1"/>
          <p:nvPr/>
        </p:nvSpPr>
        <p:spPr>
          <a:xfrm>
            <a:off x="1176324" y="5748909"/>
            <a:ext cx="5695950" cy="2005964"/>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25" dirty="0">
                <a:latin typeface="Times New Roman"/>
                <a:cs typeface="Times New Roman"/>
              </a:rPr>
              <a:t> </a:t>
            </a:r>
            <a:r>
              <a:rPr sz="1200" b="1" dirty="0">
                <a:latin typeface="Times New Roman"/>
                <a:cs typeface="Times New Roman"/>
              </a:rPr>
              <a:t>4.2:</a:t>
            </a:r>
            <a:r>
              <a:rPr sz="1200" b="1" spc="-20" dirty="0">
                <a:latin typeface="Times New Roman"/>
                <a:cs typeface="Times New Roman"/>
              </a:rPr>
              <a:t> </a:t>
            </a:r>
            <a:r>
              <a:rPr sz="1200" b="1" dirty="0">
                <a:latin typeface="Times New Roman"/>
                <a:cs typeface="Times New Roman"/>
              </a:rPr>
              <a:t>Component</a:t>
            </a:r>
            <a:r>
              <a:rPr sz="1200" b="1" spc="-25"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0"/>
              </a:spcBef>
            </a:pPr>
            <a:endParaRPr sz="1200" dirty="0">
              <a:latin typeface="Times New Roman"/>
              <a:cs typeface="Times New Roman"/>
            </a:endParaRPr>
          </a:p>
          <a:p>
            <a:pPr marL="241300" indent="-228600">
              <a:lnSpc>
                <a:spcPct val="100000"/>
              </a:lnSpc>
              <a:spcBef>
                <a:spcPts val="5"/>
              </a:spcBef>
              <a:buFont typeface="+mj-lt"/>
              <a:buAutoNum type="arabicPeriod" startAt="5"/>
            </a:pPr>
            <a:r>
              <a:rPr sz="1200" b="1" dirty="0">
                <a:latin typeface="Times New Roman"/>
                <a:cs typeface="Times New Roman"/>
              </a:rPr>
              <a:t>System</a:t>
            </a:r>
            <a:r>
              <a:rPr sz="1200" b="1" spc="-20" dirty="0">
                <a:latin typeface="Times New Roman"/>
                <a:cs typeface="Times New Roman"/>
              </a:rPr>
              <a:t> </a:t>
            </a:r>
            <a:r>
              <a:rPr sz="1200" b="1" dirty="0">
                <a:latin typeface="Times New Roman"/>
                <a:cs typeface="Times New Roman"/>
              </a:rPr>
              <a:t>Component</a:t>
            </a:r>
            <a:r>
              <a:rPr sz="1200" b="1" spc="-25"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spcBef>
                <a:spcPts val="10"/>
              </a:spcBef>
            </a:pPr>
            <a:endParaRPr sz="1200" dirty="0">
              <a:latin typeface="Times New Roman"/>
              <a:cs typeface="Times New Roman"/>
            </a:endParaRPr>
          </a:p>
          <a:p>
            <a:pPr marL="12700" marR="5080" algn="just">
              <a:lnSpc>
                <a:spcPct val="144000"/>
              </a:lnSpc>
            </a:pPr>
            <a:r>
              <a:rPr sz="1200" dirty="0">
                <a:latin typeface="Times New Roman"/>
                <a:cs typeface="Times New Roman"/>
              </a:rPr>
              <a:t>The</a:t>
            </a:r>
            <a:r>
              <a:rPr sz="1200" spc="365" dirty="0">
                <a:latin typeface="Times New Roman"/>
                <a:cs typeface="Times New Roman"/>
              </a:rPr>
              <a:t> </a:t>
            </a:r>
            <a:r>
              <a:rPr sz="1200" dirty="0">
                <a:latin typeface="Times New Roman"/>
                <a:cs typeface="Times New Roman"/>
              </a:rPr>
              <a:t>system</a:t>
            </a:r>
            <a:r>
              <a:rPr sz="1200" spc="375" dirty="0">
                <a:latin typeface="Times New Roman"/>
                <a:cs typeface="Times New Roman"/>
              </a:rPr>
              <a:t> </a:t>
            </a:r>
            <a:r>
              <a:rPr sz="1200" dirty="0">
                <a:latin typeface="Times New Roman"/>
                <a:cs typeface="Times New Roman"/>
              </a:rPr>
              <a:t>component</a:t>
            </a:r>
            <a:r>
              <a:rPr sz="1200" spc="370" dirty="0">
                <a:latin typeface="Times New Roman"/>
                <a:cs typeface="Times New Roman"/>
              </a:rPr>
              <a:t> </a:t>
            </a:r>
            <a:r>
              <a:rPr sz="1200" dirty="0">
                <a:latin typeface="Times New Roman"/>
                <a:cs typeface="Times New Roman"/>
              </a:rPr>
              <a:t>diagram</a:t>
            </a:r>
            <a:r>
              <a:rPr sz="1200" spc="375" dirty="0">
                <a:latin typeface="Times New Roman"/>
                <a:cs typeface="Times New Roman"/>
              </a:rPr>
              <a:t> </a:t>
            </a:r>
            <a:r>
              <a:rPr sz="1200" dirty="0">
                <a:latin typeface="Times New Roman"/>
                <a:cs typeface="Times New Roman"/>
              </a:rPr>
              <a:t>visually</a:t>
            </a:r>
            <a:r>
              <a:rPr sz="1200" spc="375" dirty="0">
                <a:latin typeface="Times New Roman"/>
                <a:cs typeface="Times New Roman"/>
              </a:rPr>
              <a:t> </a:t>
            </a:r>
            <a:r>
              <a:rPr sz="1200" dirty="0">
                <a:latin typeface="Times New Roman"/>
                <a:cs typeface="Times New Roman"/>
              </a:rPr>
              <a:t>represents</a:t>
            </a:r>
            <a:r>
              <a:rPr sz="1200" spc="375" dirty="0">
                <a:latin typeface="Times New Roman"/>
                <a:cs typeface="Times New Roman"/>
              </a:rPr>
              <a:t> </a:t>
            </a:r>
            <a:r>
              <a:rPr sz="1200" dirty="0">
                <a:latin typeface="Times New Roman"/>
                <a:cs typeface="Times New Roman"/>
              </a:rPr>
              <a:t>the</a:t>
            </a:r>
            <a:r>
              <a:rPr sz="1200" spc="37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375" dirty="0">
                <a:latin typeface="Times New Roman"/>
                <a:cs typeface="Times New Roman"/>
              </a:rPr>
              <a:t> </a:t>
            </a:r>
            <a:r>
              <a:rPr sz="1200" dirty="0">
                <a:latin typeface="Times New Roman"/>
                <a:cs typeface="Times New Roman"/>
              </a:rPr>
              <a:t>architecture</a:t>
            </a:r>
            <a:r>
              <a:rPr sz="1200" spc="365" dirty="0">
                <a:latin typeface="Times New Roman"/>
                <a:cs typeface="Times New Roman"/>
              </a:rPr>
              <a:t> </a:t>
            </a:r>
            <a:r>
              <a:rPr sz="1200" dirty="0">
                <a:latin typeface="Times New Roman"/>
                <a:cs typeface="Times New Roman"/>
              </a:rPr>
              <a:t>of</a:t>
            </a:r>
            <a:r>
              <a:rPr sz="1200" spc="370" dirty="0">
                <a:latin typeface="Times New Roman"/>
                <a:cs typeface="Times New Roman"/>
              </a:rPr>
              <a:t> </a:t>
            </a:r>
            <a:r>
              <a:rPr sz="1200" spc="-25" dirty="0">
                <a:latin typeface="Times New Roman"/>
                <a:cs typeface="Times New Roman"/>
              </a:rPr>
              <a:t>the </a:t>
            </a:r>
            <a:r>
              <a:rPr sz="1200" b="1" dirty="0">
                <a:latin typeface="Times New Roman"/>
                <a:cs typeface="Times New Roman"/>
              </a:rPr>
              <a:t>"Auction</a:t>
            </a:r>
            <a:r>
              <a:rPr sz="1200" b="1" spc="-20" dirty="0">
                <a:latin typeface="Times New Roman"/>
                <a:cs typeface="Times New Roman"/>
              </a:rPr>
              <a:t> </a:t>
            </a:r>
            <a:r>
              <a:rPr sz="1200" b="1" dirty="0">
                <a:latin typeface="Times New Roman"/>
                <a:cs typeface="Times New Roman"/>
              </a:rPr>
              <a:t>Abode"</a:t>
            </a:r>
            <a:r>
              <a:rPr sz="1200" b="1" spc="-1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illustrating</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key</a:t>
            </a:r>
            <a:r>
              <a:rPr sz="1200" spc="-20" dirty="0">
                <a:latin typeface="Times New Roman"/>
                <a:cs typeface="Times New Roman"/>
              </a:rPr>
              <a:t> </a:t>
            </a:r>
            <a:r>
              <a:rPr sz="1200" dirty="0">
                <a:latin typeface="Times New Roman"/>
                <a:cs typeface="Times New Roman"/>
              </a:rPr>
              <a:t>components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interactions.</a:t>
            </a:r>
            <a:r>
              <a:rPr sz="1200" spc="-2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spc="-10" dirty="0">
                <a:latin typeface="Times New Roman"/>
                <a:cs typeface="Times New Roman"/>
              </a:rPr>
              <a:t>provides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clear</a:t>
            </a:r>
            <a:r>
              <a:rPr sz="1200" spc="40" dirty="0">
                <a:latin typeface="Times New Roman"/>
                <a:cs typeface="Times New Roman"/>
              </a:rPr>
              <a:t> </a:t>
            </a:r>
            <a:r>
              <a:rPr sz="1200" dirty="0">
                <a:latin typeface="Times New Roman"/>
                <a:cs typeface="Times New Roman"/>
              </a:rPr>
              <a:t>overview</a:t>
            </a:r>
            <a:r>
              <a:rPr sz="1200" spc="4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how</a:t>
            </a:r>
            <a:r>
              <a:rPr sz="1200" spc="60" dirty="0">
                <a:latin typeface="Times New Roman"/>
                <a:cs typeface="Times New Roman"/>
              </a:rPr>
              <a:t> </a:t>
            </a:r>
            <a:r>
              <a:rPr sz="1200" dirty="0">
                <a:latin typeface="Times New Roman"/>
                <a:cs typeface="Times New Roman"/>
              </a:rPr>
              <a:t>different</a:t>
            </a:r>
            <a:r>
              <a:rPr sz="1200" spc="45" dirty="0">
                <a:latin typeface="Times New Roman"/>
                <a:cs typeface="Times New Roman"/>
              </a:rPr>
              <a:t> </a:t>
            </a:r>
            <a:r>
              <a:rPr sz="1200" dirty="0">
                <a:latin typeface="Times New Roman"/>
                <a:cs typeface="Times New Roman"/>
              </a:rPr>
              <a:t>modules</a:t>
            </a:r>
            <a:r>
              <a:rPr sz="1200" spc="4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subsystems</a:t>
            </a:r>
            <a:r>
              <a:rPr sz="1200" spc="45" dirty="0">
                <a:latin typeface="Times New Roman"/>
                <a:cs typeface="Times New Roman"/>
              </a:rPr>
              <a:t>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are</a:t>
            </a:r>
            <a:r>
              <a:rPr sz="1200" spc="35" dirty="0">
                <a:latin typeface="Times New Roman"/>
                <a:cs typeface="Times New Roman"/>
              </a:rPr>
              <a:t> </a:t>
            </a:r>
            <a:r>
              <a:rPr sz="1200" spc="-10" dirty="0">
                <a:latin typeface="Times New Roman"/>
                <a:cs typeface="Times New Roman"/>
              </a:rPr>
              <a:t>organized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interconnected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achieve</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desired</a:t>
            </a:r>
            <a:r>
              <a:rPr sz="1200" spc="-5" dirty="0">
                <a:latin typeface="Times New Roman"/>
                <a:cs typeface="Times New Roman"/>
              </a:rPr>
              <a:t> </a:t>
            </a:r>
            <a:r>
              <a:rPr sz="1200" spc="-10" dirty="0">
                <a:latin typeface="Times New Roman"/>
                <a:cs typeface="Times New Roman"/>
              </a:rPr>
              <a:t>functionality.</a:t>
            </a:r>
            <a:endParaRPr sz="1200" dirty="0">
              <a:latin typeface="Times New Roman"/>
              <a:cs typeface="Times New Roman"/>
            </a:endParaRPr>
          </a:p>
        </p:txBody>
      </p:sp>
      <p:pic>
        <p:nvPicPr>
          <p:cNvPr id="4" name="object 4"/>
          <p:cNvPicPr/>
          <p:nvPr/>
        </p:nvPicPr>
        <p:blipFill>
          <a:blip r:embed="rId2" cstate="print"/>
          <a:stretch>
            <a:fillRect/>
          </a:stretch>
        </p:blipFill>
        <p:spPr>
          <a:xfrm>
            <a:off x="1188719" y="3991355"/>
            <a:ext cx="5669280" cy="127141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4410583"/>
            <a:ext cx="5697220" cy="1903730"/>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4.3:</a:t>
            </a:r>
            <a:r>
              <a:rPr sz="1200" b="1" spc="-20" dirty="0">
                <a:latin typeface="Times New Roman"/>
                <a:cs typeface="Times New Roman"/>
              </a:rPr>
              <a:t> </a:t>
            </a:r>
            <a:r>
              <a:rPr sz="1200" b="1" dirty="0">
                <a:latin typeface="Times New Roman"/>
                <a:cs typeface="Times New Roman"/>
              </a:rPr>
              <a:t>System</a:t>
            </a:r>
            <a:r>
              <a:rPr sz="1200" b="1" spc="-20" dirty="0">
                <a:latin typeface="Times New Roman"/>
                <a:cs typeface="Times New Roman"/>
              </a:rPr>
              <a:t> </a:t>
            </a:r>
            <a:r>
              <a:rPr sz="1200" b="1" dirty="0">
                <a:latin typeface="Times New Roman"/>
                <a:cs typeface="Times New Roman"/>
              </a:rPr>
              <a:t>Component</a:t>
            </a:r>
            <a:r>
              <a:rPr sz="1200" b="1" spc="-2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0"/>
              </a:spcBef>
            </a:pPr>
            <a:endParaRPr lang="en-US" sz="1200" dirty="0">
              <a:latin typeface="Times New Roman"/>
              <a:cs typeface="Times New Roman"/>
            </a:endParaRPr>
          </a:p>
          <a:p>
            <a:pPr marL="241300" indent="-228600" algn="just">
              <a:lnSpc>
                <a:spcPct val="100000"/>
              </a:lnSpc>
              <a:spcBef>
                <a:spcPts val="5"/>
              </a:spcBef>
              <a:buFont typeface="+mj-lt"/>
              <a:buAutoNum type="arabicPeriod" startAt="6"/>
            </a:pPr>
            <a:r>
              <a:rPr lang="en-US" sz="1200" b="1" dirty="0">
                <a:latin typeface="Times New Roman"/>
                <a:cs typeface="Times New Roman"/>
              </a:rPr>
              <a:t>Package</a:t>
            </a:r>
            <a:r>
              <a:rPr lang="en-US" sz="1200" b="1" spc="-30" dirty="0">
                <a:latin typeface="Times New Roman"/>
                <a:cs typeface="Times New Roman"/>
              </a:rPr>
              <a:t> </a:t>
            </a:r>
            <a:r>
              <a:rPr lang="en-US" sz="1200" b="1" spc="-10" dirty="0">
                <a:latin typeface="Times New Roman"/>
                <a:cs typeface="Times New Roman"/>
              </a:rPr>
              <a:t>Diagram:</a:t>
            </a:r>
            <a:endParaRPr lang="en-US" sz="1200" dirty="0">
              <a:latin typeface="Times New Roman"/>
              <a:cs typeface="Times New Roman"/>
            </a:endParaRPr>
          </a:p>
          <a:p>
            <a:pPr marL="12700" marR="5080" algn="just">
              <a:lnSpc>
                <a:spcPct val="143600"/>
              </a:lnSpc>
              <a:spcBef>
                <a:spcPts val="610"/>
              </a:spcBef>
            </a:pPr>
            <a:r>
              <a:rPr sz="1200" dirty="0">
                <a:latin typeface="Times New Roman"/>
                <a:cs typeface="Times New Roman"/>
              </a:rPr>
              <a:t>The</a:t>
            </a:r>
            <a:r>
              <a:rPr sz="1200" spc="185" dirty="0">
                <a:latin typeface="Times New Roman"/>
                <a:cs typeface="Times New Roman"/>
              </a:rPr>
              <a:t> </a:t>
            </a:r>
            <a:r>
              <a:rPr sz="1200" b="1" dirty="0">
                <a:latin typeface="Times New Roman"/>
                <a:cs typeface="Times New Roman"/>
              </a:rPr>
              <a:t>Package</a:t>
            </a:r>
            <a:r>
              <a:rPr sz="1200" b="1" spc="195" dirty="0">
                <a:latin typeface="Times New Roman"/>
                <a:cs typeface="Times New Roman"/>
              </a:rPr>
              <a:t> </a:t>
            </a:r>
            <a:r>
              <a:rPr sz="1200" b="1" dirty="0">
                <a:latin typeface="Times New Roman"/>
                <a:cs typeface="Times New Roman"/>
              </a:rPr>
              <a:t>Diagram</a:t>
            </a:r>
            <a:r>
              <a:rPr sz="1200" b="1" spc="215" dirty="0">
                <a:latin typeface="Times New Roman"/>
                <a:cs typeface="Times New Roman"/>
              </a:rPr>
              <a:t> </a:t>
            </a:r>
            <a:r>
              <a:rPr sz="1200" dirty="0">
                <a:latin typeface="Times New Roman"/>
                <a:cs typeface="Times New Roman"/>
              </a:rPr>
              <a:t>organizes</a:t>
            </a:r>
            <a:r>
              <a:rPr sz="1200" spc="190"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components</a:t>
            </a:r>
            <a:r>
              <a:rPr sz="1200" spc="190" dirty="0">
                <a:latin typeface="Times New Roman"/>
                <a:cs typeface="Times New Roman"/>
              </a:rPr>
              <a:t> </a:t>
            </a:r>
            <a:r>
              <a:rPr sz="1200" dirty="0">
                <a:latin typeface="Times New Roman"/>
                <a:cs typeface="Times New Roman"/>
              </a:rPr>
              <a:t>of</a:t>
            </a:r>
            <a:r>
              <a:rPr sz="1200" spc="185" dirty="0">
                <a:latin typeface="Times New Roman"/>
                <a:cs typeface="Times New Roman"/>
              </a:rPr>
              <a:t> </a:t>
            </a:r>
            <a:r>
              <a:rPr sz="1200" dirty="0">
                <a:latin typeface="Times New Roman"/>
                <a:cs typeface="Times New Roman"/>
              </a:rPr>
              <a:t>the</a:t>
            </a:r>
            <a:r>
              <a:rPr sz="1200" spc="204" dirty="0">
                <a:latin typeface="Times New Roman"/>
                <a:cs typeface="Times New Roman"/>
              </a:rPr>
              <a:t> </a:t>
            </a:r>
            <a:r>
              <a:rPr sz="1200" b="1" dirty="0">
                <a:latin typeface="Times New Roman"/>
                <a:cs typeface="Times New Roman"/>
              </a:rPr>
              <a:t>"Auction</a:t>
            </a:r>
            <a:r>
              <a:rPr sz="1200" b="1" spc="195" dirty="0">
                <a:latin typeface="Times New Roman"/>
                <a:cs typeface="Times New Roman"/>
              </a:rPr>
              <a:t> </a:t>
            </a:r>
            <a:r>
              <a:rPr sz="1200" b="1" dirty="0">
                <a:latin typeface="Times New Roman"/>
                <a:cs typeface="Times New Roman"/>
              </a:rPr>
              <a:t>Abode"</a:t>
            </a:r>
            <a:r>
              <a:rPr sz="1200" b="1" spc="195" dirty="0">
                <a:latin typeface="Times New Roman"/>
                <a:cs typeface="Times New Roman"/>
              </a:rPr>
              <a:t> </a:t>
            </a:r>
            <a:r>
              <a:rPr sz="1200" dirty="0">
                <a:latin typeface="Times New Roman"/>
                <a:cs typeface="Times New Roman"/>
              </a:rPr>
              <a:t>system</a:t>
            </a:r>
            <a:r>
              <a:rPr sz="1200" spc="190" dirty="0">
                <a:latin typeface="Times New Roman"/>
                <a:cs typeface="Times New Roman"/>
              </a:rPr>
              <a:t> </a:t>
            </a:r>
            <a:r>
              <a:rPr sz="1200" spc="-20" dirty="0">
                <a:latin typeface="Times New Roman"/>
                <a:cs typeface="Times New Roman"/>
              </a:rPr>
              <a:t>into </a:t>
            </a:r>
            <a:r>
              <a:rPr sz="1200" dirty="0">
                <a:latin typeface="Times New Roman"/>
                <a:cs typeface="Times New Roman"/>
              </a:rPr>
              <a:t>logical</a:t>
            </a:r>
            <a:r>
              <a:rPr sz="1200" spc="-30" dirty="0">
                <a:latin typeface="Times New Roman"/>
                <a:cs typeface="Times New Roman"/>
              </a:rPr>
              <a:t> </a:t>
            </a:r>
            <a:r>
              <a:rPr sz="1200" dirty="0">
                <a:latin typeface="Times New Roman"/>
                <a:cs typeface="Times New Roman"/>
              </a:rPr>
              <a:t>groupings</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packages,</a:t>
            </a:r>
            <a:r>
              <a:rPr sz="1200" spc="-25" dirty="0">
                <a:latin typeface="Times New Roman"/>
                <a:cs typeface="Times New Roman"/>
              </a:rPr>
              <a:t> </a:t>
            </a:r>
            <a:r>
              <a:rPr sz="1200" dirty="0">
                <a:latin typeface="Times New Roman"/>
                <a:cs typeface="Times New Roman"/>
              </a:rPr>
              <a:t>illustrating</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modular</a:t>
            </a:r>
            <a:r>
              <a:rPr sz="1200" spc="-25" dirty="0">
                <a:latin typeface="Times New Roman"/>
                <a:cs typeface="Times New Roman"/>
              </a:rPr>
              <a:t> </a:t>
            </a:r>
            <a:r>
              <a:rPr sz="1200" dirty="0">
                <a:latin typeface="Times New Roman"/>
                <a:cs typeface="Times New Roman"/>
              </a:rPr>
              <a:t>structure</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It</a:t>
            </a:r>
            <a:r>
              <a:rPr sz="1200" spc="-2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spc="-25" dirty="0">
                <a:latin typeface="Times New Roman"/>
                <a:cs typeface="Times New Roman"/>
              </a:rPr>
              <a:t>an </a:t>
            </a:r>
            <a:r>
              <a:rPr sz="1200" dirty="0">
                <a:latin typeface="Times New Roman"/>
                <a:cs typeface="Times New Roman"/>
              </a:rPr>
              <a:t>overview</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system’s</a:t>
            </a:r>
            <a:r>
              <a:rPr sz="1200" spc="10" dirty="0">
                <a:latin typeface="Times New Roman"/>
                <a:cs typeface="Times New Roman"/>
              </a:rPr>
              <a:t> </a:t>
            </a:r>
            <a:r>
              <a:rPr sz="1200" dirty="0">
                <a:latin typeface="Times New Roman"/>
                <a:cs typeface="Times New Roman"/>
              </a:rPr>
              <a:t>dependencies</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relationships,</a:t>
            </a:r>
            <a:r>
              <a:rPr sz="1200" spc="-5" dirty="0">
                <a:latin typeface="Times New Roman"/>
                <a:cs typeface="Times New Roman"/>
              </a:rPr>
              <a:t> </a:t>
            </a:r>
            <a:r>
              <a:rPr sz="1200" dirty="0">
                <a:latin typeface="Times New Roman"/>
                <a:cs typeface="Times New Roman"/>
              </a:rPr>
              <a:t>aiding</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better</a:t>
            </a:r>
            <a:r>
              <a:rPr sz="1200" spc="-5" dirty="0">
                <a:latin typeface="Times New Roman"/>
                <a:cs typeface="Times New Roman"/>
              </a:rPr>
              <a:t> </a:t>
            </a:r>
            <a:r>
              <a:rPr sz="1200" dirty="0">
                <a:latin typeface="Times New Roman"/>
                <a:cs typeface="Times New Roman"/>
              </a:rPr>
              <a:t>understanding</a:t>
            </a:r>
            <a:r>
              <a:rPr sz="1200" spc="-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management</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complexity.</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914400"/>
            <a:ext cx="5669280" cy="296989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7276338"/>
            <a:ext cx="5697220" cy="1640839"/>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30" dirty="0">
                <a:latin typeface="Times New Roman"/>
                <a:cs typeface="Times New Roman"/>
              </a:rPr>
              <a:t> </a:t>
            </a:r>
            <a:r>
              <a:rPr sz="1200" b="1" dirty="0">
                <a:latin typeface="Times New Roman"/>
                <a:cs typeface="Times New Roman"/>
              </a:rPr>
              <a:t>4.4:</a:t>
            </a:r>
            <a:r>
              <a:rPr sz="1200" b="1" spc="-25" dirty="0">
                <a:latin typeface="Times New Roman"/>
                <a:cs typeface="Times New Roman"/>
              </a:rPr>
              <a:t> </a:t>
            </a:r>
            <a:r>
              <a:rPr sz="1200" b="1" dirty="0">
                <a:latin typeface="Times New Roman"/>
                <a:cs typeface="Times New Roman"/>
              </a:rPr>
              <a:t>Package</a:t>
            </a:r>
            <a:r>
              <a:rPr sz="1200" b="1" spc="-35"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75"/>
              </a:spcBef>
            </a:pPr>
            <a:endParaRPr sz="1200" dirty="0">
              <a:latin typeface="Times New Roman"/>
              <a:cs typeface="Times New Roman"/>
            </a:endParaRPr>
          </a:p>
          <a:p>
            <a:pPr marL="241300" indent="-228600" algn="just">
              <a:lnSpc>
                <a:spcPct val="100000"/>
              </a:lnSpc>
              <a:buFont typeface="+mj-lt"/>
              <a:buAutoNum type="arabicPeriod" startAt="7"/>
            </a:pPr>
            <a:r>
              <a:rPr sz="1200" b="1" dirty="0">
                <a:latin typeface="Times New Roman"/>
                <a:cs typeface="Times New Roman"/>
              </a:rPr>
              <a:t>Deployment</a:t>
            </a:r>
            <a:r>
              <a:rPr sz="1200" b="1" spc="-3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marL="12700" marR="5080" algn="just">
              <a:lnSpc>
                <a:spcPct val="143700"/>
              </a:lnSpc>
              <a:spcBef>
                <a:spcPts val="595"/>
              </a:spcBef>
            </a:pPr>
            <a:r>
              <a:rPr sz="1200" dirty="0">
                <a:latin typeface="Times New Roman"/>
                <a:cs typeface="Times New Roman"/>
              </a:rPr>
              <a:t>The</a:t>
            </a:r>
            <a:r>
              <a:rPr sz="1200" spc="160" dirty="0">
                <a:latin typeface="Times New Roman"/>
                <a:cs typeface="Times New Roman"/>
              </a:rPr>
              <a:t> </a:t>
            </a:r>
            <a:r>
              <a:rPr sz="1200" b="1" dirty="0">
                <a:latin typeface="Times New Roman"/>
                <a:cs typeface="Times New Roman"/>
              </a:rPr>
              <a:t>Deployment</a:t>
            </a:r>
            <a:r>
              <a:rPr sz="1200" b="1" spc="165" dirty="0">
                <a:latin typeface="Times New Roman"/>
                <a:cs typeface="Times New Roman"/>
              </a:rPr>
              <a:t> </a:t>
            </a:r>
            <a:r>
              <a:rPr sz="1200" b="1" dirty="0">
                <a:latin typeface="Times New Roman"/>
                <a:cs typeface="Times New Roman"/>
              </a:rPr>
              <a:t>Diagram</a:t>
            </a:r>
            <a:r>
              <a:rPr sz="1200" b="1" spc="190" dirty="0">
                <a:latin typeface="Times New Roman"/>
                <a:cs typeface="Times New Roman"/>
              </a:rPr>
              <a:t> </a:t>
            </a:r>
            <a:r>
              <a:rPr sz="1200" dirty="0">
                <a:latin typeface="Times New Roman"/>
                <a:cs typeface="Times New Roman"/>
              </a:rPr>
              <a:t>illustrates</a:t>
            </a:r>
            <a:r>
              <a:rPr sz="1200" spc="170" dirty="0">
                <a:latin typeface="Times New Roman"/>
                <a:cs typeface="Times New Roman"/>
              </a:rPr>
              <a:t> </a:t>
            </a:r>
            <a:r>
              <a:rPr sz="1200" dirty="0">
                <a:latin typeface="Times New Roman"/>
                <a:cs typeface="Times New Roman"/>
              </a:rPr>
              <a:t>the</a:t>
            </a:r>
            <a:r>
              <a:rPr sz="1200" spc="170" dirty="0">
                <a:latin typeface="Times New Roman"/>
                <a:cs typeface="Times New Roman"/>
              </a:rPr>
              <a:t> </a:t>
            </a:r>
            <a:r>
              <a:rPr sz="1200" dirty="0">
                <a:latin typeface="Times New Roman"/>
                <a:cs typeface="Times New Roman"/>
              </a:rPr>
              <a:t>physical</a:t>
            </a:r>
            <a:r>
              <a:rPr sz="1200" spc="175" dirty="0">
                <a:latin typeface="Times New Roman"/>
                <a:cs typeface="Times New Roman"/>
              </a:rPr>
              <a:t> </a:t>
            </a:r>
            <a:r>
              <a:rPr sz="1200" dirty="0">
                <a:latin typeface="Times New Roman"/>
                <a:cs typeface="Times New Roman"/>
              </a:rPr>
              <a:t>deployment</a:t>
            </a:r>
            <a:r>
              <a:rPr sz="1200" spc="175" dirty="0">
                <a:latin typeface="Times New Roman"/>
                <a:cs typeface="Times New Roman"/>
              </a:rPr>
              <a:t> </a:t>
            </a:r>
            <a:r>
              <a:rPr sz="1200" dirty="0">
                <a:latin typeface="Times New Roman"/>
                <a:cs typeface="Times New Roman"/>
              </a:rPr>
              <a:t>of</a:t>
            </a:r>
            <a:r>
              <a:rPr sz="1200" spc="165"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b="1" dirty="0">
                <a:latin typeface="Times New Roman"/>
                <a:cs typeface="Times New Roman"/>
              </a:rPr>
              <a:t>"Auction</a:t>
            </a:r>
            <a:r>
              <a:rPr sz="1200" b="1" spc="175" dirty="0">
                <a:latin typeface="Times New Roman"/>
                <a:cs typeface="Times New Roman"/>
              </a:rPr>
              <a:t> </a:t>
            </a:r>
            <a:r>
              <a:rPr sz="1200" b="1" spc="-10" dirty="0">
                <a:latin typeface="Times New Roman"/>
                <a:cs typeface="Times New Roman"/>
              </a:rPr>
              <a:t>Abode" </a:t>
            </a:r>
            <a:r>
              <a:rPr sz="1200" dirty="0">
                <a:latin typeface="Times New Roman"/>
                <a:cs typeface="Times New Roman"/>
              </a:rPr>
              <a:t>system</a:t>
            </a:r>
            <a:r>
              <a:rPr sz="1200" spc="225" dirty="0">
                <a:latin typeface="Times New Roman"/>
                <a:cs typeface="Times New Roman"/>
              </a:rPr>
              <a:t> </a:t>
            </a:r>
            <a:r>
              <a:rPr sz="1200" dirty="0">
                <a:latin typeface="Times New Roman"/>
                <a:cs typeface="Times New Roman"/>
              </a:rPr>
              <a:t>across</a:t>
            </a:r>
            <a:r>
              <a:rPr sz="1200" spc="225" dirty="0">
                <a:latin typeface="Times New Roman"/>
                <a:cs typeface="Times New Roman"/>
              </a:rPr>
              <a:t> </a:t>
            </a:r>
            <a:r>
              <a:rPr sz="1200" dirty="0">
                <a:latin typeface="Times New Roman"/>
                <a:cs typeface="Times New Roman"/>
              </a:rPr>
              <a:t>various</a:t>
            </a:r>
            <a:r>
              <a:rPr sz="1200" spc="225" dirty="0">
                <a:latin typeface="Times New Roman"/>
                <a:cs typeface="Times New Roman"/>
              </a:rPr>
              <a:t> </a:t>
            </a:r>
            <a:r>
              <a:rPr sz="1200" dirty="0">
                <a:latin typeface="Times New Roman"/>
                <a:cs typeface="Times New Roman"/>
              </a:rPr>
              <a:t>hardware</a:t>
            </a:r>
            <a:r>
              <a:rPr sz="1200" spc="220" dirty="0">
                <a:latin typeface="Times New Roman"/>
                <a:cs typeface="Times New Roman"/>
              </a:rPr>
              <a:t> </a:t>
            </a:r>
            <a:r>
              <a:rPr sz="1200" dirty="0">
                <a:latin typeface="Times New Roman"/>
                <a:cs typeface="Times New Roman"/>
              </a:rPr>
              <a:t>nodes.</a:t>
            </a:r>
            <a:r>
              <a:rPr sz="1200" spc="240" dirty="0">
                <a:latin typeface="Times New Roman"/>
                <a:cs typeface="Times New Roman"/>
              </a:rPr>
              <a:t> </a:t>
            </a:r>
            <a:r>
              <a:rPr sz="1200" dirty="0">
                <a:latin typeface="Times New Roman"/>
                <a:cs typeface="Times New Roman"/>
              </a:rPr>
              <a:t>It</a:t>
            </a:r>
            <a:r>
              <a:rPr sz="1200" spc="225" dirty="0">
                <a:latin typeface="Times New Roman"/>
                <a:cs typeface="Times New Roman"/>
              </a:rPr>
              <a:t> </a:t>
            </a:r>
            <a:r>
              <a:rPr sz="1200" dirty="0">
                <a:latin typeface="Times New Roman"/>
                <a:cs typeface="Times New Roman"/>
              </a:rPr>
              <a:t>provides</a:t>
            </a:r>
            <a:r>
              <a:rPr sz="1200" spc="229" dirty="0">
                <a:latin typeface="Times New Roman"/>
                <a:cs typeface="Times New Roman"/>
              </a:rPr>
              <a:t> </a:t>
            </a:r>
            <a:r>
              <a:rPr sz="1200" dirty="0">
                <a:latin typeface="Times New Roman"/>
                <a:cs typeface="Times New Roman"/>
              </a:rPr>
              <a:t>a</a:t>
            </a:r>
            <a:r>
              <a:rPr sz="1200" spc="220" dirty="0">
                <a:latin typeface="Times New Roman"/>
                <a:cs typeface="Times New Roman"/>
              </a:rPr>
              <a:t> </a:t>
            </a:r>
            <a:r>
              <a:rPr sz="1200" dirty="0">
                <a:latin typeface="Times New Roman"/>
                <a:cs typeface="Times New Roman"/>
              </a:rPr>
              <a:t>detailed</a:t>
            </a:r>
            <a:r>
              <a:rPr sz="1200" spc="225" dirty="0">
                <a:latin typeface="Times New Roman"/>
                <a:cs typeface="Times New Roman"/>
              </a:rPr>
              <a:t> </a:t>
            </a:r>
            <a:r>
              <a:rPr sz="1200" dirty="0">
                <a:latin typeface="Times New Roman"/>
                <a:cs typeface="Times New Roman"/>
              </a:rPr>
              <a:t>view</a:t>
            </a:r>
            <a:r>
              <a:rPr sz="1200" spc="225" dirty="0">
                <a:latin typeface="Times New Roman"/>
                <a:cs typeface="Times New Roman"/>
              </a:rPr>
              <a:t> </a:t>
            </a:r>
            <a:r>
              <a:rPr sz="1200" dirty="0">
                <a:latin typeface="Times New Roman"/>
                <a:cs typeface="Times New Roman"/>
              </a:rPr>
              <a:t>of</a:t>
            </a:r>
            <a:r>
              <a:rPr sz="1200" spc="229" dirty="0">
                <a:latin typeface="Times New Roman"/>
                <a:cs typeface="Times New Roman"/>
              </a:rPr>
              <a:t> </a:t>
            </a:r>
            <a:r>
              <a:rPr sz="1200" dirty="0">
                <a:latin typeface="Times New Roman"/>
                <a:cs typeface="Times New Roman"/>
              </a:rPr>
              <a:t>how</a:t>
            </a:r>
            <a:r>
              <a:rPr sz="1200" spc="225" dirty="0">
                <a:latin typeface="Times New Roman"/>
                <a:cs typeface="Times New Roman"/>
              </a:rPr>
              <a:t> </a:t>
            </a:r>
            <a:r>
              <a:rPr sz="1200" dirty="0">
                <a:latin typeface="Times New Roman"/>
                <a:cs typeface="Times New Roman"/>
              </a:rPr>
              <a:t>the</a:t>
            </a:r>
            <a:r>
              <a:rPr sz="1200" spc="220" dirty="0">
                <a:latin typeface="Times New Roman"/>
                <a:cs typeface="Times New Roman"/>
              </a:rPr>
              <a:t> </a:t>
            </a:r>
            <a:r>
              <a:rPr sz="1200" spc="-10" dirty="0">
                <a:latin typeface="Times New Roman"/>
                <a:cs typeface="Times New Roman"/>
              </a:rPr>
              <a:t>system's </a:t>
            </a:r>
            <a:r>
              <a:rPr sz="1200" dirty="0">
                <a:latin typeface="Times New Roman"/>
                <a:cs typeface="Times New Roman"/>
              </a:rPr>
              <a:t>software</a:t>
            </a:r>
            <a:r>
              <a:rPr sz="1200" spc="114" dirty="0">
                <a:latin typeface="Times New Roman"/>
                <a:cs typeface="Times New Roman"/>
              </a:rPr>
              <a:t> </a:t>
            </a:r>
            <a:r>
              <a:rPr sz="1200" dirty="0">
                <a:latin typeface="Times New Roman"/>
                <a:cs typeface="Times New Roman"/>
              </a:rPr>
              <a:t>components</a:t>
            </a:r>
            <a:r>
              <a:rPr sz="1200" spc="120" dirty="0">
                <a:latin typeface="Times New Roman"/>
                <a:cs typeface="Times New Roman"/>
              </a:rPr>
              <a:t> </a:t>
            </a:r>
            <a:r>
              <a:rPr sz="1200" dirty="0">
                <a:latin typeface="Times New Roman"/>
                <a:cs typeface="Times New Roman"/>
              </a:rPr>
              <a:t>are</a:t>
            </a:r>
            <a:r>
              <a:rPr sz="1200" spc="110" dirty="0">
                <a:latin typeface="Times New Roman"/>
                <a:cs typeface="Times New Roman"/>
              </a:rPr>
              <a:t> </a:t>
            </a:r>
            <a:r>
              <a:rPr sz="1200" dirty="0">
                <a:latin typeface="Times New Roman"/>
                <a:cs typeface="Times New Roman"/>
              </a:rPr>
              <a:t>distributed</a:t>
            </a:r>
            <a:r>
              <a:rPr sz="1200" spc="114"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dirty="0">
                <a:latin typeface="Times New Roman"/>
                <a:cs typeface="Times New Roman"/>
              </a:rPr>
              <a:t>interconnected</a:t>
            </a:r>
            <a:r>
              <a:rPr sz="1200" spc="110" dirty="0">
                <a:latin typeface="Times New Roman"/>
                <a:cs typeface="Times New Roman"/>
              </a:rPr>
              <a:t> </a:t>
            </a:r>
            <a:r>
              <a:rPr sz="1200" dirty="0">
                <a:latin typeface="Times New Roman"/>
                <a:cs typeface="Times New Roman"/>
              </a:rPr>
              <a:t>within</a:t>
            </a:r>
            <a:r>
              <a:rPr sz="1200" spc="114"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network</a:t>
            </a:r>
            <a:r>
              <a:rPr sz="1200" spc="114" dirty="0">
                <a:latin typeface="Times New Roman"/>
                <a:cs typeface="Times New Roman"/>
              </a:rPr>
              <a:t> </a:t>
            </a:r>
            <a:r>
              <a:rPr sz="1200" spc="-10" dirty="0">
                <a:latin typeface="Times New Roman"/>
                <a:cs typeface="Times New Roman"/>
              </a:rPr>
              <a:t>infrastructure.</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914400"/>
            <a:ext cx="5641443" cy="5791151"/>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812037"/>
            <a:ext cx="5690235" cy="549910"/>
          </a:xfrm>
          <a:prstGeom prst="rect">
            <a:avLst/>
          </a:prstGeom>
        </p:spPr>
        <p:txBody>
          <a:bodyPr vert="horz" wrap="square" lIns="0" tIns="12700" rIns="0" bIns="0" rtlCol="0">
            <a:spAutoFit/>
          </a:bodyPr>
          <a:lstStyle/>
          <a:p>
            <a:pPr marL="12700" marR="5080">
              <a:lnSpc>
                <a:spcPct val="143300"/>
              </a:lnSpc>
              <a:spcBef>
                <a:spcPts val="100"/>
              </a:spcBef>
            </a:pPr>
            <a:r>
              <a:rPr sz="1200" dirty="0">
                <a:latin typeface="Times New Roman"/>
                <a:cs typeface="Times New Roman"/>
              </a:rPr>
              <a:t>This</a:t>
            </a:r>
            <a:r>
              <a:rPr sz="1200" spc="445" dirty="0">
                <a:latin typeface="Times New Roman"/>
                <a:cs typeface="Times New Roman"/>
              </a:rPr>
              <a:t> </a:t>
            </a:r>
            <a:r>
              <a:rPr sz="1200" dirty="0">
                <a:latin typeface="Times New Roman"/>
                <a:cs typeface="Times New Roman"/>
              </a:rPr>
              <a:t>diagram</a:t>
            </a:r>
            <a:r>
              <a:rPr sz="1200" spc="459" dirty="0">
                <a:latin typeface="Times New Roman"/>
                <a:cs typeface="Times New Roman"/>
              </a:rPr>
              <a:t> </a:t>
            </a:r>
            <a:r>
              <a:rPr sz="1200" dirty="0">
                <a:latin typeface="Times New Roman"/>
                <a:cs typeface="Times New Roman"/>
              </a:rPr>
              <a:t>ensures</a:t>
            </a:r>
            <a:r>
              <a:rPr sz="1200" spc="465" dirty="0">
                <a:latin typeface="Times New Roman"/>
                <a:cs typeface="Times New Roman"/>
              </a:rPr>
              <a:t> </a:t>
            </a:r>
            <a:r>
              <a:rPr sz="1200" dirty="0">
                <a:latin typeface="Times New Roman"/>
                <a:cs typeface="Times New Roman"/>
              </a:rPr>
              <a:t>clarity</a:t>
            </a:r>
            <a:r>
              <a:rPr sz="1200" spc="445" dirty="0">
                <a:latin typeface="Times New Roman"/>
                <a:cs typeface="Times New Roman"/>
              </a:rPr>
              <a:t> </a:t>
            </a:r>
            <a:r>
              <a:rPr sz="1200" dirty="0">
                <a:latin typeface="Times New Roman"/>
                <a:cs typeface="Times New Roman"/>
              </a:rPr>
              <a:t>in</a:t>
            </a:r>
            <a:r>
              <a:rPr sz="1200" spc="445" dirty="0">
                <a:latin typeface="Times New Roman"/>
                <a:cs typeface="Times New Roman"/>
              </a:rPr>
              <a:t> </a:t>
            </a:r>
            <a:r>
              <a:rPr sz="1200" dirty="0">
                <a:latin typeface="Times New Roman"/>
                <a:cs typeface="Times New Roman"/>
              </a:rPr>
              <a:t>understanding</a:t>
            </a:r>
            <a:r>
              <a:rPr sz="1200" spc="445" dirty="0">
                <a:latin typeface="Times New Roman"/>
                <a:cs typeface="Times New Roman"/>
              </a:rPr>
              <a:t> </a:t>
            </a:r>
            <a:r>
              <a:rPr sz="1200" dirty="0">
                <a:latin typeface="Times New Roman"/>
                <a:cs typeface="Times New Roman"/>
              </a:rPr>
              <a:t>the</a:t>
            </a:r>
            <a:r>
              <a:rPr sz="1200" spc="440" dirty="0">
                <a:latin typeface="Times New Roman"/>
                <a:cs typeface="Times New Roman"/>
              </a:rPr>
              <a:t> </a:t>
            </a:r>
            <a:r>
              <a:rPr sz="1200" dirty="0">
                <a:latin typeface="Times New Roman"/>
                <a:cs typeface="Times New Roman"/>
              </a:rPr>
              <a:t>system's</a:t>
            </a:r>
            <a:r>
              <a:rPr sz="1200" spc="450" dirty="0">
                <a:latin typeface="Times New Roman"/>
                <a:cs typeface="Times New Roman"/>
              </a:rPr>
              <a:t> </a:t>
            </a:r>
            <a:r>
              <a:rPr sz="1200" dirty="0">
                <a:latin typeface="Times New Roman"/>
                <a:cs typeface="Times New Roman"/>
              </a:rPr>
              <a:t>deployment</a:t>
            </a:r>
            <a:r>
              <a:rPr sz="1200" spc="445" dirty="0">
                <a:latin typeface="Times New Roman"/>
                <a:cs typeface="Times New Roman"/>
              </a:rPr>
              <a:t> </a:t>
            </a:r>
            <a:r>
              <a:rPr sz="1200" spc="-10" dirty="0">
                <a:latin typeface="Times New Roman"/>
                <a:cs typeface="Times New Roman"/>
              </a:rPr>
              <a:t>architecture, facilitating</a:t>
            </a:r>
            <a:r>
              <a:rPr sz="1200" spc="-25" dirty="0">
                <a:latin typeface="Times New Roman"/>
                <a:cs typeface="Times New Roman"/>
              </a:rPr>
              <a:t> </a:t>
            </a:r>
            <a:r>
              <a:rPr sz="1200" dirty="0">
                <a:latin typeface="Times New Roman"/>
                <a:cs typeface="Times New Roman"/>
              </a:rPr>
              <a:t>effective</a:t>
            </a:r>
            <a:r>
              <a:rPr sz="1200" spc="-25" dirty="0">
                <a:latin typeface="Times New Roman"/>
                <a:cs typeface="Times New Roman"/>
              </a:rPr>
              <a:t> </a:t>
            </a:r>
            <a:r>
              <a:rPr sz="1200" dirty="0">
                <a:latin typeface="Times New Roman"/>
                <a:cs typeface="Times New Roman"/>
              </a:rPr>
              <a:t>deployment</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management.</a:t>
            </a:r>
            <a:endParaRPr sz="1200">
              <a:latin typeface="Times New Roman"/>
              <a:cs typeface="Times New Roman"/>
            </a:endParaRPr>
          </a:p>
        </p:txBody>
      </p:sp>
      <p:sp>
        <p:nvSpPr>
          <p:cNvPr id="3" name="object 3"/>
          <p:cNvSpPr txBox="1"/>
          <p:nvPr/>
        </p:nvSpPr>
        <p:spPr>
          <a:xfrm>
            <a:off x="1176324" y="7501890"/>
            <a:ext cx="5693410" cy="1497846"/>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30" dirty="0">
                <a:latin typeface="Times New Roman"/>
                <a:cs typeface="Times New Roman"/>
              </a:rPr>
              <a:t> </a:t>
            </a:r>
            <a:r>
              <a:rPr sz="1200" b="1" dirty="0">
                <a:latin typeface="Times New Roman"/>
                <a:cs typeface="Times New Roman"/>
              </a:rPr>
              <a:t>4.5:</a:t>
            </a:r>
            <a:r>
              <a:rPr sz="1200" b="1" spc="-30" dirty="0">
                <a:latin typeface="Times New Roman"/>
                <a:cs typeface="Times New Roman"/>
              </a:rPr>
              <a:t> </a:t>
            </a:r>
            <a:r>
              <a:rPr sz="1200" b="1" dirty="0">
                <a:latin typeface="Times New Roman"/>
                <a:cs typeface="Times New Roman"/>
              </a:rPr>
              <a:t>Deployment</a:t>
            </a:r>
            <a:r>
              <a:rPr sz="1200" b="1" spc="-3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75"/>
              </a:spcBef>
            </a:pPr>
            <a:endParaRPr sz="1200" dirty="0">
              <a:latin typeface="Times New Roman"/>
              <a:cs typeface="Times New Roman"/>
            </a:endParaRPr>
          </a:p>
          <a:p>
            <a:pPr marL="241300" indent="-228600">
              <a:lnSpc>
                <a:spcPct val="100000"/>
              </a:lnSpc>
              <a:buFont typeface="+mj-lt"/>
              <a:buAutoNum type="arabicPeriod" startAt="8"/>
            </a:pPr>
            <a:r>
              <a:rPr sz="1200" b="1" dirty="0">
                <a:latin typeface="Times New Roman"/>
                <a:cs typeface="Times New Roman"/>
              </a:rPr>
              <a:t>UML</a:t>
            </a:r>
            <a:r>
              <a:rPr sz="1200" b="1" spc="-25" dirty="0">
                <a:latin typeface="Times New Roman"/>
                <a:cs typeface="Times New Roman"/>
              </a:rPr>
              <a:t> </a:t>
            </a:r>
            <a:r>
              <a:rPr sz="1200" b="1" dirty="0">
                <a:latin typeface="Times New Roman"/>
                <a:cs typeface="Times New Roman"/>
              </a:rPr>
              <a:t>Behavioral</a:t>
            </a:r>
            <a:r>
              <a:rPr sz="1200" b="1" spc="-30" dirty="0">
                <a:latin typeface="Times New Roman"/>
                <a:cs typeface="Times New Roman"/>
              </a:rPr>
              <a:t> </a:t>
            </a:r>
            <a:r>
              <a:rPr sz="1200" b="1" spc="-10" dirty="0">
                <a:latin typeface="Times New Roman"/>
                <a:cs typeface="Times New Roman"/>
              </a:rPr>
              <a:t>Diagrams</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algn="ctr">
              <a:lnSpc>
                <a:spcPct val="100000"/>
              </a:lnSpc>
              <a:spcBef>
                <a:spcPts val="5"/>
              </a:spcBef>
            </a:pPr>
            <a:r>
              <a:rPr sz="1200" b="1" dirty="0">
                <a:latin typeface="Times New Roman"/>
                <a:cs typeface="Times New Roman"/>
              </a:rPr>
              <a:t>UML</a:t>
            </a:r>
            <a:r>
              <a:rPr sz="1200" b="1" spc="5" dirty="0">
                <a:latin typeface="Times New Roman"/>
                <a:cs typeface="Times New Roman"/>
              </a:rPr>
              <a:t> </a:t>
            </a:r>
            <a:r>
              <a:rPr sz="1200" b="1" dirty="0">
                <a:latin typeface="Times New Roman"/>
                <a:cs typeface="Times New Roman"/>
              </a:rPr>
              <a:t>Behavioral</a:t>
            </a:r>
            <a:r>
              <a:rPr sz="1200" b="1" spc="10" dirty="0">
                <a:latin typeface="Times New Roman"/>
                <a:cs typeface="Times New Roman"/>
              </a:rPr>
              <a:t> </a:t>
            </a:r>
            <a:r>
              <a:rPr sz="1200" b="1" dirty="0">
                <a:latin typeface="Times New Roman"/>
                <a:cs typeface="Times New Roman"/>
              </a:rPr>
              <a:t>Diagrams</a:t>
            </a:r>
            <a:r>
              <a:rPr sz="1200" b="1" spc="20" dirty="0">
                <a:latin typeface="Times New Roman"/>
                <a:cs typeface="Times New Roman"/>
              </a:rPr>
              <a:t> </a:t>
            </a:r>
            <a:r>
              <a:rPr sz="1200" dirty="0">
                <a:latin typeface="Times New Roman"/>
                <a:cs typeface="Times New Roman"/>
              </a:rPr>
              <a:t>provide</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visual representation</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dynamic</a:t>
            </a:r>
            <a:r>
              <a:rPr sz="1200" spc="5" dirty="0">
                <a:latin typeface="Times New Roman"/>
                <a:cs typeface="Times New Roman"/>
              </a:rPr>
              <a:t> </a:t>
            </a:r>
            <a:r>
              <a:rPr sz="1200" dirty="0">
                <a:latin typeface="Times New Roman"/>
                <a:cs typeface="Times New Roman"/>
              </a:rPr>
              <a:t>behavior</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25" dirty="0">
                <a:latin typeface="Times New Roman"/>
                <a:cs typeface="Times New Roman"/>
              </a:rPr>
              <a:t>the</a:t>
            </a:r>
            <a:endParaRPr sz="1200" dirty="0">
              <a:latin typeface="Times New Roman"/>
              <a:cs typeface="Times New Roman"/>
            </a:endParaRPr>
          </a:p>
          <a:p>
            <a:pPr algn="ctr">
              <a:lnSpc>
                <a:spcPct val="100000"/>
              </a:lnSpc>
              <a:spcBef>
                <a:spcPts val="620"/>
              </a:spcBef>
            </a:pPr>
            <a:r>
              <a:rPr sz="1200" b="1" dirty="0">
                <a:latin typeface="Times New Roman"/>
                <a:cs typeface="Times New Roman"/>
              </a:rPr>
              <a:t>"Auction</a:t>
            </a:r>
            <a:r>
              <a:rPr sz="1200" b="1" spc="-30" dirty="0">
                <a:latin typeface="Times New Roman"/>
                <a:cs typeface="Times New Roman"/>
              </a:rPr>
              <a:t> </a:t>
            </a:r>
            <a:r>
              <a:rPr sz="1200" b="1" dirty="0">
                <a:latin typeface="Times New Roman"/>
                <a:cs typeface="Times New Roman"/>
              </a:rPr>
              <a:t>Abode"</a:t>
            </a:r>
            <a:r>
              <a:rPr sz="1200" b="1" spc="-3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These</a:t>
            </a:r>
            <a:r>
              <a:rPr sz="1200" spc="-40" dirty="0">
                <a:latin typeface="Times New Roman"/>
                <a:cs typeface="Times New Roman"/>
              </a:rPr>
              <a:t> </a:t>
            </a:r>
            <a:r>
              <a:rPr sz="1200" dirty="0">
                <a:latin typeface="Times New Roman"/>
                <a:cs typeface="Times New Roman"/>
              </a:rPr>
              <a:t>diagrams</a:t>
            </a:r>
            <a:r>
              <a:rPr sz="1200" spc="-30" dirty="0">
                <a:latin typeface="Times New Roman"/>
                <a:cs typeface="Times New Roman"/>
              </a:rPr>
              <a:t> </a:t>
            </a:r>
            <a:r>
              <a:rPr sz="1200" spc="-10" dirty="0">
                <a:latin typeface="Times New Roman"/>
                <a:cs typeface="Times New Roman"/>
              </a:rPr>
              <a:t>illustrate</a:t>
            </a:r>
            <a:r>
              <a:rPr sz="1200" spc="-40" dirty="0">
                <a:latin typeface="Times New Roman"/>
                <a:cs typeface="Times New Roman"/>
              </a:rPr>
              <a:t> </a:t>
            </a:r>
            <a:r>
              <a:rPr sz="1200" spc="-10" dirty="0">
                <a:latin typeface="Times New Roman"/>
                <a:cs typeface="Times New Roman"/>
              </a:rPr>
              <a:t>interactions</a:t>
            </a:r>
            <a:r>
              <a:rPr sz="1200" spc="-35" dirty="0">
                <a:latin typeface="Times New Roman"/>
                <a:cs typeface="Times New Roman"/>
              </a:rPr>
              <a:t> </a:t>
            </a:r>
            <a:r>
              <a:rPr sz="1200" dirty="0">
                <a:latin typeface="Times New Roman"/>
                <a:cs typeface="Times New Roman"/>
              </a:rPr>
              <a:t>among</a:t>
            </a:r>
            <a:r>
              <a:rPr sz="1200" spc="-3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spc="-10" dirty="0">
                <a:latin typeface="Times New Roman"/>
                <a:cs typeface="Times New Roman"/>
              </a:rPr>
              <a:t>components,</a:t>
            </a:r>
            <a:endParaRPr sz="1200" dirty="0">
              <a:latin typeface="Times New Roman"/>
              <a:cs typeface="Times New Roman"/>
            </a:endParaRPr>
          </a:p>
        </p:txBody>
      </p:sp>
      <p:pic>
        <p:nvPicPr>
          <p:cNvPr id="4" name="object 4"/>
          <p:cNvPicPr/>
          <p:nvPr/>
        </p:nvPicPr>
        <p:blipFill>
          <a:blip r:embed="rId2" cstate="print"/>
          <a:stretch>
            <a:fillRect/>
          </a:stretch>
        </p:blipFill>
        <p:spPr>
          <a:xfrm>
            <a:off x="1188719" y="2194560"/>
            <a:ext cx="5622079" cy="4997611"/>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812037"/>
            <a:ext cx="5694045" cy="2425065"/>
          </a:xfrm>
          <a:prstGeom prst="rect">
            <a:avLst/>
          </a:prstGeom>
        </p:spPr>
        <p:txBody>
          <a:bodyPr vert="horz" wrap="square" lIns="0" tIns="12700" rIns="0" bIns="0" rtlCol="0">
            <a:spAutoFit/>
          </a:bodyPr>
          <a:lstStyle/>
          <a:p>
            <a:pPr marL="12700" marR="5715">
              <a:lnSpc>
                <a:spcPct val="143300"/>
              </a:lnSpc>
              <a:spcBef>
                <a:spcPts val="100"/>
              </a:spcBef>
            </a:pPr>
            <a:r>
              <a:rPr sz="1200" dirty="0">
                <a:latin typeface="Times New Roman"/>
                <a:cs typeface="Times New Roman"/>
              </a:rPr>
              <a:t>entities,</a:t>
            </a:r>
            <a:r>
              <a:rPr sz="1200" spc="105" dirty="0">
                <a:latin typeface="Times New Roman"/>
                <a:cs typeface="Times New Roman"/>
              </a:rPr>
              <a:t> </a:t>
            </a:r>
            <a:r>
              <a:rPr sz="1200" dirty="0">
                <a:latin typeface="Times New Roman"/>
                <a:cs typeface="Times New Roman"/>
              </a:rPr>
              <a:t>and</a:t>
            </a:r>
            <a:r>
              <a:rPr sz="1200" spc="110" dirty="0">
                <a:latin typeface="Times New Roman"/>
                <a:cs typeface="Times New Roman"/>
              </a:rPr>
              <a:t> </a:t>
            </a:r>
            <a:r>
              <a:rPr sz="1200" dirty="0">
                <a:latin typeface="Times New Roman"/>
                <a:cs typeface="Times New Roman"/>
              </a:rPr>
              <a:t>users,</a:t>
            </a:r>
            <a:r>
              <a:rPr sz="1200" spc="105" dirty="0">
                <a:latin typeface="Times New Roman"/>
                <a:cs typeface="Times New Roman"/>
              </a:rPr>
              <a:t> </a:t>
            </a:r>
            <a:r>
              <a:rPr sz="1200" dirty="0">
                <a:latin typeface="Times New Roman"/>
                <a:cs typeface="Times New Roman"/>
              </a:rPr>
              <a:t>showcasing</a:t>
            </a:r>
            <a:r>
              <a:rPr sz="1200" spc="110" dirty="0">
                <a:latin typeface="Times New Roman"/>
                <a:cs typeface="Times New Roman"/>
              </a:rPr>
              <a:t> </a:t>
            </a:r>
            <a:r>
              <a:rPr sz="1200" dirty="0">
                <a:latin typeface="Times New Roman"/>
                <a:cs typeface="Times New Roman"/>
              </a:rPr>
              <a:t>how</a:t>
            </a:r>
            <a:r>
              <a:rPr sz="1200" spc="100" dirty="0">
                <a:latin typeface="Times New Roman"/>
                <a:cs typeface="Times New Roman"/>
              </a:rPr>
              <a:t> </a:t>
            </a:r>
            <a:r>
              <a:rPr sz="1200" dirty="0">
                <a:latin typeface="Times New Roman"/>
                <a:cs typeface="Times New Roman"/>
              </a:rPr>
              <a:t>tasks</a:t>
            </a:r>
            <a:r>
              <a:rPr sz="1200" spc="110" dirty="0">
                <a:latin typeface="Times New Roman"/>
                <a:cs typeface="Times New Roman"/>
              </a:rPr>
              <a:t> </a:t>
            </a:r>
            <a:r>
              <a:rPr sz="1200" dirty="0">
                <a:latin typeface="Times New Roman"/>
                <a:cs typeface="Times New Roman"/>
              </a:rPr>
              <a:t>are</a:t>
            </a:r>
            <a:r>
              <a:rPr sz="1200" spc="105" dirty="0">
                <a:latin typeface="Times New Roman"/>
                <a:cs typeface="Times New Roman"/>
              </a:rPr>
              <a:t> </a:t>
            </a:r>
            <a:r>
              <a:rPr sz="1200" dirty="0">
                <a:latin typeface="Times New Roman"/>
                <a:cs typeface="Times New Roman"/>
              </a:rPr>
              <a:t>accomplished</a:t>
            </a:r>
            <a:r>
              <a:rPr sz="1200" spc="105"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processes</a:t>
            </a:r>
            <a:r>
              <a:rPr sz="1200" spc="110" dirty="0">
                <a:latin typeface="Times New Roman"/>
                <a:cs typeface="Times New Roman"/>
              </a:rPr>
              <a:t> </a:t>
            </a:r>
            <a:r>
              <a:rPr sz="1200" dirty="0">
                <a:latin typeface="Times New Roman"/>
                <a:cs typeface="Times New Roman"/>
              </a:rPr>
              <a:t>flow</a:t>
            </a:r>
            <a:r>
              <a:rPr sz="1200" spc="105" dirty="0">
                <a:latin typeface="Times New Roman"/>
                <a:cs typeface="Times New Roman"/>
              </a:rPr>
              <a:t> </a:t>
            </a:r>
            <a:r>
              <a:rPr sz="1200" dirty="0">
                <a:latin typeface="Times New Roman"/>
                <a:cs typeface="Times New Roman"/>
              </a:rPr>
              <a:t>within</a:t>
            </a:r>
            <a:r>
              <a:rPr sz="1200" spc="11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system.</a:t>
            </a:r>
            <a:endParaRPr sz="1200" dirty="0">
              <a:latin typeface="Times New Roman"/>
              <a:cs typeface="Times New Roman"/>
            </a:endParaRPr>
          </a:p>
          <a:p>
            <a:pPr>
              <a:lnSpc>
                <a:spcPct val="100000"/>
              </a:lnSpc>
              <a:spcBef>
                <a:spcPts val="35"/>
              </a:spcBef>
            </a:pPr>
            <a:endParaRPr sz="1200" dirty="0">
              <a:latin typeface="Times New Roman"/>
              <a:cs typeface="Times New Roman"/>
            </a:endParaRPr>
          </a:p>
          <a:p>
            <a:pPr marL="12700" marR="8255">
              <a:lnSpc>
                <a:spcPct val="143300"/>
              </a:lnSpc>
            </a:pPr>
            <a:r>
              <a:rPr sz="1200" dirty="0">
                <a:latin typeface="Times New Roman"/>
                <a:cs typeface="Times New Roman"/>
              </a:rPr>
              <a:t>Behavioral diagrams</a:t>
            </a:r>
            <a:r>
              <a:rPr sz="1200" spc="5" dirty="0">
                <a:latin typeface="Times New Roman"/>
                <a:cs typeface="Times New Roman"/>
              </a:rPr>
              <a:t> </a:t>
            </a:r>
            <a:r>
              <a:rPr sz="1200" dirty="0">
                <a:latin typeface="Times New Roman"/>
                <a:cs typeface="Times New Roman"/>
              </a:rPr>
              <a:t>offer</a:t>
            </a:r>
            <a:r>
              <a:rPr sz="1200" spc="-5" dirty="0">
                <a:latin typeface="Times New Roman"/>
                <a:cs typeface="Times New Roman"/>
              </a:rPr>
              <a:t> </a:t>
            </a:r>
            <a:r>
              <a:rPr sz="1200" dirty="0">
                <a:latin typeface="Times New Roman"/>
                <a:cs typeface="Times New Roman"/>
              </a:rPr>
              <a:t>insights</a:t>
            </a:r>
            <a:r>
              <a:rPr sz="1200" spc="5" dirty="0">
                <a:latin typeface="Times New Roman"/>
                <a:cs typeface="Times New Roman"/>
              </a:rPr>
              <a:t> </a:t>
            </a:r>
            <a:r>
              <a:rPr sz="1200" dirty="0">
                <a:latin typeface="Times New Roman"/>
                <a:cs typeface="Times New Roman"/>
              </a:rPr>
              <a:t>into functionality, message</a:t>
            </a:r>
            <a:r>
              <a:rPr sz="1200" spc="10" dirty="0">
                <a:latin typeface="Times New Roman"/>
                <a:cs typeface="Times New Roman"/>
              </a:rPr>
              <a:t> </a:t>
            </a:r>
            <a:r>
              <a:rPr sz="1200" dirty="0">
                <a:latin typeface="Times New Roman"/>
                <a:cs typeface="Times New Roman"/>
              </a:rPr>
              <a:t>passing, and</a:t>
            </a:r>
            <a:r>
              <a:rPr sz="1200" spc="10" dirty="0">
                <a:latin typeface="Times New Roman"/>
                <a:cs typeface="Times New Roman"/>
              </a:rPr>
              <a:t> </a:t>
            </a:r>
            <a:r>
              <a:rPr sz="1200" dirty="0">
                <a:latin typeface="Times New Roman"/>
                <a:cs typeface="Times New Roman"/>
              </a:rPr>
              <a:t>state </a:t>
            </a:r>
            <a:r>
              <a:rPr sz="1200" spc="-10" dirty="0">
                <a:latin typeface="Times New Roman"/>
                <a:cs typeface="Times New Roman"/>
              </a:rPr>
              <a:t>transitions, </a:t>
            </a:r>
            <a:r>
              <a:rPr sz="1200" dirty="0">
                <a:latin typeface="Times New Roman"/>
                <a:cs typeface="Times New Roman"/>
              </a:rPr>
              <a:t>aiding</a:t>
            </a:r>
            <a:r>
              <a:rPr sz="1200" spc="-3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efficient</a:t>
            </a:r>
            <a:r>
              <a:rPr sz="1200" spc="-3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design</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effective</a:t>
            </a:r>
            <a:r>
              <a:rPr sz="1200" spc="-30" dirty="0">
                <a:latin typeface="Times New Roman"/>
                <a:cs typeface="Times New Roman"/>
              </a:rPr>
              <a:t> </a:t>
            </a:r>
            <a:r>
              <a:rPr sz="1200" dirty="0">
                <a:latin typeface="Times New Roman"/>
                <a:cs typeface="Times New Roman"/>
              </a:rPr>
              <a:t>communication</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spc="-10" dirty="0">
                <a:latin typeface="Times New Roman"/>
                <a:cs typeface="Times New Roman"/>
              </a:rPr>
              <a:t>stakeholders.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75"/>
              </a:spcBef>
            </a:pPr>
            <a:endParaRPr sz="1200" dirty="0">
              <a:latin typeface="Times New Roman"/>
              <a:cs typeface="Times New Roman"/>
            </a:endParaRPr>
          </a:p>
          <a:p>
            <a:pPr marL="241300" indent="-228600">
              <a:lnSpc>
                <a:spcPct val="100000"/>
              </a:lnSpc>
              <a:buFont typeface="+mj-lt"/>
              <a:buAutoNum type="arabicPeriod" startAt="9"/>
            </a:pPr>
            <a:r>
              <a:rPr sz="1200" b="1" dirty="0">
                <a:latin typeface="Times New Roman"/>
                <a:cs typeface="Times New Roman"/>
              </a:rPr>
              <a:t>Activity</a:t>
            </a:r>
            <a:r>
              <a:rPr sz="1200" b="1" spc="-30" dirty="0">
                <a:latin typeface="Times New Roman"/>
                <a:cs typeface="Times New Roman"/>
              </a:rPr>
              <a:t> </a:t>
            </a:r>
            <a:r>
              <a:rPr sz="1200" b="1" spc="-10" dirty="0">
                <a:latin typeface="Times New Roman"/>
                <a:cs typeface="Times New Roman"/>
              </a:rPr>
              <a:t>Diagrams:</a:t>
            </a:r>
            <a:endParaRPr sz="1200" dirty="0">
              <a:latin typeface="Times New Roman"/>
              <a:cs typeface="Times New Roman"/>
            </a:endParaRPr>
          </a:p>
          <a:p>
            <a:pPr marL="12700" marR="5080">
              <a:lnSpc>
                <a:spcPct val="144400"/>
              </a:lnSpc>
              <a:spcBef>
                <a:spcPts val="585"/>
              </a:spcBef>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flow</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activities</a:t>
            </a:r>
            <a:r>
              <a:rPr sz="1200" spc="-4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spc="-10" dirty="0">
                <a:latin typeface="Times New Roman"/>
                <a:cs typeface="Times New Roman"/>
              </a:rPr>
              <a:t>illustrating</a:t>
            </a:r>
            <a:r>
              <a:rPr sz="1200" spc="-2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sequence</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or</a:t>
            </a:r>
            <a:r>
              <a:rPr sz="1200" spc="-40" dirty="0">
                <a:latin typeface="Times New Roman"/>
                <a:cs typeface="Times New Roman"/>
              </a:rPr>
              <a:t> </a:t>
            </a:r>
            <a:r>
              <a:rPr sz="1200" dirty="0">
                <a:latin typeface="Times New Roman"/>
                <a:cs typeface="Times New Roman"/>
              </a:rPr>
              <a:t>steps</a:t>
            </a:r>
            <a:r>
              <a:rPr sz="1200" spc="-30" dirty="0">
                <a:latin typeface="Times New Roman"/>
                <a:cs typeface="Times New Roman"/>
              </a:rPr>
              <a:t> </a:t>
            </a:r>
            <a:r>
              <a:rPr sz="1200" dirty="0">
                <a:latin typeface="Times New Roman"/>
                <a:cs typeface="Times New Roman"/>
              </a:rPr>
              <a:t>required</a:t>
            </a:r>
            <a:r>
              <a:rPr sz="1200" spc="-25" dirty="0">
                <a:latin typeface="Times New Roman"/>
                <a:cs typeface="Times New Roman"/>
              </a:rPr>
              <a:t> to </a:t>
            </a:r>
            <a:r>
              <a:rPr sz="1200" dirty="0">
                <a:latin typeface="Times New Roman"/>
                <a:cs typeface="Times New Roman"/>
              </a:rPr>
              <a:t>accomplish</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task</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behavior.</a:t>
            </a:r>
            <a:endParaRPr sz="1200" dirty="0">
              <a:latin typeface="Times New Roman"/>
              <a:cs typeface="Times New Roman"/>
            </a:endParaRPr>
          </a:p>
        </p:txBody>
      </p:sp>
      <p:sp>
        <p:nvSpPr>
          <p:cNvPr id="3" name="object 3"/>
          <p:cNvSpPr txBox="1"/>
          <p:nvPr/>
        </p:nvSpPr>
        <p:spPr>
          <a:xfrm>
            <a:off x="3182239" y="8498585"/>
            <a:ext cx="168402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30" dirty="0">
                <a:latin typeface="Times New Roman"/>
                <a:cs typeface="Times New Roman"/>
              </a:rPr>
              <a:t> </a:t>
            </a:r>
            <a:r>
              <a:rPr sz="1200" b="1" dirty="0">
                <a:latin typeface="Times New Roman"/>
                <a:cs typeface="Times New Roman"/>
              </a:rPr>
              <a:t>4.6:</a:t>
            </a:r>
            <a:r>
              <a:rPr sz="1200" b="1" spc="-25" dirty="0">
                <a:latin typeface="Times New Roman"/>
                <a:cs typeface="Times New Roman"/>
              </a:rPr>
              <a:t> </a:t>
            </a:r>
            <a:r>
              <a:rPr sz="1200" b="1" dirty="0">
                <a:latin typeface="Times New Roman"/>
                <a:cs typeface="Times New Roman"/>
              </a:rPr>
              <a:t>Activity</a:t>
            </a:r>
            <a:r>
              <a:rPr sz="1200" b="1" spc="-25" dirty="0">
                <a:latin typeface="Times New Roman"/>
                <a:cs typeface="Times New Roman"/>
              </a:rPr>
              <a:t> </a:t>
            </a:r>
            <a:r>
              <a:rPr sz="1200" b="1" spc="-10" dirty="0">
                <a:latin typeface="Times New Roman"/>
                <a:cs typeface="Times New Roman"/>
              </a:rPr>
              <a:t>Diagram</a:t>
            </a:r>
            <a:endParaRPr sz="1200">
              <a:latin typeface="Times New Roman"/>
              <a:cs typeface="Times New Roman"/>
            </a:endParaRPr>
          </a:p>
        </p:txBody>
      </p:sp>
      <p:pic>
        <p:nvPicPr>
          <p:cNvPr id="4" name="object 4"/>
          <p:cNvPicPr/>
          <p:nvPr/>
        </p:nvPicPr>
        <p:blipFill>
          <a:blip r:embed="rId2" cstate="print"/>
          <a:stretch>
            <a:fillRect/>
          </a:stretch>
        </p:blipFill>
        <p:spPr>
          <a:xfrm>
            <a:off x="1188719" y="3729228"/>
            <a:ext cx="4639945" cy="426656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891285"/>
            <a:ext cx="5695950" cy="1072515"/>
          </a:xfrm>
          <a:prstGeom prst="rect">
            <a:avLst/>
          </a:prstGeom>
        </p:spPr>
        <p:txBody>
          <a:bodyPr vert="horz" wrap="square" lIns="0" tIns="12700" rIns="0" bIns="0" rtlCol="0">
            <a:spAutoFit/>
          </a:bodyPr>
          <a:lstStyle/>
          <a:p>
            <a:pPr marL="241300" indent="-228600" algn="just">
              <a:lnSpc>
                <a:spcPct val="100000"/>
              </a:lnSpc>
              <a:spcBef>
                <a:spcPts val="100"/>
              </a:spcBef>
              <a:buFont typeface="+mj-lt"/>
              <a:buAutoNum type="arabicPeriod" startAt="10"/>
            </a:pPr>
            <a:r>
              <a:rPr sz="1200" b="1" dirty="0">
                <a:latin typeface="Times New Roman"/>
                <a:cs typeface="Times New Roman"/>
              </a:rPr>
              <a:t>State</a:t>
            </a:r>
            <a:r>
              <a:rPr sz="1200" b="1" spc="-25" dirty="0">
                <a:latin typeface="Times New Roman"/>
                <a:cs typeface="Times New Roman"/>
              </a:rPr>
              <a:t> </a:t>
            </a:r>
            <a:r>
              <a:rPr sz="1200" b="1" dirty="0">
                <a:latin typeface="Times New Roman"/>
                <a:cs typeface="Times New Roman"/>
              </a:rPr>
              <a:t>Machine</a:t>
            </a:r>
            <a:r>
              <a:rPr sz="1200" b="1" spc="-20" dirty="0">
                <a:latin typeface="Times New Roman"/>
                <a:cs typeface="Times New Roman"/>
              </a:rPr>
              <a:t> </a:t>
            </a:r>
            <a:r>
              <a:rPr sz="1200" b="1" spc="-10" dirty="0">
                <a:latin typeface="Times New Roman"/>
                <a:cs typeface="Times New Roman"/>
              </a:rPr>
              <a:t>Diagrams:</a:t>
            </a:r>
            <a:endParaRPr sz="1200" dirty="0">
              <a:latin typeface="Times New Roman"/>
              <a:cs typeface="Times New Roman"/>
            </a:endParaRPr>
          </a:p>
          <a:p>
            <a:pPr marL="12700" marR="5080" algn="just">
              <a:lnSpc>
                <a:spcPct val="143700"/>
              </a:lnSpc>
              <a:spcBef>
                <a:spcPts val="595"/>
              </a:spcBef>
            </a:pPr>
            <a:r>
              <a:rPr sz="1200" dirty="0">
                <a:latin typeface="Times New Roman"/>
                <a:cs typeface="Times New Roman"/>
              </a:rPr>
              <a:t>This</a:t>
            </a:r>
            <a:r>
              <a:rPr sz="1200" spc="95" dirty="0">
                <a:latin typeface="Times New Roman"/>
                <a:cs typeface="Times New Roman"/>
              </a:rPr>
              <a:t> </a:t>
            </a:r>
            <a:r>
              <a:rPr sz="1200" dirty="0">
                <a:latin typeface="Times New Roman"/>
                <a:cs typeface="Times New Roman"/>
              </a:rPr>
              <a:t>diagram</a:t>
            </a:r>
            <a:r>
              <a:rPr sz="1200" spc="100" dirty="0">
                <a:latin typeface="Times New Roman"/>
                <a:cs typeface="Times New Roman"/>
              </a:rPr>
              <a:t> </a:t>
            </a:r>
            <a:r>
              <a:rPr sz="1200" dirty="0">
                <a:latin typeface="Times New Roman"/>
                <a:cs typeface="Times New Roman"/>
              </a:rPr>
              <a:t>models</a:t>
            </a:r>
            <a:r>
              <a:rPr sz="1200" spc="100"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dirty="0">
                <a:latin typeface="Times New Roman"/>
                <a:cs typeface="Times New Roman"/>
              </a:rPr>
              <a:t>behavior</a:t>
            </a:r>
            <a:r>
              <a:rPr sz="1200" spc="110" dirty="0">
                <a:latin typeface="Times New Roman"/>
                <a:cs typeface="Times New Roman"/>
              </a:rPr>
              <a:t> </a:t>
            </a:r>
            <a:r>
              <a:rPr sz="1200" dirty="0">
                <a:latin typeface="Times New Roman"/>
                <a:cs typeface="Times New Roman"/>
              </a:rPr>
              <a:t>of</a:t>
            </a:r>
            <a:r>
              <a:rPr sz="1200" spc="95" dirty="0">
                <a:latin typeface="Times New Roman"/>
                <a:cs typeface="Times New Roman"/>
              </a:rPr>
              <a:t> </a:t>
            </a:r>
            <a:r>
              <a:rPr sz="1200" dirty="0">
                <a:latin typeface="Times New Roman"/>
                <a:cs typeface="Times New Roman"/>
              </a:rPr>
              <a:t>individual</a:t>
            </a:r>
            <a:r>
              <a:rPr sz="1200" spc="110" dirty="0">
                <a:latin typeface="Times New Roman"/>
                <a:cs typeface="Times New Roman"/>
              </a:rPr>
              <a:t> </a:t>
            </a:r>
            <a:r>
              <a:rPr sz="1200" dirty="0">
                <a:latin typeface="Times New Roman"/>
                <a:cs typeface="Times New Roman"/>
              </a:rPr>
              <a:t>components</a:t>
            </a:r>
            <a:r>
              <a:rPr sz="1200" spc="100" dirty="0">
                <a:latin typeface="Times New Roman"/>
                <a:cs typeface="Times New Roman"/>
              </a:rPr>
              <a:t> </a:t>
            </a:r>
            <a:r>
              <a:rPr sz="1200" dirty="0">
                <a:latin typeface="Times New Roman"/>
                <a:cs typeface="Times New Roman"/>
              </a:rPr>
              <a:t>or</a:t>
            </a:r>
            <a:r>
              <a:rPr sz="1200" spc="95" dirty="0">
                <a:latin typeface="Times New Roman"/>
                <a:cs typeface="Times New Roman"/>
              </a:rPr>
              <a:t> </a:t>
            </a:r>
            <a:r>
              <a:rPr sz="1200" dirty="0">
                <a:latin typeface="Times New Roman"/>
                <a:cs typeface="Times New Roman"/>
              </a:rPr>
              <a:t>objects</a:t>
            </a:r>
            <a:r>
              <a:rPr sz="1200" spc="114" dirty="0">
                <a:latin typeface="Times New Roman"/>
                <a:cs typeface="Times New Roman"/>
              </a:rPr>
              <a:t> </a:t>
            </a:r>
            <a:r>
              <a:rPr sz="1200" dirty="0">
                <a:latin typeface="Times New Roman"/>
                <a:cs typeface="Times New Roman"/>
              </a:rPr>
              <a:t>within</a:t>
            </a:r>
            <a:r>
              <a:rPr sz="1200" spc="95" dirty="0">
                <a:latin typeface="Times New Roman"/>
                <a:cs typeface="Times New Roman"/>
              </a:rPr>
              <a:t> </a:t>
            </a:r>
            <a:r>
              <a:rPr sz="1200" dirty="0">
                <a:latin typeface="Times New Roman"/>
                <a:cs typeface="Times New Roman"/>
              </a:rPr>
              <a:t>the</a:t>
            </a:r>
            <a:r>
              <a:rPr sz="1200" spc="95" dirty="0">
                <a:latin typeface="Times New Roman"/>
                <a:cs typeface="Times New Roman"/>
              </a:rPr>
              <a:t> </a:t>
            </a:r>
            <a:r>
              <a:rPr sz="1200" spc="-10" dirty="0">
                <a:latin typeface="Times New Roman"/>
                <a:cs typeface="Times New Roman"/>
              </a:rPr>
              <a:t>system, depicting</a:t>
            </a:r>
            <a:r>
              <a:rPr sz="1200" spc="-35" dirty="0">
                <a:latin typeface="Times New Roman"/>
                <a:cs typeface="Times New Roman"/>
              </a:rPr>
              <a:t> </a:t>
            </a:r>
            <a:r>
              <a:rPr sz="1200" dirty="0">
                <a:latin typeface="Times New Roman"/>
                <a:cs typeface="Times New Roman"/>
              </a:rPr>
              <a:t>their</a:t>
            </a:r>
            <a:r>
              <a:rPr sz="1200" spc="-40" dirty="0">
                <a:latin typeface="Times New Roman"/>
                <a:cs typeface="Times New Roman"/>
              </a:rPr>
              <a:t> </a:t>
            </a:r>
            <a:r>
              <a:rPr sz="1200" dirty="0">
                <a:latin typeface="Times New Roman"/>
                <a:cs typeface="Times New Roman"/>
              </a:rPr>
              <a:t>states</a:t>
            </a:r>
            <a:r>
              <a:rPr sz="1200" spc="-3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transitions</a:t>
            </a:r>
            <a:r>
              <a:rPr sz="1200" spc="-35" dirty="0">
                <a:latin typeface="Times New Roman"/>
                <a:cs typeface="Times New Roman"/>
              </a:rPr>
              <a:t> </a:t>
            </a:r>
            <a:r>
              <a:rPr sz="1200" spc="-10" dirty="0">
                <a:latin typeface="Times New Roman"/>
                <a:cs typeface="Times New Roman"/>
              </a:rPr>
              <a:t>between</a:t>
            </a:r>
            <a:r>
              <a:rPr sz="1200" spc="-40" dirty="0">
                <a:latin typeface="Times New Roman"/>
                <a:cs typeface="Times New Roman"/>
              </a:rPr>
              <a:t> </a:t>
            </a:r>
            <a:r>
              <a:rPr sz="1200" dirty="0">
                <a:latin typeface="Times New Roman"/>
                <a:cs typeface="Times New Roman"/>
              </a:rPr>
              <a:t>them.</a:t>
            </a:r>
            <a:r>
              <a:rPr sz="1200" spc="-4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offers</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visual</a:t>
            </a:r>
            <a:r>
              <a:rPr sz="1200" spc="-35" dirty="0">
                <a:latin typeface="Times New Roman"/>
                <a:cs typeface="Times New Roman"/>
              </a:rPr>
              <a:t> </a:t>
            </a:r>
            <a:r>
              <a:rPr sz="1200" spc="-10" dirty="0">
                <a:latin typeface="Times New Roman"/>
                <a:cs typeface="Times New Roman"/>
              </a:rPr>
              <a:t>representation</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how</a:t>
            </a:r>
            <a:r>
              <a:rPr sz="1200" spc="-40" dirty="0">
                <a:latin typeface="Times New Roman"/>
                <a:cs typeface="Times New Roman"/>
              </a:rPr>
              <a:t> </a:t>
            </a:r>
            <a:r>
              <a:rPr sz="1200" spc="-25" dirty="0">
                <a:latin typeface="Times New Roman"/>
                <a:cs typeface="Times New Roman"/>
              </a:rPr>
              <a:t>the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responds</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events</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stimuli,</a:t>
            </a:r>
            <a:r>
              <a:rPr sz="1200" spc="-15" dirty="0">
                <a:latin typeface="Times New Roman"/>
                <a:cs typeface="Times New Roman"/>
              </a:rPr>
              <a:t> </a:t>
            </a:r>
            <a:r>
              <a:rPr sz="1200" dirty="0">
                <a:latin typeface="Times New Roman"/>
                <a:cs typeface="Times New Roman"/>
              </a:rPr>
              <a:t>guiding</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understanding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its</a:t>
            </a:r>
            <a:r>
              <a:rPr sz="1200" spc="-15" dirty="0">
                <a:latin typeface="Times New Roman"/>
                <a:cs typeface="Times New Roman"/>
              </a:rPr>
              <a:t> </a:t>
            </a:r>
            <a:r>
              <a:rPr sz="1200" dirty="0">
                <a:latin typeface="Times New Roman"/>
                <a:cs typeface="Times New Roman"/>
              </a:rPr>
              <a:t>dynamic</a:t>
            </a:r>
            <a:r>
              <a:rPr sz="1200" spc="-20" dirty="0">
                <a:latin typeface="Times New Roman"/>
                <a:cs typeface="Times New Roman"/>
              </a:rPr>
              <a:t> </a:t>
            </a:r>
            <a:r>
              <a:rPr sz="1200" spc="-10" dirty="0">
                <a:latin typeface="Times New Roman"/>
                <a:cs typeface="Times New Roman"/>
              </a:rPr>
              <a:t>behavior.</a:t>
            </a:r>
            <a:endParaRPr sz="1200" dirty="0">
              <a:latin typeface="Times New Roman"/>
              <a:cs typeface="Times New Roman"/>
            </a:endParaRPr>
          </a:p>
        </p:txBody>
      </p:sp>
      <p:sp>
        <p:nvSpPr>
          <p:cNvPr id="3" name="object 3"/>
          <p:cNvSpPr txBox="1"/>
          <p:nvPr/>
        </p:nvSpPr>
        <p:spPr>
          <a:xfrm>
            <a:off x="2971926" y="8702750"/>
            <a:ext cx="210312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4.7:</a:t>
            </a:r>
            <a:r>
              <a:rPr sz="1200" b="1" spc="-15" dirty="0">
                <a:latin typeface="Times New Roman"/>
                <a:cs typeface="Times New Roman"/>
              </a:rPr>
              <a:t> </a:t>
            </a:r>
            <a:r>
              <a:rPr sz="1200" b="1" dirty="0">
                <a:latin typeface="Times New Roman"/>
                <a:cs typeface="Times New Roman"/>
              </a:rPr>
              <a:t>State</a:t>
            </a:r>
            <a:r>
              <a:rPr sz="1200" b="1" spc="-20" dirty="0">
                <a:latin typeface="Times New Roman"/>
                <a:cs typeface="Times New Roman"/>
              </a:rPr>
              <a:t> </a:t>
            </a:r>
            <a:r>
              <a:rPr sz="1200" b="1" dirty="0">
                <a:latin typeface="Times New Roman"/>
                <a:cs typeface="Times New Roman"/>
              </a:rPr>
              <a:t>Machine</a:t>
            </a:r>
            <a:r>
              <a:rPr sz="1200" b="1" spc="-20" dirty="0">
                <a:latin typeface="Times New Roman"/>
                <a:cs typeface="Times New Roman"/>
              </a:rPr>
              <a:t> </a:t>
            </a:r>
            <a:r>
              <a:rPr sz="1200" b="1" spc="-10" dirty="0">
                <a:latin typeface="Times New Roman"/>
                <a:cs typeface="Times New Roman"/>
              </a:rPr>
              <a:t>Diagram</a:t>
            </a:r>
            <a:endParaRPr sz="1200">
              <a:latin typeface="Times New Roman"/>
              <a:cs typeface="Times New Roman"/>
            </a:endParaRPr>
          </a:p>
        </p:txBody>
      </p:sp>
      <p:pic>
        <p:nvPicPr>
          <p:cNvPr id="4" name="object 4"/>
          <p:cNvPicPr/>
          <p:nvPr/>
        </p:nvPicPr>
        <p:blipFill>
          <a:blip r:embed="rId2" cstate="print"/>
          <a:stretch>
            <a:fillRect/>
          </a:stretch>
        </p:blipFill>
        <p:spPr>
          <a:xfrm>
            <a:off x="1188719" y="2118360"/>
            <a:ext cx="5405120" cy="567219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891285"/>
            <a:ext cx="5697855" cy="2596224"/>
          </a:xfrm>
          <a:prstGeom prst="rect">
            <a:avLst/>
          </a:prstGeom>
        </p:spPr>
        <p:txBody>
          <a:bodyPr vert="horz" wrap="square" lIns="0" tIns="12700" rIns="0" bIns="0" rtlCol="0">
            <a:spAutoFit/>
          </a:bodyPr>
          <a:lstStyle/>
          <a:p>
            <a:pPr marL="241300" lvl="2" indent="-228600">
              <a:lnSpc>
                <a:spcPct val="100000"/>
              </a:lnSpc>
              <a:spcBef>
                <a:spcPts val="100"/>
              </a:spcBef>
              <a:buFont typeface="+mj-lt"/>
              <a:buAutoNum type="arabicPeriod" startAt="11"/>
              <a:tabLst>
                <a:tab pos="393065" algn="l"/>
              </a:tabLst>
            </a:pPr>
            <a:r>
              <a:rPr sz="1200" b="1" dirty="0">
                <a:latin typeface="Times New Roman"/>
                <a:cs typeface="Times New Roman"/>
              </a:rPr>
              <a:t>UML</a:t>
            </a:r>
            <a:r>
              <a:rPr sz="1200" b="1" spc="50" dirty="0">
                <a:latin typeface="Times New Roman"/>
                <a:cs typeface="Times New Roman"/>
              </a:rPr>
              <a:t> </a:t>
            </a:r>
            <a:r>
              <a:rPr sz="1200" b="1" spc="-10" dirty="0">
                <a:latin typeface="Times New Roman"/>
                <a:cs typeface="Times New Roman"/>
              </a:rPr>
              <a:t>Interaction-diagrams</a:t>
            </a:r>
            <a:endParaRPr sz="1200" dirty="0">
              <a:latin typeface="Times New Roman"/>
              <a:cs typeface="Times New Roman"/>
            </a:endParaRPr>
          </a:p>
          <a:p>
            <a:pPr marL="12700" marR="10160">
              <a:lnSpc>
                <a:spcPct val="144200"/>
              </a:lnSpc>
              <a:spcBef>
                <a:spcPts val="585"/>
              </a:spcBef>
            </a:pPr>
            <a:r>
              <a:rPr sz="1200" dirty="0">
                <a:latin typeface="Times New Roman"/>
                <a:cs typeface="Times New Roman"/>
              </a:rPr>
              <a:t>UML</a:t>
            </a:r>
            <a:r>
              <a:rPr sz="1200" spc="114" dirty="0">
                <a:latin typeface="Times New Roman"/>
                <a:cs typeface="Times New Roman"/>
              </a:rPr>
              <a:t>  </a:t>
            </a:r>
            <a:r>
              <a:rPr sz="1200" dirty="0">
                <a:latin typeface="Times New Roman"/>
                <a:cs typeface="Times New Roman"/>
              </a:rPr>
              <a:t>Interaction</a:t>
            </a:r>
            <a:r>
              <a:rPr sz="1200" spc="114" dirty="0">
                <a:latin typeface="Times New Roman"/>
                <a:cs typeface="Times New Roman"/>
              </a:rPr>
              <a:t>  </a:t>
            </a:r>
            <a:r>
              <a:rPr sz="1200" dirty="0">
                <a:latin typeface="Times New Roman"/>
                <a:cs typeface="Times New Roman"/>
              </a:rPr>
              <a:t>Diagrams</a:t>
            </a:r>
            <a:r>
              <a:rPr sz="1200" spc="114" dirty="0">
                <a:latin typeface="Times New Roman"/>
                <a:cs typeface="Times New Roman"/>
              </a:rPr>
              <a:t>  </a:t>
            </a:r>
            <a:r>
              <a:rPr sz="1200" dirty="0">
                <a:latin typeface="Times New Roman"/>
                <a:cs typeface="Times New Roman"/>
              </a:rPr>
              <a:t>illustrate</a:t>
            </a:r>
            <a:r>
              <a:rPr sz="1200" spc="114" dirty="0">
                <a:latin typeface="Times New Roman"/>
                <a:cs typeface="Times New Roman"/>
              </a:rPr>
              <a:t>  </a:t>
            </a:r>
            <a:r>
              <a:rPr sz="1200" dirty="0">
                <a:latin typeface="Times New Roman"/>
                <a:cs typeface="Times New Roman"/>
              </a:rPr>
              <a:t>dynamic</a:t>
            </a:r>
            <a:r>
              <a:rPr sz="1200" spc="110" dirty="0">
                <a:latin typeface="Times New Roman"/>
                <a:cs typeface="Times New Roman"/>
              </a:rPr>
              <a:t>  </a:t>
            </a:r>
            <a:r>
              <a:rPr sz="1200" dirty="0">
                <a:latin typeface="Times New Roman"/>
                <a:cs typeface="Times New Roman"/>
              </a:rPr>
              <a:t>system</a:t>
            </a:r>
            <a:r>
              <a:rPr sz="1200" spc="110" dirty="0">
                <a:latin typeface="Times New Roman"/>
                <a:cs typeface="Times New Roman"/>
              </a:rPr>
              <a:t>  </a:t>
            </a:r>
            <a:r>
              <a:rPr sz="1200" dirty="0">
                <a:latin typeface="Times New Roman"/>
                <a:cs typeface="Times New Roman"/>
              </a:rPr>
              <a:t>behavior,</a:t>
            </a:r>
            <a:r>
              <a:rPr sz="1200" spc="120" dirty="0">
                <a:latin typeface="Times New Roman"/>
                <a:cs typeface="Times New Roman"/>
              </a:rPr>
              <a:t>  </a:t>
            </a:r>
            <a:r>
              <a:rPr sz="1200" dirty="0">
                <a:latin typeface="Times New Roman"/>
                <a:cs typeface="Times New Roman"/>
              </a:rPr>
              <a:t>emphasizing</a:t>
            </a:r>
            <a:r>
              <a:rPr sz="1200" spc="110" dirty="0">
                <a:latin typeface="Times New Roman"/>
                <a:cs typeface="Times New Roman"/>
              </a:rPr>
              <a:t>  </a:t>
            </a:r>
            <a:r>
              <a:rPr sz="1200" spc="-10" dirty="0">
                <a:latin typeface="Times New Roman"/>
                <a:cs typeface="Times New Roman"/>
              </a:rPr>
              <a:t>object </a:t>
            </a:r>
            <a:r>
              <a:rPr sz="1200" dirty="0">
                <a:latin typeface="Times New Roman"/>
                <a:cs typeface="Times New Roman"/>
              </a:rPr>
              <a:t>interactions</a:t>
            </a:r>
            <a:r>
              <a:rPr sz="1200" spc="-40" dirty="0">
                <a:latin typeface="Times New Roman"/>
                <a:cs typeface="Times New Roman"/>
              </a:rPr>
              <a:t> </a:t>
            </a:r>
            <a:r>
              <a:rPr sz="1200" dirty="0">
                <a:latin typeface="Times New Roman"/>
                <a:cs typeface="Times New Roman"/>
              </a:rPr>
              <a:t>during</a:t>
            </a:r>
            <a:r>
              <a:rPr sz="1200" spc="-40" dirty="0">
                <a:latin typeface="Times New Roman"/>
                <a:cs typeface="Times New Roman"/>
              </a:rPr>
              <a:t> </a:t>
            </a:r>
            <a:r>
              <a:rPr sz="1200" dirty="0">
                <a:latin typeface="Times New Roman"/>
                <a:cs typeface="Times New Roman"/>
              </a:rPr>
              <a:t>runtime.</a:t>
            </a:r>
            <a:r>
              <a:rPr sz="1200" spc="-35" dirty="0">
                <a:latin typeface="Times New Roman"/>
                <a:cs typeface="Times New Roman"/>
              </a:rPr>
              <a:t> </a:t>
            </a:r>
            <a:r>
              <a:rPr sz="1200" dirty="0">
                <a:latin typeface="Times New Roman"/>
                <a:cs typeface="Times New Roman"/>
              </a:rPr>
              <a:t>Sequence</a:t>
            </a:r>
            <a:r>
              <a:rPr sz="1200" spc="-35" dirty="0">
                <a:latin typeface="Times New Roman"/>
                <a:cs typeface="Times New Roman"/>
              </a:rPr>
              <a:t> </a:t>
            </a:r>
            <a:r>
              <a:rPr sz="1200" dirty="0">
                <a:latin typeface="Times New Roman"/>
                <a:cs typeface="Times New Roman"/>
              </a:rPr>
              <a:t>Diagrams,</a:t>
            </a:r>
            <a:r>
              <a:rPr sz="1200" spc="-30" dirty="0">
                <a:latin typeface="Times New Roman"/>
                <a:cs typeface="Times New Roman"/>
              </a:rPr>
              <a:t> </a:t>
            </a:r>
            <a:r>
              <a:rPr sz="1200" dirty="0">
                <a:latin typeface="Times New Roman"/>
                <a:cs typeface="Times New Roman"/>
              </a:rPr>
              <a:t>showing</a:t>
            </a:r>
            <a:r>
              <a:rPr sz="1200" spc="-40" dirty="0">
                <a:latin typeface="Times New Roman"/>
                <a:cs typeface="Times New Roman"/>
              </a:rPr>
              <a:t> </a:t>
            </a:r>
            <a:r>
              <a:rPr sz="1200" dirty="0">
                <a:latin typeface="Times New Roman"/>
                <a:cs typeface="Times New Roman"/>
              </a:rPr>
              <a:t>message</a:t>
            </a:r>
            <a:r>
              <a:rPr sz="1200" spc="-45" dirty="0">
                <a:latin typeface="Times New Roman"/>
                <a:cs typeface="Times New Roman"/>
              </a:rPr>
              <a:t> </a:t>
            </a:r>
            <a:r>
              <a:rPr sz="1200" dirty="0">
                <a:latin typeface="Times New Roman"/>
                <a:cs typeface="Times New Roman"/>
              </a:rPr>
              <a:t>flow</a:t>
            </a:r>
            <a:r>
              <a:rPr sz="1200" spc="-40" dirty="0">
                <a:latin typeface="Times New Roman"/>
                <a:cs typeface="Times New Roman"/>
              </a:rPr>
              <a:t> </a:t>
            </a:r>
            <a:r>
              <a:rPr sz="1200" spc="-10" dirty="0">
                <a:latin typeface="Times New Roman"/>
                <a:cs typeface="Times New Roman"/>
              </a:rPr>
              <a:t>chronologically.</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5"/>
              </a:spcBef>
            </a:pPr>
            <a:endParaRPr sz="1200" dirty="0">
              <a:latin typeface="Times New Roman"/>
              <a:cs typeface="Times New Roman"/>
            </a:endParaRPr>
          </a:p>
          <a:p>
            <a:pPr marL="299085" lvl="8" indent="-228600">
              <a:buFont typeface="+mj-lt"/>
              <a:buAutoNum type="arabicPeriod" startAt="12"/>
              <a:tabLst>
                <a:tab pos="565150" algn="l"/>
              </a:tabLst>
            </a:pPr>
            <a:r>
              <a:rPr sz="1200" b="1" dirty="0">
                <a:latin typeface="Times New Roman"/>
                <a:cs typeface="Times New Roman"/>
              </a:rPr>
              <a:t>Sequence</a:t>
            </a:r>
            <a:r>
              <a:rPr sz="1200" b="1" spc="-45" dirty="0">
                <a:latin typeface="Times New Roman"/>
                <a:cs typeface="Times New Roman"/>
              </a:rPr>
              <a:t> </a:t>
            </a:r>
            <a:r>
              <a:rPr sz="1200" b="1" spc="-10" dirty="0">
                <a:latin typeface="Times New Roman"/>
                <a:cs typeface="Times New Roman"/>
              </a:rPr>
              <a:t>Diagrams</a:t>
            </a:r>
            <a:endParaRPr sz="1200" dirty="0">
              <a:latin typeface="Times New Roman"/>
              <a:cs typeface="Times New Roman"/>
            </a:endParaRPr>
          </a:p>
          <a:p>
            <a:pPr marL="12700" marR="5080">
              <a:lnSpc>
                <a:spcPct val="143300"/>
              </a:lnSpc>
              <a:spcBef>
                <a:spcPts val="615"/>
              </a:spcBef>
            </a:pPr>
            <a:r>
              <a:rPr sz="1200" dirty="0">
                <a:latin typeface="Times New Roman"/>
                <a:cs typeface="Times New Roman"/>
              </a:rPr>
              <a:t>Sequence</a:t>
            </a:r>
            <a:r>
              <a:rPr sz="1200" spc="90" dirty="0">
                <a:latin typeface="Times New Roman"/>
                <a:cs typeface="Times New Roman"/>
              </a:rPr>
              <a:t> </a:t>
            </a:r>
            <a:r>
              <a:rPr sz="1200" dirty="0">
                <a:latin typeface="Times New Roman"/>
                <a:cs typeface="Times New Roman"/>
              </a:rPr>
              <a:t>diagrams</a:t>
            </a:r>
            <a:r>
              <a:rPr sz="1200" spc="95" dirty="0">
                <a:latin typeface="Times New Roman"/>
                <a:cs typeface="Times New Roman"/>
              </a:rPr>
              <a:t> </a:t>
            </a:r>
            <a:r>
              <a:rPr sz="1200" dirty="0">
                <a:latin typeface="Times New Roman"/>
                <a:cs typeface="Times New Roman"/>
              </a:rPr>
              <a:t>in</a:t>
            </a:r>
            <a:r>
              <a:rPr sz="1200" spc="100" dirty="0">
                <a:latin typeface="Times New Roman"/>
                <a:cs typeface="Times New Roman"/>
              </a:rPr>
              <a:t> </a:t>
            </a:r>
            <a:r>
              <a:rPr sz="1200" dirty="0">
                <a:latin typeface="Times New Roman"/>
                <a:cs typeface="Times New Roman"/>
              </a:rPr>
              <a:t>UML</a:t>
            </a:r>
            <a:r>
              <a:rPr sz="1200" spc="95" dirty="0">
                <a:latin typeface="Times New Roman"/>
                <a:cs typeface="Times New Roman"/>
              </a:rPr>
              <a:t> </a:t>
            </a:r>
            <a:r>
              <a:rPr sz="1200" dirty="0">
                <a:latin typeface="Times New Roman"/>
                <a:cs typeface="Times New Roman"/>
              </a:rPr>
              <a:t>illustrate</a:t>
            </a:r>
            <a:r>
              <a:rPr sz="1200" spc="95"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interactions</a:t>
            </a:r>
            <a:r>
              <a:rPr sz="1200" spc="100" dirty="0">
                <a:latin typeface="Times New Roman"/>
                <a:cs typeface="Times New Roman"/>
              </a:rPr>
              <a:t> </a:t>
            </a:r>
            <a:r>
              <a:rPr sz="1200" dirty="0">
                <a:latin typeface="Times New Roman"/>
                <a:cs typeface="Times New Roman"/>
              </a:rPr>
              <a:t>between</a:t>
            </a:r>
            <a:r>
              <a:rPr sz="1200" spc="95" dirty="0">
                <a:latin typeface="Times New Roman"/>
                <a:cs typeface="Times New Roman"/>
              </a:rPr>
              <a:t> </a:t>
            </a:r>
            <a:r>
              <a:rPr sz="1200" dirty="0">
                <a:latin typeface="Times New Roman"/>
                <a:cs typeface="Times New Roman"/>
              </a:rPr>
              <a:t>objects</a:t>
            </a:r>
            <a:r>
              <a:rPr sz="1200" spc="100" dirty="0">
                <a:latin typeface="Times New Roman"/>
                <a:cs typeface="Times New Roman"/>
              </a:rPr>
              <a:t> </a:t>
            </a:r>
            <a:r>
              <a:rPr sz="1200" dirty="0">
                <a:latin typeface="Times New Roman"/>
                <a:cs typeface="Times New Roman"/>
              </a:rPr>
              <a:t>or</a:t>
            </a:r>
            <a:r>
              <a:rPr sz="1200" spc="90" dirty="0">
                <a:latin typeface="Times New Roman"/>
                <a:cs typeface="Times New Roman"/>
              </a:rPr>
              <a:t> </a:t>
            </a:r>
            <a:r>
              <a:rPr sz="1200" dirty="0">
                <a:latin typeface="Times New Roman"/>
                <a:cs typeface="Times New Roman"/>
              </a:rPr>
              <a:t>components</a:t>
            </a:r>
            <a:r>
              <a:rPr sz="1200" spc="100" dirty="0">
                <a:latin typeface="Times New Roman"/>
                <a:cs typeface="Times New Roman"/>
              </a:rPr>
              <a:t> </a:t>
            </a:r>
            <a:r>
              <a:rPr sz="1200" dirty="0">
                <a:latin typeface="Times New Roman"/>
                <a:cs typeface="Times New Roman"/>
              </a:rPr>
              <a:t>in</a:t>
            </a:r>
            <a:r>
              <a:rPr sz="1200" spc="95" dirty="0">
                <a:latin typeface="Times New Roman"/>
                <a:cs typeface="Times New Roman"/>
              </a:rPr>
              <a:t> </a:t>
            </a:r>
            <a:r>
              <a:rPr sz="1200" spc="-50" dirty="0">
                <a:latin typeface="Times New Roman"/>
                <a:cs typeface="Times New Roman"/>
              </a:rPr>
              <a:t>a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over</a:t>
            </a:r>
            <a:r>
              <a:rPr sz="1200" spc="-4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depicting</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flow</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messages</a:t>
            </a:r>
            <a:r>
              <a:rPr sz="1200" spc="-20" dirty="0">
                <a:latin typeface="Times New Roman"/>
                <a:cs typeface="Times New Roman"/>
              </a:rPr>
              <a:t> </a:t>
            </a:r>
            <a:r>
              <a:rPr sz="1200" dirty="0">
                <a:latin typeface="Times New Roman"/>
                <a:cs typeface="Times New Roman"/>
              </a:rPr>
              <a:t>between</a:t>
            </a:r>
            <a:r>
              <a:rPr sz="1200" spc="-30" dirty="0">
                <a:latin typeface="Times New Roman"/>
                <a:cs typeface="Times New Roman"/>
              </a:rPr>
              <a:t> </a:t>
            </a:r>
            <a:r>
              <a:rPr sz="1200" spc="-10" dirty="0">
                <a:latin typeface="Times New Roman"/>
                <a:cs typeface="Times New Roman"/>
              </a:rPr>
              <a:t>them.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75"/>
              </a:spcBef>
            </a:pPr>
            <a:endParaRPr sz="1200" dirty="0">
              <a:latin typeface="Times New Roman"/>
              <a:cs typeface="Times New Roman"/>
            </a:endParaRPr>
          </a:p>
          <a:p>
            <a:pPr marL="299085" lvl="4" indent="-228600">
              <a:lnSpc>
                <a:spcPct val="100000"/>
              </a:lnSpc>
              <a:buFont typeface="+mj-lt"/>
              <a:buAutoNum type="arabicPeriod" startAt="13"/>
              <a:tabLst>
                <a:tab pos="679450" algn="l"/>
              </a:tabLst>
            </a:pPr>
            <a:r>
              <a:rPr sz="1200" b="1" dirty="0">
                <a:latin typeface="Times New Roman"/>
                <a:cs typeface="Times New Roman"/>
              </a:rPr>
              <a:t>Registration</a:t>
            </a:r>
            <a:r>
              <a:rPr sz="1200" b="1" spc="-40" dirty="0">
                <a:latin typeface="Times New Roman"/>
                <a:cs typeface="Times New Roman"/>
              </a:rPr>
              <a:t> </a:t>
            </a:r>
            <a:r>
              <a:rPr sz="1200" b="1" dirty="0">
                <a:latin typeface="Times New Roman"/>
                <a:cs typeface="Times New Roman"/>
              </a:rPr>
              <a:t>sequence</a:t>
            </a:r>
            <a:r>
              <a:rPr sz="1200" b="1" spc="-45"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p:txBody>
      </p:sp>
      <p:sp>
        <p:nvSpPr>
          <p:cNvPr id="3" name="object 3"/>
          <p:cNvSpPr txBox="1"/>
          <p:nvPr/>
        </p:nvSpPr>
        <p:spPr>
          <a:xfrm>
            <a:off x="1176324" y="7956042"/>
            <a:ext cx="4025900" cy="789960"/>
          </a:xfrm>
          <a:prstGeom prst="rect">
            <a:avLst/>
          </a:prstGeom>
        </p:spPr>
        <p:txBody>
          <a:bodyPr vert="horz" wrap="square" lIns="0" tIns="12700" rIns="0" bIns="0" rtlCol="0">
            <a:spAutoFit/>
          </a:bodyPr>
          <a:lstStyle/>
          <a:p>
            <a:pPr marL="1681480">
              <a:lnSpc>
                <a:spcPct val="100000"/>
              </a:lnSpc>
              <a:spcBef>
                <a:spcPts val="100"/>
              </a:spcBef>
            </a:pPr>
            <a:r>
              <a:rPr sz="1200" b="1" dirty="0">
                <a:latin typeface="Times New Roman"/>
                <a:cs typeface="Times New Roman"/>
              </a:rPr>
              <a:t>Fig</a:t>
            </a:r>
            <a:r>
              <a:rPr sz="1200" b="1" spc="-25" dirty="0">
                <a:latin typeface="Times New Roman"/>
                <a:cs typeface="Times New Roman"/>
              </a:rPr>
              <a:t> </a:t>
            </a:r>
            <a:r>
              <a:rPr sz="1200" b="1" dirty="0">
                <a:latin typeface="Times New Roman"/>
                <a:cs typeface="Times New Roman"/>
              </a:rPr>
              <a:t>4.8:</a:t>
            </a:r>
            <a:r>
              <a:rPr sz="1200" b="1" spc="-30" dirty="0">
                <a:latin typeface="Times New Roman"/>
                <a:cs typeface="Times New Roman"/>
              </a:rPr>
              <a:t> </a:t>
            </a:r>
            <a:r>
              <a:rPr sz="1200" b="1" dirty="0">
                <a:latin typeface="Times New Roman"/>
                <a:cs typeface="Times New Roman"/>
              </a:rPr>
              <a:t>Register</a:t>
            </a:r>
            <a:r>
              <a:rPr sz="1200" b="1" spc="-30" dirty="0">
                <a:latin typeface="Times New Roman"/>
                <a:cs typeface="Times New Roman"/>
              </a:rPr>
              <a:t> </a:t>
            </a:r>
            <a:r>
              <a:rPr sz="1200" b="1" dirty="0">
                <a:latin typeface="Times New Roman"/>
                <a:cs typeface="Times New Roman"/>
              </a:rPr>
              <a:t>Sequence</a:t>
            </a:r>
            <a:r>
              <a:rPr sz="1200" b="1" spc="-3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0"/>
              </a:spcBef>
            </a:pPr>
            <a:endParaRPr sz="1200" dirty="0">
              <a:latin typeface="Times New Roman"/>
              <a:cs typeface="Times New Roman"/>
            </a:endParaRPr>
          </a:p>
          <a:p>
            <a:pPr marL="241300" indent="-228600">
              <a:lnSpc>
                <a:spcPct val="100000"/>
              </a:lnSpc>
              <a:spcBef>
                <a:spcPts val="5"/>
              </a:spcBef>
              <a:buFont typeface="+mj-lt"/>
              <a:buAutoNum type="arabicPeriod" startAt="14"/>
            </a:pPr>
            <a:r>
              <a:rPr sz="1200" b="1" dirty="0">
                <a:latin typeface="Times New Roman"/>
                <a:cs typeface="Times New Roman"/>
              </a:rPr>
              <a:t>Login</a:t>
            </a:r>
            <a:r>
              <a:rPr sz="1200" b="1" spc="-10" dirty="0">
                <a:latin typeface="Times New Roman"/>
                <a:cs typeface="Times New Roman"/>
              </a:rPr>
              <a:t> </a:t>
            </a:r>
            <a:r>
              <a:rPr sz="1200" b="1" dirty="0">
                <a:latin typeface="Times New Roman"/>
                <a:cs typeface="Times New Roman"/>
              </a:rPr>
              <a:t>Sequence</a:t>
            </a:r>
            <a:r>
              <a:rPr sz="1200" b="1" spc="-2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p:txBody>
      </p:sp>
      <p:pic>
        <p:nvPicPr>
          <p:cNvPr id="4" name="object 4"/>
          <p:cNvPicPr/>
          <p:nvPr/>
        </p:nvPicPr>
        <p:blipFill>
          <a:blip r:embed="rId2" cstate="print"/>
          <a:stretch>
            <a:fillRect/>
          </a:stretch>
        </p:blipFill>
        <p:spPr>
          <a:xfrm>
            <a:off x="1188719" y="3931920"/>
            <a:ext cx="3823334" cy="354266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29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7384542"/>
            <a:ext cx="3921125" cy="789960"/>
          </a:xfrm>
          <a:prstGeom prst="rect">
            <a:avLst/>
          </a:prstGeom>
        </p:spPr>
        <p:txBody>
          <a:bodyPr vert="horz" wrap="square" lIns="0" tIns="12700" rIns="0" bIns="0" rtlCol="0">
            <a:spAutoFit/>
          </a:bodyPr>
          <a:lstStyle/>
          <a:p>
            <a:pPr marL="1786889">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4.9:</a:t>
            </a:r>
            <a:r>
              <a:rPr sz="1200" b="1" spc="-15" dirty="0">
                <a:latin typeface="Times New Roman"/>
                <a:cs typeface="Times New Roman"/>
              </a:rPr>
              <a:t> </a:t>
            </a:r>
            <a:r>
              <a:rPr sz="1200" b="1" dirty="0">
                <a:latin typeface="Times New Roman"/>
                <a:cs typeface="Times New Roman"/>
              </a:rPr>
              <a:t>Login</a:t>
            </a:r>
            <a:r>
              <a:rPr sz="1200" b="1" spc="-10" dirty="0">
                <a:latin typeface="Times New Roman"/>
                <a:cs typeface="Times New Roman"/>
              </a:rPr>
              <a:t> </a:t>
            </a:r>
            <a:r>
              <a:rPr sz="1200" b="1" dirty="0">
                <a:latin typeface="Times New Roman"/>
                <a:cs typeface="Times New Roman"/>
              </a:rPr>
              <a:t>sequence</a:t>
            </a:r>
            <a:r>
              <a:rPr sz="1200" b="1" spc="-2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0"/>
              </a:spcBef>
            </a:pPr>
            <a:endParaRPr sz="1200" dirty="0">
              <a:latin typeface="Times New Roman"/>
              <a:cs typeface="Times New Roman"/>
            </a:endParaRPr>
          </a:p>
          <a:p>
            <a:pPr marL="241300" indent="-228600">
              <a:lnSpc>
                <a:spcPct val="100000"/>
              </a:lnSpc>
              <a:spcBef>
                <a:spcPts val="5"/>
              </a:spcBef>
              <a:buFont typeface="+mj-lt"/>
              <a:buAutoNum type="arabicPeriod" startAt="15"/>
            </a:pPr>
            <a:r>
              <a:rPr sz="1200" b="1" dirty="0">
                <a:latin typeface="Times New Roman"/>
                <a:cs typeface="Times New Roman"/>
              </a:rPr>
              <a:t>User</a:t>
            </a:r>
            <a:r>
              <a:rPr sz="1200" b="1" spc="-25" dirty="0">
                <a:latin typeface="Times New Roman"/>
                <a:cs typeface="Times New Roman"/>
              </a:rPr>
              <a:t> </a:t>
            </a:r>
            <a:r>
              <a:rPr sz="1200" b="1" dirty="0">
                <a:latin typeface="Times New Roman"/>
                <a:cs typeface="Times New Roman"/>
              </a:rPr>
              <a:t>Activity</a:t>
            </a:r>
            <a:r>
              <a:rPr sz="1200" b="1" spc="-20" dirty="0">
                <a:latin typeface="Times New Roman"/>
                <a:cs typeface="Times New Roman"/>
              </a:rPr>
              <a:t> </a:t>
            </a:r>
            <a:r>
              <a:rPr sz="1200" b="1" dirty="0">
                <a:latin typeface="Times New Roman"/>
                <a:cs typeface="Times New Roman"/>
              </a:rPr>
              <a:t>Sequence</a:t>
            </a:r>
            <a:r>
              <a:rPr sz="1200" b="1" spc="-25"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1253489"/>
            <a:ext cx="5669279" cy="497014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6236589"/>
            <a:ext cx="5694045" cy="1981200"/>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25" dirty="0">
                <a:latin typeface="Times New Roman"/>
                <a:cs typeface="Times New Roman"/>
              </a:rPr>
              <a:t> </a:t>
            </a:r>
            <a:r>
              <a:rPr sz="1200" b="1" dirty="0">
                <a:latin typeface="Times New Roman"/>
                <a:cs typeface="Times New Roman"/>
              </a:rPr>
              <a:t>4.10:</a:t>
            </a:r>
            <a:r>
              <a:rPr sz="1200" b="1" spc="-25" dirty="0">
                <a:latin typeface="Times New Roman"/>
                <a:cs typeface="Times New Roman"/>
              </a:rPr>
              <a:t> </a:t>
            </a:r>
            <a:r>
              <a:rPr sz="1200" b="1" dirty="0">
                <a:latin typeface="Times New Roman"/>
                <a:cs typeface="Times New Roman"/>
              </a:rPr>
              <a:t>User</a:t>
            </a:r>
            <a:r>
              <a:rPr sz="1200" b="1" spc="-30" dirty="0">
                <a:latin typeface="Times New Roman"/>
                <a:cs typeface="Times New Roman"/>
              </a:rPr>
              <a:t> </a:t>
            </a:r>
            <a:r>
              <a:rPr sz="1200" b="1" dirty="0">
                <a:latin typeface="Times New Roman"/>
                <a:cs typeface="Times New Roman"/>
              </a:rPr>
              <a:t>Sequence</a:t>
            </a:r>
            <a:r>
              <a:rPr sz="1200" b="1" spc="-10" dirty="0">
                <a:latin typeface="Times New Roman"/>
                <a:cs typeface="Times New Roman"/>
              </a:rPr>
              <a:t> 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75"/>
              </a:spcBef>
            </a:pPr>
            <a:endParaRPr sz="1200" dirty="0">
              <a:latin typeface="Times New Roman"/>
              <a:cs typeface="Times New Roman"/>
            </a:endParaRPr>
          </a:p>
          <a:p>
            <a:pPr marL="241300" indent="-228600">
              <a:lnSpc>
                <a:spcPct val="100000"/>
              </a:lnSpc>
              <a:buFont typeface="+mj-lt"/>
              <a:buAutoNum type="arabicPeriod" startAt="16"/>
            </a:pPr>
            <a:r>
              <a:rPr sz="1200" b="1" dirty="0">
                <a:latin typeface="Times New Roman"/>
                <a:cs typeface="Times New Roman"/>
              </a:rPr>
              <a:t>Node </a:t>
            </a:r>
            <a:r>
              <a:rPr sz="1200" b="1" spc="-10" dirty="0">
                <a:latin typeface="Times New Roman"/>
                <a:cs typeface="Times New Roman"/>
              </a:rPr>
              <a:t>Structure</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509"/>
              </a:spcBef>
            </a:pPr>
            <a:endParaRPr sz="1200" dirty="0">
              <a:latin typeface="Times New Roman"/>
              <a:cs typeface="Times New Roman"/>
            </a:endParaRPr>
          </a:p>
          <a:p>
            <a:pPr marL="12700" marR="5080" algn="just">
              <a:lnSpc>
                <a:spcPct val="143800"/>
              </a:lnSpc>
            </a:pPr>
            <a:r>
              <a:rPr sz="1200" dirty="0">
                <a:latin typeface="Times New Roman"/>
                <a:cs typeface="Times New Roman"/>
              </a:rPr>
              <a:t>Node</a:t>
            </a:r>
            <a:r>
              <a:rPr sz="1200" spc="175" dirty="0">
                <a:latin typeface="Times New Roman"/>
                <a:cs typeface="Times New Roman"/>
              </a:rPr>
              <a:t> </a:t>
            </a:r>
            <a:r>
              <a:rPr sz="1200" dirty="0">
                <a:latin typeface="Times New Roman"/>
                <a:cs typeface="Times New Roman"/>
              </a:rPr>
              <a:t>structure</a:t>
            </a:r>
            <a:r>
              <a:rPr sz="1200" spc="175" dirty="0">
                <a:latin typeface="Times New Roman"/>
                <a:cs typeface="Times New Roman"/>
              </a:rPr>
              <a:t> </a:t>
            </a:r>
            <a:r>
              <a:rPr sz="1200" dirty="0">
                <a:latin typeface="Times New Roman"/>
                <a:cs typeface="Times New Roman"/>
              </a:rPr>
              <a:t>refers</a:t>
            </a:r>
            <a:r>
              <a:rPr sz="1200" spc="180" dirty="0">
                <a:latin typeface="Times New Roman"/>
                <a:cs typeface="Times New Roman"/>
              </a:rPr>
              <a:t> </a:t>
            </a:r>
            <a:r>
              <a:rPr sz="1200" dirty="0">
                <a:latin typeface="Times New Roman"/>
                <a:cs typeface="Times New Roman"/>
              </a:rPr>
              <a:t>to</a:t>
            </a:r>
            <a:r>
              <a:rPr sz="1200" spc="185"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dirty="0">
                <a:latin typeface="Times New Roman"/>
                <a:cs typeface="Times New Roman"/>
              </a:rPr>
              <a:t>arrangement</a:t>
            </a:r>
            <a:r>
              <a:rPr sz="1200" spc="180" dirty="0">
                <a:latin typeface="Times New Roman"/>
                <a:cs typeface="Times New Roman"/>
              </a:rPr>
              <a:t> </a:t>
            </a:r>
            <a:r>
              <a:rPr sz="1200" dirty="0">
                <a:latin typeface="Times New Roman"/>
                <a:cs typeface="Times New Roman"/>
              </a:rPr>
              <a:t>and</a:t>
            </a:r>
            <a:r>
              <a:rPr sz="1200" spc="180" dirty="0">
                <a:latin typeface="Times New Roman"/>
                <a:cs typeface="Times New Roman"/>
              </a:rPr>
              <a:t> </a:t>
            </a:r>
            <a:r>
              <a:rPr sz="1200" dirty="0">
                <a:latin typeface="Times New Roman"/>
                <a:cs typeface="Times New Roman"/>
              </a:rPr>
              <a:t>organization</a:t>
            </a:r>
            <a:r>
              <a:rPr sz="1200" spc="180" dirty="0">
                <a:latin typeface="Times New Roman"/>
                <a:cs typeface="Times New Roman"/>
              </a:rPr>
              <a:t> </a:t>
            </a:r>
            <a:r>
              <a:rPr sz="1200" dirty="0">
                <a:latin typeface="Times New Roman"/>
                <a:cs typeface="Times New Roman"/>
              </a:rPr>
              <a:t>of</a:t>
            </a:r>
            <a:r>
              <a:rPr sz="1200" spc="180" dirty="0">
                <a:latin typeface="Times New Roman"/>
                <a:cs typeface="Times New Roman"/>
              </a:rPr>
              <a:t> </a:t>
            </a:r>
            <a:r>
              <a:rPr sz="1200" dirty="0">
                <a:latin typeface="Times New Roman"/>
                <a:cs typeface="Times New Roman"/>
              </a:rPr>
              <a:t>nodes</a:t>
            </a:r>
            <a:r>
              <a:rPr sz="1200" spc="185" dirty="0">
                <a:latin typeface="Times New Roman"/>
                <a:cs typeface="Times New Roman"/>
              </a:rPr>
              <a:t> </a:t>
            </a:r>
            <a:r>
              <a:rPr sz="1200" dirty="0">
                <a:latin typeface="Times New Roman"/>
                <a:cs typeface="Times New Roman"/>
              </a:rPr>
              <a:t>within</a:t>
            </a:r>
            <a:r>
              <a:rPr sz="1200" spc="180" dirty="0">
                <a:latin typeface="Times New Roman"/>
                <a:cs typeface="Times New Roman"/>
              </a:rPr>
              <a:t> </a:t>
            </a:r>
            <a:r>
              <a:rPr sz="1200" dirty="0">
                <a:latin typeface="Times New Roman"/>
                <a:cs typeface="Times New Roman"/>
              </a:rPr>
              <a:t>a</a:t>
            </a:r>
            <a:r>
              <a:rPr sz="1200" spc="180" dirty="0">
                <a:latin typeface="Times New Roman"/>
                <a:cs typeface="Times New Roman"/>
              </a:rPr>
              <a:t> </a:t>
            </a:r>
            <a:r>
              <a:rPr sz="1200" dirty="0">
                <a:latin typeface="Times New Roman"/>
                <a:cs typeface="Times New Roman"/>
              </a:rPr>
              <a:t>network</a:t>
            </a:r>
            <a:r>
              <a:rPr sz="1200" spc="180" dirty="0">
                <a:latin typeface="Times New Roman"/>
                <a:cs typeface="Times New Roman"/>
              </a:rPr>
              <a:t> </a:t>
            </a:r>
            <a:r>
              <a:rPr sz="1200" spc="-25" dirty="0">
                <a:latin typeface="Times New Roman"/>
                <a:cs typeface="Times New Roman"/>
              </a:rPr>
              <a:t>or </a:t>
            </a:r>
            <a:r>
              <a:rPr sz="1200" spc="-10" dirty="0">
                <a:latin typeface="Times New Roman"/>
                <a:cs typeface="Times New Roman"/>
              </a:rPr>
              <a:t>hierarchical</a:t>
            </a:r>
            <a:r>
              <a:rPr sz="1200" spc="-30" dirty="0">
                <a:latin typeface="Times New Roman"/>
                <a:cs typeface="Times New Roman"/>
              </a:rPr>
              <a:t> </a:t>
            </a:r>
            <a:r>
              <a:rPr sz="1200" spc="-1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defining</a:t>
            </a:r>
            <a:r>
              <a:rPr sz="1200" spc="-25" dirty="0">
                <a:latin typeface="Times New Roman"/>
                <a:cs typeface="Times New Roman"/>
              </a:rPr>
              <a:t> </a:t>
            </a:r>
            <a:r>
              <a:rPr sz="1200" spc="-10" dirty="0">
                <a:latin typeface="Times New Roman"/>
                <a:cs typeface="Times New Roman"/>
              </a:rPr>
              <a:t>their</a:t>
            </a:r>
            <a:r>
              <a:rPr sz="1200" spc="-35" dirty="0">
                <a:latin typeface="Times New Roman"/>
                <a:cs typeface="Times New Roman"/>
              </a:rPr>
              <a:t> </a:t>
            </a:r>
            <a:r>
              <a:rPr sz="1200" spc="-10" dirty="0">
                <a:latin typeface="Times New Roman"/>
                <a:cs typeface="Times New Roman"/>
              </a:rPr>
              <a:t>relationships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connectivity.</a:t>
            </a:r>
            <a:r>
              <a:rPr sz="1200" spc="-30"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spc="-10" dirty="0">
                <a:latin typeface="Times New Roman"/>
                <a:cs typeface="Times New Roman"/>
              </a:rPr>
              <a:t>establishes</a:t>
            </a:r>
            <a:r>
              <a:rPr sz="1200" spc="-25" dirty="0">
                <a:latin typeface="Times New Roman"/>
                <a:cs typeface="Times New Roman"/>
              </a:rPr>
              <a:t> </a:t>
            </a:r>
            <a:r>
              <a:rPr sz="1200" spc="-10" dirty="0">
                <a:latin typeface="Times New Roman"/>
                <a:cs typeface="Times New Roman"/>
              </a:rPr>
              <a:t>the</a:t>
            </a:r>
            <a:r>
              <a:rPr sz="1200" spc="-35" dirty="0">
                <a:latin typeface="Times New Roman"/>
                <a:cs typeface="Times New Roman"/>
              </a:rPr>
              <a:t> </a:t>
            </a:r>
            <a:r>
              <a:rPr sz="1200" spc="-10" dirty="0">
                <a:latin typeface="Times New Roman"/>
                <a:cs typeface="Times New Roman"/>
              </a:rPr>
              <a:t>framework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transmission,</a:t>
            </a:r>
            <a:r>
              <a:rPr sz="1200" spc="-15" dirty="0">
                <a:latin typeface="Times New Roman"/>
                <a:cs typeface="Times New Roman"/>
              </a:rPr>
              <a:t> </a:t>
            </a:r>
            <a:r>
              <a:rPr sz="1200" dirty="0">
                <a:latin typeface="Times New Roman"/>
                <a:cs typeface="Times New Roman"/>
              </a:rPr>
              <a:t>processing,</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communication</a:t>
            </a:r>
            <a:r>
              <a:rPr sz="1200" spc="-15" dirty="0">
                <a:latin typeface="Times New Roman"/>
                <a:cs typeface="Times New Roman"/>
              </a:rPr>
              <a:t> </a:t>
            </a:r>
            <a:r>
              <a:rPr sz="1200" dirty="0">
                <a:latin typeface="Times New Roman"/>
                <a:cs typeface="Times New Roman"/>
              </a:rPr>
              <a:t>across</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network.</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914400"/>
            <a:ext cx="2792095" cy="5181219"/>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4326763"/>
            <a:ext cx="5695315" cy="1717675"/>
          </a:xfrm>
          <a:prstGeom prst="rect">
            <a:avLst/>
          </a:prstGeom>
        </p:spPr>
        <p:txBody>
          <a:bodyPr vert="horz" wrap="square" lIns="0" tIns="12700" rIns="0" bIns="0" rtlCol="0">
            <a:spAutoFit/>
          </a:bodyPr>
          <a:lstStyle/>
          <a:p>
            <a:pPr algn="ctr">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4.11:</a:t>
            </a:r>
            <a:r>
              <a:rPr sz="1200" b="1" spc="-25" dirty="0">
                <a:latin typeface="Times New Roman"/>
                <a:cs typeface="Times New Roman"/>
              </a:rPr>
              <a:t> </a:t>
            </a:r>
            <a:r>
              <a:rPr sz="1200" b="1" dirty="0">
                <a:latin typeface="Times New Roman"/>
                <a:cs typeface="Times New Roman"/>
              </a:rPr>
              <a:t>Node</a:t>
            </a:r>
            <a:r>
              <a:rPr sz="1200" b="1" spc="-20" dirty="0">
                <a:latin typeface="Times New Roman"/>
                <a:cs typeface="Times New Roman"/>
              </a:rPr>
              <a:t> </a:t>
            </a:r>
            <a:r>
              <a:rPr sz="1200" b="1" dirty="0">
                <a:latin typeface="Times New Roman"/>
                <a:cs typeface="Times New Roman"/>
              </a:rPr>
              <a:t>Structure</a:t>
            </a:r>
            <a:r>
              <a:rPr sz="1200" b="1" spc="-20" dirty="0">
                <a:latin typeface="Times New Roman"/>
                <a:cs typeface="Times New Roman"/>
              </a:rPr>
              <a:t> </a:t>
            </a:r>
            <a:r>
              <a:rPr sz="1200" b="1" spc="-10" dirty="0">
                <a:latin typeface="Times New Roman"/>
                <a:cs typeface="Times New Roman"/>
              </a:rPr>
              <a:t>Diagram</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60"/>
              </a:spcBef>
            </a:pPr>
            <a:endParaRPr sz="1200" dirty="0">
              <a:latin typeface="Times New Roman"/>
              <a:cs typeface="Times New Roman"/>
            </a:endParaRPr>
          </a:p>
          <a:p>
            <a:pPr marL="241300" indent="-228600">
              <a:lnSpc>
                <a:spcPct val="100000"/>
              </a:lnSpc>
              <a:spcBef>
                <a:spcPts val="5"/>
              </a:spcBef>
              <a:buFont typeface="+mj-lt"/>
              <a:buAutoNum type="arabicPeriod" startAt="17"/>
            </a:pPr>
            <a:r>
              <a:rPr sz="1200" b="1" dirty="0">
                <a:latin typeface="Times New Roman"/>
                <a:cs typeface="Times New Roman"/>
              </a:rPr>
              <a:t>Communication</a:t>
            </a:r>
            <a:r>
              <a:rPr sz="1200" b="1" spc="-35" dirty="0">
                <a:latin typeface="Times New Roman"/>
                <a:cs typeface="Times New Roman"/>
              </a:rPr>
              <a:t> </a:t>
            </a:r>
            <a:r>
              <a:rPr sz="1200" b="1" dirty="0">
                <a:latin typeface="Times New Roman"/>
                <a:cs typeface="Times New Roman"/>
              </a:rPr>
              <a:t>Design</a:t>
            </a:r>
            <a:r>
              <a:rPr sz="1200" b="1" spc="-20" dirty="0">
                <a:latin typeface="Times New Roman"/>
                <a:cs typeface="Times New Roman"/>
              </a:rPr>
              <a:t> </a:t>
            </a:r>
            <a:r>
              <a:rPr sz="1200" b="1" spc="-10" dirty="0">
                <a:latin typeface="Times New Roman"/>
                <a:cs typeface="Times New Roman"/>
              </a:rPr>
              <a:t>Protocol</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505"/>
              </a:spcBef>
            </a:pPr>
            <a:endParaRPr sz="1200" dirty="0">
              <a:latin typeface="Times New Roman"/>
              <a:cs typeface="Times New Roman"/>
            </a:endParaRPr>
          </a:p>
          <a:p>
            <a:pPr marL="12700" marR="5080">
              <a:lnSpc>
                <a:spcPct val="144200"/>
              </a:lnSpc>
            </a:pPr>
            <a:r>
              <a:rPr sz="1200" dirty="0">
                <a:latin typeface="Times New Roman"/>
                <a:cs typeface="Times New Roman"/>
              </a:rPr>
              <a:t>Communication</a:t>
            </a:r>
            <a:r>
              <a:rPr sz="1200" spc="229" dirty="0">
                <a:latin typeface="Times New Roman"/>
                <a:cs typeface="Times New Roman"/>
              </a:rPr>
              <a:t> </a:t>
            </a:r>
            <a:r>
              <a:rPr sz="1200" dirty="0">
                <a:latin typeface="Times New Roman"/>
                <a:cs typeface="Times New Roman"/>
              </a:rPr>
              <a:t>Design</a:t>
            </a:r>
            <a:r>
              <a:rPr sz="1200" spc="229" dirty="0">
                <a:latin typeface="Times New Roman"/>
                <a:cs typeface="Times New Roman"/>
              </a:rPr>
              <a:t> </a:t>
            </a:r>
            <a:r>
              <a:rPr sz="1200" dirty="0">
                <a:latin typeface="Times New Roman"/>
                <a:cs typeface="Times New Roman"/>
              </a:rPr>
              <a:t>Protocol</a:t>
            </a:r>
            <a:r>
              <a:rPr sz="1200" spc="235" dirty="0">
                <a:latin typeface="Times New Roman"/>
                <a:cs typeface="Times New Roman"/>
              </a:rPr>
              <a:t> </a:t>
            </a:r>
            <a:r>
              <a:rPr sz="1200" dirty="0">
                <a:latin typeface="Times New Roman"/>
                <a:cs typeface="Times New Roman"/>
              </a:rPr>
              <a:t>is</a:t>
            </a:r>
            <a:r>
              <a:rPr sz="1200" spc="235"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exchanging</a:t>
            </a:r>
            <a:r>
              <a:rPr sz="1200" spc="235" dirty="0">
                <a:latin typeface="Times New Roman"/>
                <a:cs typeface="Times New Roman"/>
              </a:rPr>
              <a:t> </a:t>
            </a:r>
            <a:r>
              <a:rPr sz="1200" dirty="0">
                <a:latin typeface="Times New Roman"/>
                <a:cs typeface="Times New Roman"/>
              </a:rPr>
              <a:t>of</a:t>
            </a:r>
            <a:r>
              <a:rPr sz="1200" spc="235" dirty="0">
                <a:latin typeface="Times New Roman"/>
                <a:cs typeface="Times New Roman"/>
              </a:rPr>
              <a:t> </a:t>
            </a:r>
            <a:r>
              <a:rPr sz="1200" dirty="0">
                <a:latin typeface="Times New Roman"/>
                <a:cs typeface="Times New Roman"/>
              </a:rPr>
              <a:t>information.</a:t>
            </a:r>
            <a:r>
              <a:rPr sz="1200" spc="235" dirty="0">
                <a:latin typeface="Times New Roman"/>
                <a:cs typeface="Times New Roman"/>
              </a:rPr>
              <a:t> </a:t>
            </a:r>
            <a:r>
              <a:rPr sz="1200" dirty="0">
                <a:latin typeface="Times New Roman"/>
                <a:cs typeface="Times New Roman"/>
              </a:rPr>
              <a:t>It</a:t>
            </a:r>
            <a:r>
              <a:rPr sz="1200" spc="235" dirty="0">
                <a:latin typeface="Times New Roman"/>
                <a:cs typeface="Times New Roman"/>
              </a:rPr>
              <a:t> </a:t>
            </a:r>
            <a:r>
              <a:rPr sz="1200" dirty="0">
                <a:latin typeface="Times New Roman"/>
                <a:cs typeface="Times New Roman"/>
              </a:rPr>
              <a:t>defines</a:t>
            </a:r>
            <a:r>
              <a:rPr sz="1200" spc="240" dirty="0">
                <a:latin typeface="Times New Roman"/>
                <a:cs typeface="Times New Roman"/>
              </a:rPr>
              <a:t> </a:t>
            </a:r>
            <a:r>
              <a:rPr sz="1200" spc="-10" dirty="0">
                <a:latin typeface="Times New Roman"/>
                <a:cs typeface="Times New Roman"/>
              </a:rPr>
              <a:t>protocols, </a:t>
            </a:r>
            <a:r>
              <a:rPr sz="1200" dirty="0">
                <a:latin typeface="Times New Roman"/>
                <a:cs typeface="Times New Roman"/>
              </a:rPr>
              <a:t>formats,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procedures</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ensure</a:t>
            </a:r>
            <a:r>
              <a:rPr sz="1200" spc="-25" dirty="0">
                <a:latin typeface="Times New Roman"/>
                <a:cs typeface="Times New Roman"/>
              </a:rPr>
              <a:t> </a:t>
            </a:r>
            <a:r>
              <a:rPr sz="1200" dirty="0">
                <a:latin typeface="Times New Roman"/>
                <a:cs typeface="Times New Roman"/>
              </a:rPr>
              <a:t>seamless</a:t>
            </a:r>
            <a:r>
              <a:rPr sz="1200" spc="-20" dirty="0">
                <a:latin typeface="Times New Roman"/>
                <a:cs typeface="Times New Roman"/>
              </a:rPr>
              <a:t> </a:t>
            </a:r>
            <a:r>
              <a:rPr sz="1200" spc="-10" dirty="0">
                <a:latin typeface="Times New Roman"/>
                <a:cs typeface="Times New Roman"/>
              </a:rPr>
              <a:t>communication</a:t>
            </a:r>
            <a:r>
              <a:rPr sz="1200" spc="-20"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spc="-10" dirty="0">
                <a:latin typeface="Times New Roman"/>
                <a:cs typeface="Times New Roman"/>
              </a:rPr>
              <a:t>architecture.</a:t>
            </a:r>
            <a:endParaRPr sz="1200" dirty="0">
              <a:latin typeface="Times New Roman"/>
              <a:cs typeface="Times New Roman"/>
            </a:endParaRPr>
          </a:p>
        </p:txBody>
      </p:sp>
      <p:pic>
        <p:nvPicPr>
          <p:cNvPr id="3" name="object 3"/>
          <p:cNvPicPr/>
          <p:nvPr/>
        </p:nvPicPr>
        <p:blipFill>
          <a:blip r:embed="rId2" cstate="print"/>
          <a:stretch>
            <a:fillRect/>
          </a:stretch>
        </p:blipFill>
        <p:spPr>
          <a:xfrm>
            <a:off x="1188719" y="1297305"/>
            <a:ext cx="5669280" cy="2208529"/>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48839" y="7966709"/>
            <a:ext cx="274637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30" dirty="0">
                <a:latin typeface="Times New Roman"/>
                <a:cs typeface="Times New Roman"/>
              </a:rPr>
              <a:t> </a:t>
            </a:r>
            <a:r>
              <a:rPr sz="1200" b="1" dirty="0">
                <a:latin typeface="Times New Roman"/>
                <a:cs typeface="Times New Roman"/>
              </a:rPr>
              <a:t>4.12:</a:t>
            </a:r>
            <a:r>
              <a:rPr sz="1200" b="1" spc="-25" dirty="0">
                <a:latin typeface="Times New Roman"/>
                <a:cs typeface="Times New Roman"/>
              </a:rPr>
              <a:t> </a:t>
            </a:r>
            <a:r>
              <a:rPr sz="1200" b="1" dirty="0">
                <a:latin typeface="Times New Roman"/>
                <a:cs typeface="Times New Roman"/>
              </a:rPr>
              <a:t>Communication</a:t>
            </a:r>
            <a:r>
              <a:rPr sz="1200" b="1" spc="-25" dirty="0">
                <a:latin typeface="Times New Roman"/>
                <a:cs typeface="Times New Roman"/>
              </a:rPr>
              <a:t> </a:t>
            </a:r>
            <a:r>
              <a:rPr sz="1200" b="1" dirty="0">
                <a:latin typeface="Times New Roman"/>
                <a:cs typeface="Times New Roman"/>
              </a:rPr>
              <a:t>Design</a:t>
            </a:r>
            <a:r>
              <a:rPr sz="1200" b="1" spc="-20" dirty="0">
                <a:latin typeface="Times New Roman"/>
                <a:cs typeface="Times New Roman"/>
              </a:rPr>
              <a:t> </a:t>
            </a:r>
            <a:r>
              <a:rPr sz="1200" b="1" spc="-10" dirty="0">
                <a:latin typeface="Times New Roman"/>
                <a:cs typeface="Times New Roman"/>
              </a:rPr>
              <a:t>Protocol</a:t>
            </a:r>
            <a:endParaRPr sz="1200">
              <a:latin typeface="Times New Roman"/>
              <a:cs typeface="Times New Roman"/>
            </a:endParaRPr>
          </a:p>
        </p:txBody>
      </p:sp>
      <p:pic>
        <p:nvPicPr>
          <p:cNvPr id="3" name="object 3"/>
          <p:cNvPicPr/>
          <p:nvPr/>
        </p:nvPicPr>
        <p:blipFill>
          <a:blip r:embed="rId2" cstate="print"/>
          <a:stretch>
            <a:fillRect/>
          </a:stretch>
        </p:blipFill>
        <p:spPr>
          <a:xfrm>
            <a:off x="1188719" y="914400"/>
            <a:ext cx="6130736" cy="6556168"/>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6324" y="1458214"/>
            <a:ext cx="1367790" cy="197490"/>
          </a:xfrm>
          <a:prstGeom prst="rect">
            <a:avLst/>
          </a:prstGeom>
        </p:spPr>
        <p:txBody>
          <a:bodyPr vert="horz" wrap="square" lIns="0" tIns="12700" rIns="0" bIns="0" rtlCol="0">
            <a:spAutoFit/>
          </a:bodyPr>
          <a:lstStyle/>
          <a:p>
            <a:pPr marL="241300" indent="-228600">
              <a:lnSpc>
                <a:spcPct val="100000"/>
              </a:lnSpc>
              <a:spcBef>
                <a:spcPts val="100"/>
              </a:spcBef>
              <a:buFont typeface="+mj-lt"/>
              <a:buAutoNum type="arabicPeriod" startAt="18"/>
            </a:pPr>
            <a:r>
              <a:rPr sz="1200" b="1" dirty="0">
                <a:latin typeface="Times New Roman"/>
                <a:cs typeface="Times New Roman"/>
              </a:rPr>
              <a:t>Class </a:t>
            </a:r>
            <a:r>
              <a:rPr sz="1200" b="1" spc="-10" dirty="0">
                <a:latin typeface="Times New Roman"/>
                <a:cs typeface="Times New Roman"/>
              </a:rPr>
              <a:t>Diagram</a:t>
            </a:r>
            <a:endParaRPr sz="1200" dirty="0">
              <a:latin typeface="Times New Roman"/>
              <a:cs typeface="Times New Roman"/>
            </a:endParaRPr>
          </a:p>
        </p:txBody>
      </p:sp>
      <p:sp>
        <p:nvSpPr>
          <p:cNvPr id="3" name="object 3"/>
          <p:cNvSpPr txBox="1"/>
          <p:nvPr/>
        </p:nvSpPr>
        <p:spPr>
          <a:xfrm>
            <a:off x="3227958" y="8817050"/>
            <a:ext cx="159194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0" dirty="0">
                <a:latin typeface="Times New Roman"/>
                <a:cs typeface="Times New Roman"/>
              </a:rPr>
              <a:t> </a:t>
            </a:r>
            <a:r>
              <a:rPr sz="1200" b="1" dirty="0">
                <a:latin typeface="Times New Roman"/>
                <a:cs typeface="Times New Roman"/>
              </a:rPr>
              <a:t>4.13:</a:t>
            </a:r>
            <a:r>
              <a:rPr sz="1200" b="1" spc="-10" dirty="0">
                <a:latin typeface="Times New Roman"/>
                <a:cs typeface="Times New Roman"/>
              </a:rPr>
              <a:t> </a:t>
            </a:r>
            <a:r>
              <a:rPr sz="1200" b="1" dirty="0">
                <a:latin typeface="Times New Roman"/>
                <a:cs typeface="Times New Roman"/>
              </a:rPr>
              <a:t>Class</a:t>
            </a:r>
            <a:r>
              <a:rPr sz="1200" b="1" spc="-10" dirty="0">
                <a:latin typeface="Times New Roman"/>
                <a:cs typeface="Times New Roman"/>
              </a:rPr>
              <a:t> Diagram</a:t>
            </a:r>
            <a:endParaRPr sz="1200">
              <a:latin typeface="Times New Roman"/>
              <a:cs typeface="Times New Roman"/>
            </a:endParaRPr>
          </a:p>
        </p:txBody>
      </p:sp>
      <p:pic>
        <p:nvPicPr>
          <p:cNvPr id="4" name="object 4"/>
          <p:cNvPicPr/>
          <p:nvPr/>
        </p:nvPicPr>
        <p:blipFill>
          <a:blip r:embed="rId2" cstate="print"/>
          <a:stretch>
            <a:fillRect/>
          </a:stretch>
        </p:blipFill>
        <p:spPr>
          <a:xfrm>
            <a:off x="2429411" y="2192184"/>
            <a:ext cx="3186626" cy="645635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35</a:t>
            </a:r>
          </a:p>
        </p:txBody>
      </p:sp>
      <p:sp>
        <p:nvSpPr>
          <p:cNvPr id="2" name="object 2"/>
          <p:cNvSpPr txBox="1"/>
          <p:nvPr/>
        </p:nvSpPr>
        <p:spPr>
          <a:xfrm>
            <a:off x="2821051" y="1325626"/>
            <a:ext cx="240220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Chapter</a:t>
            </a:r>
            <a:r>
              <a:rPr sz="1600" b="1" spc="-55" dirty="0">
                <a:latin typeface="Times New Roman"/>
                <a:cs typeface="Times New Roman"/>
              </a:rPr>
              <a:t> </a:t>
            </a:r>
            <a:r>
              <a:rPr sz="1600" b="1" dirty="0">
                <a:latin typeface="Times New Roman"/>
                <a:cs typeface="Times New Roman"/>
              </a:rPr>
              <a:t>5:</a:t>
            </a:r>
            <a:r>
              <a:rPr sz="1600" b="1" spc="-25" dirty="0">
                <a:latin typeface="Times New Roman"/>
                <a:cs typeface="Times New Roman"/>
              </a:rPr>
              <a:t> </a:t>
            </a:r>
            <a:r>
              <a:rPr sz="1600" b="1" spc="-10" dirty="0">
                <a:latin typeface="Times New Roman"/>
                <a:cs typeface="Times New Roman"/>
              </a:rPr>
              <a:t>Implementation</a:t>
            </a:r>
            <a:endParaRPr sz="1600">
              <a:latin typeface="Times New Roman"/>
              <a:cs typeface="Times New Roman"/>
            </a:endParaRPr>
          </a:p>
        </p:txBody>
      </p:sp>
      <p:sp>
        <p:nvSpPr>
          <p:cNvPr id="3" name="object 3"/>
          <p:cNvSpPr txBox="1"/>
          <p:nvPr/>
        </p:nvSpPr>
        <p:spPr>
          <a:xfrm>
            <a:off x="1176324" y="2432050"/>
            <a:ext cx="5693410" cy="6815264"/>
          </a:xfrm>
          <a:prstGeom prst="rect">
            <a:avLst/>
          </a:prstGeom>
        </p:spPr>
        <p:txBody>
          <a:bodyPr vert="horz" wrap="square" lIns="0" tIns="12700" rIns="0" bIns="0" rtlCol="0">
            <a:spAutoFit/>
          </a:bodyPr>
          <a:lstStyle/>
          <a:p>
            <a:pPr marL="12700" lvl="1">
              <a:lnSpc>
                <a:spcPct val="100000"/>
              </a:lnSpc>
              <a:spcBef>
                <a:spcPts val="100"/>
              </a:spcBef>
              <a:tabLst>
                <a:tab pos="241300" algn="l"/>
              </a:tabLst>
            </a:pPr>
            <a:r>
              <a:rPr lang="en-US" sz="1200" b="1" dirty="0">
                <a:latin typeface="Times New Roman"/>
                <a:cs typeface="Times New Roman"/>
              </a:rPr>
              <a:t>5.1   </a:t>
            </a:r>
            <a:r>
              <a:rPr sz="1200" b="1" dirty="0">
                <a:latin typeface="Times New Roman"/>
                <a:cs typeface="Times New Roman"/>
              </a:rPr>
              <a:t>Introduction</a:t>
            </a:r>
            <a:r>
              <a:rPr sz="1200" b="1" spc="-20"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spc="-10" dirty="0">
                <a:latin typeface="Times New Roman"/>
                <a:cs typeface="Times New Roman"/>
              </a:rPr>
              <a:t>Implementation</a:t>
            </a:r>
            <a:endParaRPr sz="1200" dirty="0">
              <a:latin typeface="Times New Roman"/>
              <a:cs typeface="Times New Roman"/>
            </a:endParaRPr>
          </a:p>
          <a:p>
            <a:pPr lvl="1">
              <a:lnSpc>
                <a:spcPct val="100000"/>
              </a:lnSpc>
              <a:spcBef>
                <a:spcPts val="30"/>
              </a:spcBef>
              <a:buFont typeface="Times New Roman"/>
              <a:buAutoNum type="arabicPeriod"/>
            </a:pPr>
            <a:endParaRPr sz="1200" dirty="0">
              <a:latin typeface="Times New Roman"/>
              <a:cs typeface="Times New Roman"/>
            </a:endParaRPr>
          </a:p>
          <a:p>
            <a:pPr marL="12700" marR="5080" algn="just">
              <a:lnSpc>
                <a:spcPct val="143600"/>
              </a:lnSpc>
            </a:pPr>
            <a:r>
              <a:rPr sz="1200" dirty="0">
                <a:latin typeface="Times New Roman"/>
                <a:cs typeface="Times New Roman"/>
              </a:rPr>
              <a:t>The</a:t>
            </a:r>
            <a:r>
              <a:rPr sz="1200" spc="195" dirty="0">
                <a:latin typeface="Times New Roman"/>
                <a:cs typeface="Times New Roman"/>
              </a:rPr>
              <a:t> </a:t>
            </a:r>
            <a:r>
              <a:rPr sz="1200" dirty="0">
                <a:latin typeface="Times New Roman"/>
                <a:cs typeface="Times New Roman"/>
              </a:rPr>
              <a:t>implementation</a:t>
            </a:r>
            <a:r>
              <a:rPr sz="1200" spc="210" dirty="0">
                <a:latin typeface="Times New Roman"/>
                <a:cs typeface="Times New Roman"/>
              </a:rPr>
              <a:t> </a:t>
            </a:r>
            <a:r>
              <a:rPr sz="1200" dirty="0">
                <a:latin typeface="Times New Roman"/>
                <a:cs typeface="Times New Roman"/>
              </a:rPr>
              <a:t>phase</a:t>
            </a:r>
            <a:r>
              <a:rPr sz="1200" spc="204" dirty="0">
                <a:latin typeface="Times New Roman"/>
                <a:cs typeface="Times New Roman"/>
              </a:rPr>
              <a:t> </a:t>
            </a:r>
            <a:r>
              <a:rPr sz="1200" dirty="0">
                <a:latin typeface="Times New Roman"/>
                <a:cs typeface="Times New Roman"/>
              </a:rPr>
              <a:t>marks</a:t>
            </a:r>
            <a:r>
              <a:rPr sz="1200" spc="204" dirty="0">
                <a:latin typeface="Times New Roman"/>
                <a:cs typeface="Times New Roman"/>
              </a:rPr>
              <a:t> </a:t>
            </a:r>
            <a:r>
              <a:rPr sz="1200" dirty="0">
                <a:latin typeface="Times New Roman"/>
                <a:cs typeface="Times New Roman"/>
              </a:rPr>
              <a:t>the</a:t>
            </a:r>
            <a:r>
              <a:rPr sz="1200" spc="204" dirty="0">
                <a:latin typeface="Times New Roman"/>
                <a:cs typeface="Times New Roman"/>
              </a:rPr>
              <a:t> </a:t>
            </a:r>
            <a:r>
              <a:rPr sz="1200" dirty="0">
                <a:latin typeface="Times New Roman"/>
                <a:cs typeface="Times New Roman"/>
              </a:rPr>
              <a:t>translation</a:t>
            </a:r>
            <a:r>
              <a:rPr sz="1200" spc="220" dirty="0">
                <a:latin typeface="Times New Roman"/>
                <a:cs typeface="Times New Roman"/>
              </a:rPr>
              <a:t> </a:t>
            </a:r>
            <a:r>
              <a:rPr sz="1200" dirty="0">
                <a:latin typeface="Times New Roman"/>
                <a:cs typeface="Times New Roman"/>
              </a:rPr>
              <a:t>of</a:t>
            </a:r>
            <a:r>
              <a:rPr sz="1200" spc="200" dirty="0">
                <a:latin typeface="Times New Roman"/>
                <a:cs typeface="Times New Roman"/>
              </a:rPr>
              <a:t> </a:t>
            </a:r>
            <a:r>
              <a:rPr sz="1200" dirty="0">
                <a:latin typeface="Times New Roman"/>
                <a:cs typeface="Times New Roman"/>
              </a:rPr>
              <a:t>design</a:t>
            </a:r>
            <a:r>
              <a:rPr sz="1200" spc="210" dirty="0">
                <a:latin typeface="Times New Roman"/>
                <a:cs typeface="Times New Roman"/>
              </a:rPr>
              <a:t> </a:t>
            </a:r>
            <a:r>
              <a:rPr sz="1200" dirty="0">
                <a:latin typeface="Times New Roman"/>
                <a:cs typeface="Times New Roman"/>
              </a:rPr>
              <a:t>specifications</a:t>
            </a:r>
            <a:r>
              <a:rPr sz="1200" spc="210" dirty="0">
                <a:latin typeface="Times New Roman"/>
                <a:cs typeface="Times New Roman"/>
              </a:rPr>
              <a:t> </a:t>
            </a:r>
            <a:r>
              <a:rPr sz="1200" dirty="0">
                <a:latin typeface="Times New Roman"/>
                <a:cs typeface="Times New Roman"/>
              </a:rPr>
              <a:t>into</a:t>
            </a:r>
            <a:r>
              <a:rPr sz="1200" spc="200" dirty="0">
                <a:latin typeface="Times New Roman"/>
                <a:cs typeface="Times New Roman"/>
              </a:rPr>
              <a:t> </a:t>
            </a:r>
            <a:r>
              <a:rPr sz="1200" dirty="0">
                <a:latin typeface="Times New Roman"/>
                <a:cs typeface="Times New Roman"/>
              </a:rPr>
              <a:t>a</a:t>
            </a:r>
            <a:r>
              <a:rPr sz="1200" spc="200" dirty="0">
                <a:latin typeface="Times New Roman"/>
                <a:cs typeface="Times New Roman"/>
              </a:rPr>
              <a:t> </a:t>
            </a:r>
            <a:r>
              <a:rPr sz="1200" spc="-10" dirty="0">
                <a:latin typeface="Times New Roman"/>
                <a:cs typeface="Times New Roman"/>
              </a:rPr>
              <a:t>working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Abode</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built</a:t>
            </a:r>
            <a:r>
              <a:rPr sz="1200" spc="-3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full-</a:t>
            </a:r>
            <a:r>
              <a:rPr sz="1200" dirty="0">
                <a:latin typeface="Times New Roman"/>
                <a:cs typeface="Times New Roman"/>
              </a:rPr>
              <a:t>stack</a:t>
            </a:r>
            <a:r>
              <a:rPr sz="1200" spc="-30" dirty="0">
                <a:latin typeface="Times New Roman"/>
                <a:cs typeface="Times New Roman"/>
              </a:rPr>
              <a:t> </a:t>
            </a:r>
            <a:r>
              <a:rPr sz="1200" dirty="0">
                <a:latin typeface="Times New Roman"/>
                <a:cs typeface="Times New Roman"/>
              </a:rPr>
              <a:t>web</a:t>
            </a:r>
            <a:r>
              <a:rPr sz="1200" spc="-15" dirty="0">
                <a:latin typeface="Times New Roman"/>
                <a:cs typeface="Times New Roman"/>
              </a:rPr>
              <a:t> </a:t>
            </a:r>
            <a:r>
              <a:rPr sz="1200" spc="-10" dirty="0">
                <a:latin typeface="Times New Roman"/>
                <a:cs typeface="Times New Roman"/>
              </a:rPr>
              <a:t>application</a:t>
            </a:r>
            <a:r>
              <a:rPr sz="1200" spc="-3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AI</a:t>
            </a:r>
            <a:r>
              <a:rPr sz="1200" spc="-35" dirty="0">
                <a:latin typeface="Times New Roman"/>
                <a:cs typeface="Times New Roman"/>
              </a:rPr>
              <a:t> </a:t>
            </a:r>
            <a:r>
              <a:rPr sz="1200" spc="-10" dirty="0">
                <a:latin typeface="Times New Roman"/>
                <a:cs typeface="Times New Roman"/>
              </a:rPr>
              <a:t>capabilities.</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focus </a:t>
            </a:r>
            <a:r>
              <a:rPr sz="1200" dirty="0">
                <a:latin typeface="Times New Roman"/>
                <a:cs typeface="Times New Roman"/>
              </a:rPr>
              <a:t>is</a:t>
            </a:r>
            <a:r>
              <a:rPr sz="1200" spc="210" dirty="0">
                <a:latin typeface="Times New Roman"/>
                <a:cs typeface="Times New Roman"/>
              </a:rPr>
              <a:t> </a:t>
            </a:r>
            <a:r>
              <a:rPr sz="1200" dirty="0">
                <a:latin typeface="Times New Roman"/>
                <a:cs typeface="Times New Roman"/>
              </a:rPr>
              <a:t>on</a:t>
            </a:r>
            <a:r>
              <a:rPr sz="1200" spc="204"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04" dirty="0">
                <a:latin typeface="Times New Roman"/>
                <a:cs typeface="Times New Roman"/>
              </a:rPr>
              <a:t> </a:t>
            </a:r>
            <a:r>
              <a:rPr sz="1200" dirty="0">
                <a:latin typeface="Times New Roman"/>
                <a:cs typeface="Times New Roman"/>
              </a:rPr>
              <a:t>auctions,</a:t>
            </a:r>
            <a:r>
              <a:rPr sz="1200" spc="210" dirty="0">
                <a:latin typeface="Times New Roman"/>
                <a:cs typeface="Times New Roman"/>
              </a:rPr>
              <a:t> </a:t>
            </a:r>
            <a:r>
              <a:rPr sz="1200" dirty="0">
                <a:latin typeface="Times New Roman"/>
                <a:cs typeface="Times New Roman"/>
              </a:rPr>
              <a:t>secure</a:t>
            </a:r>
            <a:r>
              <a:rPr sz="1200" spc="215" dirty="0">
                <a:latin typeface="Times New Roman"/>
                <a:cs typeface="Times New Roman"/>
              </a:rPr>
              <a:t> </a:t>
            </a:r>
            <a:r>
              <a:rPr sz="1200" dirty="0">
                <a:latin typeface="Times New Roman"/>
                <a:cs typeface="Times New Roman"/>
              </a:rPr>
              <a:t>authentication,</a:t>
            </a:r>
            <a:r>
              <a:rPr sz="1200" spc="204" dirty="0">
                <a:latin typeface="Times New Roman"/>
                <a:cs typeface="Times New Roman"/>
              </a:rPr>
              <a:t> </a:t>
            </a:r>
            <a:r>
              <a:rPr sz="1200" dirty="0">
                <a:latin typeface="Times New Roman"/>
                <a:cs typeface="Times New Roman"/>
              </a:rPr>
              <a:t>intelligent</a:t>
            </a:r>
            <a:r>
              <a:rPr sz="1200" spc="204" dirty="0">
                <a:latin typeface="Times New Roman"/>
                <a:cs typeface="Times New Roman"/>
              </a:rPr>
              <a:t> </a:t>
            </a:r>
            <a:r>
              <a:rPr sz="1200" dirty="0">
                <a:latin typeface="Times New Roman"/>
                <a:cs typeface="Times New Roman"/>
              </a:rPr>
              <a:t>pricing</a:t>
            </a:r>
            <a:r>
              <a:rPr sz="1200" spc="210" dirty="0">
                <a:latin typeface="Times New Roman"/>
                <a:cs typeface="Times New Roman"/>
              </a:rPr>
              <a:t> </a:t>
            </a:r>
            <a:r>
              <a:rPr sz="1200" dirty="0">
                <a:latin typeface="Times New Roman"/>
                <a:cs typeface="Times New Roman"/>
              </a:rPr>
              <a:t>suggestions,</a:t>
            </a:r>
            <a:r>
              <a:rPr sz="1200" spc="210" dirty="0">
                <a:latin typeface="Times New Roman"/>
                <a:cs typeface="Times New Roman"/>
              </a:rPr>
              <a:t> </a:t>
            </a:r>
            <a:r>
              <a:rPr sz="1200" dirty="0">
                <a:latin typeface="Times New Roman"/>
                <a:cs typeface="Times New Roman"/>
              </a:rPr>
              <a:t>and</a:t>
            </a:r>
            <a:r>
              <a:rPr sz="1200" spc="204" dirty="0">
                <a:latin typeface="Times New Roman"/>
                <a:cs typeface="Times New Roman"/>
              </a:rPr>
              <a:t> </a:t>
            </a:r>
            <a:r>
              <a:rPr sz="1200" spc="-10" dirty="0">
                <a:latin typeface="Times New Roman"/>
                <a:cs typeface="Times New Roman"/>
              </a:rPr>
              <a:t>fraud prevention</a:t>
            </a:r>
            <a:r>
              <a:rPr sz="1200" spc="-30" dirty="0">
                <a:latin typeface="Times New Roman"/>
                <a:cs typeface="Times New Roman"/>
              </a:rPr>
              <a:t> </a:t>
            </a:r>
            <a:r>
              <a:rPr sz="1200" spc="-10" dirty="0">
                <a:latin typeface="Times New Roman"/>
                <a:cs typeface="Times New Roman"/>
              </a:rPr>
              <a:t>via</a:t>
            </a:r>
            <a:r>
              <a:rPr sz="1200" spc="-35" dirty="0">
                <a:latin typeface="Times New Roman"/>
                <a:cs typeface="Times New Roman"/>
              </a:rPr>
              <a:t> </a:t>
            </a:r>
            <a:r>
              <a:rPr sz="1200" spc="-10" dirty="0">
                <a:latin typeface="Times New Roman"/>
                <a:cs typeface="Times New Roman"/>
              </a:rPr>
              <a:t>document</a:t>
            </a:r>
            <a:r>
              <a:rPr sz="1200" spc="-25" dirty="0">
                <a:latin typeface="Times New Roman"/>
                <a:cs typeface="Times New Roman"/>
              </a:rPr>
              <a:t> </a:t>
            </a:r>
            <a:r>
              <a:rPr sz="1200" spc="-10" dirty="0">
                <a:latin typeface="Times New Roman"/>
                <a:cs typeface="Times New Roman"/>
              </a:rPr>
              <a:t>verification.</a:t>
            </a:r>
            <a:r>
              <a:rPr sz="1200" spc="-20" dirty="0">
                <a:latin typeface="Times New Roman"/>
                <a:cs typeface="Times New Roman"/>
              </a:rPr>
              <a:t> </a:t>
            </a:r>
            <a:r>
              <a:rPr sz="1200" spc="-10" dirty="0">
                <a:latin typeface="Times New Roman"/>
                <a:cs typeface="Times New Roman"/>
              </a:rPr>
              <a:t>Implementation</a:t>
            </a:r>
            <a:r>
              <a:rPr sz="1200" spc="-25" dirty="0">
                <a:latin typeface="Times New Roman"/>
                <a:cs typeface="Times New Roman"/>
              </a:rPr>
              <a:t> </a:t>
            </a:r>
            <a:r>
              <a:rPr sz="1200" spc="-10" dirty="0">
                <a:latin typeface="Times New Roman"/>
                <a:cs typeface="Times New Roman"/>
              </a:rPr>
              <a:t>was</a:t>
            </a:r>
            <a:r>
              <a:rPr sz="1200" spc="-30" dirty="0">
                <a:latin typeface="Times New Roman"/>
                <a:cs typeface="Times New Roman"/>
              </a:rPr>
              <a:t> </a:t>
            </a:r>
            <a:r>
              <a:rPr sz="1200" spc="-10" dirty="0">
                <a:latin typeface="Times New Roman"/>
                <a:cs typeface="Times New Roman"/>
              </a:rPr>
              <a:t>carried</a:t>
            </a:r>
            <a:r>
              <a:rPr sz="1200" spc="-35" dirty="0">
                <a:latin typeface="Times New Roman"/>
                <a:cs typeface="Times New Roman"/>
              </a:rPr>
              <a:t> </a:t>
            </a:r>
            <a:r>
              <a:rPr sz="1200" spc="-10" dirty="0">
                <a:latin typeface="Times New Roman"/>
                <a:cs typeface="Times New Roman"/>
              </a:rPr>
              <a:t>out</a:t>
            </a:r>
            <a:r>
              <a:rPr sz="1200" spc="-25" dirty="0">
                <a:latin typeface="Times New Roman"/>
                <a:cs typeface="Times New Roman"/>
              </a:rPr>
              <a:t> </a:t>
            </a:r>
            <a:r>
              <a:rPr sz="1200" spc="-10" dirty="0">
                <a:latin typeface="Times New Roman"/>
                <a:cs typeface="Times New Roman"/>
              </a:rPr>
              <a:t>incrementally,</a:t>
            </a:r>
            <a:r>
              <a:rPr sz="1200" spc="-30" dirty="0">
                <a:latin typeface="Times New Roman"/>
                <a:cs typeface="Times New Roman"/>
              </a:rPr>
              <a:t> </a:t>
            </a:r>
            <a:r>
              <a:rPr sz="1200" spc="-10" dirty="0">
                <a:latin typeface="Times New Roman"/>
                <a:cs typeface="Times New Roman"/>
              </a:rPr>
              <a:t>ensuring </a:t>
            </a:r>
            <a:r>
              <a:rPr sz="1200" dirty="0">
                <a:latin typeface="Times New Roman"/>
                <a:cs typeface="Times New Roman"/>
              </a:rPr>
              <a:t>functional</a:t>
            </a:r>
            <a:r>
              <a:rPr sz="1200" spc="-40" dirty="0">
                <a:latin typeface="Times New Roman"/>
                <a:cs typeface="Times New Roman"/>
              </a:rPr>
              <a:t> </a:t>
            </a:r>
            <a:r>
              <a:rPr sz="1200" dirty="0">
                <a:latin typeface="Times New Roman"/>
                <a:cs typeface="Times New Roman"/>
              </a:rPr>
              <a:t>units</a:t>
            </a:r>
            <a:r>
              <a:rPr sz="1200" spc="-35"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dirty="0">
                <a:latin typeface="Times New Roman"/>
                <a:cs typeface="Times New Roman"/>
              </a:rPr>
              <a:t>developed,</a:t>
            </a:r>
            <a:r>
              <a:rPr sz="1200" spc="-35" dirty="0">
                <a:latin typeface="Times New Roman"/>
                <a:cs typeface="Times New Roman"/>
              </a:rPr>
              <a:t> </a:t>
            </a:r>
            <a:r>
              <a:rPr sz="1200" dirty="0">
                <a:latin typeface="Times New Roman"/>
                <a:cs typeface="Times New Roman"/>
              </a:rPr>
              <a:t>tested,</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integrated</a:t>
            </a:r>
            <a:r>
              <a:rPr sz="1200" spc="-35" dirty="0">
                <a:latin typeface="Times New Roman"/>
                <a:cs typeface="Times New Roman"/>
              </a:rPr>
              <a:t> </a:t>
            </a:r>
            <a:r>
              <a:rPr sz="1200" spc="-10" dirty="0">
                <a:latin typeface="Times New Roman"/>
                <a:cs typeface="Times New Roman"/>
              </a:rPr>
              <a:t>smoothly.</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12700" lvl="1">
              <a:lnSpc>
                <a:spcPct val="100000"/>
              </a:lnSpc>
              <a:tabLst>
                <a:tab pos="241300" algn="l"/>
              </a:tabLst>
            </a:pPr>
            <a:r>
              <a:rPr lang="en-US" sz="1200" b="1" dirty="0">
                <a:latin typeface="Times New Roman"/>
                <a:cs typeface="Times New Roman"/>
              </a:rPr>
              <a:t>5.2   </a:t>
            </a:r>
            <a:r>
              <a:rPr sz="1200" b="1" dirty="0">
                <a:latin typeface="Times New Roman"/>
                <a:cs typeface="Times New Roman"/>
              </a:rPr>
              <a:t>System</a:t>
            </a:r>
            <a:r>
              <a:rPr sz="1200" b="1" spc="-50" dirty="0">
                <a:latin typeface="Times New Roman"/>
                <a:cs typeface="Times New Roman"/>
              </a:rPr>
              <a:t> </a:t>
            </a:r>
            <a:r>
              <a:rPr sz="1200" b="1" dirty="0">
                <a:latin typeface="Times New Roman"/>
                <a:cs typeface="Times New Roman"/>
              </a:rPr>
              <a:t>Development</a:t>
            </a:r>
            <a:r>
              <a:rPr sz="1200" b="1" spc="-50" dirty="0">
                <a:latin typeface="Times New Roman"/>
                <a:cs typeface="Times New Roman"/>
              </a:rPr>
              <a:t> </a:t>
            </a:r>
            <a:r>
              <a:rPr sz="1200" b="1" spc="-10" dirty="0">
                <a:latin typeface="Times New Roman"/>
                <a:cs typeface="Times New Roman"/>
              </a:rPr>
              <a:t>Environment</a:t>
            </a:r>
            <a:endParaRPr sz="1200" dirty="0">
              <a:latin typeface="Times New Roman"/>
              <a:cs typeface="Times New Roman"/>
            </a:endParaRPr>
          </a:p>
          <a:p>
            <a:pPr lvl="1">
              <a:lnSpc>
                <a:spcPct val="100000"/>
              </a:lnSpc>
              <a:spcBef>
                <a:spcPts val="660"/>
              </a:spcBef>
              <a:buFont typeface="Times New Roman"/>
              <a:buAutoNum type="arabicPeriod" startAt="2"/>
            </a:pPr>
            <a:endParaRPr sz="1200" dirty="0">
              <a:latin typeface="Times New Roman"/>
              <a:cs typeface="Times New Roman"/>
            </a:endParaRPr>
          </a:p>
          <a:p>
            <a:pPr marL="12700" algn="just">
              <a:lnSpc>
                <a:spcPct val="100000"/>
              </a:lnSpc>
            </a:pP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Abode</a:t>
            </a:r>
            <a:r>
              <a:rPr sz="1200" spc="-30"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dirty="0">
                <a:latin typeface="Times New Roman"/>
                <a:cs typeface="Times New Roman"/>
              </a:rPr>
              <a:t>developed</a:t>
            </a:r>
            <a:r>
              <a:rPr sz="1200" spc="-20"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dirty="0">
                <a:latin typeface="Times New Roman"/>
                <a:cs typeface="Times New Roman"/>
              </a:rPr>
              <a:t>modern</a:t>
            </a:r>
            <a:r>
              <a:rPr sz="1200" spc="-20" dirty="0">
                <a:latin typeface="Times New Roman"/>
                <a:cs typeface="Times New Roman"/>
              </a:rPr>
              <a:t> </a:t>
            </a:r>
            <a:r>
              <a:rPr sz="1200" dirty="0">
                <a:latin typeface="Times New Roman"/>
                <a:cs typeface="Times New Roman"/>
              </a:rPr>
              <a:t>web</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AI</a:t>
            </a:r>
            <a:r>
              <a:rPr sz="1200" spc="-40" dirty="0">
                <a:latin typeface="Times New Roman"/>
                <a:cs typeface="Times New Roman"/>
              </a:rPr>
              <a:t> </a:t>
            </a:r>
            <a:r>
              <a:rPr sz="1200" spc="-10" dirty="0">
                <a:latin typeface="Times New Roman"/>
                <a:cs typeface="Times New Roman"/>
              </a:rPr>
              <a:t>tools:</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469265" lvl="2" indent="-228600">
              <a:lnSpc>
                <a:spcPct val="100000"/>
              </a:lnSpc>
              <a:buSzPct val="83333"/>
              <a:buFont typeface="Symbol"/>
              <a:buChar char=""/>
              <a:tabLst>
                <a:tab pos="469265" algn="l"/>
              </a:tabLst>
            </a:pPr>
            <a:r>
              <a:rPr sz="1200" dirty="0">
                <a:latin typeface="Times New Roman"/>
                <a:cs typeface="Times New Roman"/>
              </a:rPr>
              <a:t>Frontend</a:t>
            </a:r>
            <a:r>
              <a:rPr sz="1200" b="1" dirty="0">
                <a:latin typeface="Times New Roman"/>
                <a:cs typeface="Times New Roman"/>
              </a:rPr>
              <a:t>:</a:t>
            </a:r>
            <a:r>
              <a:rPr sz="1200" b="1" spc="-35" dirty="0">
                <a:latin typeface="Times New Roman"/>
                <a:cs typeface="Times New Roman"/>
              </a:rPr>
              <a:t> </a:t>
            </a:r>
            <a:r>
              <a:rPr sz="1200" dirty="0">
                <a:latin typeface="Times New Roman"/>
                <a:cs typeface="Times New Roman"/>
              </a:rPr>
              <a:t>React.js</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responsive</a:t>
            </a:r>
            <a:r>
              <a:rPr sz="1200" spc="-30" dirty="0">
                <a:latin typeface="Times New Roman"/>
                <a:cs typeface="Times New Roman"/>
              </a:rPr>
              <a:t> </a:t>
            </a:r>
            <a:r>
              <a:rPr sz="1200" spc="-25" dirty="0">
                <a:latin typeface="Times New Roman"/>
                <a:cs typeface="Times New Roman"/>
              </a:rPr>
              <a:t>UI</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Backend</a:t>
            </a:r>
            <a:r>
              <a:rPr sz="1200" b="1" dirty="0">
                <a:latin typeface="Times New Roman"/>
                <a:cs typeface="Times New Roman"/>
              </a:rPr>
              <a:t>:</a:t>
            </a:r>
            <a:r>
              <a:rPr sz="1200" b="1" spc="-30" dirty="0">
                <a:latin typeface="Times New Roman"/>
                <a:cs typeface="Times New Roman"/>
              </a:rPr>
              <a:t> </a:t>
            </a:r>
            <a:r>
              <a:rPr sz="1200" dirty="0">
                <a:latin typeface="Times New Roman"/>
                <a:cs typeface="Times New Roman"/>
              </a:rPr>
              <a:t>Node.js</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Express.js</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routing</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API</a:t>
            </a:r>
            <a:r>
              <a:rPr sz="1200" spc="-35" dirty="0">
                <a:latin typeface="Times New Roman"/>
                <a:cs typeface="Times New Roman"/>
              </a:rPr>
              <a:t> </a:t>
            </a:r>
            <a:r>
              <a:rPr sz="1200" spc="-10" dirty="0">
                <a:latin typeface="Times New Roman"/>
                <a:cs typeface="Times New Roman"/>
              </a:rPr>
              <a:t>handling</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spc="-10" dirty="0">
                <a:latin typeface="Times New Roman"/>
                <a:cs typeface="Times New Roman"/>
              </a:rPr>
              <a:t>Database:</a:t>
            </a:r>
            <a:r>
              <a:rPr sz="1200" spc="5" dirty="0">
                <a:latin typeface="Times New Roman"/>
                <a:cs typeface="Times New Roman"/>
              </a:rPr>
              <a:t> </a:t>
            </a:r>
            <a:r>
              <a:rPr sz="1200" dirty="0">
                <a:latin typeface="Times New Roman"/>
                <a:cs typeface="Times New Roman"/>
              </a:rPr>
              <a:t>MongoDB</a:t>
            </a:r>
            <a:r>
              <a:rPr sz="1200" spc="5" dirty="0">
                <a:latin typeface="Times New Roman"/>
                <a:cs typeface="Times New Roman"/>
              </a:rPr>
              <a:t> </a:t>
            </a:r>
            <a:r>
              <a:rPr sz="1200" spc="-10" dirty="0">
                <a:latin typeface="Times New Roman"/>
                <a:cs typeface="Times New Roman"/>
              </a:rPr>
              <a:t>(NoSQL)</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AI</a:t>
            </a:r>
            <a:r>
              <a:rPr sz="1200" b="1" dirty="0">
                <a:latin typeface="Times New Roman"/>
                <a:cs typeface="Times New Roman"/>
              </a:rPr>
              <a:t>:</a:t>
            </a:r>
            <a:r>
              <a:rPr sz="1200" b="1" spc="-25" dirty="0">
                <a:latin typeface="Times New Roman"/>
                <a:cs typeface="Times New Roman"/>
              </a:rPr>
              <a:t> </a:t>
            </a:r>
            <a:r>
              <a:rPr sz="1200" dirty="0">
                <a:latin typeface="Times New Roman"/>
                <a:cs typeface="Times New Roman"/>
              </a:rPr>
              <a:t>Python</a:t>
            </a:r>
            <a:r>
              <a:rPr sz="1200"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Scikit-</a:t>
            </a:r>
            <a:r>
              <a:rPr sz="1200" dirty="0">
                <a:latin typeface="Times New Roman"/>
                <a:cs typeface="Times New Roman"/>
              </a:rPr>
              <a:t>learn,</a:t>
            </a:r>
            <a:r>
              <a:rPr sz="1200" spc="-15" dirty="0">
                <a:latin typeface="Times New Roman"/>
                <a:cs typeface="Times New Roman"/>
              </a:rPr>
              <a:t> </a:t>
            </a:r>
            <a:r>
              <a:rPr sz="1200" dirty="0">
                <a:latin typeface="Times New Roman"/>
                <a:cs typeface="Times New Roman"/>
              </a:rPr>
              <a:t>Tesseract</a:t>
            </a:r>
            <a:r>
              <a:rPr sz="1200" spc="-20" dirty="0">
                <a:latin typeface="Times New Roman"/>
                <a:cs typeface="Times New Roman"/>
              </a:rPr>
              <a:t> </a:t>
            </a:r>
            <a:r>
              <a:rPr sz="1200" dirty="0">
                <a:latin typeface="Times New Roman"/>
                <a:cs typeface="Times New Roman"/>
              </a:rPr>
              <a:t>OCR,</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spaCy</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Engine:</a:t>
            </a:r>
            <a:r>
              <a:rPr sz="1200" spc="-20" dirty="0">
                <a:latin typeface="Times New Roman"/>
                <a:cs typeface="Times New Roman"/>
              </a:rPr>
              <a:t> </a:t>
            </a:r>
            <a:r>
              <a:rPr sz="1200" dirty="0">
                <a:latin typeface="Times New Roman"/>
                <a:cs typeface="Times New Roman"/>
              </a:rPr>
              <a:t>Socket.io</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bid</a:t>
            </a:r>
            <a:r>
              <a:rPr sz="1200" spc="-20" dirty="0">
                <a:latin typeface="Times New Roman"/>
                <a:cs typeface="Times New Roman"/>
              </a:rPr>
              <a:t> </a:t>
            </a:r>
            <a:r>
              <a:rPr sz="1200" spc="-10" dirty="0">
                <a:latin typeface="Times New Roman"/>
                <a:cs typeface="Times New Roman"/>
              </a:rPr>
              <a:t>updates</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Security:</a:t>
            </a:r>
            <a:r>
              <a:rPr sz="1200" spc="-30" dirty="0">
                <a:latin typeface="Times New Roman"/>
                <a:cs typeface="Times New Roman"/>
              </a:rPr>
              <a:t> </a:t>
            </a:r>
            <a:r>
              <a:rPr sz="1200" dirty="0">
                <a:latin typeface="Times New Roman"/>
                <a:cs typeface="Times New Roman"/>
              </a:rPr>
              <a:t>JWT</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authentication,</a:t>
            </a:r>
            <a:r>
              <a:rPr sz="1200" spc="-25" dirty="0">
                <a:latin typeface="Times New Roman"/>
                <a:cs typeface="Times New Roman"/>
              </a:rPr>
              <a:t> </a:t>
            </a:r>
            <a:r>
              <a:rPr sz="1200" dirty="0">
                <a:latin typeface="Times New Roman"/>
                <a:cs typeface="Times New Roman"/>
              </a:rPr>
              <a:t>Bcrypt</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hashing,</a:t>
            </a:r>
            <a:r>
              <a:rPr sz="1200" spc="-25" dirty="0">
                <a:latin typeface="Times New Roman"/>
                <a:cs typeface="Times New Roman"/>
              </a:rPr>
              <a:t> </a:t>
            </a:r>
            <a:r>
              <a:rPr sz="1200" dirty="0">
                <a:latin typeface="Times New Roman"/>
                <a:cs typeface="Times New Roman"/>
              </a:rPr>
              <a:t>SSL</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encryption</a:t>
            </a:r>
            <a:endParaRPr sz="1200" dirty="0">
              <a:latin typeface="Times New Roman"/>
              <a:cs typeface="Times New Roman"/>
            </a:endParaRPr>
          </a:p>
          <a:p>
            <a:pPr marL="469265" marR="5080" lvl="2" indent="-228600">
              <a:lnSpc>
                <a:spcPct val="143300"/>
              </a:lnSpc>
              <a:spcBef>
                <a:spcPts val="10"/>
              </a:spcBef>
              <a:buSzPct val="83333"/>
              <a:buFont typeface="Symbol"/>
              <a:buChar char=""/>
              <a:tabLst>
                <a:tab pos="469265" algn="l"/>
              </a:tabLst>
            </a:pPr>
            <a:r>
              <a:rPr sz="1200" dirty="0">
                <a:latin typeface="Times New Roman"/>
                <a:cs typeface="Times New Roman"/>
              </a:rPr>
              <a:t>Deployment</a:t>
            </a:r>
            <a:r>
              <a:rPr sz="1200" spc="320" dirty="0">
                <a:latin typeface="Times New Roman"/>
                <a:cs typeface="Times New Roman"/>
              </a:rPr>
              <a:t> </a:t>
            </a:r>
            <a:r>
              <a:rPr sz="1200" dirty="0">
                <a:latin typeface="Times New Roman"/>
                <a:cs typeface="Times New Roman"/>
              </a:rPr>
              <a:t>Tools:</a:t>
            </a:r>
            <a:r>
              <a:rPr sz="1200" spc="320" dirty="0">
                <a:latin typeface="Times New Roman"/>
                <a:cs typeface="Times New Roman"/>
              </a:rPr>
              <a:t> </a:t>
            </a:r>
            <a:r>
              <a:rPr sz="1200" dirty="0">
                <a:latin typeface="Times New Roman"/>
                <a:cs typeface="Times New Roman"/>
              </a:rPr>
              <a:t>Netlify,</a:t>
            </a:r>
            <a:r>
              <a:rPr sz="1200" spc="315" dirty="0">
                <a:latin typeface="Times New Roman"/>
                <a:cs typeface="Times New Roman"/>
              </a:rPr>
              <a:t> </a:t>
            </a:r>
            <a:r>
              <a:rPr sz="1200" dirty="0">
                <a:latin typeface="Times New Roman"/>
                <a:cs typeface="Times New Roman"/>
              </a:rPr>
              <a:t>Render,</a:t>
            </a:r>
            <a:r>
              <a:rPr sz="1200" spc="315" dirty="0">
                <a:latin typeface="Times New Roman"/>
                <a:cs typeface="Times New Roman"/>
              </a:rPr>
              <a:t> </a:t>
            </a:r>
            <a:r>
              <a:rPr sz="1200" dirty="0">
                <a:latin typeface="Times New Roman"/>
                <a:cs typeface="Times New Roman"/>
              </a:rPr>
              <a:t>MongoDB</a:t>
            </a:r>
            <a:r>
              <a:rPr sz="1200" spc="320" dirty="0">
                <a:latin typeface="Times New Roman"/>
                <a:cs typeface="Times New Roman"/>
              </a:rPr>
              <a:t> </a:t>
            </a:r>
            <a:r>
              <a:rPr sz="1200" dirty="0">
                <a:latin typeface="Times New Roman"/>
                <a:cs typeface="Times New Roman"/>
              </a:rPr>
              <a:t>Atlas</a:t>
            </a:r>
            <a:r>
              <a:rPr sz="1200" spc="315" dirty="0">
                <a:latin typeface="Times New Roman"/>
                <a:cs typeface="Times New Roman"/>
              </a:rPr>
              <a:t> </a:t>
            </a:r>
            <a:r>
              <a:rPr sz="1200" dirty="0">
                <a:latin typeface="Times New Roman"/>
                <a:cs typeface="Times New Roman"/>
              </a:rPr>
              <a:t>The</a:t>
            </a:r>
            <a:r>
              <a:rPr sz="1200" spc="310" dirty="0">
                <a:latin typeface="Times New Roman"/>
                <a:cs typeface="Times New Roman"/>
              </a:rPr>
              <a:t> </a:t>
            </a:r>
            <a:r>
              <a:rPr sz="1200" dirty="0">
                <a:latin typeface="Times New Roman"/>
                <a:cs typeface="Times New Roman"/>
              </a:rPr>
              <a:t>environment</a:t>
            </a:r>
            <a:r>
              <a:rPr sz="1200" spc="320" dirty="0">
                <a:latin typeface="Times New Roman"/>
                <a:cs typeface="Times New Roman"/>
              </a:rPr>
              <a:t> </a:t>
            </a:r>
            <a:r>
              <a:rPr sz="1200" spc="-10" dirty="0">
                <a:latin typeface="Times New Roman"/>
                <a:cs typeface="Times New Roman"/>
              </a:rPr>
              <a:t>ensured </a:t>
            </a:r>
            <a:r>
              <a:rPr sz="1200" dirty="0">
                <a:latin typeface="Times New Roman"/>
                <a:cs typeface="Times New Roman"/>
              </a:rPr>
              <a:t>scalability,</a:t>
            </a:r>
            <a:r>
              <a:rPr sz="1200" spc="-40" dirty="0">
                <a:latin typeface="Times New Roman"/>
                <a:cs typeface="Times New Roman"/>
              </a:rPr>
              <a:t> </a:t>
            </a:r>
            <a:r>
              <a:rPr sz="1200" dirty="0">
                <a:latin typeface="Times New Roman"/>
                <a:cs typeface="Times New Roman"/>
              </a:rPr>
              <a:t>ease</a:t>
            </a:r>
            <a:r>
              <a:rPr sz="1200" spc="-4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maintenance,</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fast</a:t>
            </a:r>
            <a:r>
              <a:rPr sz="1200" spc="-35" dirty="0">
                <a:latin typeface="Times New Roman"/>
                <a:cs typeface="Times New Roman"/>
              </a:rPr>
              <a:t> </a:t>
            </a:r>
            <a:r>
              <a:rPr sz="1200" dirty="0">
                <a:latin typeface="Times New Roman"/>
                <a:cs typeface="Times New Roman"/>
              </a:rPr>
              <a:t>development</a:t>
            </a:r>
            <a:r>
              <a:rPr sz="1200" spc="-40" dirty="0">
                <a:latin typeface="Times New Roman"/>
                <a:cs typeface="Times New Roman"/>
              </a:rPr>
              <a:t> </a:t>
            </a:r>
            <a:r>
              <a:rPr sz="1200" spc="-10" dirty="0">
                <a:latin typeface="Times New Roman"/>
                <a:cs typeface="Times New Roman"/>
              </a:rPr>
              <a:t>cycles.</a:t>
            </a:r>
            <a:endParaRPr lang="en-US" sz="1200" spc="-10" dirty="0">
              <a:latin typeface="Times New Roman"/>
              <a:cs typeface="Times New Roman"/>
            </a:endParaRPr>
          </a:p>
          <a:p>
            <a:pPr marL="469265" marR="5080" lvl="2" indent="-228600">
              <a:lnSpc>
                <a:spcPct val="143300"/>
              </a:lnSpc>
              <a:spcBef>
                <a:spcPts val="10"/>
              </a:spcBef>
              <a:buSzPct val="83333"/>
              <a:buFont typeface="Symbol"/>
              <a:buChar char=""/>
              <a:tabLst>
                <a:tab pos="469265" algn="l"/>
              </a:tabLst>
            </a:pPr>
            <a:endParaRPr sz="1200" dirty="0">
              <a:latin typeface="Times New Roman"/>
              <a:cs typeface="Times New Roman"/>
            </a:endParaRPr>
          </a:p>
          <a:p>
            <a:pPr marL="12700" lvl="1">
              <a:lnSpc>
                <a:spcPct val="100000"/>
              </a:lnSpc>
              <a:tabLst>
                <a:tab pos="241300" algn="l"/>
              </a:tabLst>
            </a:pPr>
            <a:r>
              <a:rPr lang="en-US" sz="1200" b="1" dirty="0">
                <a:latin typeface="Times New Roman"/>
                <a:cs typeface="Times New Roman"/>
              </a:rPr>
              <a:t>5.3   </a:t>
            </a:r>
            <a:r>
              <a:rPr sz="1200" b="1" dirty="0">
                <a:latin typeface="Times New Roman"/>
                <a:cs typeface="Times New Roman"/>
              </a:rPr>
              <a:t>Backend</a:t>
            </a:r>
            <a:r>
              <a:rPr sz="1200" b="1" spc="-35" dirty="0">
                <a:latin typeface="Times New Roman"/>
                <a:cs typeface="Times New Roman"/>
              </a:rPr>
              <a:t> </a:t>
            </a:r>
            <a:r>
              <a:rPr sz="1200" b="1" dirty="0">
                <a:latin typeface="Times New Roman"/>
                <a:cs typeface="Times New Roman"/>
              </a:rPr>
              <a:t>Implementation</a:t>
            </a:r>
            <a:r>
              <a:rPr sz="1200" b="1" spc="-30" dirty="0">
                <a:latin typeface="Times New Roman"/>
                <a:cs typeface="Times New Roman"/>
              </a:rPr>
              <a:t> </a:t>
            </a:r>
            <a:r>
              <a:rPr sz="1200" b="1" dirty="0">
                <a:latin typeface="Times New Roman"/>
                <a:cs typeface="Times New Roman"/>
              </a:rPr>
              <a:t>(Node.js,</a:t>
            </a:r>
            <a:r>
              <a:rPr sz="1200" b="1" spc="-35" dirty="0">
                <a:latin typeface="Times New Roman"/>
                <a:cs typeface="Times New Roman"/>
              </a:rPr>
              <a:t> </a:t>
            </a:r>
            <a:r>
              <a:rPr sz="1200" b="1" spc="-10" dirty="0">
                <a:latin typeface="Times New Roman"/>
                <a:cs typeface="Times New Roman"/>
              </a:rPr>
              <a:t>Express.js)</a:t>
            </a:r>
            <a:endParaRPr sz="1200" dirty="0">
              <a:latin typeface="Times New Roman"/>
              <a:cs typeface="Times New Roman"/>
            </a:endParaRPr>
          </a:p>
          <a:p>
            <a:pPr lvl="1">
              <a:lnSpc>
                <a:spcPct val="100000"/>
              </a:lnSpc>
              <a:spcBef>
                <a:spcPts val="660"/>
              </a:spcBef>
              <a:buFont typeface="Times New Roman"/>
              <a:buAutoNum type="arabicPeriod" startAt="3"/>
            </a:pPr>
            <a:endParaRPr sz="1200" dirty="0">
              <a:latin typeface="Times New Roman"/>
              <a:cs typeface="Times New Roman"/>
            </a:endParaRPr>
          </a:p>
          <a:p>
            <a:pPr marL="12700" algn="just">
              <a:lnSpc>
                <a:spcPct val="100000"/>
              </a:lnSpc>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backend</a:t>
            </a:r>
            <a:r>
              <a:rPr sz="1200" spc="-30" dirty="0">
                <a:latin typeface="Times New Roman"/>
                <a:cs typeface="Times New Roman"/>
              </a:rPr>
              <a:t> </a:t>
            </a:r>
            <a:r>
              <a:rPr sz="1200" dirty="0">
                <a:latin typeface="Times New Roman"/>
                <a:cs typeface="Times New Roman"/>
              </a:rPr>
              <a:t>manages</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logic</a:t>
            </a:r>
            <a:r>
              <a:rPr sz="1200" spc="-35" dirty="0">
                <a:latin typeface="Times New Roman"/>
                <a:cs typeface="Times New Roman"/>
              </a:rPr>
              <a:t> </a:t>
            </a:r>
            <a:r>
              <a:rPr sz="1200" dirty="0">
                <a:latin typeface="Times New Roman"/>
                <a:cs typeface="Times New Roman"/>
              </a:rPr>
              <a:t>related</a:t>
            </a:r>
            <a:r>
              <a:rPr sz="1200" spc="-30" dirty="0">
                <a:latin typeface="Times New Roman"/>
                <a:cs typeface="Times New Roman"/>
              </a:rPr>
              <a:t> </a:t>
            </a:r>
            <a:r>
              <a:rPr sz="1200" spc="-25" dirty="0">
                <a:latin typeface="Times New Roman"/>
                <a:cs typeface="Times New Roman"/>
              </a:rPr>
              <a:t>to:</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469265" lvl="2" indent="-228600">
              <a:lnSpc>
                <a:spcPct val="100000"/>
              </a:lnSpc>
              <a:buSzPct val="83333"/>
              <a:buFont typeface="Symbol"/>
              <a:buChar char=""/>
              <a:tabLst>
                <a:tab pos="469265" algn="l"/>
              </a:tabLst>
            </a:pP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accounts</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role</a:t>
            </a:r>
            <a:r>
              <a:rPr sz="1200" spc="-20" dirty="0">
                <a:latin typeface="Times New Roman"/>
                <a:cs typeface="Times New Roman"/>
              </a:rPr>
              <a:t> </a:t>
            </a:r>
            <a:r>
              <a:rPr sz="1200" spc="-10" dirty="0">
                <a:latin typeface="Times New Roman"/>
                <a:cs typeface="Times New Roman"/>
              </a:rPr>
              <a:t>management</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Property</a:t>
            </a:r>
            <a:r>
              <a:rPr sz="1200" spc="-35" dirty="0">
                <a:latin typeface="Times New Roman"/>
                <a:cs typeface="Times New Roman"/>
              </a:rPr>
              <a:t> </a:t>
            </a:r>
            <a:r>
              <a:rPr sz="1200" dirty="0">
                <a:latin typeface="Times New Roman"/>
                <a:cs typeface="Times New Roman"/>
              </a:rPr>
              <a:t>listing</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spc="-10" dirty="0">
                <a:latin typeface="Times New Roman"/>
                <a:cs typeface="Times New Roman"/>
              </a:rPr>
              <a:t>creation</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validation</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storage</a:t>
            </a:r>
            <a:endParaRPr sz="1200" dirty="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36</a:t>
            </a:r>
          </a:p>
        </p:txBody>
      </p:sp>
      <p:sp>
        <p:nvSpPr>
          <p:cNvPr id="2" name="object 2"/>
          <p:cNvSpPr txBox="1"/>
          <p:nvPr/>
        </p:nvSpPr>
        <p:spPr>
          <a:xfrm>
            <a:off x="1176324" y="891285"/>
            <a:ext cx="5697220" cy="7584705"/>
          </a:xfrm>
          <a:prstGeom prst="rect">
            <a:avLst/>
          </a:prstGeom>
        </p:spPr>
        <p:txBody>
          <a:bodyPr vert="horz" wrap="square" lIns="0" tIns="12700" rIns="0" bIns="0" rtlCol="0">
            <a:spAutoFit/>
          </a:bodyPr>
          <a:lstStyle/>
          <a:p>
            <a:pPr marL="469265" indent="-228600">
              <a:lnSpc>
                <a:spcPct val="100000"/>
              </a:lnSpc>
              <a:spcBef>
                <a:spcPts val="100"/>
              </a:spcBef>
              <a:buSzPct val="83333"/>
              <a:buFont typeface="Symbol"/>
              <a:buChar char=""/>
              <a:tabLst>
                <a:tab pos="469265" algn="l"/>
              </a:tabLst>
            </a:pPr>
            <a:r>
              <a:rPr sz="1200" spc="-10" dirty="0">
                <a:latin typeface="Times New Roman"/>
                <a:cs typeface="Times New Roman"/>
              </a:rPr>
              <a:t>Integration</a:t>
            </a:r>
            <a:r>
              <a:rPr sz="1200" spc="-20"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AI</a:t>
            </a:r>
            <a:r>
              <a:rPr sz="1200" spc="-35" dirty="0">
                <a:latin typeface="Times New Roman"/>
                <a:cs typeface="Times New Roman"/>
              </a:rPr>
              <a:t> </a:t>
            </a:r>
            <a:r>
              <a:rPr sz="1200" dirty="0">
                <a:latin typeface="Times New Roman"/>
                <a:cs typeface="Times New Roman"/>
              </a:rPr>
              <a:t>APIs</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pricing</a:t>
            </a:r>
            <a:r>
              <a:rPr sz="1200" spc="-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document</a:t>
            </a:r>
            <a:r>
              <a:rPr sz="1200" spc="-15" dirty="0">
                <a:latin typeface="Times New Roman"/>
                <a:cs typeface="Times New Roman"/>
              </a:rPr>
              <a:t> </a:t>
            </a:r>
            <a:r>
              <a:rPr sz="1200" spc="-10" dirty="0">
                <a:latin typeface="Times New Roman"/>
                <a:cs typeface="Times New Roman"/>
              </a:rPr>
              <a:t>checks)</a:t>
            </a:r>
            <a:endParaRPr sz="1200" dirty="0">
              <a:latin typeface="Times New Roman"/>
              <a:cs typeface="Times New Roman"/>
            </a:endParaRPr>
          </a:p>
          <a:p>
            <a:pPr>
              <a:lnSpc>
                <a:spcPct val="100000"/>
              </a:lnSpc>
              <a:spcBef>
                <a:spcPts val="15"/>
              </a:spcBef>
            </a:pPr>
            <a:endParaRPr sz="1200" dirty="0">
              <a:latin typeface="Times New Roman"/>
              <a:cs typeface="Times New Roman"/>
            </a:endParaRPr>
          </a:p>
          <a:p>
            <a:pPr marL="12700" marR="6350" algn="just">
              <a:lnSpc>
                <a:spcPct val="143800"/>
              </a:lnSpc>
            </a:pPr>
            <a:r>
              <a:rPr sz="1200" dirty="0">
                <a:latin typeface="Times New Roman"/>
                <a:cs typeface="Times New Roman"/>
              </a:rPr>
              <a:t>Express.js</a:t>
            </a:r>
            <a:r>
              <a:rPr sz="1200" spc="55" dirty="0">
                <a:latin typeface="Times New Roman"/>
                <a:cs typeface="Times New Roman"/>
              </a:rPr>
              <a:t> </a:t>
            </a:r>
            <a:r>
              <a:rPr sz="1200" dirty="0">
                <a:latin typeface="Times New Roman"/>
                <a:cs typeface="Times New Roman"/>
              </a:rPr>
              <a:t>handles</a:t>
            </a:r>
            <a:r>
              <a:rPr sz="1200" spc="50" dirty="0">
                <a:latin typeface="Times New Roman"/>
                <a:cs typeface="Times New Roman"/>
              </a:rPr>
              <a:t> </a:t>
            </a:r>
            <a:r>
              <a:rPr sz="1200" dirty="0">
                <a:latin typeface="Times New Roman"/>
                <a:cs typeface="Times New Roman"/>
              </a:rPr>
              <a:t>route</a:t>
            </a:r>
            <a:r>
              <a:rPr sz="1200" spc="60" dirty="0">
                <a:latin typeface="Times New Roman"/>
                <a:cs typeface="Times New Roman"/>
              </a:rPr>
              <a:t> </a:t>
            </a:r>
            <a:r>
              <a:rPr sz="1200" dirty="0">
                <a:latin typeface="Times New Roman"/>
                <a:cs typeface="Times New Roman"/>
              </a:rPr>
              <a:t>management.</a:t>
            </a:r>
            <a:r>
              <a:rPr sz="1200" spc="55" dirty="0">
                <a:latin typeface="Times New Roman"/>
                <a:cs typeface="Times New Roman"/>
              </a:rPr>
              <a:t> </a:t>
            </a:r>
            <a:r>
              <a:rPr sz="1200" dirty="0">
                <a:latin typeface="Times New Roman"/>
                <a:cs typeface="Times New Roman"/>
              </a:rPr>
              <a:t>Controllers</a:t>
            </a:r>
            <a:r>
              <a:rPr sz="1200" spc="60" dirty="0">
                <a:latin typeface="Times New Roman"/>
                <a:cs typeface="Times New Roman"/>
              </a:rPr>
              <a:t> </a:t>
            </a:r>
            <a:r>
              <a:rPr sz="1200" dirty="0">
                <a:latin typeface="Times New Roman"/>
                <a:cs typeface="Times New Roman"/>
              </a:rPr>
              <a:t>manage</a:t>
            </a:r>
            <a:r>
              <a:rPr sz="1200" spc="50" dirty="0">
                <a:latin typeface="Times New Roman"/>
                <a:cs typeface="Times New Roman"/>
              </a:rPr>
              <a:t> </a:t>
            </a:r>
            <a:r>
              <a:rPr sz="1200" dirty="0">
                <a:latin typeface="Times New Roman"/>
                <a:cs typeface="Times New Roman"/>
              </a:rPr>
              <a:t>business</a:t>
            </a:r>
            <a:r>
              <a:rPr sz="1200" spc="55" dirty="0">
                <a:latin typeface="Times New Roman"/>
                <a:cs typeface="Times New Roman"/>
              </a:rPr>
              <a:t> </a:t>
            </a:r>
            <a:r>
              <a:rPr sz="1200" dirty="0">
                <a:latin typeface="Times New Roman"/>
                <a:cs typeface="Times New Roman"/>
              </a:rPr>
              <a:t>logic,</a:t>
            </a:r>
            <a:r>
              <a:rPr sz="1200" spc="55" dirty="0">
                <a:latin typeface="Times New Roman"/>
                <a:cs typeface="Times New Roman"/>
              </a:rPr>
              <a:t> </a:t>
            </a:r>
            <a:r>
              <a:rPr sz="1200" dirty="0">
                <a:latin typeface="Times New Roman"/>
                <a:cs typeface="Times New Roman"/>
              </a:rPr>
              <a:t>while</a:t>
            </a:r>
            <a:r>
              <a:rPr sz="1200" spc="50" dirty="0">
                <a:latin typeface="Times New Roman"/>
                <a:cs typeface="Times New Roman"/>
              </a:rPr>
              <a:t> </a:t>
            </a:r>
            <a:r>
              <a:rPr sz="1200" spc="-10" dirty="0">
                <a:latin typeface="Times New Roman"/>
                <a:cs typeface="Times New Roman"/>
              </a:rPr>
              <a:t>Mongoose </a:t>
            </a:r>
            <a:r>
              <a:rPr sz="1200" dirty="0">
                <a:latin typeface="Times New Roman"/>
                <a:cs typeface="Times New Roman"/>
              </a:rPr>
              <a:t>models</a:t>
            </a:r>
            <a:r>
              <a:rPr sz="1200" spc="-40" dirty="0">
                <a:latin typeface="Times New Roman"/>
                <a:cs typeface="Times New Roman"/>
              </a:rPr>
              <a:t> </a:t>
            </a:r>
            <a:r>
              <a:rPr sz="1200" dirty="0">
                <a:latin typeface="Times New Roman"/>
                <a:cs typeface="Times New Roman"/>
              </a:rPr>
              <a:t>structure</a:t>
            </a:r>
            <a:r>
              <a:rPr sz="1200" spc="-4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MongoDB.</a:t>
            </a:r>
            <a:r>
              <a:rPr sz="1200" spc="-40" dirty="0">
                <a:latin typeface="Times New Roman"/>
                <a:cs typeface="Times New Roman"/>
              </a:rPr>
              <a:t> </a:t>
            </a:r>
            <a:r>
              <a:rPr sz="1200" dirty="0">
                <a:latin typeface="Times New Roman"/>
                <a:cs typeface="Times New Roman"/>
              </a:rPr>
              <a:t>Middleware</a:t>
            </a:r>
            <a:r>
              <a:rPr sz="1200" spc="-20"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dirty="0">
                <a:latin typeface="Times New Roman"/>
                <a:cs typeface="Times New Roman"/>
              </a:rPr>
              <a:t>created</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role-</a:t>
            </a:r>
            <a:r>
              <a:rPr sz="1200" dirty="0">
                <a:latin typeface="Times New Roman"/>
                <a:cs typeface="Times New Roman"/>
              </a:rPr>
              <a:t>based</a:t>
            </a:r>
            <a:r>
              <a:rPr sz="1200" spc="-35"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25" dirty="0">
                <a:latin typeface="Times New Roman"/>
                <a:cs typeface="Times New Roman"/>
              </a:rPr>
              <a:t>JWT </a:t>
            </a:r>
            <a:r>
              <a:rPr sz="1200" dirty="0">
                <a:latin typeface="Times New Roman"/>
                <a:cs typeface="Times New Roman"/>
              </a:rPr>
              <a:t>token</a:t>
            </a:r>
            <a:r>
              <a:rPr sz="1200" spc="-30" dirty="0">
                <a:latin typeface="Times New Roman"/>
                <a:cs typeface="Times New Roman"/>
              </a:rPr>
              <a:t> </a:t>
            </a:r>
            <a:r>
              <a:rPr sz="1200" spc="-10" dirty="0">
                <a:latin typeface="Times New Roman"/>
                <a:cs typeface="Times New Roman"/>
              </a:rPr>
              <a:t>verification.</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12700">
              <a:lnSpc>
                <a:spcPct val="100000"/>
              </a:lnSpc>
            </a:pPr>
            <a:r>
              <a:rPr sz="1200" b="1" dirty="0">
                <a:latin typeface="Times New Roman"/>
                <a:cs typeface="Times New Roman"/>
              </a:rPr>
              <a:t>5.4</a:t>
            </a:r>
            <a:r>
              <a:rPr lang="en-US" sz="1200" b="1" dirty="0">
                <a:latin typeface="Times New Roman"/>
                <a:cs typeface="Times New Roman"/>
              </a:rPr>
              <a:t>  </a:t>
            </a:r>
            <a:r>
              <a:rPr sz="1200" b="1" spc="-40" dirty="0">
                <a:latin typeface="Times New Roman"/>
                <a:cs typeface="Times New Roman"/>
              </a:rPr>
              <a:t> </a:t>
            </a:r>
            <a:r>
              <a:rPr sz="1200" b="1" dirty="0">
                <a:latin typeface="Times New Roman"/>
                <a:cs typeface="Times New Roman"/>
              </a:rPr>
              <a:t>Frontend</a:t>
            </a:r>
            <a:r>
              <a:rPr sz="1200" b="1" spc="-40" dirty="0">
                <a:latin typeface="Times New Roman"/>
                <a:cs typeface="Times New Roman"/>
              </a:rPr>
              <a:t> </a:t>
            </a:r>
            <a:r>
              <a:rPr sz="1200" b="1" dirty="0">
                <a:latin typeface="Times New Roman"/>
                <a:cs typeface="Times New Roman"/>
              </a:rPr>
              <a:t>Implementation</a:t>
            </a:r>
            <a:r>
              <a:rPr sz="1200" b="1" spc="-35" dirty="0">
                <a:latin typeface="Times New Roman"/>
                <a:cs typeface="Times New Roman"/>
              </a:rPr>
              <a:t> </a:t>
            </a:r>
            <a:r>
              <a:rPr sz="1200" b="1" spc="-10" dirty="0">
                <a:latin typeface="Times New Roman"/>
                <a:cs typeface="Times New Roman"/>
              </a:rPr>
              <a:t>(React.js)</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12700" marR="5715" algn="just">
              <a:lnSpc>
                <a:spcPct val="143500"/>
              </a:lnSpc>
              <a:spcBef>
                <a:spcPts val="5"/>
              </a:spcBef>
            </a:pP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React.js</a:t>
            </a:r>
            <a:r>
              <a:rPr sz="1200" spc="90" dirty="0">
                <a:latin typeface="Times New Roman"/>
                <a:cs typeface="Times New Roman"/>
              </a:rPr>
              <a:t> </a:t>
            </a:r>
            <a:r>
              <a:rPr sz="1200" dirty="0">
                <a:latin typeface="Times New Roman"/>
                <a:cs typeface="Times New Roman"/>
              </a:rPr>
              <a:t>frontend</a:t>
            </a:r>
            <a:r>
              <a:rPr sz="1200" spc="85" dirty="0">
                <a:latin typeface="Times New Roman"/>
                <a:cs typeface="Times New Roman"/>
              </a:rPr>
              <a:t> </a:t>
            </a:r>
            <a:r>
              <a:rPr sz="1200" dirty="0">
                <a:latin typeface="Times New Roman"/>
                <a:cs typeface="Times New Roman"/>
              </a:rPr>
              <a:t>is</a:t>
            </a:r>
            <a:r>
              <a:rPr sz="1200" spc="90" dirty="0">
                <a:latin typeface="Times New Roman"/>
                <a:cs typeface="Times New Roman"/>
              </a:rPr>
              <a:t> </a:t>
            </a:r>
            <a:r>
              <a:rPr sz="1200" dirty="0">
                <a:latin typeface="Times New Roman"/>
                <a:cs typeface="Times New Roman"/>
              </a:rPr>
              <a:t>built</a:t>
            </a:r>
            <a:r>
              <a:rPr sz="1200" spc="90" dirty="0">
                <a:latin typeface="Times New Roman"/>
                <a:cs typeface="Times New Roman"/>
              </a:rPr>
              <a:t> </a:t>
            </a:r>
            <a:r>
              <a:rPr sz="1200" dirty="0">
                <a:latin typeface="Times New Roman"/>
                <a:cs typeface="Times New Roman"/>
              </a:rPr>
              <a:t>using</a:t>
            </a:r>
            <a:r>
              <a:rPr sz="1200" spc="85" dirty="0">
                <a:latin typeface="Times New Roman"/>
                <a:cs typeface="Times New Roman"/>
              </a:rPr>
              <a:t> </a:t>
            </a:r>
            <a:r>
              <a:rPr sz="1200" dirty="0">
                <a:latin typeface="Times New Roman"/>
                <a:cs typeface="Times New Roman"/>
              </a:rPr>
              <a:t>reusable</a:t>
            </a:r>
            <a:r>
              <a:rPr sz="1200" spc="85" dirty="0">
                <a:latin typeface="Times New Roman"/>
                <a:cs typeface="Times New Roman"/>
              </a:rPr>
              <a:t> </a:t>
            </a:r>
            <a:r>
              <a:rPr sz="1200" dirty="0">
                <a:latin typeface="Times New Roman"/>
                <a:cs typeface="Times New Roman"/>
              </a:rPr>
              <a:t>components</a:t>
            </a:r>
            <a:r>
              <a:rPr sz="1200" spc="90"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dirty="0">
                <a:latin typeface="Times New Roman"/>
                <a:cs typeface="Times New Roman"/>
              </a:rPr>
              <a:t>modular</a:t>
            </a:r>
            <a:r>
              <a:rPr sz="1200" spc="85" dirty="0">
                <a:latin typeface="Times New Roman"/>
                <a:cs typeface="Times New Roman"/>
              </a:rPr>
              <a:t> </a:t>
            </a:r>
            <a:r>
              <a:rPr sz="1200" dirty="0">
                <a:latin typeface="Times New Roman"/>
                <a:cs typeface="Times New Roman"/>
              </a:rPr>
              <a:t>routing.</a:t>
            </a:r>
            <a:r>
              <a:rPr sz="1200" spc="85" dirty="0">
                <a:latin typeface="Times New Roman"/>
                <a:cs typeface="Times New Roman"/>
              </a:rPr>
              <a:t> </a:t>
            </a:r>
            <a:r>
              <a:rPr sz="1200" dirty="0">
                <a:latin typeface="Times New Roman"/>
                <a:cs typeface="Times New Roman"/>
              </a:rPr>
              <a:t>Role-</a:t>
            </a:r>
            <a:r>
              <a:rPr sz="1200" spc="-10" dirty="0">
                <a:latin typeface="Times New Roman"/>
                <a:cs typeface="Times New Roman"/>
              </a:rPr>
              <a:t>based </a:t>
            </a:r>
            <a:r>
              <a:rPr sz="1200" dirty="0">
                <a:latin typeface="Times New Roman"/>
                <a:cs typeface="Times New Roman"/>
              </a:rPr>
              <a:t>access</a:t>
            </a:r>
            <a:r>
              <a:rPr sz="1200" spc="-45" dirty="0">
                <a:latin typeface="Times New Roman"/>
                <a:cs typeface="Times New Roman"/>
              </a:rPr>
              <a:t> </a:t>
            </a:r>
            <a:r>
              <a:rPr sz="1200" dirty="0">
                <a:latin typeface="Times New Roman"/>
                <a:cs typeface="Times New Roman"/>
              </a:rPr>
              <a:t>control</a:t>
            </a:r>
            <a:r>
              <a:rPr sz="1200" spc="-40" dirty="0">
                <a:latin typeface="Times New Roman"/>
                <a:cs typeface="Times New Roman"/>
              </a:rPr>
              <a:t> </a:t>
            </a:r>
            <a:r>
              <a:rPr sz="1200" dirty="0">
                <a:latin typeface="Times New Roman"/>
                <a:cs typeface="Times New Roman"/>
              </a:rPr>
              <a:t>ensures</a:t>
            </a:r>
            <a:r>
              <a:rPr sz="1200" spc="-45" dirty="0">
                <a:latin typeface="Times New Roman"/>
                <a:cs typeface="Times New Roman"/>
              </a:rPr>
              <a:t> </a:t>
            </a:r>
            <a:r>
              <a:rPr sz="1200" dirty="0">
                <a:latin typeface="Times New Roman"/>
                <a:cs typeface="Times New Roman"/>
              </a:rPr>
              <a:t>each</a:t>
            </a:r>
            <a:r>
              <a:rPr sz="1200" spc="-40"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type</a:t>
            </a:r>
            <a:r>
              <a:rPr sz="1200" spc="-45" dirty="0">
                <a:latin typeface="Times New Roman"/>
                <a:cs typeface="Times New Roman"/>
              </a:rPr>
              <a:t> </a:t>
            </a:r>
            <a:r>
              <a:rPr sz="1200" dirty="0">
                <a:latin typeface="Times New Roman"/>
                <a:cs typeface="Times New Roman"/>
              </a:rPr>
              <a:t>(admin,</a:t>
            </a:r>
            <a:r>
              <a:rPr sz="1200" spc="-45" dirty="0">
                <a:latin typeface="Times New Roman"/>
                <a:cs typeface="Times New Roman"/>
              </a:rPr>
              <a:t> </a:t>
            </a:r>
            <a:r>
              <a:rPr sz="1200" dirty="0">
                <a:latin typeface="Times New Roman"/>
                <a:cs typeface="Times New Roman"/>
              </a:rPr>
              <a:t>buyer,</a:t>
            </a:r>
            <a:r>
              <a:rPr sz="1200" spc="-45" dirty="0">
                <a:latin typeface="Times New Roman"/>
                <a:cs typeface="Times New Roman"/>
              </a:rPr>
              <a:t> </a:t>
            </a:r>
            <a:r>
              <a:rPr sz="1200" spc="-10" dirty="0">
                <a:latin typeface="Times New Roman"/>
                <a:cs typeface="Times New Roman"/>
              </a:rPr>
              <a:t>seller)</a:t>
            </a:r>
            <a:r>
              <a:rPr sz="1200" spc="-50" dirty="0">
                <a:latin typeface="Times New Roman"/>
                <a:cs typeface="Times New Roman"/>
              </a:rPr>
              <a:t> </a:t>
            </a:r>
            <a:r>
              <a:rPr sz="1200" dirty="0">
                <a:latin typeface="Times New Roman"/>
                <a:cs typeface="Times New Roman"/>
              </a:rPr>
              <a:t>sees</a:t>
            </a:r>
            <a:r>
              <a:rPr sz="1200" spc="-45" dirty="0">
                <a:latin typeface="Times New Roman"/>
                <a:cs typeface="Times New Roman"/>
              </a:rPr>
              <a:t> </a:t>
            </a:r>
            <a:r>
              <a:rPr sz="1200" dirty="0">
                <a:latin typeface="Times New Roman"/>
                <a:cs typeface="Times New Roman"/>
              </a:rPr>
              <a:t>only</a:t>
            </a:r>
            <a:r>
              <a:rPr sz="1200" spc="-40"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spc="-10" dirty="0">
                <a:latin typeface="Times New Roman"/>
                <a:cs typeface="Times New Roman"/>
              </a:rPr>
              <a:t>permitted</a:t>
            </a:r>
            <a:r>
              <a:rPr sz="1200" spc="-45" dirty="0">
                <a:latin typeface="Times New Roman"/>
                <a:cs typeface="Times New Roman"/>
              </a:rPr>
              <a:t> </a:t>
            </a:r>
            <a:r>
              <a:rPr sz="1200" spc="-10" dirty="0">
                <a:latin typeface="Times New Roman"/>
                <a:cs typeface="Times New Roman"/>
              </a:rPr>
              <a:t>features.</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12700" algn="just">
              <a:lnSpc>
                <a:spcPct val="100000"/>
              </a:lnSpc>
            </a:pPr>
            <a:r>
              <a:rPr sz="1200" dirty="0">
                <a:latin typeface="Times New Roman"/>
                <a:cs typeface="Times New Roman"/>
              </a:rPr>
              <a:t>Key</a:t>
            </a:r>
            <a:r>
              <a:rPr sz="1200" spc="-30" dirty="0">
                <a:latin typeface="Times New Roman"/>
                <a:cs typeface="Times New Roman"/>
              </a:rPr>
              <a:t> </a:t>
            </a:r>
            <a:r>
              <a:rPr sz="1200" spc="-10" dirty="0">
                <a:latin typeface="Times New Roman"/>
                <a:cs typeface="Times New Roman"/>
              </a:rPr>
              <a:t>features:</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469265" indent="-228600">
              <a:lnSpc>
                <a:spcPct val="100000"/>
              </a:lnSpc>
              <a:buSzPct val="83333"/>
              <a:buFont typeface="Symbol"/>
              <a:buChar char=""/>
              <a:tabLst>
                <a:tab pos="469265" algn="l"/>
              </a:tabLst>
            </a:pPr>
            <a:r>
              <a:rPr sz="1200" dirty="0">
                <a:latin typeface="Times New Roman"/>
                <a:cs typeface="Times New Roman"/>
              </a:rPr>
              <a:t>Live</a:t>
            </a:r>
            <a:r>
              <a:rPr sz="1200" spc="-35"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list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property</a:t>
            </a:r>
            <a:r>
              <a:rPr sz="1200" spc="-30" dirty="0">
                <a:latin typeface="Times New Roman"/>
                <a:cs typeface="Times New Roman"/>
              </a:rPr>
              <a:t> </a:t>
            </a:r>
            <a:r>
              <a:rPr sz="1200" dirty="0">
                <a:latin typeface="Times New Roman"/>
                <a:cs typeface="Times New Roman"/>
              </a:rPr>
              <a:t>detail</a:t>
            </a:r>
            <a:r>
              <a:rPr sz="1200" spc="-30" dirty="0">
                <a:latin typeface="Times New Roman"/>
                <a:cs typeface="Times New Roman"/>
              </a:rPr>
              <a:t> </a:t>
            </a:r>
            <a:r>
              <a:rPr sz="1200" spc="-20" dirty="0">
                <a:latin typeface="Times New Roman"/>
                <a:cs typeface="Times New Roman"/>
              </a:rPr>
              <a:t>pages</a:t>
            </a:r>
            <a:endParaRPr sz="1200" dirty="0">
              <a:latin typeface="Times New Roman"/>
              <a:cs typeface="Times New Roman"/>
            </a:endParaRPr>
          </a:p>
          <a:p>
            <a:pPr marL="469265" indent="-228600">
              <a:lnSpc>
                <a:spcPct val="100000"/>
              </a:lnSpc>
              <a:spcBef>
                <a:spcPts val="635"/>
              </a:spcBef>
              <a:buSzPct val="83333"/>
              <a:buFont typeface="Symbol"/>
              <a:buChar char=""/>
              <a:tabLst>
                <a:tab pos="469265" algn="l"/>
              </a:tabLst>
            </a:pPr>
            <a:r>
              <a:rPr sz="1200" spc="-10" dirty="0">
                <a:latin typeface="Times New Roman"/>
                <a:cs typeface="Times New Roman"/>
              </a:rPr>
              <a:t>Real-</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bid</a:t>
            </a:r>
            <a:r>
              <a:rPr sz="1200" spc="-15" dirty="0">
                <a:latin typeface="Times New Roman"/>
                <a:cs typeface="Times New Roman"/>
              </a:rPr>
              <a:t> </a:t>
            </a:r>
            <a:r>
              <a:rPr sz="1200" spc="-10" dirty="0">
                <a:latin typeface="Times New Roman"/>
                <a:cs typeface="Times New Roman"/>
              </a:rPr>
              <a:t>interface</a:t>
            </a:r>
            <a:endParaRPr sz="1200" dirty="0">
              <a:latin typeface="Times New Roman"/>
              <a:cs typeface="Times New Roman"/>
            </a:endParaRPr>
          </a:p>
          <a:p>
            <a:pPr marL="469265" indent="-228600">
              <a:lnSpc>
                <a:spcPct val="100000"/>
              </a:lnSpc>
              <a:spcBef>
                <a:spcPts val="625"/>
              </a:spcBef>
              <a:buSzPct val="83333"/>
              <a:buFont typeface="Symbol"/>
              <a:buChar char=""/>
              <a:tabLst>
                <a:tab pos="469265" algn="l"/>
              </a:tabLst>
            </a:pPr>
            <a:r>
              <a:rPr sz="1200" dirty="0">
                <a:latin typeface="Times New Roman"/>
                <a:cs typeface="Times New Roman"/>
              </a:rPr>
              <a:t>Property</a:t>
            </a:r>
            <a:r>
              <a:rPr sz="1200" spc="-30" dirty="0">
                <a:latin typeface="Times New Roman"/>
                <a:cs typeface="Times New Roman"/>
              </a:rPr>
              <a:t> </a:t>
            </a:r>
            <a:r>
              <a:rPr sz="1200" dirty="0">
                <a:latin typeface="Times New Roman"/>
                <a:cs typeface="Times New Roman"/>
              </a:rPr>
              <a:t>listing</a:t>
            </a:r>
            <a:r>
              <a:rPr sz="1200" spc="-25" dirty="0">
                <a:latin typeface="Times New Roman"/>
                <a:cs typeface="Times New Roman"/>
              </a:rPr>
              <a:t> </a:t>
            </a:r>
            <a:r>
              <a:rPr sz="1200" dirty="0">
                <a:latin typeface="Times New Roman"/>
                <a:cs typeface="Times New Roman"/>
              </a:rPr>
              <a:t>form</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AI</a:t>
            </a:r>
            <a:r>
              <a:rPr sz="1200" spc="-40" dirty="0">
                <a:latin typeface="Times New Roman"/>
                <a:cs typeface="Times New Roman"/>
              </a:rPr>
              <a:t> </a:t>
            </a:r>
            <a:r>
              <a:rPr sz="1200" dirty="0">
                <a:latin typeface="Times New Roman"/>
                <a:cs typeface="Times New Roman"/>
              </a:rPr>
              <a:t>price</a:t>
            </a:r>
            <a:r>
              <a:rPr sz="1200" spc="-30" dirty="0">
                <a:latin typeface="Times New Roman"/>
                <a:cs typeface="Times New Roman"/>
              </a:rPr>
              <a:t> </a:t>
            </a:r>
            <a:r>
              <a:rPr sz="1200" spc="-10" dirty="0">
                <a:latin typeface="Times New Roman"/>
                <a:cs typeface="Times New Roman"/>
              </a:rPr>
              <a:t>suggestion</a:t>
            </a:r>
            <a:endParaRPr sz="1200" dirty="0">
              <a:latin typeface="Times New Roman"/>
              <a:cs typeface="Times New Roman"/>
            </a:endParaRPr>
          </a:p>
          <a:p>
            <a:pPr marL="469265" indent="-228600">
              <a:lnSpc>
                <a:spcPct val="100000"/>
              </a:lnSpc>
              <a:spcBef>
                <a:spcPts val="635"/>
              </a:spcBef>
              <a:buSzPct val="83333"/>
              <a:buFont typeface="Symbol"/>
              <a:buChar char=""/>
              <a:tabLst>
                <a:tab pos="469265" algn="l"/>
              </a:tabLst>
            </a:pPr>
            <a:r>
              <a:rPr sz="1200" dirty="0">
                <a:latin typeface="Times New Roman"/>
                <a:cs typeface="Times New Roman"/>
              </a:rPr>
              <a:t>Admin</a:t>
            </a:r>
            <a:r>
              <a:rPr sz="1200" spc="-40" dirty="0">
                <a:latin typeface="Times New Roman"/>
                <a:cs typeface="Times New Roman"/>
              </a:rPr>
              <a:t> </a:t>
            </a:r>
            <a:r>
              <a:rPr sz="1200" dirty="0">
                <a:latin typeface="Times New Roman"/>
                <a:cs typeface="Times New Roman"/>
              </a:rPr>
              <a:t>dashboard</a:t>
            </a:r>
            <a:r>
              <a:rPr sz="1200" spc="-4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document</a:t>
            </a:r>
            <a:r>
              <a:rPr sz="1200" spc="-40" dirty="0">
                <a:latin typeface="Times New Roman"/>
                <a:cs typeface="Times New Roman"/>
              </a:rPr>
              <a:t> </a:t>
            </a:r>
            <a:r>
              <a:rPr sz="1200" spc="-10" dirty="0">
                <a:latin typeface="Times New Roman"/>
                <a:cs typeface="Times New Roman"/>
              </a:rPr>
              <a:t>review</a:t>
            </a:r>
            <a:endParaRPr sz="1200" dirty="0">
              <a:latin typeface="Times New Roman"/>
              <a:cs typeface="Times New Roman"/>
            </a:endParaRPr>
          </a:p>
          <a:p>
            <a:pPr marL="469265" indent="-228600">
              <a:lnSpc>
                <a:spcPct val="100000"/>
              </a:lnSpc>
              <a:spcBef>
                <a:spcPts val="625"/>
              </a:spcBef>
              <a:buSzPct val="83333"/>
              <a:buFont typeface="Symbol"/>
              <a:buChar char=""/>
              <a:tabLst>
                <a:tab pos="469265" algn="l"/>
              </a:tabLst>
            </a:pPr>
            <a:r>
              <a:rPr sz="1200" dirty="0">
                <a:latin typeface="Times New Roman"/>
                <a:cs typeface="Times New Roman"/>
              </a:rPr>
              <a:t>Toast</a:t>
            </a:r>
            <a:r>
              <a:rPr sz="1200" spc="-35" dirty="0">
                <a:latin typeface="Times New Roman"/>
                <a:cs typeface="Times New Roman"/>
              </a:rPr>
              <a:t> </a:t>
            </a:r>
            <a:r>
              <a:rPr sz="1200" dirty="0">
                <a:latin typeface="Times New Roman"/>
                <a:cs typeface="Times New Roman"/>
              </a:rPr>
              <a:t>notifications,</a:t>
            </a:r>
            <a:r>
              <a:rPr sz="1200" spc="-30" dirty="0">
                <a:latin typeface="Times New Roman"/>
                <a:cs typeface="Times New Roman"/>
              </a:rPr>
              <a:t> </a:t>
            </a:r>
            <a:r>
              <a:rPr sz="1200" dirty="0">
                <a:latin typeface="Times New Roman"/>
                <a:cs typeface="Times New Roman"/>
              </a:rPr>
              <a:t>modals,</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alerts</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spc="-10" dirty="0">
                <a:latin typeface="Times New Roman"/>
                <a:cs typeface="Times New Roman"/>
              </a:rPr>
              <a:t>feedback</a:t>
            </a:r>
            <a:endParaRPr sz="1200" dirty="0">
              <a:latin typeface="Times New Roman"/>
              <a:cs typeface="Times New Roman"/>
            </a:endParaRPr>
          </a:p>
          <a:p>
            <a:pPr>
              <a:lnSpc>
                <a:spcPct val="100000"/>
              </a:lnSpc>
              <a:spcBef>
                <a:spcPts val="10"/>
              </a:spcBef>
              <a:buFont typeface="Symbol"/>
              <a:buChar char=""/>
            </a:pPr>
            <a:endParaRPr sz="1200" dirty="0">
              <a:latin typeface="Times New Roman"/>
              <a:cs typeface="Times New Roman"/>
            </a:endParaRPr>
          </a:p>
          <a:p>
            <a:pPr marL="12700" marR="5080" algn="just">
              <a:lnSpc>
                <a:spcPct val="144200"/>
              </a:lnSpc>
              <a:spcBef>
                <a:spcPts val="5"/>
              </a:spcBef>
            </a:pPr>
            <a:r>
              <a:rPr sz="1200" dirty="0">
                <a:latin typeface="Times New Roman"/>
                <a:cs typeface="Times New Roman"/>
              </a:rPr>
              <a:t>Styling</a:t>
            </a:r>
            <a:r>
              <a:rPr sz="1200" spc="20"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dirty="0">
                <a:latin typeface="Times New Roman"/>
                <a:cs typeface="Times New Roman"/>
              </a:rPr>
              <a:t>done</a:t>
            </a:r>
            <a:r>
              <a:rPr sz="1200" spc="15"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dirty="0">
                <a:latin typeface="Times New Roman"/>
                <a:cs typeface="Times New Roman"/>
              </a:rPr>
              <a:t>Material</a:t>
            </a:r>
            <a:r>
              <a:rPr sz="1200" spc="20" dirty="0">
                <a:latin typeface="Times New Roman"/>
                <a:cs typeface="Times New Roman"/>
              </a:rPr>
              <a:t> </a:t>
            </a:r>
            <a:r>
              <a:rPr sz="1200" dirty="0">
                <a:latin typeface="Times New Roman"/>
                <a:cs typeface="Times New Roman"/>
              </a:rPr>
              <a:t>UI</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custom</a:t>
            </a:r>
            <a:r>
              <a:rPr sz="1200" spc="35" dirty="0">
                <a:latin typeface="Times New Roman"/>
                <a:cs typeface="Times New Roman"/>
              </a:rPr>
              <a:t> </a:t>
            </a:r>
            <a:r>
              <a:rPr sz="1200" dirty="0">
                <a:latin typeface="Times New Roman"/>
                <a:cs typeface="Times New Roman"/>
              </a:rPr>
              <a:t>CSS.</a:t>
            </a:r>
            <a:r>
              <a:rPr sz="1200" spc="20" dirty="0">
                <a:latin typeface="Times New Roman"/>
                <a:cs typeface="Times New Roman"/>
              </a:rPr>
              <a:t> </a:t>
            </a:r>
            <a:r>
              <a:rPr sz="1200" dirty="0">
                <a:latin typeface="Times New Roman"/>
                <a:cs typeface="Times New Roman"/>
              </a:rPr>
              <a:t>React</a:t>
            </a:r>
            <a:r>
              <a:rPr sz="1200" spc="25" dirty="0">
                <a:latin typeface="Times New Roman"/>
                <a:cs typeface="Times New Roman"/>
              </a:rPr>
              <a:t> </a:t>
            </a:r>
            <a:r>
              <a:rPr sz="1200" dirty="0">
                <a:latin typeface="Times New Roman"/>
                <a:cs typeface="Times New Roman"/>
              </a:rPr>
              <a:t>Router</a:t>
            </a:r>
            <a:r>
              <a:rPr sz="1200" spc="20"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for</a:t>
            </a:r>
            <a:r>
              <a:rPr sz="1200" spc="55" dirty="0">
                <a:latin typeface="Times New Roman"/>
                <a:cs typeface="Times New Roman"/>
              </a:rPr>
              <a:t> </a:t>
            </a:r>
            <a:r>
              <a:rPr sz="1200" spc="-10" dirty="0">
                <a:latin typeface="Times New Roman"/>
                <a:cs typeface="Times New Roman"/>
              </a:rPr>
              <a:t>navigation </a:t>
            </a:r>
            <a:r>
              <a:rPr sz="1200" dirty="0">
                <a:latin typeface="Times New Roman"/>
                <a:cs typeface="Times New Roman"/>
              </a:rPr>
              <a:t>between</a:t>
            </a:r>
            <a:r>
              <a:rPr sz="1200" spc="-50" dirty="0">
                <a:latin typeface="Times New Roman"/>
                <a:cs typeface="Times New Roman"/>
              </a:rPr>
              <a:t> </a:t>
            </a:r>
            <a:r>
              <a:rPr sz="1200" spc="-10" dirty="0">
                <a:latin typeface="Times New Roman"/>
                <a:cs typeface="Times New Roman"/>
              </a:rPr>
              <a:t>views.</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12700">
              <a:lnSpc>
                <a:spcPct val="100000"/>
              </a:lnSpc>
            </a:pPr>
            <a:r>
              <a:rPr sz="1200" b="1" dirty="0">
                <a:latin typeface="Times New Roman"/>
                <a:cs typeface="Times New Roman"/>
              </a:rPr>
              <a:t>5.5</a:t>
            </a:r>
            <a:r>
              <a:rPr sz="1200" b="1" spc="-25" dirty="0">
                <a:latin typeface="Times New Roman"/>
                <a:cs typeface="Times New Roman"/>
              </a:rPr>
              <a:t> </a:t>
            </a:r>
            <a:r>
              <a:rPr lang="en-US" sz="1200" b="1" spc="-25" dirty="0">
                <a:latin typeface="Times New Roman"/>
                <a:cs typeface="Times New Roman"/>
              </a:rPr>
              <a:t>   </a:t>
            </a:r>
            <a:r>
              <a:rPr sz="1200" b="1" spc="-10" dirty="0">
                <a:latin typeface="Times New Roman"/>
                <a:cs typeface="Times New Roman"/>
              </a:rPr>
              <a:t>Real-</a:t>
            </a:r>
            <a:r>
              <a:rPr sz="1200" b="1" dirty="0">
                <a:latin typeface="Times New Roman"/>
                <a:cs typeface="Times New Roman"/>
              </a:rPr>
              <a:t>Time</a:t>
            </a:r>
            <a:r>
              <a:rPr sz="1200" b="1" spc="-25" dirty="0">
                <a:latin typeface="Times New Roman"/>
                <a:cs typeface="Times New Roman"/>
              </a:rPr>
              <a:t> </a:t>
            </a:r>
            <a:r>
              <a:rPr sz="1200" b="1" dirty="0">
                <a:latin typeface="Times New Roman"/>
                <a:cs typeface="Times New Roman"/>
              </a:rPr>
              <a:t>Bidding</a:t>
            </a:r>
            <a:r>
              <a:rPr sz="1200" b="1" spc="-35" dirty="0">
                <a:latin typeface="Times New Roman"/>
                <a:cs typeface="Times New Roman"/>
              </a:rPr>
              <a:t> </a:t>
            </a:r>
            <a:r>
              <a:rPr sz="1200" b="1" dirty="0">
                <a:latin typeface="Times New Roman"/>
                <a:cs typeface="Times New Roman"/>
              </a:rPr>
              <a:t>System</a:t>
            </a:r>
            <a:r>
              <a:rPr sz="1200" b="1" spc="-15" dirty="0">
                <a:latin typeface="Times New Roman"/>
                <a:cs typeface="Times New Roman"/>
              </a:rPr>
              <a:t> </a:t>
            </a:r>
            <a:r>
              <a:rPr sz="1200" b="1" dirty="0">
                <a:latin typeface="Times New Roman"/>
                <a:cs typeface="Times New Roman"/>
              </a:rPr>
              <a:t>(Socket.io</a:t>
            </a:r>
            <a:r>
              <a:rPr sz="1200" b="1" spc="-25" dirty="0">
                <a:latin typeface="Times New Roman"/>
                <a:cs typeface="Times New Roman"/>
              </a:rPr>
              <a:t> </a:t>
            </a:r>
            <a:r>
              <a:rPr sz="1200" b="1" spc="-10" dirty="0">
                <a:latin typeface="Times New Roman"/>
                <a:cs typeface="Times New Roman"/>
              </a:rPr>
              <a:t>Integration)</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12700" algn="just">
              <a:lnSpc>
                <a:spcPct val="100000"/>
              </a:lnSpc>
            </a:pPr>
            <a:r>
              <a:rPr sz="1200" dirty="0">
                <a:latin typeface="Times New Roman"/>
                <a:cs typeface="Times New Roman"/>
              </a:rPr>
              <a:t>Socket.io</a:t>
            </a:r>
            <a:r>
              <a:rPr sz="1200" spc="-30"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seamless,</a:t>
            </a:r>
            <a:r>
              <a:rPr sz="1200" spc="-30" dirty="0">
                <a:latin typeface="Times New Roman"/>
                <a:cs typeface="Times New Roman"/>
              </a:rPr>
              <a:t> </a:t>
            </a:r>
            <a:r>
              <a:rPr sz="1200" spc="-10" dirty="0">
                <a:latin typeface="Times New Roman"/>
                <a:cs typeface="Times New Roman"/>
              </a:rPr>
              <a:t>bi-directional</a:t>
            </a:r>
            <a:r>
              <a:rPr sz="1200" spc="-30" dirty="0">
                <a:latin typeface="Times New Roman"/>
                <a:cs typeface="Times New Roman"/>
              </a:rPr>
              <a:t> </a:t>
            </a:r>
            <a:r>
              <a:rPr sz="1200" dirty="0">
                <a:latin typeface="Times New Roman"/>
                <a:cs typeface="Times New Roman"/>
              </a:rPr>
              <a:t>communication</a:t>
            </a:r>
            <a:r>
              <a:rPr sz="1200" spc="-25" dirty="0">
                <a:latin typeface="Times New Roman"/>
                <a:cs typeface="Times New Roman"/>
              </a:rPr>
              <a:t> </a:t>
            </a:r>
            <a:r>
              <a:rPr sz="1200" dirty="0">
                <a:latin typeface="Times New Roman"/>
                <a:cs typeface="Times New Roman"/>
              </a:rPr>
              <a:t>between</a:t>
            </a:r>
            <a:r>
              <a:rPr sz="1200" spc="-20" dirty="0">
                <a:latin typeface="Times New Roman"/>
                <a:cs typeface="Times New Roman"/>
              </a:rPr>
              <a:t> </a:t>
            </a:r>
            <a:r>
              <a:rPr sz="1200" dirty="0">
                <a:latin typeface="Times New Roman"/>
                <a:cs typeface="Times New Roman"/>
              </a:rPr>
              <a:t>clients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server:</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469265" indent="-228600">
              <a:lnSpc>
                <a:spcPct val="100000"/>
              </a:lnSpc>
              <a:buSzPct val="83333"/>
              <a:buFont typeface="Symbol"/>
              <a:buChar char=""/>
              <a:tabLst>
                <a:tab pos="469265" algn="l"/>
              </a:tabLst>
            </a:pPr>
            <a:r>
              <a:rPr sz="1200" dirty="0">
                <a:latin typeface="Times New Roman"/>
                <a:cs typeface="Times New Roman"/>
              </a:rPr>
              <a:t>Buyers</a:t>
            </a:r>
            <a:r>
              <a:rPr sz="1200" spc="-25" dirty="0">
                <a:latin typeface="Times New Roman"/>
                <a:cs typeface="Times New Roman"/>
              </a:rPr>
              <a:t> </a:t>
            </a:r>
            <a:r>
              <a:rPr sz="1200" dirty="0">
                <a:latin typeface="Times New Roman"/>
                <a:cs typeface="Times New Roman"/>
              </a:rPr>
              <a:t>join</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20" dirty="0">
                <a:latin typeface="Times New Roman"/>
                <a:cs typeface="Times New Roman"/>
              </a:rPr>
              <a:t>room</a:t>
            </a:r>
            <a:endParaRPr sz="1200" dirty="0">
              <a:latin typeface="Times New Roman"/>
              <a:cs typeface="Times New Roman"/>
            </a:endParaRPr>
          </a:p>
          <a:p>
            <a:pPr marL="469265" indent="-228600">
              <a:lnSpc>
                <a:spcPct val="100000"/>
              </a:lnSpc>
              <a:spcBef>
                <a:spcPts val="640"/>
              </a:spcBef>
              <a:buSzPct val="83333"/>
              <a:buFont typeface="Symbol"/>
              <a:buChar char=""/>
              <a:tabLst>
                <a:tab pos="469265" algn="l"/>
              </a:tabLst>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placed,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server</a:t>
            </a:r>
            <a:r>
              <a:rPr sz="1200" spc="-20" dirty="0">
                <a:latin typeface="Times New Roman"/>
                <a:cs typeface="Times New Roman"/>
              </a:rPr>
              <a:t> </a:t>
            </a:r>
            <a:r>
              <a:rPr sz="1200" dirty="0">
                <a:latin typeface="Times New Roman"/>
                <a:cs typeface="Times New Roman"/>
              </a:rPr>
              <a:t>validates</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broadcasts</a:t>
            </a:r>
            <a:r>
              <a:rPr sz="1200" spc="-25" dirty="0">
                <a:latin typeface="Times New Roman"/>
                <a:cs typeface="Times New Roman"/>
              </a:rPr>
              <a:t> it</a:t>
            </a:r>
            <a:endParaRPr sz="1200" dirty="0">
              <a:latin typeface="Times New Roman"/>
              <a:cs typeface="Times New Roman"/>
            </a:endParaRPr>
          </a:p>
          <a:p>
            <a:pPr marL="469265" indent="-228600">
              <a:lnSpc>
                <a:spcPct val="100000"/>
              </a:lnSpc>
              <a:spcBef>
                <a:spcPts val="625"/>
              </a:spcBef>
              <a:buSzPct val="83333"/>
              <a:buFont typeface="Symbol"/>
              <a:buChar char=""/>
              <a:tabLst>
                <a:tab pos="469265" algn="l"/>
              </a:tabLst>
            </a:pPr>
            <a:r>
              <a:rPr sz="1200" dirty="0">
                <a:latin typeface="Times New Roman"/>
                <a:cs typeface="Times New Roman"/>
              </a:rPr>
              <a:t>All</a:t>
            </a:r>
            <a:r>
              <a:rPr sz="1200" spc="-35" dirty="0">
                <a:latin typeface="Times New Roman"/>
                <a:cs typeface="Times New Roman"/>
              </a:rPr>
              <a:t> </a:t>
            </a:r>
            <a:r>
              <a:rPr sz="1200" dirty="0">
                <a:latin typeface="Times New Roman"/>
                <a:cs typeface="Times New Roman"/>
              </a:rPr>
              <a:t>connected</a:t>
            </a:r>
            <a:r>
              <a:rPr sz="1200" spc="-3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receive</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update</a:t>
            </a:r>
            <a:r>
              <a:rPr sz="1200" spc="-35" dirty="0">
                <a:latin typeface="Times New Roman"/>
                <a:cs typeface="Times New Roman"/>
              </a:rPr>
              <a:t> </a:t>
            </a:r>
            <a:r>
              <a:rPr sz="1200" spc="-10" dirty="0">
                <a:latin typeface="Times New Roman"/>
                <a:cs typeface="Times New Roman"/>
              </a:rPr>
              <a:t>instantly</a:t>
            </a:r>
            <a:endParaRPr sz="1200" dirty="0">
              <a:latin typeface="Times New Roman"/>
              <a:cs typeface="Times New Roman"/>
            </a:endParaRPr>
          </a:p>
          <a:p>
            <a:pPr>
              <a:lnSpc>
                <a:spcPct val="100000"/>
              </a:lnSpc>
              <a:spcBef>
                <a:spcPts val="10"/>
              </a:spcBef>
            </a:pPr>
            <a:endParaRPr sz="1200" dirty="0">
              <a:latin typeface="Times New Roman"/>
              <a:cs typeface="Times New Roman"/>
            </a:endParaRPr>
          </a:p>
          <a:p>
            <a:pPr marL="12700" marR="6350" algn="just">
              <a:lnSpc>
                <a:spcPct val="144200"/>
              </a:lnSpc>
            </a:pP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mechanism</a:t>
            </a:r>
            <a:r>
              <a:rPr sz="1200" spc="20"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fairness,</a:t>
            </a:r>
            <a:r>
              <a:rPr sz="1200" spc="10" dirty="0">
                <a:latin typeface="Times New Roman"/>
                <a:cs typeface="Times New Roman"/>
              </a:rPr>
              <a:t> </a:t>
            </a:r>
            <a:r>
              <a:rPr sz="1200" dirty="0">
                <a:latin typeface="Times New Roman"/>
                <a:cs typeface="Times New Roman"/>
              </a:rPr>
              <a:t>transparency,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competition</a:t>
            </a:r>
            <a:r>
              <a:rPr sz="1200" spc="2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core</a:t>
            </a:r>
            <a:r>
              <a:rPr sz="1200" spc="10" dirty="0">
                <a:latin typeface="Times New Roman"/>
                <a:cs typeface="Times New Roman"/>
              </a:rPr>
              <a:t> </a:t>
            </a:r>
            <a:r>
              <a:rPr sz="1200" dirty="0">
                <a:latin typeface="Times New Roman"/>
                <a:cs typeface="Times New Roman"/>
              </a:rPr>
              <a:t>values</a:t>
            </a:r>
            <a:r>
              <a:rPr sz="1200" spc="15" dirty="0">
                <a:latin typeface="Times New Roman"/>
                <a:cs typeface="Times New Roman"/>
              </a:rPr>
              <a:t> </a:t>
            </a:r>
            <a:r>
              <a:rPr sz="1200" spc="-25" dirty="0">
                <a:latin typeface="Times New Roman"/>
                <a:cs typeface="Times New Roman"/>
              </a:rPr>
              <a:t>of </a:t>
            </a:r>
            <a:r>
              <a:rPr sz="1200" dirty="0">
                <a:latin typeface="Times New Roman"/>
                <a:cs typeface="Times New Roman"/>
              </a:rPr>
              <a:t>any</a:t>
            </a:r>
            <a:r>
              <a:rPr sz="1200" spc="-30"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spc="-10" dirty="0">
                <a:latin typeface="Times New Roman"/>
                <a:cs typeface="Times New Roman"/>
              </a:rPr>
              <a:t>platform.</a:t>
            </a:r>
            <a:endParaRPr sz="1200" dirty="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37</a:t>
            </a:r>
          </a:p>
        </p:txBody>
      </p:sp>
      <p:sp>
        <p:nvSpPr>
          <p:cNvPr id="2" name="object 2"/>
          <p:cNvSpPr txBox="1"/>
          <p:nvPr/>
        </p:nvSpPr>
        <p:spPr>
          <a:xfrm>
            <a:off x="1176324" y="891285"/>
            <a:ext cx="5694045" cy="8064965"/>
          </a:xfrm>
          <a:prstGeom prst="rect">
            <a:avLst/>
          </a:prstGeom>
        </p:spPr>
        <p:txBody>
          <a:bodyPr vert="horz" wrap="square" lIns="0" tIns="12700" rIns="0" bIns="0" rtlCol="0">
            <a:spAutoFit/>
          </a:bodyPr>
          <a:lstStyle/>
          <a:p>
            <a:pPr marL="12700" lvl="1">
              <a:lnSpc>
                <a:spcPct val="100000"/>
              </a:lnSpc>
              <a:spcBef>
                <a:spcPts val="100"/>
              </a:spcBef>
              <a:tabLst>
                <a:tab pos="241300" algn="l"/>
              </a:tabLst>
            </a:pPr>
            <a:r>
              <a:rPr lang="en-US" sz="1200" b="1" dirty="0">
                <a:latin typeface="Times New Roman"/>
                <a:cs typeface="Times New Roman"/>
              </a:rPr>
              <a:t>5.6   </a:t>
            </a:r>
            <a:r>
              <a:rPr sz="1200" b="1" dirty="0">
                <a:latin typeface="Times New Roman"/>
                <a:cs typeface="Times New Roman"/>
              </a:rPr>
              <a:t>AI </a:t>
            </a:r>
            <a:r>
              <a:rPr sz="1200" b="1" spc="-10" dirty="0">
                <a:latin typeface="Times New Roman"/>
                <a:cs typeface="Times New Roman"/>
              </a:rPr>
              <a:t>Modules</a:t>
            </a:r>
            <a:endParaRPr sz="1200" dirty="0">
              <a:latin typeface="Times New Roman"/>
              <a:cs typeface="Times New Roman"/>
            </a:endParaRPr>
          </a:p>
          <a:p>
            <a:pPr lvl="1">
              <a:lnSpc>
                <a:spcPct val="100000"/>
              </a:lnSpc>
              <a:spcBef>
                <a:spcPts val="645"/>
              </a:spcBef>
              <a:buFont typeface="Times New Roman"/>
              <a:buAutoNum type="arabicPeriod" startAt="6"/>
            </a:pPr>
            <a:endParaRPr sz="1200" dirty="0">
              <a:latin typeface="Times New Roman"/>
              <a:cs typeface="Times New Roman"/>
            </a:endParaRPr>
          </a:p>
          <a:p>
            <a:pPr marL="12700">
              <a:lnSpc>
                <a:spcPct val="100000"/>
              </a:lnSpc>
            </a:pPr>
            <a:r>
              <a:rPr sz="1200" dirty="0">
                <a:latin typeface="Times New Roman"/>
                <a:cs typeface="Times New Roman"/>
              </a:rPr>
              <a:t>Two</a:t>
            </a:r>
            <a:r>
              <a:rPr sz="1200" spc="-25"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10" dirty="0">
                <a:latin typeface="Times New Roman"/>
                <a:cs typeface="Times New Roman"/>
              </a:rPr>
              <a:t> </a:t>
            </a:r>
            <a:r>
              <a:rPr sz="1200" dirty="0">
                <a:latin typeface="Times New Roman"/>
                <a:cs typeface="Times New Roman"/>
              </a:rPr>
              <a:t>features</a:t>
            </a:r>
            <a:r>
              <a:rPr sz="1200" spc="-20" dirty="0">
                <a:latin typeface="Times New Roman"/>
                <a:cs typeface="Times New Roman"/>
              </a:rPr>
              <a:t> </a:t>
            </a:r>
            <a:r>
              <a:rPr sz="1200" dirty="0">
                <a:latin typeface="Times New Roman"/>
                <a:cs typeface="Times New Roman"/>
              </a:rPr>
              <a:t>were</a:t>
            </a:r>
            <a:r>
              <a:rPr sz="1200" spc="-30" dirty="0">
                <a:latin typeface="Times New Roman"/>
                <a:cs typeface="Times New Roman"/>
              </a:rPr>
              <a:t> </a:t>
            </a:r>
            <a:r>
              <a:rPr sz="1200" dirty="0">
                <a:latin typeface="Times New Roman"/>
                <a:cs typeface="Times New Roman"/>
              </a:rPr>
              <a:t>integrated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enhance</a:t>
            </a:r>
            <a:r>
              <a:rPr sz="1200" spc="-10" dirty="0">
                <a:latin typeface="Times New Roman"/>
                <a:cs typeface="Times New Roman"/>
              </a:rPr>
              <a:t> decision-</a:t>
            </a:r>
            <a:r>
              <a:rPr sz="1200" dirty="0">
                <a:latin typeface="Times New Roman"/>
                <a:cs typeface="Times New Roman"/>
              </a:rPr>
              <a:t>making</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trust:</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355600" lvl="2" indent="-342900">
              <a:lnSpc>
                <a:spcPct val="100000"/>
              </a:lnSpc>
              <a:buAutoNum type="arabicPeriod"/>
              <a:tabLst>
                <a:tab pos="355600" algn="l"/>
              </a:tabLst>
            </a:pPr>
            <a:r>
              <a:rPr sz="1200" b="1" dirty="0">
                <a:latin typeface="Times New Roman"/>
                <a:cs typeface="Times New Roman"/>
              </a:rPr>
              <a:t>Price</a:t>
            </a:r>
            <a:r>
              <a:rPr sz="1200" b="1" spc="-40" dirty="0">
                <a:latin typeface="Times New Roman"/>
                <a:cs typeface="Times New Roman"/>
              </a:rPr>
              <a:t> </a:t>
            </a:r>
            <a:r>
              <a:rPr sz="1200" b="1" dirty="0">
                <a:latin typeface="Times New Roman"/>
                <a:cs typeface="Times New Roman"/>
              </a:rPr>
              <a:t>Suggestion</a:t>
            </a:r>
            <a:r>
              <a:rPr sz="1200" b="1" spc="-30" dirty="0">
                <a:latin typeface="Times New Roman"/>
                <a:cs typeface="Times New Roman"/>
              </a:rPr>
              <a:t> </a:t>
            </a:r>
            <a:r>
              <a:rPr sz="1200" b="1" spc="-20" dirty="0">
                <a:latin typeface="Times New Roman"/>
                <a:cs typeface="Times New Roman"/>
              </a:rPr>
              <a:t>Model</a:t>
            </a:r>
            <a:endParaRPr sz="1200" dirty="0">
              <a:latin typeface="Times New Roman"/>
              <a:cs typeface="Times New Roman"/>
            </a:endParaRPr>
          </a:p>
          <a:p>
            <a:pPr lvl="2">
              <a:lnSpc>
                <a:spcPct val="100000"/>
              </a:lnSpc>
              <a:spcBef>
                <a:spcPts val="35"/>
              </a:spcBef>
              <a:buFont typeface="Times New Roman"/>
              <a:buAutoNum type="arabicPeriod"/>
            </a:pPr>
            <a:endParaRPr sz="1200" dirty="0">
              <a:latin typeface="Times New Roman"/>
              <a:cs typeface="Times New Roman"/>
            </a:endParaRPr>
          </a:p>
          <a:p>
            <a:pPr marL="12700" marR="9525">
              <a:lnSpc>
                <a:spcPct val="143300"/>
              </a:lnSpc>
            </a:pP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price</a:t>
            </a:r>
            <a:r>
              <a:rPr sz="1200" spc="75" dirty="0">
                <a:latin typeface="Times New Roman"/>
                <a:cs typeface="Times New Roman"/>
              </a:rPr>
              <a:t> </a:t>
            </a:r>
            <a:r>
              <a:rPr sz="1200" dirty="0">
                <a:latin typeface="Times New Roman"/>
                <a:cs typeface="Times New Roman"/>
              </a:rPr>
              <a:t>suggestion</a:t>
            </a:r>
            <a:r>
              <a:rPr sz="1200" spc="75" dirty="0">
                <a:latin typeface="Times New Roman"/>
                <a:cs typeface="Times New Roman"/>
              </a:rPr>
              <a:t> </a:t>
            </a:r>
            <a:r>
              <a:rPr sz="1200" dirty="0">
                <a:latin typeface="Times New Roman"/>
                <a:cs typeface="Times New Roman"/>
              </a:rPr>
              <a:t>engine</a:t>
            </a:r>
            <a:r>
              <a:rPr sz="1200" spc="75" dirty="0">
                <a:latin typeface="Times New Roman"/>
                <a:cs typeface="Times New Roman"/>
              </a:rPr>
              <a:t> </a:t>
            </a:r>
            <a:r>
              <a:rPr sz="1200" dirty="0">
                <a:latin typeface="Times New Roman"/>
                <a:cs typeface="Times New Roman"/>
              </a:rPr>
              <a:t>uses</a:t>
            </a:r>
            <a:r>
              <a:rPr sz="1200" spc="7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machine</a:t>
            </a:r>
            <a:r>
              <a:rPr sz="1200" spc="70" dirty="0">
                <a:latin typeface="Times New Roman"/>
                <a:cs typeface="Times New Roman"/>
              </a:rPr>
              <a:t> </a:t>
            </a:r>
            <a:r>
              <a:rPr sz="1200" dirty="0">
                <a:latin typeface="Times New Roman"/>
                <a:cs typeface="Times New Roman"/>
              </a:rPr>
              <a:t>learning</a:t>
            </a:r>
            <a:r>
              <a:rPr sz="1200" spc="80" dirty="0">
                <a:latin typeface="Times New Roman"/>
                <a:cs typeface="Times New Roman"/>
              </a:rPr>
              <a:t> </a:t>
            </a:r>
            <a:r>
              <a:rPr sz="1200" dirty="0">
                <a:latin typeface="Times New Roman"/>
                <a:cs typeface="Times New Roman"/>
              </a:rPr>
              <a:t>regression</a:t>
            </a:r>
            <a:r>
              <a:rPr sz="1200" spc="75" dirty="0">
                <a:latin typeface="Times New Roman"/>
                <a:cs typeface="Times New Roman"/>
              </a:rPr>
              <a:t> </a:t>
            </a:r>
            <a:r>
              <a:rPr sz="1200" dirty="0">
                <a:latin typeface="Times New Roman"/>
                <a:cs typeface="Times New Roman"/>
              </a:rPr>
              <a:t>model</a:t>
            </a:r>
            <a:r>
              <a:rPr sz="1200" spc="80" dirty="0">
                <a:latin typeface="Times New Roman"/>
                <a:cs typeface="Times New Roman"/>
              </a:rPr>
              <a:t> </a:t>
            </a:r>
            <a:r>
              <a:rPr sz="1200" dirty="0">
                <a:latin typeface="Times New Roman"/>
                <a:cs typeface="Times New Roman"/>
              </a:rPr>
              <a:t>trained</a:t>
            </a:r>
            <a:r>
              <a:rPr sz="1200" spc="75" dirty="0">
                <a:latin typeface="Times New Roman"/>
                <a:cs typeface="Times New Roman"/>
              </a:rPr>
              <a:t> </a:t>
            </a:r>
            <a:r>
              <a:rPr sz="1200" dirty="0">
                <a:latin typeface="Times New Roman"/>
                <a:cs typeface="Times New Roman"/>
              </a:rPr>
              <a:t>on</a:t>
            </a:r>
            <a:r>
              <a:rPr sz="1200" spc="75" dirty="0">
                <a:latin typeface="Times New Roman"/>
                <a:cs typeface="Times New Roman"/>
              </a:rPr>
              <a:t> </a:t>
            </a:r>
            <a:r>
              <a:rPr sz="1200" spc="-10" dirty="0">
                <a:latin typeface="Times New Roman"/>
                <a:cs typeface="Times New Roman"/>
              </a:rPr>
              <a:t>property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(location,</a:t>
            </a:r>
            <a:r>
              <a:rPr sz="1200" spc="-25" dirty="0">
                <a:latin typeface="Times New Roman"/>
                <a:cs typeface="Times New Roman"/>
              </a:rPr>
              <a:t> </a:t>
            </a:r>
            <a:r>
              <a:rPr sz="1200" dirty="0">
                <a:latin typeface="Times New Roman"/>
                <a:cs typeface="Times New Roman"/>
              </a:rPr>
              <a:t>area,</a:t>
            </a:r>
            <a:r>
              <a:rPr sz="1200" spc="-25" dirty="0">
                <a:latin typeface="Times New Roman"/>
                <a:cs typeface="Times New Roman"/>
              </a:rPr>
              <a:t> </a:t>
            </a:r>
            <a:r>
              <a:rPr sz="1200" dirty="0">
                <a:latin typeface="Times New Roman"/>
                <a:cs typeface="Times New Roman"/>
              </a:rPr>
              <a:t>type,</a:t>
            </a:r>
            <a:r>
              <a:rPr sz="1200" spc="-10" dirty="0">
                <a:latin typeface="Times New Roman"/>
                <a:cs typeface="Times New Roman"/>
              </a:rPr>
              <a:t> </a:t>
            </a:r>
            <a:r>
              <a:rPr sz="1200" dirty="0">
                <a:latin typeface="Times New Roman"/>
                <a:cs typeface="Times New Roman"/>
              </a:rPr>
              <a:t>market</a:t>
            </a:r>
            <a:r>
              <a:rPr sz="1200" spc="-25" dirty="0">
                <a:latin typeface="Times New Roman"/>
                <a:cs typeface="Times New Roman"/>
              </a:rPr>
              <a:t> </a:t>
            </a:r>
            <a:r>
              <a:rPr sz="1200" dirty="0">
                <a:latin typeface="Times New Roman"/>
                <a:cs typeface="Times New Roman"/>
              </a:rPr>
              <a:t>rates).</a:t>
            </a:r>
            <a:r>
              <a:rPr sz="1200" spc="-25" dirty="0">
                <a:latin typeface="Times New Roman"/>
                <a:cs typeface="Times New Roman"/>
              </a:rPr>
              <a:t> </a:t>
            </a:r>
            <a:r>
              <a:rPr sz="1200" dirty="0">
                <a:latin typeface="Times New Roman"/>
                <a:cs typeface="Times New Roman"/>
              </a:rPr>
              <a:t>Developed</a:t>
            </a:r>
            <a:r>
              <a:rPr sz="1200" spc="-20"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spc="-10" dirty="0">
                <a:latin typeface="Times New Roman"/>
                <a:cs typeface="Times New Roman"/>
              </a:rPr>
              <a:t>Scikit-</a:t>
            </a:r>
            <a:r>
              <a:rPr sz="1200" dirty="0">
                <a:latin typeface="Times New Roman"/>
                <a:cs typeface="Times New Roman"/>
              </a:rPr>
              <a:t>learn</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Python:</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469265" lvl="3" indent="-228600">
              <a:lnSpc>
                <a:spcPct val="100000"/>
              </a:lnSpc>
              <a:buSzPct val="83333"/>
              <a:buFont typeface="Symbol"/>
              <a:buChar char=""/>
              <a:tabLst>
                <a:tab pos="469265" algn="l"/>
              </a:tabLst>
            </a:pPr>
            <a:r>
              <a:rPr sz="1200" dirty="0">
                <a:latin typeface="Times New Roman"/>
                <a:cs typeface="Times New Roman"/>
              </a:rPr>
              <a:t>Inputs:</a:t>
            </a:r>
            <a:r>
              <a:rPr sz="1200" spc="-30" dirty="0">
                <a:latin typeface="Times New Roman"/>
                <a:cs typeface="Times New Roman"/>
              </a:rPr>
              <a:t> </a:t>
            </a:r>
            <a:r>
              <a:rPr sz="1200" dirty="0">
                <a:latin typeface="Times New Roman"/>
                <a:cs typeface="Times New Roman"/>
              </a:rPr>
              <a:t>location,</a:t>
            </a:r>
            <a:r>
              <a:rPr sz="1200" spc="-25" dirty="0">
                <a:latin typeface="Times New Roman"/>
                <a:cs typeface="Times New Roman"/>
              </a:rPr>
              <a:t> </a:t>
            </a:r>
            <a:r>
              <a:rPr sz="1200" dirty="0">
                <a:latin typeface="Times New Roman"/>
                <a:cs typeface="Times New Roman"/>
              </a:rPr>
              <a:t>size,</a:t>
            </a:r>
            <a:r>
              <a:rPr sz="1200" spc="-30" dirty="0">
                <a:latin typeface="Times New Roman"/>
                <a:cs typeface="Times New Roman"/>
              </a:rPr>
              <a:t> </a:t>
            </a:r>
            <a:r>
              <a:rPr sz="1200" dirty="0">
                <a:latin typeface="Times New Roman"/>
                <a:cs typeface="Times New Roman"/>
              </a:rPr>
              <a:t>property</a:t>
            </a:r>
            <a:r>
              <a:rPr sz="1200" spc="-25" dirty="0">
                <a:latin typeface="Times New Roman"/>
                <a:cs typeface="Times New Roman"/>
              </a:rPr>
              <a:t> </a:t>
            </a:r>
            <a:r>
              <a:rPr sz="1200" spc="-20" dirty="0">
                <a:latin typeface="Times New Roman"/>
                <a:cs typeface="Times New Roman"/>
              </a:rPr>
              <a:t>type</a:t>
            </a:r>
            <a:endParaRPr sz="1200" dirty="0">
              <a:latin typeface="Times New Roman"/>
              <a:cs typeface="Times New Roman"/>
            </a:endParaRPr>
          </a:p>
          <a:p>
            <a:pPr marL="469265" lvl="3" indent="-228600">
              <a:lnSpc>
                <a:spcPct val="100000"/>
              </a:lnSpc>
              <a:spcBef>
                <a:spcPts val="640"/>
              </a:spcBef>
              <a:buSzPct val="83333"/>
              <a:buFont typeface="Symbol"/>
              <a:buChar char=""/>
              <a:tabLst>
                <a:tab pos="469265" algn="l"/>
              </a:tabLst>
            </a:pPr>
            <a:r>
              <a:rPr sz="1200" dirty="0">
                <a:latin typeface="Times New Roman"/>
                <a:cs typeface="Times New Roman"/>
              </a:rPr>
              <a:t>Output:</a:t>
            </a:r>
            <a:r>
              <a:rPr sz="1200" spc="-45" dirty="0">
                <a:latin typeface="Times New Roman"/>
                <a:cs typeface="Times New Roman"/>
              </a:rPr>
              <a:t> </a:t>
            </a:r>
            <a:r>
              <a:rPr sz="1200" dirty="0">
                <a:latin typeface="Times New Roman"/>
                <a:cs typeface="Times New Roman"/>
              </a:rPr>
              <a:t>Suggested</a:t>
            </a:r>
            <a:r>
              <a:rPr sz="1200" spc="-40" dirty="0">
                <a:latin typeface="Times New Roman"/>
                <a:cs typeface="Times New Roman"/>
              </a:rPr>
              <a:t> </a:t>
            </a:r>
            <a:r>
              <a:rPr sz="1200" dirty="0">
                <a:latin typeface="Times New Roman"/>
                <a:cs typeface="Times New Roman"/>
              </a:rPr>
              <a:t>starting</a:t>
            </a:r>
            <a:r>
              <a:rPr sz="1200" spc="-45" dirty="0">
                <a:latin typeface="Times New Roman"/>
                <a:cs typeface="Times New Roman"/>
              </a:rPr>
              <a:t> </a:t>
            </a:r>
            <a:r>
              <a:rPr sz="1200" spc="-25" dirty="0">
                <a:latin typeface="Times New Roman"/>
                <a:cs typeface="Times New Roman"/>
              </a:rPr>
              <a:t>bid</a:t>
            </a:r>
            <a:endParaRPr sz="1200" dirty="0">
              <a:latin typeface="Times New Roman"/>
              <a:cs typeface="Times New Roman"/>
            </a:endParaRPr>
          </a:p>
          <a:p>
            <a:pPr marL="469265" marR="5080" lvl="3" indent="-228600">
              <a:lnSpc>
                <a:spcPts val="2080"/>
              </a:lnSpc>
              <a:spcBef>
                <a:spcPts val="160"/>
              </a:spcBef>
              <a:buSzPct val="83333"/>
              <a:buFont typeface="Symbol"/>
              <a:buChar char=""/>
              <a:tabLst>
                <a:tab pos="469265" algn="l"/>
              </a:tabLst>
            </a:pPr>
            <a:r>
              <a:rPr sz="1200" dirty="0">
                <a:latin typeface="Times New Roman"/>
                <a:cs typeface="Times New Roman"/>
              </a:rPr>
              <a:t>The</a:t>
            </a:r>
            <a:r>
              <a:rPr sz="1200" spc="140" dirty="0">
                <a:latin typeface="Times New Roman"/>
                <a:cs typeface="Times New Roman"/>
              </a:rPr>
              <a:t> </a:t>
            </a:r>
            <a:r>
              <a:rPr sz="1200" dirty="0">
                <a:latin typeface="Times New Roman"/>
                <a:cs typeface="Times New Roman"/>
              </a:rPr>
              <a:t>model</a:t>
            </a:r>
            <a:r>
              <a:rPr sz="1200" spc="150" dirty="0">
                <a:latin typeface="Times New Roman"/>
                <a:cs typeface="Times New Roman"/>
              </a:rPr>
              <a:t> </a:t>
            </a:r>
            <a:r>
              <a:rPr sz="1200" dirty="0">
                <a:latin typeface="Times New Roman"/>
                <a:cs typeface="Times New Roman"/>
              </a:rPr>
              <a:t>was</a:t>
            </a:r>
            <a:r>
              <a:rPr sz="1200" spc="145" dirty="0">
                <a:latin typeface="Times New Roman"/>
                <a:cs typeface="Times New Roman"/>
              </a:rPr>
              <a:t> </a:t>
            </a:r>
            <a:r>
              <a:rPr sz="1200" dirty="0">
                <a:latin typeface="Times New Roman"/>
                <a:cs typeface="Times New Roman"/>
              </a:rPr>
              <a:t>deployed</a:t>
            </a:r>
            <a:r>
              <a:rPr sz="1200" spc="145" dirty="0">
                <a:latin typeface="Times New Roman"/>
                <a:cs typeface="Times New Roman"/>
              </a:rPr>
              <a:t> </a:t>
            </a:r>
            <a:r>
              <a:rPr sz="1200" dirty="0">
                <a:latin typeface="Times New Roman"/>
                <a:cs typeface="Times New Roman"/>
              </a:rPr>
              <a:t>via</a:t>
            </a:r>
            <a:r>
              <a:rPr sz="1200" spc="145" dirty="0">
                <a:latin typeface="Times New Roman"/>
                <a:cs typeface="Times New Roman"/>
              </a:rPr>
              <a:t> </a:t>
            </a:r>
            <a:r>
              <a:rPr sz="1200" dirty="0">
                <a:latin typeface="Times New Roman"/>
                <a:cs typeface="Times New Roman"/>
              </a:rPr>
              <a:t>Flask</a:t>
            </a:r>
            <a:r>
              <a:rPr sz="1200" spc="145" dirty="0">
                <a:latin typeface="Times New Roman"/>
                <a:cs typeface="Times New Roman"/>
              </a:rPr>
              <a:t> </a:t>
            </a:r>
            <a:r>
              <a:rPr sz="1200" dirty="0">
                <a:latin typeface="Times New Roman"/>
                <a:cs typeface="Times New Roman"/>
              </a:rPr>
              <a:t>as</a:t>
            </a:r>
            <a:r>
              <a:rPr sz="1200" spc="150" dirty="0">
                <a:latin typeface="Times New Roman"/>
                <a:cs typeface="Times New Roman"/>
              </a:rPr>
              <a:t> </a:t>
            </a:r>
            <a:r>
              <a:rPr sz="1200" dirty="0">
                <a:latin typeface="Times New Roman"/>
                <a:cs typeface="Times New Roman"/>
              </a:rPr>
              <a:t>a</a:t>
            </a:r>
            <a:r>
              <a:rPr sz="1200" spc="145" dirty="0">
                <a:latin typeface="Times New Roman"/>
                <a:cs typeface="Times New Roman"/>
              </a:rPr>
              <a:t> </a:t>
            </a:r>
            <a:r>
              <a:rPr sz="1200" dirty="0">
                <a:latin typeface="Times New Roman"/>
                <a:cs typeface="Times New Roman"/>
              </a:rPr>
              <a:t>REST</a:t>
            </a:r>
            <a:r>
              <a:rPr sz="1200" spc="130" dirty="0">
                <a:latin typeface="Times New Roman"/>
                <a:cs typeface="Times New Roman"/>
              </a:rPr>
              <a:t> </a:t>
            </a:r>
            <a:r>
              <a:rPr sz="1200" dirty="0">
                <a:latin typeface="Times New Roman"/>
                <a:cs typeface="Times New Roman"/>
              </a:rPr>
              <a:t>API</a:t>
            </a:r>
            <a:r>
              <a:rPr sz="1200" spc="135" dirty="0">
                <a:latin typeface="Times New Roman"/>
                <a:cs typeface="Times New Roman"/>
              </a:rPr>
              <a:t> </a:t>
            </a:r>
            <a:r>
              <a:rPr sz="1200" dirty="0">
                <a:latin typeface="Times New Roman"/>
                <a:cs typeface="Times New Roman"/>
              </a:rPr>
              <a:t>and</a:t>
            </a:r>
            <a:r>
              <a:rPr sz="1200" spc="150" dirty="0">
                <a:latin typeface="Times New Roman"/>
                <a:cs typeface="Times New Roman"/>
              </a:rPr>
              <a:t> </a:t>
            </a:r>
            <a:r>
              <a:rPr sz="1200" dirty="0">
                <a:latin typeface="Times New Roman"/>
                <a:cs typeface="Times New Roman"/>
              </a:rPr>
              <a:t>consumed</a:t>
            </a:r>
            <a:r>
              <a:rPr sz="1200" spc="145" dirty="0">
                <a:latin typeface="Times New Roman"/>
                <a:cs typeface="Times New Roman"/>
              </a:rPr>
              <a:t> </a:t>
            </a:r>
            <a:r>
              <a:rPr sz="1200" dirty="0">
                <a:latin typeface="Times New Roman"/>
                <a:cs typeface="Times New Roman"/>
              </a:rPr>
              <a:t>by</a:t>
            </a:r>
            <a:r>
              <a:rPr sz="1200" spc="150"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spc="-10" dirty="0">
                <a:latin typeface="Times New Roman"/>
                <a:cs typeface="Times New Roman"/>
              </a:rPr>
              <a:t>Node.js </a:t>
            </a:r>
            <a:r>
              <a:rPr sz="1200" dirty="0">
                <a:latin typeface="Times New Roman"/>
                <a:cs typeface="Times New Roman"/>
              </a:rPr>
              <a:t>backend</a:t>
            </a:r>
            <a:r>
              <a:rPr sz="1200" spc="-3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helps</a:t>
            </a:r>
            <a:r>
              <a:rPr sz="1200" spc="-30" dirty="0">
                <a:latin typeface="Times New Roman"/>
                <a:cs typeface="Times New Roman"/>
              </a:rPr>
              <a:t> </a:t>
            </a:r>
            <a:r>
              <a:rPr sz="1200" dirty="0">
                <a:latin typeface="Times New Roman"/>
                <a:cs typeface="Times New Roman"/>
              </a:rPr>
              <a:t>sellers</a:t>
            </a:r>
            <a:r>
              <a:rPr sz="1200" spc="-30" dirty="0">
                <a:latin typeface="Times New Roman"/>
                <a:cs typeface="Times New Roman"/>
              </a:rPr>
              <a:t> </a:t>
            </a:r>
            <a:r>
              <a:rPr sz="1200" dirty="0">
                <a:latin typeface="Times New Roman"/>
                <a:cs typeface="Times New Roman"/>
              </a:rPr>
              <a:t>set</a:t>
            </a:r>
            <a:r>
              <a:rPr sz="1200" spc="-30" dirty="0">
                <a:latin typeface="Times New Roman"/>
                <a:cs typeface="Times New Roman"/>
              </a:rPr>
              <a:t> </a:t>
            </a:r>
            <a:r>
              <a:rPr sz="1200" dirty="0">
                <a:latin typeface="Times New Roman"/>
                <a:cs typeface="Times New Roman"/>
              </a:rPr>
              <a:t>fair</a:t>
            </a:r>
            <a:r>
              <a:rPr sz="1200" spc="-30" dirty="0">
                <a:latin typeface="Times New Roman"/>
                <a:cs typeface="Times New Roman"/>
              </a:rPr>
              <a:t> </a:t>
            </a:r>
            <a:r>
              <a:rPr sz="1200" dirty="0">
                <a:latin typeface="Times New Roman"/>
                <a:cs typeface="Times New Roman"/>
              </a:rPr>
              <a:t>prices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buyers</a:t>
            </a:r>
            <a:r>
              <a:rPr sz="1200" spc="-30" dirty="0">
                <a:latin typeface="Times New Roman"/>
                <a:cs typeface="Times New Roman"/>
              </a:rPr>
              <a:t> </a:t>
            </a:r>
            <a:r>
              <a:rPr sz="1200" dirty="0">
                <a:latin typeface="Times New Roman"/>
                <a:cs typeface="Times New Roman"/>
              </a:rPr>
              <a:t>understand</a:t>
            </a:r>
            <a:r>
              <a:rPr sz="1200" spc="-30" dirty="0">
                <a:latin typeface="Times New Roman"/>
                <a:cs typeface="Times New Roman"/>
              </a:rPr>
              <a:t> </a:t>
            </a:r>
            <a:r>
              <a:rPr sz="1200" dirty="0">
                <a:latin typeface="Times New Roman"/>
                <a:cs typeface="Times New Roman"/>
              </a:rPr>
              <a:t>property</a:t>
            </a:r>
            <a:r>
              <a:rPr sz="1200" spc="-30" dirty="0">
                <a:latin typeface="Times New Roman"/>
                <a:cs typeface="Times New Roman"/>
              </a:rPr>
              <a:t> </a:t>
            </a:r>
            <a:r>
              <a:rPr sz="1200" dirty="0">
                <a:latin typeface="Times New Roman"/>
                <a:cs typeface="Times New Roman"/>
              </a:rPr>
              <a:t>value</a:t>
            </a:r>
            <a:r>
              <a:rPr sz="1200" spc="-35" dirty="0">
                <a:latin typeface="Times New Roman"/>
                <a:cs typeface="Times New Roman"/>
              </a:rPr>
              <a:t> </a:t>
            </a:r>
            <a:r>
              <a:rPr sz="1200" spc="-10" dirty="0">
                <a:latin typeface="Times New Roman"/>
                <a:cs typeface="Times New Roman"/>
              </a:rPr>
              <a:t>better.</a:t>
            </a:r>
            <a:endParaRPr sz="1200" dirty="0">
              <a:latin typeface="Times New Roman"/>
              <a:cs typeface="Times New Roman"/>
            </a:endParaRPr>
          </a:p>
          <a:p>
            <a:pPr lvl="3">
              <a:lnSpc>
                <a:spcPct val="100000"/>
              </a:lnSpc>
              <a:spcBef>
                <a:spcPts val="465"/>
              </a:spcBef>
              <a:buFont typeface="Symbol"/>
              <a:buChar char=""/>
            </a:pPr>
            <a:endParaRPr sz="1200" dirty="0">
              <a:latin typeface="Times New Roman"/>
              <a:cs typeface="Times New Roman"/>
            </a:endParaRPr>
          </a:p>
          <a:p>
            <a:pPr marL="355600" lvl="2" indent="-342900">
              <a:lnSpc>
                <a:spcPct val="100000"/>
              </a:lnSpc>
              <a:buAutoNum type="arabicPeriod" startAt="2"/>
              <a:tabLst>
                <a:tab pos="355600" algn="l"/>
              </a:tabLst>
            </a:pPr>
            <a:r>
              <a:rPr sz="1200" b="1" dirty="0">
                <a:latin typeface="Times New Roman"/>
                <a:cs typeface="Times New Roman"/>
              </a:rPr>
              <a:t>Property</a:t>
            </a:r>
            <a:r>
              <a:rPr sz="1200" b="1" spc="-45" dirty="0">
                <a:latin typeface="Times New Roman"/>
                <a:cs typeface="Times New Roman"/>
              </a:rPr>
              <a:t> </a:t>
            </a:r>
            <a:r>
              <a:rPr sz="1200" b="1" dirty="0">
                <a:latin typeface="Times New Roman"/>
                <a:cs typeface="Times New Roman"/>
              </a:rPr>
              <a:t>Document</a:t>
            </a:r>
            <a:r>
              <a:rPr sz="1200" b="1" spc="-40" dirty="0">
                <a:latin typeface="Times New Roman"/>
                <a:cs typeface="Times New Roman"/>
              </a:rPr>
              <a:t> </a:t>
            </a:r>
            <a:r>
              <a:rPr sz="1200" b="1" spc="-10" dirty="0">
                <a:latin typeface="Times New Roman"/>
                <a:cs typeface="Times New Roman"/>
              </a:rPr>
              <a:t>Verification</a:t>
            </a:r>
            <a:endParaRPr sz="1200" dirty="0">
              <a:latin typeface="Times New Roman"/>
              <a:cs typeface="Times New Roman"/>
            </a:endParaRPr>
          </a:p>
          <a:p>
            <a:pPr lvl="2">
              <a:lnSpc>
                <a:spcPct val="100000"/>
              </a:lnSpc>
              <a:spcBef>
                <a:spcPts val="650"/>
              </a:spcBef>
              <a:buFont typeface="Times New Roman"/>
              <a:buAutoNum type="arabicPeriod" startAt="2"/>
            </a:pPr>
            <a:endParaRPr sz="1200" dirty="0">
              <a:latin typeface="Times New Roman"/>
              <a:cs typeface="Times New Roman"/>
            </a:endParaRPr>
          </a:p>
          <a:p>
            <a:pPr marL="12700">
              <a:lnSpc>
                <a:spcPct val="100000"/>
              </a:lnSpc>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module</a:t>
            </a:r>
            <a:r>
              <a:rPr sz="1200" spc="-35" dirty="0">
                <a:latin typeface="Times New Roman"/>
                <a:cs typeface="Times New Roman"/>
              </a:rPr>
              <a:t> </a:t>
            </a:r>
            <a:r>
              <a:rPr sz="1200" dirty="0">
                <a:latin typeface="Times New Roman"/>
                <a:cs typeface="Times New Roman"/>
              </a:rPr>
              <a:t>prevents</a:t>
            </a:r>
            <a:r>
              <a:rPr sz="1200" spc="-30" dirty="0">
                <a:latin typeface="Times New Roman"/>
                <a:cs typeface="Times New Roman"/>
              </a:rPr>
              <a:t> </a:t>
            </a:r>
            <a:r>
              <a:rPr sz="1200" dirty="0">
                <a:latin typeface="Times New Roman"/>
                <a:cs typeface="Times New Roman"/>
              </a:rPr>
              <a:t>fake</a:t>
            </a:r>
            <a:r>
              <a:rPr sz="1200" spc="-30" dirty="0">
                <a:latin typeface="Times New Roman"/>
                <a:cs typeface="Times New Roman"/>
              </a:rPr>
              <a:t> </a:t>
            </a:r>
            <a:r>
              <a:rPr sz="1200" dirty="0">
                <a:latin typeface="Times New Roman"/>
                <a:cs typeface="Times New Roman"/>
              </a:rPr>
              <a:t>listings</a:t>
            </a:r>
            <a:r>
              <a:rPr sz="1200" spc="-3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verifying</a:t>
            </a:r>
            <a:r>
              <a:rPr sz="1200" spc="-30" dirty="0">
                <a:latin typeface="Times New Roman"/>
                <a:cs typeface="Times New Roman"/>
              </a:rPr>
              <a:t> </a:t>
            </a:r>
            <a:r>
              <a:rPr sz="1200" dirty="0">
                <a:latin typeface="Times New Roman"/>
                <a:cs typeface="Times New Roman"/>
              </a:rPr>
              <a:t>uploaded</a:t>
            </a:r>
            <a:r>
              <a:rPr sz="1200" spc="-25" dirty="0">
                <a:latin typeface="Times New Roman"/>
                <a:cs typeface="Times New Roman"/>
              </a:rPr>
              <a:t> </a:t>
            </a:r>
            <a:r>
              <a:rPr sz="1200" dirty="0">
                <a:latin typeface="Times New Roman"/>
                <a:cs typeface="Times New Roman"/>
              </a:rPr>
              <a:t>documents</a:t>
            </a:r>
            <a:r>
              <a:rPr sz="1200" spc="-30"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spc="-25" dirty="0">
                <a:latin typeface="Times New Roman"/>
                <a:cs typeface="Times New Roman"/>
              </a:rPr>
              <a:t>AI:</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469265" lvl="3" indent="-228600">
              <a:lnSpc>
                <a:spcPct val="100000"/>
              </a:lnSpc>
              <a:spcBef>
                <a:spcPts val="5"/>
              </a:spcBef>
              <a:buSzPct val="83333"/>
              <a:buFont typeface="Symbol"/>
              <a:buChar char=""/>
              <a:tabLst>
                <a:tab pos="469265" algn="l"/>
              </a:tabLst>
            </a:pPr>
            <a:r>
              <a:rPr sz="1200" dirty="0">
                <a:latin typeface="Times New Roman"/>
                <a:cs typeface="Times New Roman"/>
              </a:rPr>
              <a:t>OCR</a:t>
            </a:r>
            <a:r>
              <a:rPr sz="1200" spc="-30" dirty="0">
                <a:latin typeface="Times New Roman"/>
                <a:cs typeface="Times New Roman"/>
              </a:rPr>
              <a:t> </a:t>
            </a:r>
            <a:r>
              <a:rPr sz="1200" dirty="0">
                <a:latin typeface="Times New Roman"/>
                <a:cs typeface="Times New Roman"/>
              </a:rPr>
              <a:t>(Tesseract)</a:t>
            </a:r>
            <a:r>
              <a:rPr sz="1200" spc="-30" dirty="0">
                <a:latin typeface="Times New Roman"/>
                <a:cs typeface="Times New Roman"/>
              </a:rPr>
              <a:t> </a:t>
            </a:r>
            <a:r>
              <a:rPr sz="1200" dirty="0">
                <a:latin typeface="Times New Roman"/>
                <a:cs typeface="Times New Roman"/>
              </a:rPr>
              <a:t>extracts</a:t>
            </a:r>
            <a:r>
              <a:rPr sz="1200" spc="-20" dirty="0">
                <a:latin typeface="Times New Roman"/>
                <a:cs typeface="Times New Roman"/>
              </a:rPr>
              <a:t> </a:t>
            </a:r>
            <a:r>
              <a:rPr sz="1200" dirty="0">
                <a:latin typeface="Times New Roman"/>
                <a:cs typeface="Times New Roman"/>
              </a:rPr>
              <a:t>text</a:t>
            </a:r>
            <a:r>
              <a:rPr sz="1200" spc="-3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spc="-10" dirty="0">
                <a:latin typeface="Times New Roman"/>
                <a:cs typeface="Times New Roman"/>
              </a:rPr>
              <a:t>images</a:t>
            </a:r>
            <a:endParaRPr sz="1200" dirty="0">
              <a:latin typeface="Times New Roman"/>
              <a:cs typeface="Times New Roman"/>
            </a:endParaRPr>
          </a:p>
          <a:p>
            <a:pPr marL="469265" lvl="3" indent="-228600">
              <a:lnSpc>
                <a:spcPct val="100000"/>
              </a:lnSpc>
              <a:spcBef>
                <a:spcPts val="625"/>
              </a:spcBef>
              <a:buSzPct val="83333"/>
              <a:buFont typeface="Symbol"/>
              <a:buChar char=""/>
              <a:tabLst>
                <a:tab pos="469265" algn="l"/>
              </a:tabLst>
            </a:pPr>
            <a:r>
              <a:rPr sz="1200" dirty="0">
                <a:latin typeface="Times New Roman"/>
                <a:cs typeface="Times New Roman"/>
              </a:rPr>
              <a:t>spaCy</a:t>
            </a:r>
            <a:r>
              <a:rPr sz="1200" spc="-30" dirty="0">
                <a:latin typeface="Times New Roman"/>
                <a:cs typeface="Times New Roman"/>
              </a:rPr>
              <a:t> </a:t>
            </a:r>
            <a:r>
              <a:rPr sz="1200" dirty="0">
                <a:latin typeface="Times New Roman"/>
                <a:cs typeface="Times New Roman"/>
              </a:rPr>
              <a:t>(NLP)</a:t>
            </a:r>
            <a:r>
              <a:rPr sz="1200" spc="-25" dirty="0">
                <a:latin typeface="Times New Roman"/>
                <a:cs typeface="Times New Roman"/>
              </a:rPr>
              <a:t> </a:t>
            </a:r>
            <a:r>
              <a:rPr sz="1200" dirty="0">
                <a:latin typeface="Times New Roman"/>
                <a:cs typeface="Times New Roman"/>
              </a:rPr>
              <a:t>parses</a:t>
            </a:r>
            <a:r>
              <a:rPr sz="1200" spc="-25" dirty="0">
                <a:latin typeface="Times New Roman"/>
                <a:cs typeface="Times New Roman"/>
              </a:rPr>
              <a:t> </a:t>
            </a:r>
            <a:r>
              <a:rPr sz="1200" dirty="0">
                <a:latin typeface="Times New Roman"/>
                <a:cs typeface="Times New Roman"/>
              </a:rPr>
              <a:t>content</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key</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(owner</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title</a:t>
            </a:r>
            <a:r>
              <a:rPr sz="1200" spc="-25" dirty="0">
                <a:latin typeface="Times New Roman"/>
                <a:cs typeface="Times New Roman"/>
              </a:rPr>
              <a:t> </a:t>
            </a:r>
            <a:r>
              <a:rPr sz="1200" dirty="0">
                <a:latin typeface="Times New Roman"/>
                <a:cs typeface="Times New Roman"/>
              </a:rPr>
              <a:t>ID,</a:t>
            </a:r>
            <a:r>
              <a:rPr sz="1200" spc="-30" dirty="0">
                <a:latin typeface="Times New Roman"/>
                <a:cs typeface="Times New Roman"/>
              </a:rPr>
              <a:t> </a:t>
            </a:r>
            <a:r>
              <a:rPr sz="1200" dirty="0">
                <a:latin typeface="Times New Roman"/>
                <a:cs typeface="Times New Roman"/>
              </a:rPr>
              <a:t>registry</a:t>
            </a:r>
            <a:r>
              <a:rPr sz="1200" spc="-25" dirty="0">
                <a:latin typeface="Times New Roman"/>
                <a:cs typeface="Times New Roman"/>
              </a:rPr>
              <a:t> </a:t>
            </a:r>
            <a:r>
              <a:rPr sz="1200" spc="-10" dirty="0">
                <a:latin typeface="Times New Roman"/>
                <a:cs typeface="Times New Roman"/>
              </a:rPr>
              <a:t>number)</a:t>
            </a:r>
            <a:endParaRPr sz="1200" dirty="0">
              <a:latin typeface="Times New Roman"/>
              <a:cs typeface="Times New Roman"/>
            </a:endParaRPr>
          </a:p>
          <a:p>
            <a:pPr marL="469265" lvl="3" indent="-228600">
              <a:lnSpc>
                <a:spcPct val="100000"/>
              </a:lnSpc>
              <a:spcBef>
                <a:spcPts val="635"/>
              </a:spcBef>
              <a:buSzPct val="83333"/>
              <a:buFont typeface="Symbol"/>
              <a:buChar char=""/>
              <a:tabLst>
                <a:tab pos="469265" algn="l"/>
              </a:tabLst>
            </a:pPr>
            <a:r>
              <a:rPr sz="1200" dirty="0">
                <a:latin typeface="Times New Roman"/>
                <a:cs typeface="Times New Roman"/>
              </a:rPr>
              <a:t>Checks</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missing</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altered</a:t>
            </a:r>
            <a:r>
              <a:rPr sz="1200" spc="-25" dirty="0">
                <a:latin typeface="Times New Roman"/>
                <a:cs typeface="Times New Roman"/>
              </a:rPr>
              <a:t> </a:t>
            </a:r>
            <a:r>
              <a:rPr sz="1200" spc="-20" dirty="0">
                <a:latin typeface="Times New Roman"/>
                <a:cs typeface="Times New Roman"/>
              </a:rPr>
              <a:t>data</a:t>
            </a:r>
            <a:endParaRPr sz="1200" dirty="0">
              <a:latin typeface="Times New Roman"/>
              <a:cs typeface="Times New Roman"/>
            </a:endParaRPr>
          </a:p>
          <a:p>
            <a:pPr marL="469265" lvl="3" indent="-228600">
              <a:lnSpc>
                <a:spcPct val="100000"/>
              </a:lnSpc>
              <a:spcBef>
                <a:spcPts val="625"/>
              </a:spcBef>
              <a:buSzPct val="83333"/>
              <a:buFont typeface="Symbol"/>
              <a:buChar char=""/>
              <a:tabLst>
                <a:tab pos="469265" algn="l"/>
              </a:tabLst>
            </a:pPr>
            <a:r>
              <a:rPr sz="1200" dirty="0">
                <a:latin typeface="Times New Roman"/>
                <a:cs typeface="Times New Roman"/>
              </a:rPr>
              <a:t>Flags</a:t>
            </a:r>
            <a:r>
              <a:rPr sz="1200" spc="-35" dirty="0">
                <a:latin typeface="Times New Roman"/>
                <a:cs typeface="Times New Roman"/>
              </a:rPr>
              <a:t> </a:t>
            </a:r>
            <a:r>
              <a:rPr sz="1200" dirty="0">
                <a:latin typeface="Times New Roman"/>
                <a:cs typeface="Times New Roman"/>
              </a:rPr>
              <a:t>documents</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manual</a:t>
            </a:r>
            <a:r>
              <a:rPr sz="1200" spc="-35" dirty="0">
                <a:latin typeface="Times New Roman"/>
                <a:cs typeface="Times New Roman"/>
              </a:rPr>
              <a:t> </a:t>
            </a:r>
            <a:r>
              <a:rPr sz="1200" dirty="0">
                <a:latin typeface="Times New Roman"/>
                <a:cs typeface="Times New Roman"/>
              </a:rPr>
              <a:t>review</a:t>
            </a:r>
            <a:r>
              <a:rPr sz="1200" spc="-35" dirty="0">
                <a:latin typeface="Times New Roman"/>
                <a:cs typeface="Times New Roman"/>
              </a:rPr>
              <a:t> </a:t>
            </a:r>
            <a:r>
              <a:rPr sz="1200" dirty="0">
                <a:latin typeface="Times New Roman"/>
                <a:cs typeface="Times New Roman"/>
              </a:rPr>
              <a:t>if</a:t>
            </a:r>
            <a:r>
              <a:rPr sz="1200" spc="-30" dirty="0">
                <a:latin typeface="Times New Roman"/>
                <a:cs typeface="Times New Roman"/>
              </a:rPr>
              <a:t> </a:t>
            </a:r>
            <a:r>
              <a:rPr sz="1200" spc="-10" dirty="0">
                <a:latin typeface="Times New Roman"/>
                <a:cs typeface="Times New Roman"/>
              </a:rPr>
              <a:t>suspicious</a:t>
            </a:r>
            <a:endParaRPr sz="1200" dirty="0">
              <a:latin typeface="Times New Roman"/>
              <a:cs typeface="Times New Roman"/>
            </a:endParaRPr>
          </a:p>
          <a:p>
            <a:pPr lvl="3">
              <a:lnSpc>
                <a:spcPct val="100000"/>
              </a:lnSpc>
              <a:spcBef>
                <a:spcPts val="660"/>
              </a:spcBef>
              <a:buFont typeface="Symbol"/>
              <a:buChar char=""/>
            </a:pPr>
            <a:endParaRPr sz="1200" dirty="0">
              <a:latin typeface="Times New Roman"/>
              <a:cs typeface="Times New Roman"/>
            </a:endParaRPr>
          </a:p>
          <a:p>
            <a:pPr marL="12700">
              <a:lnSpc>
                <a:spcPct val="100000"/>
              </a:lnSpc>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boosts</a:t>
            </a:r>
            <a:r>
              <a:rPr sz="1200" spc="-2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trust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helps</a:t>
            </a:r>
            <a:r>
              <a:rPr sz="1200" spc="-20" dirty="0">
                <a:latin typeface="Times New Roman"/>
                <a:cs typeface="Times New Roman"/>
              </a:rPr>
              <a:t> </a:t>
            </a:r>
            <a:r>
              <a:rPr sz="1200" dirty="0">
                <a:latin typeface="Times New Roman"/>
                <a:cs typeface="Times New Roman"/>
              </a:rPr>
              <a:t>admins</a:t>
            </a:r>
            <a:r>
              <a:rPr sz="1200" spc="-15"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out</a:t>
            </a:r>
            <a:r>
              <a:rPr sz="1200" spc="-15" dirty="0">
                <a:latin typeface="Times New Roman"/>
                <a:cs typeface="Times New Roman"/>
              </a:rPr>
              <a:t> </a:t>
            </a:r>
            <a:r>
              <a:rPr sz="1200" dirty="0">
                <a:latin typeface="Times New Roman"/>
                <a:cs typeface="Times New Roman"/>
              </a:rPr>
              <a:t>fraud</a:t>
            </a:r>
            <a:r>
              <a:rPr sz="1200" spc="-20" dirty="0">
                <a:latin typeface="Times New Roman"/>
                <a:cs typeface="Times New Roman"/>
              </a:rPr>
              <a:t> </a:t>
            </a:r>
            <a:r>
              <a:rPr sz="1200" spc="-10" dirty="0">
                <a:latin typeface="Times New Roman"/>
                <a:cs typeface="Times New Roman"/>
              </a:rPr>
              <a:t>automatically.</a:t>
            </a:r>
            <a:endParaRPr sz="1200" dirty="0">
              <a:latin typeface="Times New Roman"/>
              <a:cs typeface="Times New Roman"/>
            </a:endParaRPr>
          </a:p>
          <a:p>
            <a:pPr>
              <a:lnSpc>
                <a:spcPct val="100000"/>
              </a:lnSpc>
              <a:spcBef>
                <a:spcPts val="645"/>
              </a:spcBef>
            </a:pPr>
            <a:endParaRPr lang="en-US" sz="1200" dirty="0">
              <a:latin typeface="Times New Roman"/>
              <a:cs typeface="Times New Roman"/>
            </a:endParaRPr>
          </a:p>
          <a:p>
            <a:pPr marL="12700" lvl="1">
              <a:lnSpc>
                <a:spcPct val="100000"/>
              </a:lnSpc>
              <a:tabLst>
                <a:tab pos="241300" algn="l"/>
              </a:tabLst>
            </a:pPr>
            <a:r>
              <a:rPr lang="en-US" sz="1200" b="1" dirty="0">
                <a:latin typeface="Times New Roman"/>
                <a:cs typeface="Times New Roman"/>
              </a:rPr>
              <a:t>5.7   </a:t>
            </a:r>
            <a:r>
              <a:rPr sz="1200" b="1" dirty="0">
                <a:latin typeface="Times New Roman"/>
                <a:cs typeface="Times New Roman"/>
              </a:rPr>
              <a:t>Database</a:t>
            </a:r>
            <a:r>
              <a:rPr sz="1200" b="1" spc="-40" dirty="0">
                <a:latin typeface="Times New Roman"/>
                <a:cs typeface="Times New Roman"/>
              </a:rPr>
              <a:t> </a:t>
            </a:r>
            <a:r>
              <a:rPr sz="1200" b="1" dirty="0">
                <a:latin typeface="Times New Roman"/>
                <a:cs typeface="Times New Roman"/>
              </a:rPr>
              <a:t>Integration</a:t>
            </a:r>
            <a:r>
              <a:rPr sz="1200" b="1" spc="-40" dirty="0">
                <a:latin typeface="Times New Roman"/>
                <a:cs typeface="Times New Roman"/>
              </a:rPr>
              <a:t> </a:t>
            </a:r>
            <a:r>
              <a:rPr sz="1200" b="1" spc="-10" dirty="0">
                <a:latin typeface="Times New Roman"/>
                <a:cs typeface="Times New Roman"/>
              </a:rPr>
              <a:t>(MongoDB)</a:t>
            </a:r>
            <a:endParaRPr sz="1200" dirty="0">
              <a:latin typeface="Times New Roman"/>
              <a:cs typeface="Times New Roman"/>
            </a:endParaRPr>
          </a:p>
          <a:p>
            <a:pPr lvl="1">
              <a:lnSpc>
                <a:spcPct val="100000"/>
              </a:lnSpc>
              <a:spcBef>
                <a:spcPts val="25"/>
              </a:spcBef>
              <a:buFont typeface="Times New Roman"/>
              <a:buAutoNum type="arabicPeriod" startAt="7"/>
            </a:pPr>
            <a:endParaRPr sz="1200" dirty="0">
              <a:latin typeface="Times New Roman"/>
              <a:cs typeface="Times New Roman"/>
            </a:endParaRPr>
          </a:p>
          <a:p>
            <a:pPr marL="12700" marR="5715">
              <a:lnSpc>
                <a:spcPct val="143500"/>
              </a:lnSpc>
            </a:pPr>
            <a:r>
              <a:rPr sz="1200" dirty="0">
                <a:latin typeface="Times New Roman"/>
                <a:cs typeface="Times New Roman"/>
              </a:rPr>
              <a:t>MongoDB</a:t>
            </a:r>
            <a:r>
              <a:rPr sz="1200" spc="125" dirty="0">
                <a:latin typeface="Times New Roman"/>
                <a:cs typeface="Times New Roman"/>
              </a:rPr>
              <a:t> </a:t>
            </a:r>
            <a:r>
              <a:rPr sz="1200" dirty="0">
                <a:latin typeface="Times New Roman"/>
                <a:cs typeface="Times New Roman"/>
              </a:rPr>
              <a:t>was</a:t>
            </a:r>
            <a:r>
              <a:rPr sz="1200" spc="120" dirty="0">
                <a:latin typeface="Times New Roman"/>
                <a:cs typeface="Times New Roman"/>
              </a:rPr>
              <a:t> </a:t>
            </a:r>
            <a:r>
              <a:rPr sz="1200" dirty="0">
                <a:latin typeface="Times New Roman"/>
                <a:cs typeface="Times New Roman"/>
              </a:rPr>
              <a:t>chosen</a:t>
            </a:r>
            <a:r>
              <a:rPr sz="1200" spc="135" dirty="0">
                <a:latin typeface="Times New Roman"/>
                <a:cs typeface="Times New Roman"/>
              </a:rPr>
              <a:t> </a:t>
            </a:r>
            <a:r>
              <a:rPr sz="1200" dirty="0">
                <a:latin typeface="Times New Roman"/>
                <a:cs typeface="Times New Roman"/>
              </a:rPr>
              <a:t>for</a:t>
            </a:r>
            <a:r>
              <a:rPr sz="1200" spc="114" dirty="0">
                <a:latin typeface="Times New Roman"/>
                <a:cs typeface="Times New Roman"/>
              </a:rPr>
              <a:t> </a:t>
            </a:r>
            <a:r>
              <a:rPr sz="1200" dirty="0">
                <a:latin typeface="Times New Roman"/>
                <a:cs typeface="Times New Roman"/>
              </a:rPr>
              <a:t>its</a:t>
            </a:r>
            <a:r>
              <a:rPr sz="1200" spc="125" dirty="0">
                <a:latin typeface="Times New Roman"/>
                <a:cs typeface="Times New Roman"/>
              </a:rPr>
              <a:t> </a:t>
            </a:r>
            <a:r>
              <a:rPr sz="1200" spc="-10" dirty="0">
                <a:latin typeface="Times New Roman"/>
                <a:cs typeface="Times New Roman"/>
              </a:rPr>
              <a:t>schema-</a:t>
            </a:r>
            <a:r>
              <a:rPr sz="1200" dirty="0">
                <a:latin typeface="Times New Roman"/>
                <a:cs typeface="Times New Roman"/>
              </a:rPr>
              <a:t>less</a:t>
            </a:r>
            <a:r>
              <a:rPr sz="1200" spc="120" dirty="0">
                <a:latin typeface="Times New Roman"/>
                <a:cs typeface="Times New Roman"/>
              </a:rPr>
              <a:t> </a:t>
            </a:r>
            <a:r>
              <a:rPr sz="1200" dirty="0">
                <a:latin typeface="Times New Roman"/>
                <a:cs typeface="Times New Roman"/>
              </a:rPr>
              <a:t>structure</a:t>
            </a:r>
            <a:r>
              <a:rPr sz="1200" spc="114" dirty="0">
                <a:latin typeface="Times New Roman"/>
                <a:cs typeface="Times New Roman"/>
              </a:rPr>
              <a:t> </a:t>
            </a:r>
            <a:r>
              <a:rPr sz="1200" dirty="0">
                <a:latin typeface="Times New Roman"/>
                <a:cs typeface="Times New Roman"/>
              </a:rPr>
              <a:t>and</a:t>
            </a:r>
            <a:r>
              <a:rPr sz="1200" spc="130" dirty="0">
                <a:latin typeface="Times New Roman"/>
                <a:cs typeface="Times New Roman"/>
              </a:rPr>
              <a:t> </a:t>
            </a:r>
            <a:r>
              <a:rPr sz="1200" dirty="0">
                <a:latin typeface="Times New Roman"/>
                <a:cs typeface="Times New Roman"/>
              </a:rPr>
              <a:t>ability</a:t>
            </a:r>
            <a:r>
              <a:rPr sz="1200" spc="125" dirty="0">
                <a:latin typeface="Times New Roman"/>
                <a:cs typeface="Times New Roman"/>
              </a:rPr>
              <a:t> </a:t>
            </a:r>
            <a:r>
              <a:rPr sz="1200" dirty="0">
                <a:latin typeface="Times New Roman"/>
                <a:cs typeface="Times New Roman"/>
              </a:rPr>
              <a:t>to</a:t>
            </a:r>
            <a:r>
              <a:rPr sz="1200" spc="125" dirty="0">
                <a:latin typeface="Times New Roman"/>
                <a:cs typeface="Times New Roman"/>
              </a:rPr>
              <a:t> </a:t>
            </a:r>
            <a:r>
              <a:rPr sz="1200" dirty="0">
                <a:latin typeface="Times New Roman"/>
                <a:cs typeface="Times New Roman"/>
              </a:rPr>
              <a:t>handle</a:t>
            </a:r>
            <a:r>
              <a:rPr sz="1200" spc="135" dirty="0">
                <a:latin typeface="Times New Roman"/>
                <a:cs typeface="Times New Roman"/>
              </a:rPr>
              <a:t> </a:t>
            </a:r>
            <a:r>
              <a:rPr sz="1200" dirty="0">
                <a:latin typeface="Times New Roman"/>
                <a:cs typeface="Times New Roman"/>
              </a:rPr>
              <a:t>complex,</a:t>
            </a:r>
            <a:r>
              <a:rPr sz="1200" spc="120" dirty="0">
                <a:latin typeface="Times New Roman"/>
                <a:cs typeface="Times New Roman"/>
              </a:rPr>
              <a:t> </a:t>
            </a:r>
            <a:r>
              <a:rPr sz="1200" spc="-10" dirty="0">
                <a:latin typeface="Times New Roman"/>
                <a:cs typeface="Times New Roman"/>
              </a:rPr>
              <a:t>nested documents:</a:t>
            </a:r>
            <a:endParaRPr sz="1200" dirty="0">
              <a:latin typeface="Times New Roman"/>
              <a:cs typeface="Times New Roman"/>
            </a:endParaRPr>
          </a:p>
          <a:p>
            <a:pPr>
              <a:lnSpc>
                <a:spcPct val="100000"/>
              </a:lnSpc>
              <a:spcBef>
                <a:spcPts val="660"/>
              </a:spcBef>
            </a:pPr>
            <a:endParaRPr sz="1200" dirty="0">
              <a:latin typeface="Times New Roman"/>
              <a:cs typeface="Times New Roman"/>
            </a:endParaRPr>
          </a:p>
          <a:p>
            <a:pPr marL="469265" lvl="3" indent="-228600">
              <a:lnSpc>
                <a:spcPct val="100000"/>
              </a:lnSpc>
              <a:buSzPct val="83333"/>
              <a:buFont typeface="Symbol"/>
              <a:buChar char=""/>
              <a:tabLst>
                <a:tab pos="469265" algn="l"/>
              </a:tabLst>
            </a:pPr>
            <a:r>
              <a:rPr sz="1200" dirty="0">
                <a:latin typeface="Times New Roman"/>
                <a:cs typeface="Times New Roman"/>
              </a:rPr>
              <a:t>Collections</a:t>
            </a:r>
            <a:r>
              <a:rPr sz="1200" b="1" dirty="0">
                <a:latin typeface="Times New Roman"/>
                <a:cs typeface="Times New Roman"/>
              </a:rPr>
              <a:t>:</a:t>
            </a:r>
            <a:r>
              <a:rPr sz="1200" b="1"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properties,</a:t>
            </a:r>
            <a:r>
              <a:rPr sz="1200" spc="-35" dirty="0">
                <a:latin typeface="Times New Roman"/>
                <a:cs typeface="Times New Roman"/>
              </a:rPr>
              <a:t> </a:t>
            </a:r>
            <a:r>
              <a:rPr sz="1200" dirty="0">
                <a:latin typeface="Times New Roman"/>
                <a:cs typeface="Times New Roman"/>
              </a:rPr>
              <a:t>auctions,</a:t>
            </a:r>
            <a:r>
              <a:rPr sz="1200" spc="-35" dirty="0">
                <a:latin typeface="Times New Roman"/>
                <a:cs typeface="Times New Roman"/>
              </a:rPr>
              <a:t> </a:t>
            </a:r>
            <a:r>
              <a:rPr sz="1200" dirty="0">
                <a:latin typeface="Times New Roman"/>
                <a:cs typeface="Times New Roman"/>
              </a:rPr>
              <a:t>bids,</a:t>
            </a:r>
            <a:r>
              <a:rPr sz="1200" spc="-35" dirty="0">
                <a:latin typeface="Times New Roman"/>
                <a:cs typeface="Times New Roman"/>
              </a:rPr>
              <a:t> </a:t>
            </a:r>
            <a:r>
              <a:rPr sz="1200" spc="-10" dirty="0">
                <a:latin typeface="Times New Roman"/>
                <a:cs typeface="Times New Roman"/>
              </a:rPr>
              <a:t>notifications</a:t>
            </a:r>
            <a:endParaRPr sz="1200" dirty="0">
              <a:latin typeface="Times New Roman"/>
              <a:cs typeface="Times New Roman"/>
            </a:endParaRPr>
          </a:p>
          <a:p>
            <a:pPr marL="469265" lvl="3" indent="-228600">
              <a:lnSpc>
                <a:spcPct val="100000"/>
              </a:lnSpc>
              <a:spcBef>
                <a:spcPts val="625"/>
              </a:spcBef>
              <a:buSzPct val="83333"/>
              <a:buFont typeface="Symbol"/>
              <a:buChar char=""/>
              <a:tabLst>
                <a:tab pos="469265" algn="l"/>
              </a:tabLst>
            </a:pPr>
            <a:r>
              <a:rPr sz="1200" dirty="0">
                <a:latin typeface="Times New Roman"/>
                <a:cs typeface="Times New Roman"/>
              </a:rPr>
              <a:t>Properties</a:t>
            </a:r>
            <a:r>
              <a:rPr sz="1200" spc="-15" dirty="0">
                <a:latin typeface="Times New Roman"/>
                <a:cs typeface="Times New Roman"/>
              </a:rPr>
              <a:t> </a:t>
            </a:r>
            <a:r>
              <a:rPr sz="1200" dirty="0">
                <a:latin typeface="Times New Roman"/>
                <a:cs typeface="Times New Roman"/>
              </a:rPr>
              <a:t>store</a:t>
            </a:r>
            <a:r>
              <a:rPr sz="1200" spc="-25" dirty="0">
                <a:latin typeface="Times New Roman"/>
                <a:cs typeface="Times New Roman"/>
              </a:rPr>
              <a:t> </a:t>
            </a:r>
            <a:r>
              <a:rPr sz="1200" dirty="0">
                <a:latin typeface="Times New Roman"/>
                <a:cs typeface="Times New Roman"/>
              </a:rPr>
              <a:t>status</a:t>
            </a:r>
            <a:r>
              <a:rPr sz="1200" spc="-15" dirty="0">
                <a:latin typeface="Times New Roman"/>
                <a:cs typeface="Times New Roman"/>
              </a:rPr>
              <a:t> </a:t>
            </a:r>
            <a:r>
              <a:rPr sz="1200" spc="-10" dirty="0">
                <a:latin typeface="Times New Roman"/>
                <a:cs typeface="Times New Roman"/>
              </a:rPr>
              <a:t>(active/closed),</a:t>
            </a:r>
            <a:r>
              <a:rPr sz="1200" spc="-15" dirty="0">
                <a:latin typeface="Times New Roman"/>
                <a:cs typeface="Times New Roman"/>
              </a:rPr>
              <a:t> </a:t>
            </a:r>
            <a:r>
              <a:rPr sz="1200" dirty="0">
                <a:latin typeface="Times New Roman"/>
                <a:cs typeface="Times New Roman"/>
              </a:rPr>
              <a:t>AI</a:t>
            </a:r>
            <a:r>
              <a:rPr sz="1200" spc="-30" dirty="0">
                <a:latin typeface="Times New Roman"/>
                <a:cs typeface="Times New Roman"/>
              </a:rPr>
              <a:t> </a:t>
            </a:r>
            <a:r>
              <a:rPr sz="1200" dirty="0">
                <a:latin typeface="Times New Roman"/>
                <a:cs typeface="Times New Roman"/>
              </a:rPr>
              <a:t>prediction,</a:t>
            </a:r>
            <a:r>
              <a:rPr sz="1200" spc="-15" dirty="0">
                <a:latin typeface="Times New Roman"/>
                <a:cs typeface="Times New Roman"/>
              </a:rPr>
              <a:t> </a:t>
            </a:r>
            <a:r>
              <a:rPr sz="1200" dirty="0">
                <a:latin typeface="Times New Roman"/>
                <a:cs typeface="Times New Roman"/>
              </a:rPr>
              <a:t>seller</a:t>
            </a:r>
            <a:r>
              <a:rPr sz="1200" spc="-10" dirty="0">
                <a:latin typeface="Times New Roman"/>
                <a:cs typeface="Times New Roman"/>
              </a:rPr>
              <a:t> </a:t>
            </a:r>
            <a:r>
              <a:rPr sz="1200" spc="-25" dirty="0">
                <a:latin typeface="Times New Roman"/>
                <a:cs typeface="Times New Roman"/>
              </a:rPr>
              <a:t>ID</a:t>
            </a:r>
            <a:endParaRPr sz="1200" dirty="0">
              <a:latin typeface="Times New Roman"/>
              <a:cs typeface="Times New Roman"/>
            </a:endParaRPr>
          </a:p>
          <a:p>
            <a:pPr marL="469265" marR="6985" lvl="3" indent="-228600">
              <a:lnSpc>
                <a:spcPct val="143300"/>
              </a:lnSpc>
              <a:spcBef>
                <a:spcPts val="10"/>
              </a:spcBef>
              <a:buSzPct val="83333"/>
              <a:buFont typeface="Symbol"/>
              <a:buChar char=""/>
              <a:tabLst>
                <a:tab pos="469265" algn="l"/>
              </a:tabLst>
            </a:pPr>
            <a:r>
              <a:rPr sz="1200" dirty="0">
                <a:latin typeface="Times New Roman"/>
                <a:cs typeface="Times New Roman"/>
              </a:rPr>
              <a:t>Auctions</a:t>
            </a:r>
            <a:r>
              <a:rPr sz="1200" spc="290" dirty="0">
                <a:latin typeface="Times New Roman"/>
                <a:cs typeface="Times New Roman"/>
              </a:rPr>
              <a:t> </a:t>
            </a:r>
            <a:r>
              <a:rPr sz="1200" dirty="0">
                <a:latin typeface="Times New Roman"/>
                <a:cs typeface="Times New Roman"/>
              </a:rPr>
              <a:t>store</a:t>
            </a:r>
            <a:r>
              <a:rPr sz="1200" spc="290" dirty="0">
                <a:latin typeface="Times New Roman"/>
                <a:cs typeface="Times New Roman"/>
              </a:rPr>
              <a:t> </a:t>
            </a:r>
            <a:r>
              <a:rPr sz="1200" dirty="0">
                <a:latin typeface="Times New Roman"/>
                <a:cs typeface="Times New Roman"/>
              </a:rPr>
              <a:t>bid</a:t>
            </a:r>
            <a:r>
              <a:rPr sz="1200" spc="295" dirty="0">
                <a:latin typeface="Times New Roman"/>
                <a:cs typeface="Times New Roman"/>
              </a:rPr>
              <a:t> </a:t>
            </a:r>
            <a:r>
              <a:rPr sz="1200" dirty="0">
                <a:latin typeface="Times New Roman"/>
                <a:cs typeface="Times New Roman"/>
              </a:rPr>
              <a:t>history</a:t>
            </a:r>
            <a:r>
              <a:rPr sz="1200" spc="290" dirty="0">
                <a:latin typeface="Times New Roman"/>
                <a:cs typeface="Times New Roman"/>
              </a:rPr>
              <a:t> </a:t>
            </a:r>
            <a:r>
              <a:rPr sz="1200" dirty="0">
                <a:latin typeface="Times New Roman"/>
                <a:cs typeface="Times New Roman"/>
              </a:rPr>
              <a:t>with</a:t>
            </a:r>
            <a:r>
              <a:rPr sz="1200" spc="300" dirty="0">
                <a:latin typeface="Times New Roman"/>
                <a:cs typeface="Times New Roman"/>
              </a:rPr>
              <a:t> </a:t>
            </a:r>
            <a:r>
              <a:rPr sz="1200" dirty="0">
                <a:latin typeface="Times New Roman"/>
                <a:cs typeface="Times New Roman"/>
              </a:rPr>
              <a:t>timestamps</a:t>
            </a:r>
            <a:r>
              <a:rPr sz="1200" spc="295" dirty="0">
                <a:latin typeface="Times New Roman"/>
                <a:cs typeface="Times New Roman"/>
              </a:rPr>
              <a:t> </a:t>
            </a:r>
            <a:r>
              <a:rPr sz="1200" dirty="0">
                <a:latin typeface="Times New Roman"/>
                <a:cs typeface="Times New Roman"/>
              </a:rPr>
              <a:t>and</a:t>
            </a:r>
            <a:r>
              <a:rPr sz="1200" spc="295" dirty="0">
                <a:latin typeface="Times New Roman"/>
                <a:cs typeface="Times New Roman"/>
              </a:rPr>
              <a:t> </a:t>
            </a:r>
            <a:r>
              <a:rPr sz="1200" dirty="0">
                <a:latin typeface="Times New Roman"/>
                <a:cs typeface="Times New Roman"/>
              </a:rPr>
              <a:t>user</a:t>
            </a:r>
            <a:r>
              <a:rPr sz="1200" spc="300" dirty="0">
                <a:latin typeface="Times New Roman"/>
                <a:cs typeface="Times New Roman"/>
              </a:rPr>
              <a:t> </a:t>
            </a:r>
            <a:r>
              <a:rPr sz="1200" dirty="0">
                <a:latin typeface="Times New Roman"/>
                <a:cs typeface="Times New Roman"/>
              </a:rPr>
              <a:t>IDs</a:t>
            </a:r>
            <a:r>
              <a:rPr sz="1200" spc="305" dirty="0">
                <a:latin typeface="Times New Roman"/>
                <a:cs typeface="Times New Roman"/>
              </a:rPr>
              <a:t> </a:t>
            </a:r>
            <a:r>
              <a:rPr sz="1200" dirty="0">
                <a:latin typeface="Times New Roman"/>
                <a:cs typeface="Times New Roman"/>
              </a:rPr>
              <a:t>Indexing</a:t>
            </a:r>
            <a:r>
              <a:rPr sz="1200" spc="295" dirty="0">
                <a:latin typeface="Times New Roman"/>
                <a:cs typeface="Times New Roman"/>
              </a:rPr>
              <a:t> </a:t>
            </a:r>
            <a:r>
              <a:rPr sz="1200" dirty="0">
                <a:latin typeface="Times New Roman"/>
                <a:cs typeface="Times New Roman"/>
              </a:rPr>
              <a:t>and</a:t>
            </a:r>
            <a:r>
              <a:rPr sz="1200" spc="295" dirty="0">
                <a:latin typeface="Times New Roman"/>
                <a:cs typeface="Times New Roman"/>
              </a:rPr>
              <a:t> </a:t>
            </a:r>
            <a:r>
              <a:rPr sz="1200" spc="-10" dirty="0">
                <a:latin typeface="Times New Roman"/>
                <a:cs typeface="Times New Roman"/>
              </a:rPr>
              <a:t>schema </a:t>
            </a:r>
            <a:r>
              <a:rPr sz="1200" dirty="0">
                <a:latin typeface="Times New Roman"/>
                <a:cs typeface="Times New Roman"/>
              </a:rPr>
              <a:t>validation</a:t>
            </a:r>
            <a:r>
              <a:rPr sz="1200" spc="-40" dirty="0">
                <a:latin typeface="Times New Roman"/>
                <a:cs typeface="Times New Roman"/>
              </a:rPr>
              <a:t> </a:t>
            </a:r>
            <a:r>
              <a:rPr sz="1200" dirty="0">
                <a:latin typeface="Times New Roman"/>
                <a:cs typeface="Times New Roman"/>
              </a:rPr>
              <a:t>(via</a:t>
            </a:r>
            <a:r>
              <a:rPr sz="1200" spc="-35" dirty="0">
                <a:latin typeface="Times New Roman"/>
                <a:cs typeface="Times New Roman"/>
              </a:rPr>
              <a:t> </a:t>
            </a:r>
            <a:r>
              <a:rPr sz="1200" dirty="0">
                <a:latin typeface="Times New Roman"/>
                <a:cs typeface="Times New Roman"/>
              </a:rPr>
              <a:t>Mongoose)</a:t>
            </a:r>
            <a:r>
              <a:rPr sz="1200" spc="-35"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dirty="0">
                <a:latin typeface="Times New Roman"/>
                <a:cs typeface="Times New Roman"/>
              </a:rPr>
              <a:t>implemented</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performance</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reliability.</a:t>
            </a:r>
            <a:endParaRPr sz="1200" dirty="0">
              <a:latin typeface="Times New Roman"/>
              <a:cs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38</a:t>
            </a:r>
          </a:p>
        </p:txBody>
      </p:sp>
      <p:sp>
        <p:nvSpPr>
          <p:cNvPr id="2" name="object 2"/>
          <p:cNvSpPr txBox="1"/>
          <p:nvPr/>
        </p:nvSpPr>
        <p:spPr>
          <a:xfrm>
            <a:off x="1176324" y="1229614"/>
            <a:ext cx="5695950" cy="7256089"/>
          </a:xfrm>
          <a:prstGeom prst="rect">
            <a:avLst/>
          </a:prstGeom>
        </p:spPr>
        <p:txBody>
          <a:bodyPr vert="horz" wrap="square" lIns="0" tIns="12700" rIns="0" bIns="0" rtlCol="0">
            <a:spAutoFit/>
          </a:bodyPr>
          <a:lstStyle/>
          <a:p>
            <a:pPr marL="12700" lvl="1">
              <a:lnSpc>
                <a:spcPct val="100000"/>
              </a:lnSpc>
              <a:spcBef>
                <a:spcPts val="100"/>
              </a:spcBef>
              <a:tabLst>
                <a:tab pos="241300" algn="l"/>
              </a:tabLst>
            </a:pPr>
            <a:r>
              <a:rPr lang="en-US" sz="1200" b="1" dirty="0">
                <a:latin typeface="Times New Roman"/>
                <a:cs typeface="Times New Roman"/>
              </a:rPr>
              <a:t>5.8   </a:t>
            </a:r>
            <a:r>
              <a:rPr sz="1200" b="1" dirty="0">
                <a:latin typeface="Times New Roman"/>
                <a:cs typeface="Times New Roman"/>
              </a:rPr>
              <a:t>Security</a:t>
            </a:r>
            <a:r>
              <a:rPr sz="1200" b="1" spc="-3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Authentication</a:t>
            </a:r>
            <a:r>
              <a:rPr sz="1200" b="1" spc="-25" dirty="0">
                <a:latin typeface="Times New Roman"/>
                <a:cs typeface="Times New Roman"/>
              </a:rPr>
              <a:t> </a:t>
            </a:r>
            <a:r>
              <a:rPr sz="1200" b="1" dirty="0">
                <a:latin typeface="Times New Roman"/>
                <a:cs typeface="Times New Roman"/>
              </a:rPr>
              <a:t>(JWT,</a:t>
            </a:r>
            <a:r>
              <a:rPr sz="1200" b="1" spc="-25" dirty="0">
                <a:latin typeface="Times New Roman"/>
                <a:cs typeface="Times New Roman"/>
              </a:rPr>
              <a:t> </a:t>
            </a:r>
            <a:r>
              <a:rPr sz="1200" b="1" spc="-20" dirty="0">
                <a:latin typeface="Times New Roman"/>
                <a:cs typeface="Times New Roman"/>
              </a:rPr>
              <a:t>SSL)</a:t>
            </a:r>
            <a:endParaRPr sz="1200" dirty="0">
              <a:latin typeface="Times New Roman"/>
              <a:cs typeface="Times New Roman"/>
            </a:endParaRPr>
          </a:p>
          <a:p>
            <a:pPr lvl="1">
              <a:lnSpc>
                <a:spcPct val="100000"/>
              </a:lnSpc>
              <a:spcBef>
                <a:spcPts val="660"/>
              </a:spcBef>
              <a:buAutoNum type="arabicPeriod" startAt="8"/>
            </a:pPr>
            <a:endParaRPr sz="1200" dirty="0">
              <a:latin typeface="Times New Roman"/>
              <a:cs typeface="Times New Roman"/>
            </a:endParaRPr>
          </a:p>
          <a:p>
            <a:pPr marL="12700">
              <a:lnSpc>
                <a:spcPct val="100000"/>
              </a:lnSpc>
            </a:pPr>
            <a:r>
              <a:rPr sz="1200" dirty="0">
                <a:latin typeface="Times New Roman"/>
                <a:cs typeface="Times New Roman"/>
              </a:rPr>
              <a:t>Security</a:t>
            </a:r>
            <a:r>
              <a:rPr sz="1200" spc="10" dirty="0">
                <a:latin typeface="Times New Roman"/>
                <a:cs typeface="Times New Roman"/>
              </a:rPr>
              <a:t> </a:t>
            </a:r>
            <a:r>
              <a:rPr sz="1200" spc="-10" dirty="0">
                <a:latin typeface="Times New Roman"/>
                <a:cs typeface="Times New Roman"/>
              </a:rPr>
              <a:t>implementations</a:t>
            </a:r>
            <a:r>
              <a:rPr sz="1200" spc="10" dirty="0">
                <a:latin typeface="Times New Roman"/>
                <a:cs typeface="Times New Roman"/>
              </a:rPr>
              <a:t> </a:t>
            </a:r>
            <a:r>
              <a:rPr sz="1200" spc="-10" dirty="0">
                <a:latin typeface="Times New Roman"/>
                <a:cs typeface="Times New Roman"/>
              </a:rPr>
              <a:t>included:</a:t>
            </a:r>
            <a:endParaRPr sz="1200" dirty="0">
              <a:latin typeface="Times New Roman"/>
              <a:cs typeface="Times New Roman"/>
            </a:endParaRPr>
          </a:p>
          <a:p>
            <a:pPr>
              <a:lnSpc>
                <a:spcPct val="100000"/>
              </a:lnSpc>
              <a:spcBef>
                <a:spcPts val="645"/>
              </a:spcBef>
            </a:pPr>
            <a:endParaRPr sz="1200" dirty="0">
              <a:latin typeface="Times New Roman"/>
              <a:cs typeface="Times New Roman"/>
            </a:endParaRPr>
          </a:p>
          <a:p>
            <a:pPr marL="469265" lvl="2" indent="-228600">
              <a:lnSpc>
                <a:spcPct val="100000"/>
              </a:lnSpc>
              <a:buSzPct val="83333"/>
              <a:buFont typeface="Symbol"/>
              <a:buChar char=""/>
              <a:tabLst>
                <a:tab pos="469265" algn="l"/>
              </a:tabLst>
            </a:pPr>
            <a:r>
              <a:rPr sz="1200" dirty="0">
                <a:latin typeface="Times New Roman"/>
                <a:cs typeface="Times New Roman"/>
              </a:rPr>
              <a:t>JWT</a:t>
            </a:r>
            <a:r>
              <a:rPr sz="1200" spc="-20" dirty="0">
                <a:latin typeface="Times New Roman"/>
                <a:cs typeface="Times New Roman"/>
              </a:rPr>
              <a:t> </a:t>
            </a:r>
            <a:r>
              <a:rPr sz="1200" dirty="0">
                <a:latin typeface="Times New Roman"/>
                <a:cs typeface="Times New Roman"/>
              </a:rPr>
              <a:t>tokens:</a:t>
            </a:r>
            <a:r>
              <a:rPr sz="1200" spc="-10" dirty="0">
                <a:latin typeface="Times New Roman"/>
                <a:cs typeface="Times New Roman"/>
              </a:rPr>
              <a:t> </a:t>
            </a:r>
            <a:r>
              <a:rPr sz="1200" dirty="0">
                <a:latin typeface="Times New Roman"/>
                <a:cs typeface="Times New Roman"/>
              </a:rPr>
              <a:t>Issued</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login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verified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API</a:t>
            </a:r>
            <a:r>
              <a:rPr sz="1200" spc="-25" dirty="0">
                <a:latin typeface="Times New Roman"/>
                <a:cs typeface="Times New Roman"/>
              </a:rPr>
              <a:t> </a:t>
            </a:r>
            <a:r>
              <a:rPr sz="1200" spc="-20" dirty="0">
                <a:latin typeface="Times New Roman"/>
                <a:cs typeface="Times New Roman"/>
              </a:rPr>
              <a:t>call</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hashing:</a:t>
            </a:r>
            <a:r>
              <a:rPr sz="1200" spc="-25" dirty="0">
                <a:latin typeface="Times New Roman"/>
                <a:cs typeface="Times New Roman"/>
              </a:rPr>
              <a:t> </a:t>
            </a:r>
            <a:r>
              <a:rPr sz="1200" dirty="0">
                <a:latin typeface="Times New Roman"/>
                <a:cs typeface="Times New Roman"/>
              </a:rPr>
              <a:t>Bcrypt</a:t>
            </a:r>
            <a:r>
              <a:rPr sz="1200" spc="-20" dirty="0">
                <a:latin typeface="Times New Roman"/>
                <a:cs typeface="Times New Roman"/>
              </a:rPr>
              <a:t> </a:t>
            </a:r>
            <a:r>
              <a:rPr sz="1200" dirty="0">
                <a:latin typeface="Times New Roman"/>
                <a:cs typeface="Times New Roman"/>
              </a:rPr>
              <a:t>ensures</a:t>
            </a:r>
            <a:r>
              <a:rPr sz="1200" spc="-25"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safety</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case</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leaks</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spc="-10" dirty="0">
                <a:latin typeface="Times New Roman"/>
                <a:cs typeface="Times New Roman"/>
              </a:rPr>
              <a:t>Role-</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routes:</a:t>
            </a:r>
            <a:r>
              <a:rPr sz="1200" spc="-3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can’t</a:t>
            </a:r>
            <a:r>
              <a:rPr sz="1200" spc="-25" dirty="0">
                <a:latin typeface="Times New Roman"/>
                <a:cs typeface="Times New Roman"/>
              </a:rPr>
              <a:t> </a:t>
            </a:r>
            <a:r>
              <a:rPr sz="1200" dirty="0">
                <a:latin typeface="Times New Roman"/>
                <a:cs typeface="Times New Roman"/>
              </a:rPr>
              <a:t>access</a:t>
            </a:r>
            <a:r>
              <a:rPr sz="1200" spc="-20" dirty="0">
                <a:latin typeface="Times New Roman"/>
                <a:cs typeface="Times New Roman"/>
              </a:rPr>
              <a:t> </a:t>
            </a:r>
            <a:r>
              <a:rPr sz="1200" dirty="0">
                <a:latin typeface="Times New Roman"/>
                <a:cs typeface="Times New Roman"/>
              </a:rPr>
              <a:t>admin</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seller</a:t>
            </a:r>
            <a:r>
              <a:rPr sz="1200" spc="-30" dirty="0">
                <a:latin typeface="Times New Roman"/>
                <a:cs typeface="Times New Roman"/>
              </a:rPr>
              <a:t> </a:t>
            </a:r>
            <a:r>
              <a:rPr sz="1200" dirty="0">
                <a:latin typeface="Times New Roman"/>
                <a:cs typeface="Times New Roman"/>
              </a:rPr>
              <a:t>pages</a:t>
            </a:r>
            <a:r>
              <a:rPr sz="1200" spc="-30" dirty="0">
                <a:latin typeface="Times New Roman"/>
                <a:cs typeface="Times New Roman"/>
              </a:rPr>
              <a:t> </a:t>
            </a:r>
            <a:r>
              <a:rPr sz="1200" dirty="0">
                <a:latin typeface="Times New Roman"/>
                <a:cs typeface="Times New Roman"/>
              </a:rPr>
              <a:t>without</a:t>
            </a:r>
            <a:r>
              <a:rPr sz="1200" spc="-25" dirty="0">
                <a:latin typeface="Times New Roman"/>
                <a:cs typeface="Times New Roman"/>
              </a:rPr>
              <a:t> </a:t>
            </a:r>
            <a:r>
              <a:rPr sz="1200" spc="-10" dirty="0">
                <a:latin typeface="Times New Roman"/>
                <a:cs typeface="Times New Roman"/>
              </a:rPr>
              <a:t>authorization</a:t>
            </a:r>
            <a:endParaRPr sz="1200" dirty="0">
              <a:latin typeface="Times New Roman"/>
              <a:cs typeface="Times New Roman"/>
            </a:endParaRPr>
          </a:p>
          <a:p>
            <a:pPr marL="469265" marR="5080" lvl="2" indent="-228600">
              <a:lnSpc>
                <a:spcPts val="2080"/>
              </a:lnSpc>
              <a:spcBef>
                <a:spcPts val="160"/>
              </a:spcBef>
              <a:buSzPct val="83333"/>
              <a:buFont typeface="Symbol"/>
              <a:buChar char=""/>
              <a:tabLst>
                <a:tab pos="469265" algn="l"/>
              </a:tabLst>
            </a:pPr>
            <a:r>
              <a:rPr sz="1200" dirty="0">
                <a:latin typeface="Times New Roman"/>
                <a:cs typeface="Times New Roman"/>
              </a:rPr>
              <a:t>SSL</a:t>
            </a:r>
            <a:r>
              <a:rPr sz="1200" spc="45" dirty="0">
                <a:latin typeface="Times New Roman"/>
                <a:cs typeface="Times New Roman"/>
              </a:rPr>
              <a:t> </a:t>
            </a:r>
            <a:r>
              <a:rPr sz="1200" dirty="0">
                <a:latin typeface="Times New Roman"/>
                <a:cs typeface="Times New Roman"/>
              </a:rPr>
              <a:t>encryption:</a:t>
            </a:r>
            <a:r>
              <a:rPr sz="1200" spc="40" dirty="0">
                <a:latin typeface="Times New Roman"/>
                <a:cs typeface="Times New Roman"/>
              </a:rPr>
              <a:t> </a:t>
            </a:r>
            <a:r>
              <a:rPr sz="1200" dirty="0">
                <a:latin typeface="Times New Roman"/>
                <a:cs typeface="Times New Roman"/>
              </a:rPr>
              <a:t>Secures</a:t>
            </a:r>
            <a:r>
              <a:rPr sz="1200" spc="60" dirty="0">
                <a:latin typeface="Times New Roman"/>
                <a:cs typeface="Times New Roman"/>
              </a:rPr>
              <a:t> </a:t>
            </a:r>
            <a:r>
              <a:rPr sz="1200" dirty="0">
                <a:latin typeface="Times New Roman"/>
                <a:cs typeface="Times New Roman"/>
              </a:rPr>
              <a:t>all</a:t>
            </a:r>
            <a:r>
              <a:rPr sz="1200" spc="5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transmission</a:t>
            </a:r>
            <a:r>
              <a:rPr sz="1200" spc="40" dirty="0">
                <a:latin typeface="Times New Roman"/>
                <a:cs typeface="Times New Roman"/>
              </a:rPr>
              <a:t> </a:t>
            </a:r>
            <a:r>
              <a:rPr sz="1200" dirty="0">
                <a:latin typeface="Times New Roman"/>
                <a:cs typeface="Times New Roman"/>
              </a:rPr>
              <a:t>These</a:t>
            </a:r>
            <a:r>
              <a:rPr sz="1200" spc="45" dirty="0">
                <a:latin typeface="Times New Roman"/>
                <a:cs typeface="Times New Roman"/>
              </a:rPr>
              <a:t> </a:t>
            </a:r>
            <a:r>
              <a:rPr sz="1200" dirty="0">
                <a:latin typeface="Times New Roman"/>
                <a:cs typeface="Times New Roman"/>
              </a:rPr>
              <a:t>layers</a:t>
            </a:r>
            <a:r>
              <a:rPr sz="1200" spc="50" dirty="0">
                <a:latin typeface="Times New Roman"/>
                <a:cs typeface="Times New Roman"/>
              </a:rPr>
              <a:t> </a:t>
            </a:r>
            <a:r>
              <a:rPr sz="1200" dirty="0">
                <a:latin typeface="Times New Roman"/>
                <a:cs typeface="Times New Roman"/>
              </a:rPr>
              <a:t>ensure</a:t>
            </a:r>
            <a:r>
              <a:rPr sz="1200" spc="45" dirty="0">
                <a:latin typeface="Times New Roman"/>
                <a:cs typeface="Times New Roman"/>
              </a:rPr>
              <a:t> </a:t>
            </a:r>
            <a:r>
              <a:rPr sz="1200" dirty="0">
                <a:latin typeface="Times New Roman"/>
                <a:cs typeface="Times New Roman"/>
              </a:rPr>
              <a:t>robust</a:t>
            </a:r>
            <a:r>
              <a:rPr sz="1200" spc="45" dirty="0">
                <a:latin typeface="Times New Roman"/>
                <a:cs typeface="Times New Roman"/>
              </a:rPr>
              <a:t> </a:t>
            </a:r>
            <a:r>
              <a:rPr sz="1200" spc="-10" dirty="0">
                <a:latin typeface="Times New Roman"/>
                <a:cs typeface="Times New Roman"/>
              </a:rPr>
              <a:t>protection </a:t>
            </a:r>
            <a:r>
              <a:rPr sz="1200" dirty="0">
                <a:latin typeface="Times New Roman"/>
                <a:cs typeface="Times New Roman"/>
              </a:rPr>
              <a:t>against</a:t>
            </a:r>
            <a:r>
              <a:rPr sz="1200" spc="-40" dirty="0">
                <a:latin typeface="Times New Roman"/>
                <a:cs typeface="Times New Roman"/>
              </a:rPr>
              <a:t> </a:t>
            </a:r>
            <a:r>
              <a:rPr sz="1200" dirty="0">
                <a:latin typeface="Times New Roman"/>
                <a:cs typeface="Times New Roman"/>
              </a:rPr>
              <a:t>unauthorized</a:t>
            </a:r>
            <a:r>
              <a:rPr sz="1200" spc="-30"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spc="-10" dirty="0">
                <a:latin typeface="Times New Roman"/>
                <a:cs typeface="Times New Roman"/>
              </a:rPr>
              <a:t>tampering.</a:t>
            </a:r>
            <a:endParaRPr sz="1200" dirty="0">
              <a:latin typeface="Times New Roman"/>
              <a:cs typeface="Times New Roman"/>
            </a:endParaRPr>
          </a:p>
          <a:p>
            <a:pPr lvl="2">
              <a:lnSpc>
                <a:spcPct val="100000"/>
              </a:lnSpc>
              <a:spcBef>
                <a:spcPts val="470"/>
              </a:spcBef>
              <a:buFont typeface="Symbol"/>
              <a:buChar char=""/>
            </a:pPr>
            <a:endParaRPr sz="1200" dirty="0">
              <a:latin typeface="Times New Roman"/>
              <a:cs typeface="Times New Roman"/>
            </a:endParaRPr>
          </a:p>
          <a:p>
            <a:pPr marL="12700" lvl="1">
              <a:lnSpc>
                <a:spcPct val="100000"/>
              </a:lnSpc>
              <a:spcBef>
                <a:spcPts val="5"/>
              </a:spcBef>
              <a:tabLst>
                <a:tab pos="241300" algn="l"/>
              </a:tabLst>
            </a:pPr>
            <a:r>
              <a:rPr lang="en-US" sz="1200" b="1" dirty="0">
                <a:latin typeface="Times New Roman"/>
                <a:cs typeface="Times New Roman"/>
              </a:rPr>
              <a:t>5.9   </a:t>
            </a:r>
            <a:r>
              <a:rPr sz="1200" b="1" dirty="0">
                <a:latin typeface="Times New Roman"/>
                <a:cs typeface="Times New Roman"/>
              </a:rPr>
              <a:t>Deployment</a:t>
            </a:r>
            <a:r>
              <a:rPr sz="1200" b="1" spc="-60" dirty="0">
                <a:latin typeface="Times New Roman"/>
                <a:cs typeface="Times New Roman"/>
              </a:rPr>
              <a:t> </a:t>
            </a:r>
            <a:r>
              <a:rPr sz="1200" b="1" spc="-10" dirty="0">
                <a:latin typeface="Times New Roman"/>
                <a:cs typeface="Times New Roman"/>
              </a:rPr>
              <a:t>Overview</a:t>
            </a:r>
            <a:endParaRPr sz="1200" dirty="0">
              <a:latin typeface="Times New Roman"/>
              <a:cs typeface="Times New Roman"/>
            </a:endParaRPr>
          </a:p>
          <a:p>
            <a:pPr lvl="1">
              <a:lnSpc>
                <a:spcPct val="100000"/>
              </a:lnSpc>
              <a:spcBef>
                <a:spcPts val="645"/>
              </a:spcBef>
              <a:buAutoNum type="arabicPeriod" startAt="9"/>
            </a:pPr>
            <a:endParaRPr sz="1200" dirty="0">
              <a:latin typeface="Times New Roman"/>
              <a:cs typeface="Times New Roman"/>
            </a:endParaRPr>
          </a:p>
          <a:p>
            <a:pPr marL="12700">
              <a:lnSpc>
                <a:spcPct val="100000"/>
              </a:lnSpc>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platform</a:t>
            </a:r>
            <a:r>
              <a:rPr sz="1200" spc="-30"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dirty="0">
                <a:latin typeface="Times New Roman"/>
                <a:cs typeface="Times New Roman"/>
              </a:rPr>
              <a:t>deployed</a:t>
            </a:r>
            <a:r>
              <a:rPr sz="1200" spc="-25" dirty="0">
                <a:latin typeface="Times New Roman"/>
                <a:cs typeface="Times New Roman"/>
              </a:rPr>
              <a:t> </a:t>
            </a:r>
            <a:r>
              <a:rPr sz="1200" spc="-10" dirty="0">
                <a:latin typeface="Times New Roman"/>
                <a:cs typeface="Times New Roman"/>
              </a:rPr>
              <a:t>using:</a:t>
            </a:r>
            <a:endParaRPr sz="1200" dirty="0">
              <a:latin typeface="Times New Roman"/>
              <a:cs typeface="Times New Roman"/>
            </a:endParaRPr>
          </a:p>
          <a:p>
            <a:pPr>
              <a:lnSpc>
                <a:spcPct val="100000"/>
              </a:lnSpc>
              <a:spcBef>
                <a:spcPts val="650"/>
              </a:spcBef>
            </a:pPr>
            <a:endParaRPr sz="1200" dirty="0">
              <a:latin typeface="Times New Roman"/>
              <a:cs typeface="Times New Roman"/>
            </a:endParaRPr>
          </a:p>
          <a:p>
            <a:pPr marL="469265" lvl="2" indent="-228600">
              <a:lnSpc>
                <a:spcPct val="100000"/>
              </a:lnSpc>
              <a:buSzPct val="83333"/>
              <a:buFont typeface="Symbol"/>
              <a:buChar char=""/>
              <a:tabLst>
                <a:tab pos="469265" algn="l"/>
              </a:tabLst>
            </a:pPr>
            <a:r>
              <a:rPr sz="1200" dirty="0">
                <a:latin typeface="Times New Roman"/>
                <a:cs typeface="Times New Roman"/>
              </a:rPr>
              <a:t>Frontend</a:t>
            </a:r>
            <a:r>
              <a:rPr sz="1200" b="1" dirty="0">
                <a:latin typeface="Times New Roman"/>
                <a:cs typeface="Times New Roman"/>
              </a:rPr>
              <a:t>:</a:t>
            </a:r>
            <a:r>
              <a:rPr sz="1200" b="1" spc="-45" dirty="0">
                <a:latin typeface="Times New Roman"/>
                <a:cs typeface="Times New Roman"/>
              </a:rPr>
              <a:t> </a:t>
            </a:r>
            <a:r>
              <a:rPr sz="1200" dirty="0">
                <a:latin typeface="Times New Roman"/>
                <a:cs typeface="Times New Roman"/>
              </a:rPr>
              <a:t>Netlify</a:t>
            </a:r>
            <a:r>
              <a:rPr sz="1200" spc="-45" dirty="0">
                <a:latin typeface="Times New Roman"/>
                <a:cs typeface="Times New Roman"/>
              </a:rPr>
              <a:t> </a:t>
            </a:r>
            <a:r>
              <a:rPr sz="1200" dirty="0">
                <a:latin typeface="Times New Roman"/>
                <a:cs typeface="Times New Roman"/>
              </a:rPr>
              <a:t>(React</a:t>
            </a:r>
            <a:r>
              <a:rPr sz="1200" spc="-35" dirty="0">
                <a:latin typeface="Times New Roman"/>
                <a:cs typeface="Times New Roman"/>
              </a:rPr>
              <a:t> </a:t>
            </a:r>
            <a:r>
              <a:rPr sz="1200" spc="-10" dirty="0">
                <a:latin typeface="Times New Roman"/>
                <a:cs typeface="Times New Roman"/>
              </a:rPr>
              <a:t>build)</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dirty="0">
                <a:latin typeface="Times New Roman"/>
                <a:cs typeface="Times New Roman"/>
              </a:rPr>
              <a:t>Backend</a:t>
            </a:r>
            <a:r>
              <a:rPr sz="1200" b="1" dirty="0">
                <a:latin typeface="Times New Roman"/>
                <a:cs typeface="Times New Roman"/>
              </a:rPr>
              <a:t>:</a:t>
            </a:r>
            <a:r>
              <a:rPr sz="1200" b="1" spc="-40" dirty="0">
                <a:latin typeface="Times New Roman"/>
                <a:cs typeface="Times New Roman"/>
              </a:rPr>
              <a:t> </a:t>
            </a:r>
            <a:r>
              <a:rPr sz="1200" dirty="0">
                <a:latin typeface="Times New Roman"/>
                <a:cs typeface="Times New Roman"/>
              </a:rPr>
              <a:t>Render</a:t>
            </a:r>
            <a:r>
              <a:rPr sz="1200" spc="-30" dirty="0">
                <a:latin typeface="Times New Roman"/>
                <a:cs typeface="Times New Roman"/>
              </a:rPr>
              <a:t> </a:t>
            </a:r>
            <a:r>
              <a:rPr sz="1200" dirty="0">
                <a:latin typeface="Times New Roman"/>
                <a:cs typeface="Times New Roman"/>
              </a:rPr>
              <a:t>(Node.js</a:t>
            </a:r>
            <a:r>
              <a:rPr sz="1200" spc="-30" dirty="0">
                <a:latin typeface="Times New Roman"/>
                <a:cs typeface="Times New Roman"/>
              </a:rPr>
              <a:t> </a:t>
            </a:r>
            <a:r>
              <a:rPr sz="1200" dirty="0">
                <a:latin typeface="Times New Roman"/>
                <a:cs typeface="Times New Roman"/>
              </a:rPr>
              <a:t>Express</a:t>
            </a:r>
            <a:r>
              <a:rPr sz="1200" spc="-30" dirty="0">
                <a:latin typeface="Times New Roman"/>
                <a:cs typeface="Times New Roman"/>
              </a:rPr>
              <a:t> </a:t>
            </a:r>
            <a:r>
              <a:rPr sz="1200" spc="-10" dirty="0">
                <a:latin typeface="Times New Roman"/>
                <a:cs typeface="Times New Roman"/>
              </a:rPr>
              <a:t>server)</a:t>
            </a:r>
            <a:endParaRPr sz="1200" dirty="0">
              <a:latin typeface="Times New Roman"/>
              <a:cs typeface="Times New Roman"/>
            </a:endParaRPr>
          </a:p>
          <a:p>
            <a:pPr marL="469265" lvl="2" indent="-228600">
              <a:lnSpc>
                <a:spcPct val="100000"/>
              </a:lnSpc>
              <a:spcBef>
                <a:spcPts val="625"/>
              </a:spcBef>
              <a:buSzPct val="83333"/>
              <a:buFont typeface="Symbol"/>
              <a:buChar char=""/>
              <a:tabLst>
                <a:tab pos="469265" algn="l"/>
              </a:tabLst>
            </a:pPr>
            <a:r>
              <a:rPr sz="1200" dirty="0">
                <a:latin typeface="Times New Roman"/>
                <a:cs typeface="Times New Roman"/>
              </a:rPr>
              <a:t>AI</a:t>
            </a:r>
            <a:r>
              <a:rPr sz="1200" spc="-30" dirty="0">
                <a:latin typeface="Times New Roman"/>
                <a:cs typeface="Times New Roman"/>
              </a:rPr>
              <a:t> </a:t>
            </a:r>
            <a:r>
              <a:rPr sz="1200" dirty="0">
                <a:latin typeface="Times New Roman"/>
                <a:cs typeface="Times New Roman"/>
              </a:rPr>
              <a:t>Services:</a:t>
            </a:r>
            <a:r>
              <a:rPr sz="1200" spc="-10" dirty="0">
                <a:latin typeface="Times New Roman"/>
                <a:cs typeface="Times New Roman"/>
              </a:rPr>
              <a:t> Python-</a:t>
            </a:r>
            <a:r>
              <a:rPr sz="1200" dirty="0">
                <a:latin typeface="Times New Roman"/>
                <a:cs typeface="Times New Roman"/>
              </a:rPr>
              <a:t>based</a:t>
            </a:r>
            <a:r>
              <a:rPr sz="1200" spc="-10" dirty="0">
                <a:latin typeface="Times New Roman"/>
                <a:cs typeface="Times New Roman"/>
              </a:rPr>
              <a:t> </a:t>
            </a:r>
            <a:r>
              <a:rPr sz="1200" dirty="0">
                <a:latin typeface="Times New Roman"/>
                <a:cs typeface="Times New Roman"/>
              </a:rPr>
              <a:t>APIs</a:t>
            </a:r>
            <a:r>
              <a:rPr sz="1200" spc="-5" dirty="0">
                <a:latin typeface="Times New Roman"/>
                <a:cs typeface="Times New Roman"/>
              </a:rPr>
              <a:t> </a:t>
            </a:r>
            <a:r>
              <a:rPr sz="1200" dirty="0">
                <a:latin typeface="Times New Roman"/>
                <a:cs typeface="Times New Roman"/>
              </a:rPr>
              <a:t>hosted</a:t>
            </a:r>
            <a:r>
              <a:rPr sz="1200" spc="-10" dirty="0">
                <a:latin typeface="Times New Roman"/>
                <a:cs typeface="Times New Roman"/>
              </a:rPr>
              <a:t> separately</a:t>
            </a:r>
            <a:endParaRPr sz="1200" dirty="0">
              <a:latin typeface="Times New Roman"/>
              <a:cs typeface="Times New Roman"/>
            </a:endParaRPr>
          </a:p>
          <a:p>
            <a:pPr marL="469265" lvl="2" indent="-228600">
              <a:lnSpc>
                <a:spcPct val="100000"/>
              </a:lnSpc>
              <a:spcBef>
                <a:spcPts val="635"/>
              </a:spcBef>
              <a:buSzPct val="83333"/>
              <a:buFont typeface="Symbol"/>
              <a:buChar char=""/>
              <a:tabLst>
                <a:tab pos="469265" algn="l"/>
              </a:tabLst>
            </a:pPr>
            <a:r>
              <a:rPr sz="1200" spc="-10" dirty="0">
                <a:latin typeface="Times New Roman"/>
                <a:cs typeface="Times New Roman"/>
              </a:rPr>
              <a:t>Database: </a:t>
            </a:r>
            <a:r>
              <a:rPr sz="1200" dirty="0">
                <a:latin typeface="Times New Roman"/>
                <a:cs typeface="Times New Roman"/>
              </a:rPr>
              <a:t>MongoDB</a:t>
            </a:r>
            <a:r>
              <a:rPr sz="1200" spc="-5" dirty="0">
                <a:latin typeface="Times New Roman"/>
                <a:cs typeface="Times New Roman"/>
              </a:rPr>
              <a:t> </a:t>
            </a:r>
            <a:r>
              <a:rPr sz="1200" dirty="0">
                <a:latin typeface="Times New Roman"/>
                <a:cs typeface="Times New Roman"/>
              </a:rPr>
              <a:t>Atlas</a:t>
            </a:r>
            <a:r>
              <a:rPr sz="1200" spc="-10" dirty="0">
                <a:latin typeface="Times New Roman"/>
                <a:cs typeface="Times New Roman"/>
              </a:rPr>
              <a:t> </a:t>
            </a:r>
            <a:r>
              <a:rPr sz="1200" dirty="0">
                <a:latin typeface="Times New Roman"/>
                <a:cs typeface="Times New Roman"/>
              </a:rPr>
              <a:t>cloud</a:t>
            </a:r>
            <a:r>
              <a:rPr sz="1200" spc="-5" dirty="0">
                <a:latin typeface="Times New Roman"/>
                <a:cs typeface="Times New Roman"/>
              </a:rPr>
              <a:t> </a:t>
            </a:r>
            <a:r>
              <a:rPr sz="1200" spc="-10" dirty="0">
                <a:latin typeface="Times New Roman"/>
                <a:cs typeface="Times New Roman"/>
              </a:rPr>
              <a:t>service</a:t>
            </a:r>
            <a:endParaRPr sz="1200" dirty="0">
              <a:latin typeface="Times New Roman"/>
              <a:cs typeface="Times New Roman"/>
            </a:endParaRPr>
          </a:p>
          <a:p>
            <a:pPr lvl="2">
              <a:lnSpc>
                <a:spcPct val="100000"/>
              </a:lnSpc>
              <a:spcBef>
                <a:spcPts val="90"/>
              </a:spcBef>
              <a:buFont typeface="Symbol"/>
              <a:buChar char=""/>
            </a:pPr>
            <a:endParaRPr sz="1200" dirty="0">
              <a:latin typeface="Times New Roman"/>
              <a:cs typeface="Times New Roman"/>
            </a:endParaRPr>
          </a:p>
          <a:p>
            <a:pPr marL="12700" marR="6350">
              <a:lnSpc>
                <a:spcPct val="143600"/>
              </a:lnSpc>
            </a:pPr>
            <a:r>
              <a:rPr sz="1100" dirty="0">
                <a:latin typeface="Times New Roman"/>
                <a:cs typeface="Times New Roman"/>
              </a:rPr>
              <a:t>Version</a:t>
            </a:r>
            <a:r>
              <a:rPr sz="1100" spc="-35" dirty="0">
                <a:latin typeface="Times New Roman"/>
                <a:cs typeface="Times New Roman"/>
              </a:rPr>
              <a:t> </a:t>
            </a:r>
            <a:r>
              <a:rPr sz="1100" dirty="0">
                <a:latin typeface="Times New Roman"/>
                <a:cs typeface="Times New Roman"/>
              </a:rPr>
              <a:t>control</a:t>
            </a:r>
            <a:r>
              <a:rPr sz="1100" spc="-35" dirty="0">
                <a:latin typeface="Times New Roman"/>
                <a:cs typeface="Times New Roman"/>
              </a:rPr>
              <a:t> </a:t>
            </a:r>
            <a:r>
              <a:rPr sz="1100" dirty="0">
                <a:latin typeface="Times New Roman"/>
                <a:cs typeface="Times New Roman"/>
              </a:rPr>
              <a:t>was</a:t>
            </a:r>
            <a:r>
              <a:rPr sz="1100" spc="-40" dirty="0">
                <a:latin typeface="Times New Roman"/>
                <a:cs typeface="Times New Roman"/>
              </a:rPr>
              <a:t> </a:t>
            </a:r>
            <a:r>
              <a:rPr sz="1100" dirty="0">
                <a:latin typeface="Times New Roman"/>
                <a:cs typeface="Times New Roman"/>
              </a:rPr>
              <a:t>managed</a:t>
            </a:r>
            <a:r>
              <a:rPr sz="1100" spc="-30" dirty="0">
                <a:latin typeface="Times New Roman"/>
                <a:cs typeface="Times New Roman"/>
              </a:rPr>
              <a:t> </a:t>
            </a:r>
            <a:r>
              <a:rPr sz="1100" dirty="0">
                <a:latin typeface="Times New Roman"/>
                <a:cs typeface="Times New Roman"/>
              </a:rPr>
              <a:t>through</a:t>
            </a:r>
            <a:r>
              <a:rPr sz="1100" spc="-30" dirty="0">
                <a:latin typeface="Times New Roman"/>
                <a:cs typeface="Times New Roman"/>
              </a:rPr>
              <a:t> </a:t>
            </a:r>
            <a:r>
              <a:rPr sz="1100" dirty="0">
                <a:latin typeface="Times New Roman"/>
                <a:cs typeface="Times New Roman"/>
              </a:rPr>
              <a:t>GitHub,</a:t>
            </a:r>
            <a:r>
              <a:rPr sz="1100" spc="-40"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CI/CD</a:t>
            </a:r>
            <a:r>
              <a:rPr sz="1100" spc="-35" dirty="0">
                <a:latin typeface="Times New Roman"/>
                <a:cs typeface="Times New Roman"/>
              </a:rPr>
              <a:t> </a:t>
            </a:r>
            <a:r>
              <a:rPr sz="1100" dirty="0">
                <a:latin typeface="Times New Roman"/>
                <a:cs typeface="Times New Roman"/>
              </a:rPr>
              <a:t>pipelines</a:t>
            </a:r>
            <a:r>
              <a:rPr sz="1100" spc="-30" dirty="0">
                <a:latin typeface="Times New Roman"/>
                <a:cs typeface="Times New Roman"/>
              </a:rPr>
              <a:t> </a:t>
            </a:r>
            <a:r>
              <a:rPr sz="1100" dirty="0">
                <a:latin typeface="Times New Roman"/>
                <a:cs typeface="Times New Roman"/>
              </a:rPr>
              <a:t>were</a:t>
            </a:r>
            <a:r>
              <a:rPr sz="1100" spc="-40" dirty="0">
                <a:latin typeface="Times New Roman"/>
                <a:cs typeface="Times New Roman"/>
              </a:rPr>
              <a:t> </a:t>
            </a:r>
            <a:r>
              <a:rPr sz="1100" dirty="0">
                <a:latin typeface="Times New Roman"/>
                <a:cs typeface="Times New Roman"/>
              </a:rPr>
              <a:t>optionally</a:t>
            </a:r>
            <a:r>
              <a:rPr sz="1100" spc="-35" dirty="0">
                <a:latin typeface="Times New Roman"/>
                <a:cs typeface="Times New Roman"/>
              </a:rPr>
              <a:t> </a:t>
            </a:r>
            <a:r>
              <a:rPr sz="1100" dirty="0">
                <a:latin typeface="Times New Roman"/>
                <a:cs typeface="Times New Roman"/>
              </a:rPr>
              <a:t>configured</a:t>
            </a:r>
            <a:r>
              <a:rPr sz="1100" spc="-30" dirty="0">
                <a:latin typeface="Times New Roman"/>
                <a:cs typeface="Times New Roman"/>
              </a:rPr>
              <a:t> </a:t>
            </a:r>
            <a:r>
              <a:rPr sz="1100" spc="-10" dirty="0">
                <a:latin typeface="Times New Roman"/>
                <a:cs typeface="Times New Roman"/>
              </a:rPr>
              <a:t>using </a:t>
            </a:r>
            <a:r>
              <a:rPr sz="1100" dirty="0">
                <a:latin typeface="Times New Roman"/>
                <a:cs typeface="Times New Roman"/>
              </a:rPr>
              <a:t>GitHub</a:t>
            </a:r>
            <a:r>
              <a:rPr sz="1100" spc="-25" dirty="0">
                <a:latin typeface="Times New Roman"/>
                <a:cs typeface="Times New Roman"/>
              </a:rPr>
              <a:t> </a:t>
            </a:r>
            <a:r>
              <a:rPr sz="1100" spc="-10" dirty="0">
                <a:latin typeface="Times New Roman"/>
                <a:cs typeface="Times New Roman"/>
              </a:rPr>
              <a:t>Actions.</a:t>
            </a:r>
            <a:endParaRPr sz="1100" dirty="0">
              <a:latin typeface="Times New Roman"/>
              <a:cs typeface="Times New Roman"/>
            </a:endParaRPr>
          </a:p>
          <a:p>
            <a:pPr>
              <a:lnSpc>
                <a:spcPct val="100000"/>
              </a:lnSpc>
              <a:spcBef>
                <a:spcPts val="690"/>
              </a:spcBef>
            </a:pPr>
            <a:endParaRPr sz="1100" dirty="0">
              <a:latin typeface="Times New Roman"/>
              <a:cs typeface="Times New Roman"/>
            </a:endParaRPr>
          </a:p>
          <a:p>
            <a:pPr marL="12700" lvl="1">
              <a:lnSpc>
                <a:spcPct val="100000"/>
              </a:lnSpc>
              <a:tabLst>
                <a:tab pos="368300" algn="l"/>
              </a:tabLst>
            </a:pPr>
            <a:r>
              <a:rPr lang="en-US" sz="1400" b="1" dirty="0">
                <a:latin typeface="Times New Roman"/>
                <a:cs typeface="Times New Roman"/>
              </a:rPr>
              <a:t>5.10   </a:t>
            </a:r>
            <a:r>
              <a:rPr sz="1400" b="1" dirty="0">
                <a:latin typeface="Times New Roman"/>
                <a:cs typeface="Times New Roman"/>
              </a:rPr>
              <a:t>User</a:t>
            </a:r>
            <a:r>
              <a:rPr sz="1400" b="1" spc="-50" dirty="0">
                <a:latin typeface="Times New Roman"/>
                <a:cs typeface="Times New Roman"/>
              </a:rPr>
              <a:t> </a:t>
            </a:r>
            <a:r>
              <a:rPr sz="1400" b="1" dirty="0">
                <a:latin typeface="Times New Roman"/>
                <a:cs typeface="Times New Roman"/>
              </a:rPr>
              <a:t>Interface</a:t>
            </a:r>
            <a:r>
              <a:rPr sz="1400" b="1" spc="-50" dirty="0">
                <a:latin typeface="Times New Roman"/>
                <a:cs typeface="Times New Roman"/>
              </a:rPr>
              <a:t> </a:t>
            </a:r>
            <a:r>
              <a:rPr sz="1400" b="1" spc="-10" dirty="0">
                <a:latin typeface="Times New Roman"/>
                <a:cs typeface="Times New Roman"/>
              </a:rPr>
              <a:t>Screenshots</a:t>
            </a:r>
            <a:endParaRPr sz="1400" dirty="0">
              <a:latin typeface="Times New Roman"/>
              <a:cs typeface="Times New Roman"/>
            </a:endParaRPr>
          </a:p>
          <a:p>
            <a:pPr marL="12700" marR="5080">
              <a:lnSpc>
                <a:spcPts val="1380"/>
              </a:lnSpc>
              <a:spcBef>
                <a:spcPts val="1425"/>
              </a:spcBef>
            </a:pP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UI</a:t>
            </a:r>
            <a:r>
              <a:rPr sz="1200" spc="55" dirty="0">
                <a:latin typeface="Times New Roman"/>
                <a:cs typeface="Times New Roman"/>
              </a:rPr>
              <a:t> </a:t>
            </a:r>
            <a:r>
              <a:rPr sz="1200" dirty="0">
                <a:latin typeface="Times New Roman"/>
                <a:cs typeface="Times New Roman"/>
              </a:rPr>
              <a:t>was</a:t>
            </a:r>
            <a:r>
              <a:rPr sz="1200" spc="70" dirty="0">
                <a:latin typeface="Times New Roman"/>
                <a:cs typeface="Times New Roman"/>
              </a:rPr>
              <a:t> </a:t>
            </a:r>
            <a:r>
              <a:rPr sz="1200" dirty="0">
                <a:latin typeface="Times New Roman"/>
                <a:cs typeface="Times New Roman"/>
              </a:rPr>
              <a:t>developed</a:t>
            </a:r>
            <a:r>
              <a:rPr sz="1200" spc="75" dirty="0">
                <a:latin typeface="Times New Roman"/>
                <a:cs typeface="Times New Roman"/>
              </a:rPr>
              <a:t> </a:t>
            </a:r>
            <a:r>
              <a:rPr sz="1200" dirty="0">
                <a:latin typeface="Times New Roman"/>
                <a:cs typeface="Times New Roman"/>
              </a:rPr>
              <a:t>with</a:t>
            </a:r>
            <a:r>
              <a:rPr sz="1200" spc="70" dirty="0">
                <a:latin typeface="Times New Roman"/>
                <a:cs typeface="Times New Roman"/>
              </a:rPr>
              <a:t> </a:t>
            </a:r>
            <a:r>
              <a:rPr sz="1200" dirty="0">
                <a:latin typeface="Times New Roman"/>
                <a:cs typeface="Times New Roman"/>
              </a:rPr>
              <a:t>usability</a:t>
            </a:r>
            <a:r>
              <a:rPr sz="1200" spc="70"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mind,</a:t>
            </a:r>
            <a:r>
              <a:rPr sz="1200" spc="70" dirty="0">
                <a:latin typeface="Times New Roman"/>
                <a:cs typeface="Times New Roman"/>
              </a:rPr>
              <a:t> </a:t>
            </a:r>
            <a:r>
              <a:rPr sz="1200" dirty="0">
                <a:latin typeface="Times New Roman"/>
                <a:cs typeface="Times New Roman"/>
              </a:rPr>
              <a:t>targeting</a:t>
            </a:r>
            <a:r>
              <a:rPr sz="1200" spc="65" dirty="0">
                <a:latin typeface="Times New Roman"/>
                <a:cs typeface="Times New Roman"/>
              </a:rPr>
              <a:t> </a:t>
            </a:r>
            <a:r>
              <a:rPr sz="1200" dirty="0">
                <a:latin typeface="Times New Roman"/>
                <a:cs typeface="Times New Roman"/>
              </a:rPr>
              <a:t>both</a:t>
            </a:r>
            <a:r>
              <a:rPr sz="1200" spc="70" dirty="0">
                <a:latin typeface="Times New Roman"/>
                <a:cs typeface="Times New Roman"/>
              </a:rPr>
              <a:t> </a:t>
            </a:r>
            <a:r>
              <a:rPr sz="1200" spc="-10" dirty="0">
                <a:latin typeface="Times New Roman"/>
                <a:cs typeface="Times New Roman"/>
              </a:rPr>
              <a:t>tech-</a:t>
            </a:r>
            <a:r>
              <a:rPr sz="1200" dirty="0">
                <a:latin typeface="Times New Roman"/>
                <a:cs typeface="Times New Roman"/>
              </a:rPr>
              <a:t>savvy</a:t>
            </a:r>
            <a:r>
              <a:rPr sz="1200" spc="85"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general</a:t>
            </a:r>
            <a:r>
              <a:rPr sz="1200" spc="70" dirty="0">
                <a:latin typeface="Times New Roman"/>
                <a:cs typeface="Times New Roman"/>
              </a:rPr>
              <a:t> </a:t>
            </a:r>
            <a:r>
              <a:rPr sz="1200" spc="-10" dirty="0">
                <a:latin typeface="Times New Roman"/>
                <a:cs typeface="Times New Roman"/>
              </a:rPr>
              <a:t>users. </a:t>
            </a:r>
            <a:r>
              <a:rPr sz="1200" dirty="0">
                <a:latin typeface="Times New Roman"/>
                <a:cs typeface="Times New Roman"/>
              </a:rPr>
              <a:t>Key</a:t>
            </a:r>
            <a:r>
              <a:rPr sz="1200" spc="-30" dirty="0">
                <a:latin typeface="Times New Roman"/>
                <a:cs typeface="Times New Roman"/>
              </a:rPr>
              <a:t> </a:t>
            </a:r>
            <a:r>
              <a:rPr sz="1200" dirty="0">
                <a:latin typeface="Times New Roman"/>
                <a:cs typeface="Times New Roman"/>
              </a:rPr>
              <a:t>screens</a:t>
            </a:r>
            <a:r>
              <a:rPr sz="1200" spc="-30" dirty="0">
                <a:latin typeface="Times New Roman"/>
                <a:cs typeface="Times New Roman"/>
              </a:rPr>
              <a:t> </a:t>
            </a:r>
            <a:r>
              <a:rPr sz="1200" spc="-10" dirty="0">
                <a:latin typeface="Times New Roman"/>
                <a:cs typeface="Times New Roman"/>
              </a:rPr>
              <a:t>include:</a:t>
            </a:r>
            <a:endParaRPr sz="1200" dirty="0">
              <a:latin typeface="Times New Roman"/>
              <a:cs typeface="Times New Roman"/>
            </a:endParaRPr>
          </a:p>
          <a:p>
            <a:pPr marL="469265" lvl="2" indent="-228600">
              <a:lnSpc>
                <a:spcPts val="1410"/>
              </a:lnSpc>
              <a:spcBef>
                <a:spcPts val="1310"/>
              </a:spcBef>
              <a:buSzPct val="83333"/>
              <a:buFont typeface="Symbol"/>
              <a:buChar char=""/>
              <a:tabLst>
                <a:tab pos="469265" algn="l"/>
              </a:tabLst>
            </a:pPr>
            <a:r>
              <a:rPr sz="1200" spc="-10" dirty="0">
                <a:latin typeface="Times New Roman"/>
                <a:cs typeface="Times New Roman"/>
              </a:rPr>
              <a:t>Login/Registration</a:t>
            </a:r>
            <a:r>
              <a:rPr sz="1200" spc="-15" dirty="0">
                <a:latin typeface="Times New Roman"/>
                <a:cs typeface="Times New Roman"/>
              </a:rPr>
              <a:t> </a:t>
            </a:r>
            <a:r>
              <a:rPr sz="1200" dirty="0">
                <a:latin typeface="Times New Roman"/>
                <a:cs typeface="Times New Roman"/>
              </a:rPr>
              <a:t>Pages:</a:t>
            </a:r>
            <a:r>
              <a:rPr sz="1200" spc="-10" dirty="0">
                <a:latin typeface="Times New Roman"/>
                <a:cs typeface="Times New Roman"/>
              </a:rPr>
              <a:t> </a:t>
            </a:r>
            <a:r>
              <a:rPr sz="1200" dirty="0">
                <a:latin typeface="Times New Roman"/>
                <a:cs typeface="Times New Roman"/>
              </a:rPr>
              <a:t>Allow</a:t>
            </a:r>
            <a:r>
              <a:rPr sz="1200" spc="-15" dirty="0">
                <a:latin typeface="Times New Roman"/>
                <a:cs typeface="Times New Roman"/>
              </a:rPr>
              <a:t> </a:t>
            </a:r>
            <a:r>
              <a:rPr sz="1200" dirty="0">
                <a:latin typeface="Times New Roman"/>
                <a:cs typeface="Times New Roman"/>
              </a:rPr>
              <a:t>role</a:t>
            </a:r>
            <a:r>
              <a:rPr sz="1200" spc="-10" dirty="0">
                <a:latin typeface="Times New Roman"/>
                <a:cs typeface="Times New Roman"/>
              </a:rPr>
              <a:t> </a:t>
            </a:r>
            <a:r>
              <a:rPr sz="1200" dirty="0">
                <a:latin typeface="Times New Roman"/>
                <a:cs typeface="Times New Roman"/>
              </a:rPr>
              <a:t>selection</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secure</a:t>
            </a:r>
            <a:r>
              <a:rPr sz="1200" spc="-20" dirty="0">
                <a:latin typeface="Times New Roman"/>
                <a:cs typeface="Times New Roman"/>
              </a:rPr>
              <a:t> </a:t>
            </a:r>
            <a:r>
              <a:rPr sz="1200" spc="-10" dirty="0">
                <a:latin typeface="Times New Roman"/>
                <a:cs typeface="Times New Roman"/>
              </a:rPr>
              <a:t>login.</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Auction</a:t>
            </a:r>
            <a:r>
              <a:rPr sz="1200" spc="-35" dirty="0">
                <a:latin typeface="Times New Roman"/>
                <a:cs typeface="Times New Roman"/>
              </a:rPr>
              <a:t> </a:t>
            </a:r>
            <a:r>
              <a:rPr sz="1200" dirty="0">
                <a:latin typeface="Times New Roman"/>
                <a:cs typeface="Times New Roman"/>
              </a:rPr>
              <a:t>Dashboard:</a:t>
            </a:r>
            <a:r>
              <a:rPr sz="1200" spc="-30" dirty="0">
                <a:latin typeface="Times New Roman"/>
                <a:cs typeface="Times New Roman"/>
              </a:rPr>
              <a:t> </a:t>
            </a: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live</a:t>
            </a:r>
            <a:r>
              <a:rPr sz="1200" spc="-35" dirty="0">
                <a:latin typeface="Times New Roman"/>
                <a:cs typeface="Times New Roman"/>
              </a:rPr>
              <a:t> </a:t>
            </a:r>
            <a:r>
              <a:rPr sz="1200" dirty="0">
                <a:latin typeface="Times New Roman"/>
                <a:cs typeface="Times New Roman"/>
              </a:rPr>
              <a:t>auctions</a:t>
            </a:r>
            <a:r>
              <a:rPr sz="1200" spc="-3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0" dirty="0">
                <a:latin typeface="Times New Roman"/>
                <a:cs typeface="Times New Roman"/>
              </a:rPr>
              <a:t> </a:t>
            </a:r>
            <a:r>
              <a:rPr sz="1200" spc="-10" dirty="0">
                <a:latin typeface="Times New Roman"/>
                <a:cs typeface="Times New Roman"/>
              </a:rPr>
              <a:t>updates.</a:t>
            </a:r>
            <a:endParaRPr sz="1200" dirty="0">
              <a:latin typeface="Times New Roman"/>
              <a:cs typeface="Times New Roman"/>
            </a:endParaRPr>
          </a:p>
          <a:p>
            <a:pPr marL="469265" marR="6350" lvl="2" indent="-228600">
              <a:lnSpc>
                <a:spcPts val="1380"/>
              </a:lnSpc>
              <a:spcBef>
                <a:spcPts val="70"/>
              </a:spcBef>
              <a:buSzPct val="83333"/>
              <a:buFont typeface="Symbol"/>
              <a:buChar char=""/>
              <a:tabLst>
                <a:tab pos="469265" algn="l"/>
              </a:tabLst>
            </a:pPr>
            <a:r>
              <a:rPr sz="1200" dirty="0">
                <a:latin typeface="Times New Roman"/>
                <a:cs typeface="Times New Roman"/>
              </a:rPr>
              <a:t>Property</a:t>
            </a:r>
            <a:r>
              <a:rPr sz="1200" spc="210" dirty="0">
                <a:latin typeface="Times New Roman"/>
                <a:cs typeface="Times New Roman"/>
              </a:rPr>
              <a:t> </a:t>
            </a:r>
            <a:r>
              <a:rPr sz="1200" dirty="0">
                <a:latin typeface="Times New Roman"/>
                <a:cs typeface="Times New Roman"/>
              </a:rPr>
              <a:t>Listing</a:t>
            </a:r>
            <a:r>
              <a:rPr sz="1200" spc="210" dirty="0">
                <a:latin typeface="Times New Roman"/>
                <a:cs typeface="Times New Roman"/>
              </a:rPr>
              <a:t> </a:t>
            </a:r>
            <a:r>
              <a:rPr sz="1200" dirty="0">
                <a:latin typeface="Times New Roman"/>
                <a:cs typeface="Times New Roman"/>
              </a:rPr>
              <a:t>Form:</a:t>
            </a:r>
            <a:r>
              <a:rPr sz="1200" spc="215" dirty="0">
                <a:latin typeface="Times New Roman"/>
                <a:cs typeface="Times New Roman"/>
              </a:rPr>
              <a:t> </a:t>
            </a:r>
            <a:r>
              <a:rPr sz="1200" dirty="0">
                <a:latin typeface="Times New Roman"/>
                <a:cs typeface="Times New Roman"/>
              </a:rPr>
              <a:t>A</a:t>
            </a:r>
            <a:r>
              <a:rPr sz="1200" spc="210" dirty="0">
                <a:latin typeface="Times New Roman"/>
                <a:cs typeface="Times New Roman"/>
              </a:rPr>
              <a:t> </a:t>
            </a:r>
            <a:r>
              <a:rPr sz="1200" spc="-10" dirty="0">
                <a:latin typeface="Times New Roman"/>
                <a:cs typeface="Times New Roman"/>
              </a:rPr>
              <a:t>seller-</a:t>
            </a:r>
            <a:r>
              <a:rPr sz="1200" dirty="0">
                <a:latin typeface="Times New Roman"/>
                <a:cs typeface="Times New Roman"/>
              </a:rPr>
              <a:t>facing</a:t>
            </a:r>
            <a:r>
              <a:rPr sz="1200" spc="215" dirty="0">
                <a:latin typeface="Times New Roman"/>
                <a:cs typeface="Times New Roman"/>
              </a:rPr>
              <a:t> </a:t>
            </a:r>
            <a:r>
              <a:rPr sz="1200" dirty="0">
                <a:latin typeface="Times New Roman"/>
                <a:cs typeface="Times New Roman"/>
              </a:rPr>
              <a:t>interface</a:t>
            </a:r>
            <a:r>
              <a:rPr sz="1200" spc="215" dirty="0">
                <a:latin typeface="Times New Roman"/>
                <a:cs typeface="Times New Roman"/>
              </a:rPr>
              <a:t> </a:t>
            </a:r>
            <a:r>
              <a:rPr sz="1200" dirty="0">
                <a:latin typeface="Times New Roman"/>
                <a:cs typeface="Times New Roman"/>
              </a:rPr>
              <a:t>that</a:t>
            </a:r>
            <a:r>
              <a:rPr sz="1200" spc="210" dirty="0">
                <a:latin typeface="Times New Roman"/>
                <a:cs typeface="Times New Roman"/>
              </a:rPr>
              <a:t> </a:t>
            </a:r>
            <a:r>
              <a:rPr sz="1200" dirty="0">
                <a:latin typeface="Times New Roman"/>
                <a:cs typeface="Times New Roman"/>
              </a:rPr>
              <a:t>suggests</a:t>
            </a:r>
            <a:r>
              <a:rPr sz="1200" spc="215" dirty="0">
                <a:latin typeface="Times New Roman"/>
                <a:cs typeface="Times New Roman"/>
              </a:rPr>
              <a:t> </a:t>
            </a:r>
            <a:r>
              <a:rPr sz="1200" dirty="0">
                <a:latin typeface="Times New Roman"/>
                <a:cs typeface="Times New Roman"/>
              </a:rPr>
              <a:t>price</a:t>
            </a:r>
            <a:r>
              <a:rPr sz="1200" spc="204" dirty="0">
                <a:latin typeface="Times New Roman"/>
                <a:cs typeface="Times New Roman"/>
              </a:rPr>
              <a:t> </a:t>
            </a:r>
            <a:r>
              <a:rPr sz="1200" dirty="0">
                <a:latin typeface="Times New Roman"/>
                <a:cs typeface="Times New Roman"/>
              </a:rPr>
              <a:t>using</a:t>
            </a:r>
            <a:r>
              <a:rPr sz="1200" spc="215" dirty="0">
                <a:latin typeface="Times New Roman"/>
                <a:cs typeface="Times New Roman"/>
              </a:rPr>
              <a:t> </a:t>
            </a:r>
            <a:r>
              <a:rPr sz="1200" dirty="0">
                <a:latin typeface="Times New Roman"/>
                <a:cs typeface="Times New Roman"/>
              </a:rPr>
              <a:t>the</a:t>
            </a:r>
            <a:r>
              <a:rPr sz="1200" spc="210" dirty="0">
                <a:latin typeface="Times New Roman"/>
                <a:cs typeface="Times New Roman"/>
              </a:rPr>
              <a:t> </a:t>
            </a:r>
            <a:r>
              <a:rPr sz="1200" spc="-25" dirty="0">
                <a:latin typeface="Times New Roman"/>
                <a:cs typeface="Times New Roman"/>
              </a:rPr>
              <a:t>AI </a:t>
            </a:r>
            <a:r>
              <a:rPr sz="1200" spc="-10" dirty="0">
                <a:latin typeface="Times New Roman"/>
                <a:cs typeface="Times New Roman"/>
              </a:rPr>
              <a:t>model.</a:t>
            </a:r>
            <a:endParaRPr sz="1200" dirty="0">
              <a:latin typeface="Times New Roman"/>
              <a:cs typeface="Times New Roman"/>
            </a:endParaRPr>
          </a:p>
          <a:p>
            <a:pPr marL="469265" lvl="2" indent="-228600">
              <a:lnSpc>
                <a:spcPts val="1315"/>
              </a:lnSpc>
              <a:buSzPct val="83333"/>
              <a:buFont typeface="Symbol"/>
              <a:buChar char=""/>
              <a:tabLst>
                <a:tab pos="469265" algn="l"/>
              </a:tabLst>
            </a:pP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Interface:</a:t>
            </a:r>
            <a:r>
              <a:rPr sz="1200" spc="-20" dirty="0">
                <a:latin typeface="Times New Roman"/>
                <a:cs typeface="Times New Roman"/>
              </a:rPr>
              <a:t> </a:t>
            </a:r>
            <a:r>
              <a:rPr sz="1200" dirty="0">
                <a:latin typeface="Times New Roman"/>
                <a:cs typeface="Times New Roman"/>
              </a:rPr>
              <a:t>Buyers</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place</a:t>
            </a:r>
            <a:r>
              <a:rPr sz="1200" spc="-30" dirty="0">
                <a:latin typeface="Times New Roman"/>
                <a:cs typeface="Times New Roman"/>
              </a:rPr>
              <a:t> </a:t>
            </a:r>
            <a:r>
              <a:rPr sz="1200" dirty="0">
                <a:latin typeface="Times New Roman"/>
                <a:cs typeface="Times New Roman"/>
              </a:rPr>
              <a:t>bids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see</a:t>
            </a:r>
            <a:r>
              <a:rPr sz="1200" spc="-2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spc="-10" dirty="0">
                <a:latin typeface="Times New Roman"/>
                <a:cs typeface="Times New Roman"/>
              </a:rPr>
              <a:t>instantly.</a:t>
            </a:r>
            <a:endParaRPr sz="1200" dirty="0">
              <a:latin typeface="Times New Roman"/>
              <a:cs typeface="Times New Roman"/>
            </a:endParaRPr>
          </a:p>
          <a:p>
            <a:pPr marL="469265" lvl="2" indent="-228600">
              <a:lnSpc>
                <a:spcPts val="1410"/>
              </a:lnSpc>
              <a:buSzPct val="83333"/>
              <a:buFont typeface="Symbol"/>
              <a:buChar char=""/>
              <a:tabLst>
                <a:tab pos="469265" algn="l"/>
              </a:tabLst>
            </a:pPr>
            <a:r>
              <a:rPr sz="1200" dirty="0">
                <a:latin typeface="Times New Roman"/>
                <a:cs typeface="Times New Roman"/>
              </a:rPr>
              <a:t>Admin</a:t>
            </a:r>
            <a:r>
              <a:rPr sz="1200" spc="-35" dirty="0">
                <a:latin typeface="Times New Roman"/>
                <a:cs typeface="Times New Roman"/>
              </a:rPr>
              <a:t> </a:t>
            </a:r>
            <a:r>
              <a:rPr sz="1200" dirty="0">
                <a:latin typeface="Times New Roman"/>
                <a:cs typeface="Times New Roman"/>
              </a:rPr>
              <a:t>Panel:</a:t>
            </a:r>
            <a:r>
              <a:rPr sz="1200" spc="-30"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review</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flagged</a:t>
            </a:r>
            <a:r>
              <a:rPr sz="1200" spc="-35" dirty="0">
                <a:latin typeface="Times New Roman"/>
                <a:cs typeface="Times New Roman"/>
              </a:rPr>
              <a:t> </a:t>
            </a:r>
            <a:r>
              <a:rPr sz="1200" dirty="0">
                <a:latin typeface="Times New Roman"/>
                <a:cs typeface="Times New Roman"/>
              </a:rPr>
              <a:t>documents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spc="-10" dirty="0">
                <a:latin typeface="Times New Roman"/>
                <a:cs typeface="Times New Roman"/>
              </a:rPr>
              <a:t>reports.</a:t>
            </a:r>
            <a:endParaRPr sz="1200" dirty="0">
              <a:latin typeface="Times New Roman"/>
              <a:cs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17416" y="4146930"/>
            <a:ext cx="106997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5.1:</a:t>
            </a:r>
            <a:r>
              <a:rPr sz="1200" b="1" spc="-20" dirty="0">
                <a:latin typeface="Times New Roman"/>
                <a:cs typeface="Times New Roman"/>
              </a:rPr>
              <a:t> </a:t>
            </a:r>
            <a:r>
              <a:rPr sz="1200" b="1" spc="-10" dirty="0">
                <a:latin typeface="Times New Roman"/>
                <a:cs typeface="Times New Roman"/>
              </a:rPr>
              <a:t>Contact</a:t>
            </a:r>
            <a:endParaRPr sz="1200">
              <a:latin typeface="Times New Roman"/>
              <a:cs typeface="Times New Roman"/>
            </a:endParaRPr>
          </a:p>
        </p:txBody>
      </p:sp>
      <p:pic>
        <p:nvPicPr>
          <p:cNvPr id="4" name="object 4"/>
          <p:cNvPicPr/>
          <p:nvPr/>
        </p:nvPicPr>
        <p:blipFill>
          <a:blip r:embed="rId2" cstate="print"/>
          <a:stretch>
            <a:fillRect/>
          </a:stretch>
        </p:blipFill>
        <p:spPr>
          <a:xfrm>
            <a:off x="1045844" y="762319"/>
            <a:ext cx="5669280" cy="2719704"/>
          </a:xfrm>
          <a:prstGeom prst="rect">
            <a:avLst/>
          </a:prstGeom>
        </p:spPr>
      </p:pic>
      <p:pic>
        <p:nvPicPr>
          <p:cNvPr id="5" name="object 5"/>
          <p:cNvPicPr/>
          <p:nvPr/>
        </p:nvPicPr>
        <p:blipFill>
          <a:blip r:embed="rId3" cstate="print"/>
          <a:stretch>
            <a:fillRect/>
          </a:stretch>
        </p:blipFill>
        <p:spPr>
          <a:xfrm>
            <a:off x="1189988" y="5152026"/>
            <a:ext cx="5669280" cy="2707385"/>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39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56633" y="7543800"/>
            <a:ext cx="93599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5" dirty="0">
                <a:latin typeface="Times New Roman"/>
                <a:cs typeface="Times New Roman"/>
              </a:rPr>
              <a:t> </a:t>
            </a:r>
            <a:r>
              <a:rPr sz="1200" b="1" dirty="0">
                <a:latin typeface="Times New Roman"/>
                <a:cs typeface="Times New Roman"/>
              </a:rPr>
              <a:t>5.</a:t>
            </a:r>
            <a:r>
              <a:rPr lang="en-US" sz="1200" b="1" dirty="0">
                <a:latin typeface="Times New Roman"/>
                <a:cs typeface="Times New Roman"/>
              </a:rPr>
              <a:t>2</a:t>
            </a:r>
            <a:r>
              <a:rPr sz="1200" b="1" dirty="0">
                <a:latin typeface="Times New Roman"/>
                <a:cs typeface="Times New Roman"/>
              </a:rPr>
              <a:t>:</a:t>
            </a:r>
            <a:r>
              <a:rPr sz="1200" b="1" spc="-15" dirty="0">
                <a:latin typeface="Times New Roman"/>
                <a:cs typeface="Times New Roman"/>
              </a:rPr>
              <a:t> </a:t>
            </a:r>
            <a:r>
              <a:rPr sz="1200" b="1" spc="-20" dirty="0">
                <a:latin typeface="Times New Roman"/>
                <a:cs typeface="Times New Roman"/>
              </a:rPr>
              <a:t>Login</a:t>
            </a:r>
            <a:endParaRPr sz="1200" dirty="0">
              <a:latin typeface="Times New Roman"/>
              <a:cs typeface="Times New Roman"/>
            </a:endParaRPr>
          </a:p>
        </p:txBody>
      </p:sp>
      <p:pic>
        <p:nvPicPr>
          <p:cNvPr id="3" name="object 3"/>
          <p:cNvPicPr/>
          <p:nvPr/>
        </p:nvPicPr>
        <p:blipFill>
          <a:blip r:embed="rId2" cstate="print"/>
          <a:stretch>
            <a:fillRect/>
          </a:stretch>
        </p:blipFill>
        <p:spPr>
          <a:xfrm>
            <a:off x="1045844" y="1524000"/>
            <a:ext cx="5669280" cy="539686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32479" y="8526710"/>
            <a:ext cx="109601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5" dirty="0">
                <a:latin typeface="Times New Roman"/>
                <a:cs typeface="Times New Roman"/>
              </a:rPr>
              <a:t> </a:t>
            </a:r>
            <a:r>
              <a:rPr sz="1200" b="1" dirty="0">
                <a:latin typeface="Times New Roman"/>
                <a:cs typeface="Times New Roman"/>
              </a:rPr>
              <a:t>5.</a:t>
            </a:r>
            <a:r>
              <a:rPr lang="en-US" sz="1200" b="1" dirty="0">
                <a:latin typeface="Times New Roman"/>
                <a:cs typeface="Times New Roman"/>
              </a:rPr>
              <a:t>3</a:t>
            </a:r>
            <a:r>
              <a:rPr sz="1200" b="1" dirty="0">
                <a:latin typeface="Times New Roman"/>
                <a:cs typeface="Times New Roman"/>
              </a:rPr>
              <a:t>:</a:t>
            </a:r>
            <a:r>
              <a:rPr sz="1200" b="1" spc="-15" dirty="0">
                <a:latin typeface="Times New Roman"/>
                <a:cs typeface="Times New Roman"/>
              </a:rPr>
              <a:t> </a:t>
            </a:r>
            <a:r>
              <a:rPr sz="1200" b="1" spc="-10" dirty="0">
                <a:latin typeface="Times New Roman"/>
                <a:cs typeface="Times New Roman"/>
              </a:rPr>
              <a:t>Register</a:t>
            </a:r>
            <a:endParaRPr sz="1200" dirty="0">
              <a:latin typeface="Times New Roman"/>
              <a:cs typeface="Times New Roman"/>
            </a:endParaRPr>
          </a:p>
        </p:txBody>
      </p:sp>
      <p:pic>
        <p:nvPicPr>
          <p:cNvPr id="3" name="object 3"/>
          <p:cNvPicPr/>
          <p:nvPr/>
        </p:nvPicPr>
        <p:blipFill>
          <a:blip r:embed="rId2" cstate="print"/>
          <a:stretch>
            <a:fillRect/>
          </a:stretch>
        </p:blipFill>
        <p:spPr>
          <a:xfrm>
            <a:off x="1045844" y="751415"/>
            <a:ext cx="5669280" cy="747712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0382" y="3232531"/>
            <a:ext cx="2031364"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25" dirty="0">
                <a:latin typeface="Times New Roman"/>
                <a:cs typeface="Times New Roman"/>
              </a:rPr>
              <a:t> </a:t>
            </a:r>
            <a:r>
              <a:rPr sz="1200" b="1" dirty="0">
                <a:latin typeface="Times New Roman"/>
                <a:cs typeface="Times New Roman"/>
              </a:rPr>
              <a:t>5.</a:t>
            </a:r>
            <a:r>
              <a:rPr lang="en-US" sz="1200" b="1" dirty="0">
                <a:latin typeface="Times New Roman"/>
                <a:cs typeface="Times New Roman"/>
              </a:rPr>
              <a:t>4</a:t>
            </a:r>
            <a:r>
              <a:rPr sz="1200" b="1" dirty="0">
                <a:latin typeface="Times New Roman"/>
                <a:cs typeface="Times New Roman"/>
              </a:rPr>
              <a:t>:</a:t>
            </a:r>
            <a:r>
              <a:rPr sz="1200" b="1" spc="-30" dirty="0">
                <a:latin typeface="Times New Roman"/>
                <a:cs typeface="Times New Roman"/>
              </a:rPr>
              <a:t> </a:t>
            </a:r>
            <a:r>
              <a:rPr sz="1200" b="1" dirty="0">
                <a:latin typeface="Times New Roman"/>
                <a:cs typeface="Times New Roman"/>
              </a:rPr>
              <a:t>Property</a:t>
            </a:r>
            <a:r>
              <a:rPr sz="1200" b="1" spc="-15" dirty="0">
                <a:latin typeface="Times New Roman"/>
                <a:cs typeface="Times New Roman"/>
              </a:rPr>
              <a:t> </a:t>
            </a:r>
            <a:r>
              <a:rPr sz="1200" b="1" spc="-10" dirty="0">
                <a:latin typeface="Times New Roman"/>
                <a:cs typeface="Times New Roman"/>
              </a:rPr>
              <a:t>Management</a:t>
            </a:r>
            <a:endParaRPr sz="1200" dirty="0">
              <a:latin typeface="Times New Roman"/>
              <a:cs typeface="Times New Roman"/>
            </a:endParaRPr>
          </a:p>
        </p:txBody>
      </p:sp>
      <p:sp>
        <p:nvSpPr>
          <p:cNvPr id="3" name="object 3"/>
          <p:cNvSpPr txBox="1"/>
          <p:nvPr/>
        </p:nvSpPr>
        <p:spPr>
          <a:xfrm>
            <a:off x="2949066" y="8091678"/>
            <a:ext cx="175260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5" dirty="0">
                <a:latin typeface="Times New Roman"/>
                <a:cs typeface="Times New Roman"/>
              </a:rPr>
              <a:t> </a:t>
            </a:r>
            <a:r>
              <a:rPr sz="1200" b="1" dirty="0">
                <a:latin typeface="Times New Roman"/>
                <a:cs typeface="Times New Roman"/>
              </a:rPr>
              <a:t>5.</a:t>
            </a:r>
            <a:r>
              <a:rPr lang="en-US" sz="1200" b="1" dirty="0">
                <a:latin typeface="Times New Roman"/>
                <a:cs typeface="Times New Roman"/>
              </a:rPr>
              <a:t>5</a:t>
            </a:r>
            <a:r>
              <a:rPr sz="1200" b="1" dirty="0">
                <a:latin typeface="Times New Roman"/>
                <a:cs typeface="Times New Roman"/>
              </a:rPr>
              <a:t>:</a:t>
            </a:r>
            <a:r>
              <a:rPr sz="1200" b="1" spc="-15" dirty="0">
                <a:latin typeface="Times New Roman"/>
                <a:cs typeface="Times New Roman"/>
              </a:rPr>
              <a:t> </a:t>
            </a:r>
            <a:r>
              <a:rPr sz="1200" b="1" dirty="0">
                <a:latin typeface="Times New Roman"/>
                <a:cs typeface="Times New Roman"/>
              </a:rPr>
              <a:t>User</a:t>
            </a:r>
            <a:r>
              <a:rPr sz="1200" b="1" spc="-10" dirty="0">
                <a:latin typeface="Times New Roman"/>
                <a:cs typeface="Times New Roman"/>
              </a:rPr>
              <a:t> Management</a:t>
            </a:r>
            <a:endParaRPr sz="1200" dirty="0">
              <a:latin typeface="Times New Roman"/>
              <a:cs typeface="Times New Roman"/>
            </a:endParaRPr>
          </a:p>
        </p:txBody>
      </p:sp>
      <p:pic>
        <p:nvPicPr>
          <p:cNvPr id="4" name="object 4"/>
          <p:cNvPicPr/>
          <p:nvPr/>
        </p:nvPicPr>
        <p:blipFill>
          <a:blip r:embed="rId2" cstate="print"/>
          <a:stretch>
            <a:fillRect/>
          </a:stretch>
        </p:blipFill>
        <p:spPr>
          <a:xfrm>
            <a:off x="1219200" y="914400"/>
            <a:ext cx="5669280" cy="1804034"/>
          </a:xfrm>
          <a:prstGeom prst="rect">
            <a:avLst/>
          </a:prstGeom>
        </p:spPr>
      </p:pic>
      <p:pic>
        <p:nvPicPr>
          <p:cNvPr id="5" name="object 5"/>
          <p:cNvPicPr/>
          <p:nvPr/>
        </p:nvPicPr>
        <p:blipFill>
          <a:blip r:embed="rId3" cstate="print"/>
          <a:stretch>
            <a:fillRect/>
          </a:stretch>
        </p:blipFill>
        <p:spPr>
          <a:xfrm>
            <a:off x="1219200" y="4667122"/>
            <a:ext cx="5669280" cy="2202815"/>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98775" y="4590415"/>
            <a:ext cx="170053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20" dirty="0">
                <a:latin typeface="Times New Roman"/>
                <a:cs typeface="Times New Roman"/>
              </a:rPr>
              <a:t> </a:t>
            </a:r>
            <a:r>
              <a:rPr sz="1200" b="1" dirty="0">
                <a:latin typeface="Times New Roman"/>
                <a:cs typeface="Times New Roman"/>
              </a:rPr>
              <a:t>5.</a:t>
            </a:r>
            <a:r>
              <a:rPr lang="en-US" sz="1200" b="1" dirty="0">
                <a:latin typeface="Times New Roman"/>
                <a:cs typeface="Times New Roman"/>
              </a:rPr>
              <a:t>6</a:t>
            </a:r>
            <a:r>
              <a:rPr sz="1200" b="1" dirty="0">
                <a:latin typeface="Times New Roman"/>
                <a:cs typeface="Times New Roman"/>
              </a:rPr>
              <a:t>:</a:t>
            </a:r>
            <a:r>
              <a:rPr sz="1200" b="1" spc="-25" dirty="0">
                <a:latin typeface="Times New Roman"/>
                <a:cs typeface="Times New Roman"/>
              </a:rPr>
              <a:t> </a:t>
            </a:r>
            <a:r>
              <a:rPr sz="1200" b="1" dirty="0">
                <a:latin typeface="Times New Roman"/>
                <a:cs typeface="Times New Roman"/>
              </a:rPr>
              <a:t>Manage</a:t>
            </a:r>
            <a:r>
              <a:rPr sz="1200" b="1" spc="-20" dirty="0">
                <a:latin typeface="Times New Roman"/>
                <a:cs typeface="Times New Roman"/>
              </a:rPr>
              <a:t> </a:t>
            </a:r>
            <a:r>
              <a:rPr sz="1200" b="1" spc="-10" dirty="0">
                <a:latin typeface="Times New Roman"/>
                <a:cs typeface="Times New Roman"/>
              </a:rPr>
              <a:t>Property</a:t>
            </a:r>
            <a:endParaRPr sz="1200" dirty="0">
              <a:latin typeface="Times New Roman"/>
              <a:cs typeface="Times New Roman"/>
            </a:endParaRPr>
          </a:p>
        </p:txBody>
      </p:sp>
      <p:sp>
        <p:nvSpPr>
          <p:cNvPr id="3" name="object 3"/>
          <p:cNvSpPr txBox="1"/>
          <p:nvPr/>
        </p:nvSpPr>
        <p:spPr>
          <a:xfrm>
            <a:off x="2868295" y="8553450"/>
            <a:ext cx="1760855"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0" dirty="0">
                <a:latin typeface="Times New Roman"/>
                <a:cs typeface="Times New Roman"/>
              </a:rPr>
              <a:t> </a:t>
            </a:r>
            <a:r>
              <a:rPr sz="1200" b="1" dirty="0">
                <a:latin typeface="Times New Roman"/>
                <a:cs typeface="Times New Roman"/>
              </a:rPr>
              <a:t>5.</a:t>
            </a:r>
            <a:r>
              <a:rPr lang="en-US" sz="1200" b="1" dirty="0">
                <a:latin typeface="Times New Roman"/>
                <a:cs typeface="Times New Roman"/>
              </a:rPr>
              <a:t>7</a:t>
            </a:r>
            <a:r>
              <a:rPr sz="1200" b="1" dirty="0">
                <a:latin typeface="Times New Roman"/>
                <a:cs typeface="Times New Roman"/>
              </a:rPr>
              <a:t>:</a:t>
            </a:r>
            <a:r>
              <a:rPr sz="1200" b="1" spc="-10" dirty="0">
                <a:latin typeface="Times New Roman"/>
                <a:cs typeface="Times New Roman"/>
              </a:rPr>
              <a:t> </a:t>
            </a:r>
            <a:r>
              <a:rPr sz="1200" b="1" dirty="0">
                <a:latin typeface="Times New Roman"/>
                <a:cs typeface="Times New Roman"/>
              </a:rPr>
              <a:t>Admin </a:t>
            </a:r>
            <a:r>
              <a:rPr sz="1200" b="1" spc="-10" dirty="0">
                <a:latin typeface="Times New Roman"/>
                <a:cs typeface="Times New Roman"/>
              </a:rPr>
              <a:t>Dashboard</a:t>
            </a:r>
            <a:endParaRPr sz="1200" dirty="0">
              <a:latin typeface="Times New Roman"/>
              <a:cs typeface="Times New Roman"/>
            </a:endParaRPr>
          </a:p>
        </p:txBody>
      </p:sp>
      <p:pic>
        <p:nvPicPr>
          <p:cNvPr id="4" name="object 4"/>
          <p:cNvPicPr/>
          <p:nvPr/>
        </p:nvPicPr>
        <p:blipFill>
          <a:blip r:embed="rId2" cstate="print"/>
          <a:stretch>
            <a:fillRect/>
          </a:stretch>
        </p:blipFill>
        <p:spPr>
          <a:xfrm>
            <a:off x="1143000" y="1620519"/>
            <a:ext cx="5669280" cy="2351804"/>
          </a:xfrm>
          <a:prstGeom prst="rect">
            <a:avLst/>
          </a:prstGeom>
        </p:spPr>
      </p:pic>
      <p:pic>
        <p:nvPicPr>
          <p:cNvPr id="5" name="object 5"/>
          <p:cNvPicPr/>
          <p:nvPr/>
        </p:nvPicPr>
        <p:blipFill>
          <a:blip r:embed="rId3" cstate="print"/>
          <a:stretch>
            <a:fillRect/>
          </a:stretch>
        </p:blipFill>
        <p:spPr>
          <a:xfrm>
            <a:off x="1143000" y="5320284"/>
            <a:ext cx="5669280" cy="2725039"/>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44495" y="3765930"/>
            <a:ext cx="145542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0" dirty="0">
                <a:latin typeface="Times New Roman"/>
                <a:cs typeface="Times New Roman"/>
              </a:rPr>
              <a:t> </a:t>
            </a:r>
            <a:r>
              <a:rPr sz="1200" b="1" dirty="0">
                <a:latin typeface="Times New Roman"/>
                <a:cs typeface="Times New Roman"/>
              </a:rPr>
              <a:t>5.</a:t>
            </a:r>
            <a:r>
              <a:rPr lang="en-US" sz="1200" b="1" dirty="0">
                <a:latin typeface="Times New Roman"/>
                <a:cs typeface="Times New Roman"/>
              </a:rPr>
              <a:t>8</a:t>
            </a:r>
            <a:r>
              <a:rPr sz="1200" b="1" dirty="0">
                <a:latin typeface="Times New Roman"/>
                <a:cs typeface="Times New Roman"/>
              </a:rPr>
              <a:t>:</a:t>
            </a:r>
            <a:r>
              <a:rPr sz="1200" b="1" spc="-10" dirty="0">
                <a:latin typeface="Times New Roman"/>
                <a:cs typeface="Times New Roman"/>
              </a:rPr>
              <a:t> </a:t>
            </a:r>
            <a:r>
              <a:rPr sz="1200" b="1" dirty="0">
                <a:latin typeface="Times New Roman"/>
                <a:cs typeface="Times New Roman"/>
              </a:rPr>
              <a:t>Add</a:t>
            </a:r>
            <a:r>
              <a:rPr sz="1200" b="1" spc="-5" dirty="0">
                <a:latin typeface="Times New Roman"/>
                <a:cs typeface="Times New Roman"/>
              </a:rPr>
              <a:t> </a:t>
            </a:r>
            <a:r>
              <a:rPr sz="1200" b="1" spc="-10" dirty="0">
                <a:latin typeface="Times New Roman"/>
                <a:cs typeface="Times New Roman"/>
              </a:rPr>
              <a:t>Property</a:t>
            </a:r>
            <a:endParaRPr sz="1200" dirty="0">
              <a:latin typeface="Times New Roman"/>
              <a:cs typeface="Times New Roman"/>
            </a:endParaRPr>
          </a:p>
        </p:txBody>
      </p:sp>
      <p:sp>
        <p:nvSpPr>
          <p:cNvPr id="3" name="object 3"/>
          <p:cNvSpPr txBox="1"/>
          <p:nvPr/>
        </p:nvSpPr>
        <p:spPr>
          <a:xfrm>
            <a:off x="3162681" y="8769807"/>
            <a:ext cx="1021080" cy="19749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Fig</a:t>
            </a:r>
            <a:r>
              <a:rPr sz="1200" b="1" spc="-15" dirty="0">
                <a:latin typeface="Times New Roman"/>
                <a:cs typeface="Times New Roman"/>
              </a:rPr>
              <a:t> </a:t>
            </a:r>
            <a:r>
              <a:rPr sz="1200" b="1" dirty="0">
                <a:latin typeface="Times New Roman"/>
                <a:cs typeface="Times New Roman"/>
              </a:rPr>
              <a:t>5.</a:t>
            </a:r>
            <a:r>
              <a:rPr lang="en-US" sz="1200" b="1" dirty="0">
                <a:latin typeface="Times New Roman"/>
                <a:cs typeface="Times New Roman"/>
              </a:rPr>
              <a:t>9</a:t>
            </a:r>
            <a:r>
              <a:rPr sz="1200" b="1" dirty="0">
                <a:latin typeface="Times New Roman"/>
                <a:cs typeface="Times New Roman"/>
              </a:rPr>
              <a:t>:</a:t>
            </a:r>
            <a:r>
              <a:rPr sz="1200" b="1" spc="-15" dirty="0">
                <a:latin typeface="Times New Roman"/>
                <a:cs typeface="Times New Roman"/>
              </a:rPr>
              <a:t> </a:t>
            </a:r>
            <a:r>
              <a:rPr sz="1200" b="1" spc="-20" dirty="0">
                <a:latin typeface="Times New Roman"/>
                <a:cs typeface="Times New Roman"/>
              </a:rPr>
              <a:t>Home</a:t>
            </a:r>
            <a:endParaRPr sz="1200" dirty="0">
              <a:latin typeface="Times New Roman"/>
              <a:cs typeface="Times New Roman"/>
            </a:endParaRPr>
          </a:p>
        </p:txBody>
      </p:sp>
      <p:pic>
        <p:nvPicPr>
          <p:cNvPr id="4" name="object 4"/>
          <p:cNvPicPr/>
          <p:nvPr/>
        </p:nvPicPr>
        <p:blipFill>
          <a:blip r:embed="rId2" cstate="print"/>
          <a:stretch>
            <a:fillRect/>
          </a:stretch>
        </p:blipFill>
        <p:spPr>
          <a:xfrm>
            <a:off x="1066800" y="914400"/>
            <a:ext cx="5669279" cy="2333625"/>
          </a:xfrm>
          <a:prstGeom prst="rect">
            <a:avLst/>
          </a:prstGeom>
        </p:spPr>
      </p:pic>
      <p:pic>
        <p:nvPicPr>
          <p:cNvPr id="5" name="object 5"/>
          <p:cNvPicPr/>
          <p:nvPr/>
        </p:nvPicPr>
        <p:blipFill>
          <a:blip r:embed="rId3" cstate="print"/>
          <a:stretch>
            <a:fillRect/>
          </a:stretch>
        </p:blipFill>
        <p:spPr>
          <a:xfrm>
            <a:off x="1066800" y="5200522"/>
            <a:ext cx="5669280" cy="270764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45</a:t>
            </a:r>
          </a:p>
        </p:txBody>
      </p:sp>
      <p:sp>
        <p:nvSpPr>
          <p:cNvPr id="2" name="object 2"/>
          <p:cNvSpPr txBox="1"/>
          <p:nvPr/>
        </p:nvSpPr>
        <p:spPr>
          <a:xfrm>
            <a:off x="2315082" y="886714"/>
            <a:ext cx="34163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Chapter</a:t>
            </a:r>
            <a:r>
              <a:rPr sz="1800" b="1" spc="-25" dirty="0">
                <a:latin typeface="Times New Roman"/>
                <a:cs typeface="Times New Roman"/>
              </a:rPr>
              <a:t> </a:t>
            </a:r>
            <a:r>
              <a:rPr sz="1800" b="1" dirty="0">
                <a:latin typeface="Times New Roman"/>
                <a:cs typeface="Times New Roman"/>
              </a:rPr>
              <a:t>6:</a:t>
            </a:r>
            <a:r>
              <a:rPr sz="1800" b="1" spc="-25" dirty="0">
                <a:latin typeface="Times New Roman"/>
                <a:cs typeface="Times New Roman"/>
              </a:rPr>
              <a:t> </a:t>
            </a:r>
            <a:r>
              <a:rPr sz="1800" b="1" dirty="0">
                <a:latin typeface="Times New Roman"/>
                <a:cs typeface="Times New Roman"/>
              </a:rPr>
              <a:t>Testing</a:t>
            </a:r>
            <a:r>
              <a:rPr sz="1800" b="1" spc="-30" dirty="0">
                <a:latin typeface="Times New Roman"/>
                <a:cs typeface="Times New Roman"/>
              </a:rPr>
              <a:t> </a:t>
            </a:r>
            <a:r>
              <a:rPr sz="1800" b="1" dirty="0">
                <a:latin typeface="Times New Roman"/>
                <a:cs typeface="Times New Roman"/>
              </a:rPr>
              <a:t>and</a:t>
            </a:r>
            <a:r>
              <a:rPr sz="1800" b="1" spc="-25" dirty="0">
                <a:latin typeface="Times New Roman"/>
                <a:cs typeface="Times New Roman"/>
              </a:rPr>
              <a:t> </a:t>
            </a:r>
            <a:r>
              <a:rPr sz="1800" b="1" spc="-10" dirty="0">
                <a:latin typeface="Times New Roman"/>
                <a:cs typeface="Times New Roman"/>
              </a:rPr>
              <a:t>Evaluation</a:t>
            </a:r>
            <a:endParaRPr sz="1800">
              <a:latin typeface="Times New Roman"/>
              <a:cs typeface="Times New Roman"/>
            </a:endParaRPr>
          </a:p>
        </p:txBody>
      </p:sp>
      <p:sp>
        <p:nvSpPr>
          <p:cNvPr id="3" name="object 3"/>
          <p:cNvSpPr txBox="1"/>
          <p:nvPr/>
        </p:nvSpPr>
        <p:spPr>
          <a:xfrm>
            <a:off x="1176324" y="1770633"/>
            <a:ext cx="5695950" cy="4527521"/>
          </a:xfrm>
          <a:prstGeom prst="rect">
            <a:avLst/>
          </a:prstGeom>
        </p:spPr>
        <p:txBody>
          <a:bodyPr vert="horz" wrap="square" lIns="0" tIns="13335" rIns="0" bIns="0" rtlCol="0">
            <a:spAutoFit/>
          </a:bodyPr>
          <a:lstStyle/>
          <a:p>
            <a:pPr marL="12700" lvl="1">
              <a:lnSpc>
                <a:spcPct val="100000"/>
              </a:lnSpc>
              <a:spcBef>
                <a:spcPts val="105"/>
              </a:spcBef>
              <a:tabLst>
                <a:tab pos="270510" algn="l"/>
              </a:tabLst>
            </a:pPr>
            <a:r>
              <a:rPr lang="en-US" sz="1350" b="1" dirty="0">
                <a:latin typeface="Times New Roman"/>
                <a:cs typeface="Times New Roman"/>
              </a:rPr>
              <a:t>6.1  </a:t>
            </a:r>
            <a:r>
              <a:rPr sz="1350" b="1" dirty="0">
                <a:latin typeface="Times New Roman"/>
                <a:cs typeface="Times New Roman"/>
              </a:rPr>
              <a:t>Introduction</a:t>
            </a:r>
            <a:r>
              <a:rPr sz="1350" b="1" spc="-40" dirty="0">
                <a:latin typeface="Times New Roman"/>
                <a:cs typeface="Times New Roman"/>
              </a:rPr>
              <a:t> </a:t>
            </a:r>
            <a:r>
              <a:rPr sz="1350" b="1" dirty="0">
                <a:latin typeface="Times New Roman"/>
                <a:cs typeface="Times New Roman"/>
              </a:rPr>
              <a:t>to</a:t>
            </a:r>
            <a:r>
              <a:rPr sz="1350" b="1" spc="-35" dirty="0">
                <a:latin typeface="Times New Roman"/>
                <a:cs typeface="Times New Roman"/>
              </a:rPr>
              <a:t> </a:t>
            </a:r>
            <a:r>
              <a:rPr sz="1350" b="1" spc="-10" dirty="0">
                <a:latin typeface="Times New Roman"/>
                <a:cs typeface="Times New Roman"/>
              </a:rPr>
              <a:t>Testing</a:t>
            </a:r>
            <a:endParaRPr sz="1350" dirty="0">
              <a:latin typeface="Times New Roman"/>
              <a:cs typeface="Times New Roman"/>
            </a:endParaRPr>
          </a:p>
          <a:p>
            <a:pPr marL="12700" marR="5715" algn="just">
              <a:lnSpc>
                <a:spcPts val="1380"/>
              </a:lnSpc>
              <a:spcBef>
                <a:spcPts val="1435"/>
              </a:spcBef>
            </a:pPr>
            <a:r>
              <a:rPr sz="1200" dirty="0">
                <a:latin typeface="Times New Roman"/>
                <a:cs typeface="Times New Roman"/>
              </a:rPr>
              <a:t>Testing</a:t>
            </a:r>
            <a:r>
              <a:rPr sz="1200" spc="110" dirty="0">
                <a:latin typeface="Times New Roman"/>
                <a:cs typeface="Times New Roman"/>
              </a:rPr>
              <a:t> </a:t>
            </a:r>
            <a:r>
              <a:rPr sz="1200" dirty="0">
                <a:latin typeface="Times New Roman"/>
                <a:cs typeface="Times New Roman"/>
              </a:rPr>
              <a:t>is</a:t>
            </a:r>
            <a:r>
              <a:rPr sz="1200" spc="114"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vital</a:t>
            </a:r>
            <a:r>
              <a:rPr sz="1200" spc="105" dirty="0">
                <a:latin typeface="Times New Roman"/>
                <a:cs typeface="Times New Roman"/>
              </a:rPr>
              <a:t> </a:t>
            </a:r>
            <a:r>
              <a:rPr sz="1200" dirty="0">
                <a:latin typeface="Times New Roman"/>
                <a:cs typeface="Times New Roman"/>
              </a:rPr>
              <a:t>aspect</a:t>
            </a:r>
            <a:r>
              <a:rPr sz="1200" spc="114"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software</a:t>
            </a:r>
            <a:r>
              <a:rPr sz="1200" spc="100" dirty="0">
                <a:latin typeface="Times New Roman"/>
                <a:cs typeface="Times New Roman"/>
              </a:rPr>
              <a:t> </a:t>
            </a:r>
            <a:r>
              <a:rPr sz="1200" dirty="0">
                <a:latin typeface="Times New Roman"/>
                <a:cs typeface="Times New Roman"/>
              </a:rPr>
              <a:t>development</a:t>
            </a:r>
            <a:r>
              <a:rPr sz="1200" spc="114" dirty="0">
                <a:latin typeface="Times New Roman"/>
                <a:cs typeface="Times New Roman"/>
              </a:rPr>
              <a:t> </a:t>
            </a:r>
            <a:r>
              <a:rPr sz="1200" dirty="0">
                <a:latin typeface="Times New Roman"/>
                <a:cs typeface="Times New Roman"/>
              </a:rPr>
              <a:t>lifecycle,</a:t>
            </a:r>
            <a:r>
              <a:rPr sz="1200" spc="114" dirty="0">
                <a:latin typeface="Times New Roman"/>
                <a:cs typeface="Times New Roman"/>
              </a:rPr>
              <a:t> </a:t>
            </a:r>
            <a:r>
              <a:rPr sz="1200" dirty="0">
                <a:latin typeface="Times New Roman"/>
                <a:cs typeface="Times New Roman"/>
              </a:rPr>
              <a:t>aimed</a:t>
            </a:r>
            <a:r>
              <a:rPr sz="1200" spc="110" dirty="0">
                <a:latin typeface="Times New Roman"/>
                <a:cs typeface="Times New Roman"/>
              </a:rPr>
              <a:t> </a:t>
            </a:r>
            <a:r>
              <a:rPr sz="1200" dirty="0">
                <a:latin typeface="Times New Roman"/>
                <a:cs typeface="Times New Roman"/>
              </a:rPr>
              <a:t>at</a:t>
            </a:r>
            <a:r>
              <a:rPr sz="1200" spc="125" dirty="0">
                <a:latin typeface="Times New Roman"/>
                <a:cs typeface="Times New Roman"/>
              </a:rPr>
              <a:t> </a:t>
            </a:r>
            <a:r>
              <a:rPr sz="1200" dirty="0">
                <a:latin typeface="Times New Roman"/>
                <a:cs typeface="Times New Roman"/>
              </a:rPr>
              <a:t>ensuring</a:t>
            </a:r>
            <a:r>
              <a:rPr sz="1200" spc="110" dirty="0">
                <a:latin typeface="Times New Roman"/>
                <a:cs typeface="Times New Roman"/>
              </a:rPr>
              <a:t> </a:t>
            </a:r>
            <a:r>
              <a:rPr sz="1200" dirty="0">
                <a:latin typeface="Times New Roman"/>
                <a:cs typeface="Times New Roman"/>
              </a:rPr>
              <a:t>that</a:t>
            </a:r>
            <a:r>
              <a:rPr sz="1200" spc="110" dirty="0">
                <a:latin typeface="Times New Roman"/>
                <a:cs typeface="Times New Roman"/>
              </a:rPr>
              <a:t> </a:t>
            </a:r>
            <a:r>
              <a:rPr sz="1200" spc="-25" dirty="0">
                <a:latin typeface="Times New Roman"/>
                <a:cs typeface="Times New Roman"/>
              </a:rPr>
              <a:t>the </a:t>
            </a:r>
            <a:r>
              <a:rPr sz="1200" dirty="0">
                <a:latin typeface="Times New Roman"/>
                <a:cs typeface="Times New Roman"/>
              </a:rPr>
              <a:t>developed</a:t>
            </a:r>
            <a:r>
              <a:rPr sz="1200" spc="5"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performs</a:t>
            </a:r>
            <a:r>
              <a:rPr sz="1200" spc="15"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intended,</a:t>
            </a:r>
            <a:r>
              <a:rPr sz="1200" spc="15" dirty="0">
                <a:latin typeface="Times New Roman"/>
                <a:cs typeface="Times New Roman"/>
              </a:rPr>
              <a:t> </a:t>
            </a:r>
            <a:r>
              <a:rPr sz="1200" dirty="0">
                <a:latin typeface="Times New Roman"/>
                <a:cs typeface="Times New Roman"/>
              </a:rPr>
              <a:t>satisfies user</a:t>
            </a:r>
            <a:r>
              <a:rPr sz="1200" spc="10" dirty="0">
                <a:latin typeface="Times New Roman"/>
                <a:cs typeface="Times New Roman"/>
              </a:rPr>
              <a:t> </a:t>
            </a:r>
            <a:r>
              <a:rPr sz="1200" dirty="0">
                <a:latin typeface="Times New Roman"/>
                <a:cs typeface="Times New Roman"/>
              </a:rPr>
              <a:t>requirements,</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free</a:t>
            </a:r>
            <a:r>
              <a:rPr sz="1200" spc="10"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spc="-10" dirty="0">
                <a:latin typeface="Times New Roman"/>
                <a:cs typeface="Times New Roman"/>
              </a:rPr>
              <a:t>critical </a:t>
            </a:r>
            <a:r>
              <a:rPr sz="1200" dirty="0">
                <a:latin typeface="Times New Roman"/>
                <a:cs typeface="Times New Roman"/>
              </a:rPr>
              <a:t>errors or</a:t>
            </a:r>
            <a:r>
              <a:rPr sz="1200" spc="5" dirty="0">
                <a:latin typeface="Times New Roman"/>
                <a:cs typeface="Times New Roman"/>
              </a:rPr>
              <a:t> </a:t>
            </a:r>
            <a:r>
              <a:rPr sz="1200" dirty="0">
                <a:latin typeface="Times New Roman"/>
                <a:cs typeface="Times New Roman"/>
              </a:rPr>
              <a:t>security</a:t>
            </a:r>
            <a:r>
              <a:rPr sz="1200" spc="10" dirty="0">
                <a:latin typeface="Times New Roman"/>
                <a:cs typeface="Times New Roman"/>
              </a:rPr>
              <a:t> </a:t>
            </a:r>
            <a:r>
              <a:rPr sz="1200" dirty="0">
                <a:latin typeface="Times New Roman"/>
                <a:cs typeface="Times New Roman"/>
              </a:rPr>
              <a:t>vulnerabilities.</a:t>
            </a:r>
            <a:r>
              <a:rPr sz="1200" spc="5" dirty="0">
                <a:latin typeface="Times New Roman"/>
                <a:cs typeface="Times New Roman"/>
              </a:rPr>
              <a:t> </a:t>
            </a:r>
            <a:r>
              <a:rPr sz="1200" dirty="0">
                <a:latin typeface="Times New Roman"/>
                <a:cs typeface="Times New Roman"/>
              </a:rPr>
              <a:t>Testing</a:t>
            </a:r>
            <a:r>
              <a:rPr sz="1200" spc="10" dirty="0">
                <a:latin typeface="Times New Roman"/>
                <a:cs typeface="Times New Roman"/>
              </a:rPr>
              <a:t> </a:t>
            </a:r>
            <a:r>
              <a:rPr sz="1200" dirty="0">
                <a:latin typeface="Times New Roman"/>
                <a:cs typeface="Times New Roman"/>
              </a:rPr>
              <a:t>serves</a:t>
            </a:r>
            <a:r>
              <a:rPr sz="1200" spc="10" dirty="0">
                <a:latin typeface="Times New Roman"/>
                <a:cs typeface="Times New Roman"/>
              </a:rPr>
              <a:t> </a:t>
            </a:r>
            <a:r>
              <a:rPr sz="1200" dirty="0">
                <a:latin typeface="Times New Roman"/>
                <a:cs typeface="Times New Roman"/>
              </a:rPr>
              <a:t>multiple</a:t>
            </a:r>
            <a:r>
              <a:rPr sz="1200" spc="5" dirty="0">
                <a:latin typeface="Times New Roman"/>
                <a:cs typeface="Times New Roman"/>
              </a:rPr>
              <a:t> </a:t>
            </a:r>
            <a:r>
              <a:rPr sz="1200" dirty="0">
                <a:latin typeface="Times New Roman"/>
                <a:cs typeface="Times New Roman"/>
              </a:rPr>
              <a:t>purposes:</a:t>
            </a:r>
            <a:r>
              <a:rPr sz="1200" spc="10" dirty="0">
                <a:latin typeface="Times New Roman"/>
                <a:cs typeface="Times New Roman"/>
              </a:rPr>
              <a:t> </a:t>
            </a:r>
            <a:r>
              <a:rPr sz="1200" dirty="0">
                <a:latin typeface="Times New Roman"/>
                <a:cs typeface="Times New Roman"/>
              </a:rPr>
              <a:t>identifying</a:t>
            </a:r>
            <a:r>
              <a:rPr sz="1200" spc="10" dirty="0">
                <a:latin typeface="Times New Roman"/>
                <a:cs typeface="Times New Roman"/>
              </a:rPr>
              <a:t> </a:t>
            </a:r>
            <a:r>
              <a:rPr sz="1200" dirty="0">
                <a:latin typeface="Times New Roman"/>
                <a:cs typeface="Times New Roman"/>
              </a:rPr>
              <a:t>bugs</a:t>
            </a:r>
            <a:r>
              <a:rPr sz="1200" spc="5" dirty="0">
                <a:latin typeface="Times New Roman"/>
                <a:cs typeface="Times New Roman"/>
              </a:rPr>
              <a:t> </a:t>
            </a:r>
            <a:r>
              <a:rPr sz="1200" dirty="0">
                <a:latin typeface="Times New Roman"/>
                <a:cs typeface="Times New Roman"/>
              </a:rPr>
              <a:t>early</a:t>
            </a:r>
            <a:r>
              <a:rPr sz="1200" spc="10" dirty="0">
                <a:latin typeface="Times New Roman"/>
                <a:cs typeface="Times New Roman"/>
              </a:rPr>
              <a:t> </a:t>
            </a:r>
            <a:r>
              <a:rPr sz="1200" spc="-25" dirty="0">
                <a:latin typeface="Times New Roman"/>
                <a:cs typeface="Times New Roman"/>
              </a:rPr>
              <a:t>in </a:t>
            </a:r>
            <a:r>
              <a:rPr sz="1200" dirty="0">
                <a:latin typeface="Times New Roman"/>
                <a:cs typeface="Times New Roman"/>
              </a:rPr>
              <a:t>the</a:t>
            </a:r>
            <a:r>
              <a:rPr sz="1200" spc="204" dirty="0">
                <a:latin typeface="Times New Roman"/>
                <a:cs typeface="Times New Roman"/>
              </a:rPr>
              <a:t> </a:t>
            </a:r>
            <a:r>
              <a:rPr sz="1200" dirty="0">
                <a:latin typeface="Times New Roman"/>
                <a:cs typeface="Times New Roman"/>
              </a:rPr>
              <a:t>development</a:t>
            </a:r>
            <a:r>
              <a:rPr sz="1200" spc="210" dirty="0">
                <a:latin typeface="Times New Roman"/>
                <a:cs typeface="Times New Roman"/>
              </a:rPr>
              <a:t> </a:t>
            </a:r>
            <a:r>
              <a:rPr sz="1200" dirty="0">
                <a:latin typeface="Times New Roman"/>
                <a:cs typeface="Times New Roman"/>
              </a:rPr>
              <a:t>cycle,</a:t>
            </a:r>
            <a:r>
              <a:rPr sz="1200" spc="204" dirty="0">
                <a:latin typeface="Times New Roman"/>
                <a:cs typeface="Times New Roman"/>
              </a:rPr>
              <a:t> </a:t>
            </a:r>
            <a:r>
              <a:rPr sz="1200" dirty="0">
                <a:latin typeface="Times New Roman"/>
                <a:cs typeface="Times New Roman"/>
              </a:rPr>
              <a:t>validating</a:t>
            </a:r>
            <a:r>
              <a:rPr sz="1200" spc="210" dirty="0">
                <a:latin typeface="Times New Roman"/>
                <a:cs typeface="Times New Roman"/>
              </a:rPr>
              <a:t> </a:t>
            </a:r>
            <a:r>
              <a:rPr sz="1200" dirty="0">
                <a:latin typeface="Times New Roman"/>
                <a:cs typeface="Times New Roman"/>
              </a:rPr>
              <a:t>business</a:t>
            </a:r>
            <a:r>
              <a:rPr sz="1200" spc="210" dirty="0">
                <a:latin typeface="Times New Roman"/>
                <a:cs typeface="Times New Roman"/>
              </a:rPr>
              <a:t> </a:t>
            </a:r>
            <a:r>
              <a:rPr sz="1200" dirty="0">
                <a:latin typeface="Times New Roman"/>
                <a:cs typeface="Times New Roman"/>
              </a:rPr>
              <a:t>logic,</a:t>
            </a:r>
            <a:r>
              <a:rPr sz="1200" spc="210" dirty="0">
                <a:latin typeface="Times New Roman"/>
                <a:cs typeface="Times New Roman"/>
              </a:rPr>
              <a:t> </a:t>
            </a:r>
            <a:r>
              <a:rPr sz="1200" dirty="0">
                <a:latin typeface="Times New Roman"/>
                <a:cs typeface="Times New Roman"/>
              </a:rPr>
              <a:t>ensuring</a:t>
            </a:r>
            <a:r>
              <a:rPr sz="1200" spc="210" dirty="0">
                <a:latin typeface="Times New Roman"/>
                <a:cs typeface="Times New Roman"/>
              </a:rPr>
              <a:t> </a:t>
            </a:r>
            <a:r>
              <a:rPr sz="1200" dirty="0">
                <a:latin typeface="Times New Roman"/>
                <a:cs typeface="Times New Roman"/>
              </a:rPr>
              <a:t>compatibility</a:t>
            </a:r>
            <a:r>
              <a:rPr sz="1200" spc="210" dirty="0">
                <a:latin typeface="Times New Roman"/>
                <a:cs typeface="Times New Roman"/>
              </a:rPr>
              <a:t> </a:t>
            </a:r>
            <a:r>
              <a:rPr sz="1200" dirty="0">
                <a:latin typeface="Times New Roman"/>
                <a:cs typeface="Times New Roman"/>
              </a:rPr>
              <a:t>across</a:t>
            </a:r>
            <a:r>
              <a:rPr sz="1200" spc="210" dirty="0">
                <a:latin typeface="Times New Roman"/>
                <a:cs typeface="Times New Roman"/>
              </a:rPr>
              <a:t> </a:t>
            </a:r>
            <a:r>
              <a:rPr sz="1200" spc="-10" dirty="0">
                <a:latin typeface="Times New Roman"/>
                <a:cs typeface="Times New Roman"/>
              </a:rPr>
              <a:t>different </a:t>
            </a:r>
            <a:r>
              <a:rPr sz="1200" dirty="0">
                <a:latin typeface="Times New Roman"/>
                <a:cs typeface="Times New Roman"/>
              </a:rPr>
              <a:t>platforms,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evaluating</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system’s</a:t>
            </a:r>
            <a:r>
              <a:rPr sz="1200" spc="-40" dirty="0">
                <a:latin typeface="Times New Roman"/>
                <a:cs typeface="Times New Roman"/>
              </a:rPr>
              <a:t> </a:t>
            </a:r>
            <a:r>
              <a:rPr sz="1200" dirty="0">
                <a:latin typeface="Times New Roman"/>
                <a:cs typeface="Times New Roman"/>
              </a:rPr>
              <a:t>performance</a:t>
            </a:r>
            <a:r>
              <a:rPr sz="1200" spc="-45" dirty="0">
                <a:latin typeface="Times New Roman"/>
                <a:cs typeface="Times New Roman"/>
              </a:rPr>
              <a:t> </a:t>
            </a:r>
            <a:r>
              <a:rPr sz="1200" dirty="0">
                <a:latin typeface="Times New Roman"/>
                <a:cs typeface="Times New Roman"/>
              </a:rPr>
              <a:t>under</a:t>
            </a:r>
            <a:r>
              <a:rPr sz="1200" spc="-40" dirty="0">
                <a:latin typeface="Times New Roman"/>
                <a:cs typeface="Times New Roman"/>
              </a:rPr>
              <a:t> </a:t>
            </a:r>
            <a:r>
              <a:rPr sz="1200" dirty="0">
                <a:latin typeface="Times New Roman"/>
                <a:cs typeface="Times New Roman"/>
              </a:rPr>
              <a:t>various</a:t>
            </a:r>
            <a:r>
              <a:rPr sz="1200" spc="-40" dirty="0">
                <a:latin typeface="Times New Roman"/>
                <a:cs typeface="Times New Roman"/>
              </a:rPr>
              <a:t> </a:t>
            </a:r>
            <a:r>
              <a:rPr sz="1200" dirty="0">
                <a:latin typeface="Times New Roman"/>
                <a:cs typeface="Times New Roman"/>
              </a:rPr>
              <a:t>operational</a:t>
            </a:r>
            <a:r>
              <a:rPr sz="1200" spc="-40" dirty="0">
                <a:latin typeface="Times New Roman"/>
                <a:cs typeface="Times New Roman"/>
              </a:rPr>
              <a:t> </a:t>
            </a:r>
            <a:r>
              <a:rPr sz="1200" spc="-10" dirty="0">
                <a:latin typeface="Times New Roman"/>
                <a:cs typeface="Times New Roman"/>
              </a:rPr>
              <a:t>loads.</a:t>
            </a:r>
            <a:endParaRPr sz="1200" dirty="0">
              <a:latin typeface="Times New Roman"/>
              <a:cs typeface="Times New Roman"/>
            </a:endParaRPr>
          </a:p>
          <a:p>
            <a:pPr>
              <a:lnSpc>
                <a:spcPct val="100000"/>
              </a:lnSpc>
              <a:spcBef>
                <a:spcPts val="25"/>
              </a:spcBef>
            </a:pPr>
            <a:endParaRPr sz="1200" dirty="0">
              <a:latin typeface="Times New Roman"/>
              <a:cs typeface="Times New Roman"/>
            </a:endParaRPr>
          </a:p>
          <a:p>
            <a:pPr marL="12700" marR="5080" algn="just">
              <a:lnSpc>
                <a:spcPts val="1380"/>
              </a:lnSpc>
            </a:pPr>
            <a:r>
              <a:rPr sz="1200" dirty="0">
                <a:latin typeface="Times New Roman"/>
                <a:cs typeface="Times New Roman"/>
              </a:rPr>
              <a:t>In</a:t>
            </a:r>
            <a:r>
              <a:rPr sz="1200" spc="125"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case</a:t>
            </a:r>
            <a:r>
              <a:rPr sz="1200" spc="125"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b="1" dirty="0">
                <a:latin typeface="Times New Roman"/>
                <a:cs typeface="Times New Roman"/>
              </a:rPr>
              <a:t>Auction</a:t>
            </a:r>
            <a:r>
              <a:rPr sz="1200" b="1" spc="130" dirty="0">
                <a:latin typeface="Times New Roman"/>
                <a:cs typeface="Times New Roman"/>
              </a:rPr>
              <a:t> </a:t>
            </a:r>
            <a:r>
              <a:rPr sz="1200" b="1" dirty="0">
                <a:latin typeface="Times New Roman"/>
                <a:cs typeface="Times New Roman"/>
              </a:rPr>
              <a:t>Abode</a:t>
            </a:r>
            <a:r>
              <a:rPr sz="1200" b="1" spc="130" dirty="0">
                <a:latin typeface="Times New Roman"/>
                <a:cs typeface="Times New Roman"/>
              </a:rPr>
              <a:t> </a:t>
            </a:r>
            <a:r>
              <a:rPr sz="1200" spc="-10" dirty="0">
                <a:latin typeface="Times New Roman"/>
                <a:cs typeface="Times New Roman"/>
              </a:rPr>
              <a:t>platform—</a:t>
            </a:r>
            <a:r>
              <a:rPr sz="1200" dirty="0">
                <a:latin typeface="Times New Roman"/>
                <a:cs typeface="Times New Roman"/>
              </a:rPr>
              <a:t>a</a:t>
            </a:r>
            <a:r>
              <a:rPr sz="1200" spc="125" dirty="0">
                <a:latin typeface="Times New Roman"/>
                <a:cs typeface="Times New Roman"/>
              </a:rPr>
              <a:t> </a:t>
            </a:r>
            <a:r>
              <a:rPr sz="1200" spc="-10" dirty="0">
                <a:latin typeface="Times New Roman"/>
                <a:cs typeface="Times New Roman"/>
              </a:rPr>
              <a:t>web-</a:t>
            </a:r>
            <a:r>
              <a:rPr sz="1200" dirty="0">
                <a:latin typeface="Times New Roman"/>
                <a:cs typeface="Times New Roman"/>
              </a:rPr>
              <a:t>based,</a:t>
            </a:r>
            <a:r>
              <a:rPr sz="1200" spc="130" dirty="0">
                <a:latin typeface="Times New Roman"/>
                <a:cs typeface="Times New Roman"/>
              </a:rPr>
              <a:t> </a:t>
            </a:r>
            <a:r>
              <a:rPr sz="1200" spc="-10" dirty="0">
                <a:latin typeface="Times New Roman"/>
                <a:cs typeface="Times New Roman"/>
              </a:rPr>
              <a:t>AI-</a:t>
            </a:r>
            <a:r>
              <a:rPr sz="1200" dirty="0">
                <a:latin typeface="Times New Roman"/>
                <a:cs typeface="Times New Roman"/>
              </a:rPr>
              <a:t>integrated</a:t>
            </a:r>
            <a:r>
              <a:rPr sz="1200" spc="130" dirty="0">
                <a:latin typeface="Times New Roman"/>
                <a:cs typeface="Times New Roman"/>
              </a:rPr>
              <a:t> </a:t>
            </a:r>
            <a:r>
              <a:rPr sz="1200" dirty="0">
                <a:latin typeface="Times New Roman"/>
                <a:cs typeface="Times New Roman"/>
              </a:rPr>
              <a:t>property</a:t>
            </a:r>
            <a:r>
              <a:rPr sz="1200" spc="125" dirty="0">
                <a:latin typeface="Times New Roman"/>
                <a:cs typeface="Times New Roman"/>
              </a:rPr>
              <a:t> </a:t>
            </a:r>
            <a:r>
              <a:rPr sz="1200" spc="-10" dirty="0">
                <a:latin typeface="Times New Roman"/>
                <a:cs typeface="Times New Roman"/>
              </a:rPr>
              <a:t>auction system—</a:t>
            </a:r>
            <a:r>
              <a:rPr sz="1200" dirty="0">
                <a:latin typeface="Times New Roman"/>
                <a:cs typeface="Times New Roman"/>
              </a:rPr>
              <a:t>testing</a:t>
            </a:r>
            <a:r>
              <a:rPr sz="1200" spc="150" dirty="0">
                <a:latin typeface="Times New Roman"/>
                <a:cs typeface="Times New Roman"/>
              </a:rPr>
              <a:t> </a:t>
            </a:r>
            <a:r>
              <a:rPr sz="1200" dirty="0">
                <a:latin typeface="Times New Roman"/>
                <a:cs typeface="Times New Roman"/>
              </a:rPr>
              <a:t>was</a:t>
            </a:r>
            <a:r>
              <a:rPr sz="1200" spc="145" dirty="0">
                <a:latin typeface="Times New Roman"/>
                <a:cs typeface="Times New Roman"/>
              </a:rPr>
              <a:t> </a:t>
            </a:r>
            <a:r>
              <a:rPr sz="1200" dirty="0">
                <a:latin typeface="Times New Roman"/>
                <a:cs typeface="Times New Roman"/>
              </a:rPr>
              <a:t>even</a:t>
            </a:r>
            <a:r>
              <a:rPr sz="1200" spc="150" dirty="0">
                <a:latin typeface="Times New Roman"/>
                <a:cs typeface="Times New Roman"/>
              </a:rPr>
              <a:t> </a:t>
            </a:r>
            <a:r>
              <a:rPr sz="1200" dirty="0">
                <a:latin typeface="Times New Roman"/>
                <a:cs typeface="Times New Roman"/>
              </a:rPr>
              <a:t>more</a:t>
            </a:r>
            <a:r>
              <a:rPr sz="1200" spc="140" dirty="0">
                <a:latin typeface="Times New Roman"/>
                <a:cs typeface="Times New Roman"/>
              </a:rPr>
              <a:t> </a:t>
            </a:r>
            <a:r>
              <a:rPr sz="1200" dirty="0">
                <a:latin typeface="Times New Roman"/>
                <a:cs typeface="Times New Roman"/>
              </a:rPr>
              <a:t>critical</a:t>
            </a:r>
            <a:r>
              <a:rPr sz="1200" spc="150" dirty="0">
                <a:latin typeface="Times New Roman"/>
                <a:cs typeface="Times New Roman"/>
              </a:rPr>
              <a:t> </a:t>
            </a:r>
            <a:r>
              <a:rPr sz="1200" dirty="0">
                <a:latin typeface="Times New Roman"/>
                <a:cs typeface="Times New Roman"/>
              </a:rPr>
              <a:t>due</a:t>
            </a:r>
            <a:r>
              <a:rPr sz="1200" spc="14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dirty="0">
                <a:latin typeface="Times New Roman"/>
                <a:cs typeface="Times New Roman"/>
              </a:rPr>
              <a:t>the</a:t>
            </a:r>
            <a:r>
              <a:rPr sz="1200" spc="14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40" dirty="0">
                <a:latin typeface="Times New Roman"/>
                <a:cs typeface="Times New Roman"/>
              </a:rPr>
              <a:t> </a:t>
            </a:r>
            <a:r>
              <a:rPr sz="1200" dirty="0">
                <a:latin typeface="Times New Roman"/>
                <a:cs typeface="Times New Roman"/>
              </a:rPr>
              <a:t>nature</a:t>
            </a:r>
            <a:r>
              <a:rPr sz="1200" spc="145" dirty="0">
                <a:latin typeface="Times New Roman"/>
                <a:cs typeface="Times New Roman"/>
              </a:rPr>
              <a:t> </a:t>
            </a:r>
            <a:r>
              <a:rPr sz="1200" dirty="0">
                <a:latin typeface="Times New Roman"/>
                <a:cs typeface="Times New Roman"/>
              </a:rPr>
              <a:t>of</a:t>
            </a:r>
            <a:r>
              <a:rPr sz="1200" spc="140" dirty="0">
                <a:latin typeface="Times New Roman"/>
                <a:cs typeface="Times New Roman"/>
              </a:rPr>
              <a:t> </a:t>
            </a:r>
            <a:r>
              <a:rPr sz="1200" dirty="0">
                <a:latin typeface="Times New Roman"/>
                <a:cs typeface="Times New Roman"/>
              </a:rPr>
              <a:t>bidding,</a:t>
            </a:r>
            <a:r>
              <a:rPr sz="1200" spc="150" dirty="0">
                <a:latin typeface="Times New Roman"/>
                <a:cs typeface="Times New Roman"/>
              </a:rPr>
              <a:t> </a:t>
            </a:r>
            <a:r>
              <a:rPr sz="1200" spc="-10" dirty="0">
                <a:latin typeface="Times New Roman"/>
                <a:cs typeface="Times New Roman"/>
              </a:rPr>
              <a:t>role-based functionality,</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involvement</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machine</a:t>
            </a:r>
            <a:r>
              <a:rPr sz="1200" spc="-35" dirty="0">
                <a:latin typeface="Times New Roman"/>
                <a:cs typeface="Times New Roman"/>
              </a:rPr>
              <a:t> </a:t>
            </a:r>
            <a:r>
              <a:rPr sz="1200" spc="-10" dirty="0">
                <a:latin typeface="Times New Roman"/>
                <a:cs typeface="Times New Roman"/>
              </a:rPr>
              <a:t>learning</a:t>
            </a:r>
            <a:r>
              <a:rPr sz="1200" spc="-35" dirty="0">
                <a:latin typeface="Times New Roman"/>
                <a:cs typeface="Times New Roman"/>
              </a:rPr>
              <a:t> </a:t>
            </a:r>
            <a:r>
              <a:rPr sz="1200" dirty="0">
                <a:latin typeface="Times New Roman"/>
                <a:cs typeface="Times New Roman"/>
              </a:rPr>
              <a:t>models</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price</a:t>
            </a:r>
            <a:r>
              <a:rPr sz="1200" spc="-40" dirty="0">
                <a:latin typeface="Times New Roman"/>
                <a:cs typeface="Times New Roman"/>
              </a:rPr>
              <a:t> </a:t>
            </a:r>
            <a:r>
              <a:rPr sz="1200" dirty="0">
                <a:latin typeface="Times New Roman"/>
                <a:cs typeface="Times New Roman"/>
              </a:rPr>
              <a:t>prediction</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document </a:t>
            </a:r>
            <a:r>
              <a:rPr sz="1200" dirty="0">
                <a:latin typeface="Times New Roman"/>
                <a:cs typeface="Times New Roman"/>
              </a:rPr>
              <a:t>verification.</a:t>
            </a:r>
            <a:r>
              <a:rPr sz="1200" spc="5"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chapter</a:t>
            </a:r>
            <a:r>
              <a:rPr sz="1200" spc="15" dirty="0">
                <a:latin typeface="Times New Roman"/>
                <a:cs typeface="Times New Roman"/>
              </a:rPr>
              <a:t> </a:t>
            </a:r>
            <a:r>
              <a:rPr sz="1200" dirty="0">
                <a:latin typeface="Times New Roman"/>
                <a:cs typeface="Times New Roman"/>
              </a:rPr>
              <a:t>discusses</a:t>
            </a:r>
            <a:r>
              <a:rPr sz="1200" spc="10" dirty="0">
                <a:latin typeface="Times New Roman"/>
                <a:cs typeface="Times New Roman"/>
              </a:rPr>
              <a:t> </a:t>
            </a:r>
            <a:r>
              <a:rPr sz="1200" dirty="0">
                <a:latin typeface="Times New Roman"/>
                <a:cs typeface="Times New Roman"/>
              </a:rPr>
              <a:t>various</a:t>
            </a:r>
            <a:r>
              <a:rPr sz="1200" spc="5" dirty="0">
                <a:latin typeface="Times New Roman"/>
                <a:cs typeface="Times New Roman"/>
              </a:rPr>
              <a:t> </a:t>
            </a:r>
            <a:r>
              <a:rPr sz="1200" dirty="0">
                <a:latin typeface="Times New Roman"/>
                <a:cs typeface="Times New Roman"/>
              </a:rPr>
              <a:t>types</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tests</a:t>
            </a:r>
            <a:r>
              <a:rPr sz="1200" spc="10" dirty="0">
                <a:latin typeface="Times New Roman"/>
                <a:cs typeface="Times New Roman"/>
              </a:rPr>
              <a:t> </a:t>
            </a:r>
            <a:r>
              <a:rPr sz="1200" dirty="0">
                <a:latin typeface="Times New Roman"/>
                <a:cs typeface="Times New Roman"/>
              </a:rPr>
              <a:t>performed</a:t>
            </a:r>
            <a:r>
              <a:rPr sz="1200" spc="5" dirty="0">
                <a:latin typeface="Times New Roman"/>
                <a:cs typeface="Times New Roman"/>
              </a:rPr>
              <a:t> </a:t>
            </a:r>
            <a:r>
              <a:rPr sz="1200" dirty="0">
                <a:latin typeface="Times New Roman"/>
                <a:cs typeface="Times New Roman"/>
              </a:rPr>
              <a:t>during</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development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spc="-10" dirty="0">
                <a:latin typeface="Times New Roman"/>
                <a:cs typeface="Times New Roman"/>
              </a:rPr>
              <a:t>including:</a:t>
            </a:r>
            <a:endParaRPr sz="1200" dirty="0">
              <a:latin typeface="Times New Roman"/>
              <a:cs typeface="Times New Roman"/>
            </a:endParaRPr>
          </a:p>
          <a:p>
            <a:pPr marL="469265" lvl="2" indent="-228600">
              <a:lnSpc>
                <a:spcPts val="1410"/>
              </a:lnSpc>
              <a:spcBef>
                <a:spcPts val="1310"/>
              </a:spcBef>
              <a:buSzPct val="83333"/>
              <a:buFont typeface="Symbol"/>
              <a:buChar char=""/>
              <a:tabLst>
                <a:tab pos="469265" algn="l"/>
              </a:tabLst>
            </a:pPr>
            <a:r>
              <a:rPr sz="1200" dirty="0">
                <a:latin typeface="Times New Roman"/>
                <a:cs typeface="Times New Roman"/>
              </a:rPr>
              <a:t>Functional</a:t>
            </a:r>
            <a:r>
              <a:rPr sz="1200" spc="-7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Unit</a:t>
            </a:r>
            <a:r>
              <a:rPr sz="1200" spc="-2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Integration</a:t>
            </a:r>
            <a:r>
              <a:rPr sz="1200" spc="-7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spc="-10" dirty="0">
                <a:latin typeface="Times New Roman"/>
                <a:cs typeface="Times New Roman"/>
              </a:rPr>
              <a:t>Performance</a:t>
            </a:r>
            <a:r>
              <a:rPr sz="1200" spc="3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Security</a:t>
            </a:r>
            <a:r>
              <a:rPr sz="1200" spc="-45"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380"/>
              </a:lnSpc>
              <a:buSzPct val="83333"/>
              <a:buFont typeface="Symbol"/>
              <a:buChar char=""/>
              <a:tabLst>
                <a:tab pos="469265" algn="l"/>
              </a:tabLst>
            </a:pPr>
            <a:r>
              <a:rPr sz="1200" dirty="0">
                <a:latin typeface="Times New Roman"/>
                <a:cs typeface="Times New Roman"/>
              </a:rPr>
              <a:t>Usability</a:t>
            </a:r>
            <a:r>
              <a:rPr sz="1200" spc="-4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lvl="2" indent="-228600">
              <a:lnSpc>
                <a:spcPts val="1410"/>
              </a:lnSpc>
              <a:buSzPct val="83333"/>
              <a:buFont typeface="Symbol"/>
              <a:buChar char=""/>
              <a:tabLst>
                <a:tab pos="469265" algn="l"/>
              </a:tabLst>
            </a:pPr>
            <a:r>
              <a:rPr sz="1200" dirty="0">
                <a:latin typeface="Times New Roman"/>
                <a:cs typeface="Times New Roman"/>
              </a:rPr>
              <a:t>Evaluation</a:t>
            </a:r>
            <a:r>
              <a:rPr sz="1200" spc="-50" dirty="0">
                <a:latin typeface="Times New Roman"/>
                <a:cs typeface="Times New Roman"/>
              </a:rPr>
              <a:t> </a:t>
            </a:r>
            <a:r>
              <a:rPr sz="1200" dirty="0">
                <a:latin typeface="Times New Roman"/>
                <a:cs typeface="Times New Roman"/>
              </a:rPr>
              <a:t>via</a:t>
            </a:r>
            <a:r>
              <a:rPr sz="1200" spc="-50" dirty="0">
                <a:latin typeface="Times New Roman"/>
                <a:cs typeface="Times New Roman"/>
              </a:rPr>
              <a:t> </a:t>
            </a:r>
            <a:r>
              <a:rPr sz="1200" dirty="0">
                <a:latin typeface="Times New Roman"/>
                <a:cs typeface="Times New Roman"/>
              </a:rPr>
              <a:t>Performance</a:t>
            </a:r>
            <a:r>
              <a:rPr sz="1200" spc="-55" dirty="0">
                <a:latin typeface="Times New Roman"/>
                <a:cs typeface="Times New Roman"/>
              </a:rPr>
              <a:t> </a:t>
            </a:r>
            <a:r>
              <a:rPr sz="1200" spc="-10" dirty="0">
                <a:latin typeface="Times New Roman"/>
                <a:cs typeface="Times New Roman"/>
              </a:rPr>
              <a:t>Metrics</a:t>
            </a:r>
            <a:endParaRPr sz="1200" dirty="0">
              <a:latin typeface="Times New Roman"/>
              <a:cs typeface="Times New Roman"/>
            </a:endParaRPr>
          </a:p>
          <a:p>
            <a:pPr>
              <a:lnSpc>
                <a:spcPct val="100000"/>
              </a:lnSpc>
              <a:spcBef>
                <a:spcPts val="45"/>
              </a:spcBef>
            </a:pPr>
            <a:endParaRPr sz="1200" dirty="0">
              <a:latin typeface="Times New Roman"/>
              <a:cs typeface="Times New Roman"/>
            </a:endParaRPr>
          </a:p>
          <a:p>
            <a:pPr marL="12700" marR="6350" algn="just">
              <a:lnSpc>
                <a:spcPts val="1380"/>
              </a:lnSpc>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combination</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automated</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manual</a:t>
            </a:r>
            <a:r>
              <a:rPr sz="1200" spc="-30" dirty="0">
                <a:latin typeface="Times New Roman"/>
                <a:cs typeface="Times New Roman"/>
              </a:rPr>
              <a:t> </a:t>
            </a:r>
            <a:r>
              <a:rPr sz="1200" dirty="0">
                <a:latin typeface="Times New Roman"/>
                <a:cs typeface="Times New Roman"/>
              </a:rPr>
              <a:t>testing</a:t>
            </a:r>
            <a:r>
              <a:rPr sz="1200" spc="-30" dirty="0">
                <a:latin typeface="Times New Roman"/>
                <a:cs typeface="Times New Roman"/>
              </a:rPr>
              <a:t> </a:t>
            </a:r>
            <a:r>
              <a:rPr sz="1200" dirty="0">
                <a:latin typeface="Times New Roman"/>
                <a:cs typeface="Times New Roman"/>
              </a:rPr>
              <a:t>strategies</a:t>
            </a:r>
            <a:r>
              <a:rPr sz="1200" spc="-15" dirty="0">
                <a:latin typeface="Times New Roman"/>
                <a:cs typeface="Times New Roman"/>
              </a:rPr>
              <a:t> </a:t>
            </a:r>
            <a:r>
              <a:rPr sz="1200" dirty="0">
                <a:latin typeface="Times New Roman"/>
                <a:cs typeface="Times New Roman"/>
              </a:rPr>
              <a:t>provided</a:t>
            </a:r>
            <a:r>
              <a:rPr sz="1200" spc="-2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holistic</a:t>
            </a:r>
            <a:r>
              <a:rPr sz="1200" spc="-35" dirty="0">
                <a:latin typeface="Times New Roman"/>
                <a:cs typeface="Times New Roman"/>
              </a:rPr>
              <a:t> </a:t>
            </a:r>
            <a:r>
              <a:rPr sz="1200" dirty="0">
                <a:latin typeface="Times New Roman"/>
                <a:cs typeface="Times New Roman"/>
              </a:rPr>
              <a:t>validation</a:t>
            </a:r>
            <a:r>
              <a:rPr sz="1200" spc="-30" dirty="0">
                <a:latin typeface="Times New Roman"/>
                <a:cs typeface="Times New Roman"/>
              </a:rPr>
              <a:t> </a:t>
            </a:r>
            <a:r>
              <a:rPr sz="1200" spc="-25" dirty="0">
                <a:latin typeface="Times New Roman"/>
                <a:cs typeface="Times New Roman"/>
              </a:rPr>
              <a:t>of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platform</a:t>
            </a:r>
            <a:r>
              <a:rPr sz="1200" spc="-3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both</a:t>
            </a:r>
            <a:r>
              <a:rPr sz="1200" spc="-30" dirty="0">
                <a:latin typeface="Times New Roman"/>
                <a:cs typeface="Times New Roman"/>
              </a:rPr>
              <a:t> </a:t>
            </a:r>
            <a:r>
              <a:rPr sz="1200" dirty="0">
                <a:latin typeface="Times New Roman"/>
                <a:cs typeface="Times New Roman"/>
              </a:rPr>
              <a:t>technical</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spc="-10" dirty="0">
                <a:latin typeface="Times New Roman"/>
                <a:cs typeface="Times New Roman"/>
              </a:rPr>
              <a:t>perspectives.</a:t>
            </a:r>
            <a:endParaRPr sz="1200" dirty="0">
              <a:latin typeface="Times New Roman"/>
              <a:cs typeface="Times New Roman"/>
            </a:endParaRPr>
          </a:p>
        </p:txBody>
      </p:sp>
      <p:sp>
        <p:nvSpPr>
          <p:cNvPr id="4" name="object 4"/>
          <p:cNvSpPr txBox="1"/>
          <p:nvPr/>
        </p:nvSpPr>
        <p:spPr>
          <a:xfrm>
            <a:off x="1176324" y="6716648"/>
            <a:ext cx="5695315" cy="202010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6.2</a:t>
            </a:r>
            <a:r>
              <a:rPr sz="1350" b="1" spc="-40" dirty="0">
                <a:latin typeface="Times New Roman"/>
                <a:cs typeface="Times New Roman"/>
              </a:rPr>
              <a:t> </a:t>
            </a:r>
            <a:r>
              <a:rPr lang="en-US" sz="1350" b="1" spc="-40" dirty="0">
                <a:latin typeface="Times New Roman"/>
                <a:cs typeface="Times New Roman"/>
              </a:rPr>
              <a:t>  </a:t>
            </a:r>
            <a:r>
              <a:rPr sz="1350" b="1" dirty="0">
                <a:latin typeface="Times New Roman"/>
                <a:cs typeface="Times New Roman"/>
              </a:rPr>
              <a:t>Functional</a:t>
            </a:r>
            <a:r>
              <a:rPr sz="1350" b="1" spc="-25" dirty="0">
                <a:latin typeface="Times New Roman"/>
                <a:cs typeface="Times New Roman"/>
              </a:rPr>
              <a:t> </a:t>
            </a:r>
            <a:r>
              <a:rPr sz="1350" b="1" spc="-10" dirty="0">
                <a:latin typeface="Times New Roman"/>
                <a:cs typeface="Times New Roman"/>
              </a:rPr>
              <a:t>Testing</a:t>
            </a:r>
            <a:endParaRPr sz="1350" dirty="0">
              <a:latin typeface="Times New Roman"/>
              <a:cs typeface="Times New Roman"/>
            </a:endParaRPr>
          </a:p>
          <a:p>
            <a:pPr marL="12700" marR="5080" algn="just">
              <a:lnSpc>
                <a:spcPct val="95900"/>
              </a:lnSpc>
              <a:spcBef>
                <a:spcPts val="1385"/>
              </a:spcBef>
            </a:pPr>
            <a:r>
              <a:rPr sz="1200" dirty="0">
                <a:latin typeface="Times New Roman"/>
                <a:cs typeface="Times New Roman"/>
              </a:rPr>
              <a:t>Functional</a:t>
            </a:r>
            <a:r>
              <a:rPr sz="1200" spc="190" dirty="0">
                <a:latin typeface="Times New Roman"/>
                <a:cs typeface="Times New Roman"/>
              </a:rPr>
              <a:t> </a:t>
            </a:r>
            <a:r>
              <a:rPr sz="1200" dirty="0">
                <a:latin typeface="Times New Roman"/>
                <a:cs typeface="Times New Roman"/>
              </a:rPr>
              <a:t>testing</a:t>
            </a:r>
            <a:r>
              <a:rPr sz="1200" spc="195" dirty="0">
                <a:latin typeface="Times New Roman"/>
                <a:cs typeface="Times New Roman"/>
              </a:rPr>
              <a:t> </a:t>
            </a:r>
            <a:r>
              <a:rPr sz="1200" dirty="0">
                <a:latin typeface="Times New Roman"/>
                <a:cs typeface="Times New Roman"/>
              </a:rPr>
              <a:t>is</a:t>
            </a:r>
            <a:r>
              <a:rPr sz="1200" spc="190" dirty="0">
                <a:latin typeface="Times New Roman"/>
                <a:cs typeface="Times New Roman"/>
              </a:rPr>
              <a:t> </a:t>
            </a:r>
            <a:r>
              <a:rPr sz="1200" dirty="0">
                <a:latin typeface="Times New Roman"/>
                <a:cs typeface="Times New Roman"/>
              </a:rPr>
              <a:t>a</a:t>
            </a:r>
            <a:r>
              <a:rPr sz="1200" spc="190" dirty="0">
                <a:latin typeface="Times New Roman"/>
                <a:cs typeface="Times New Roman"/>
              </a:rPr>
              <a:t> </a:t>
            </a:r>
            <a:r>
              <a:rPr sz="1200" dirty="0">
                <a:latin typeface="Times New Roman"/>
                <a:cs typeface="Times New Roman"/>
              </a:rPr>
              <a:t>type</a:t>
            </a:r>
            <a:r>
              <a:rPr sz="1200" spc="190" dirty="0">
                <a:latin typeface="Times New Roman"/>
                <a:cs typeface="Times New Roman"/>
              </a:rPr>
              <a:t> </a:t>
            </a:r>
            <a:r>
              <a:rPr sz="1200" dirty="0">
                <a:latin typeface="Times New Roman"/>
                <a:cs typeface="Times New Roman"/>
              </a:rPr>
              <a:t>of</a:t>
            </a:r>
            <a:r>
              <a:rPr sz="1200" spc="185" dirty="0">
                <a:latin typeface="Times New Roman"/>
                <a:cs typeface="Times New Roman"/>
              </a:rPr>
              <a:t> </a:t>
            </a:r>
            <a:r>
              <a:rPr sz="1200" spc="-10" dirty="0">
                <a:latin typeface="Times New Roman"/>
                <a:cs typeface="Times New Roman"/>
              </a:rPr>
              <a:t>black-</a:t>
            </a:r>
            <a:r>
              <a:rPr sz="1200" dirty="0">
                <a:latin typeface="Times New Roman"/>
                <a:cs typeface="Times New Roman"/>
              </a:rPr>
              <a:t>box</a:t>
            </a:r>
            <a:r>
              <a:rPr sz="1200" spc="190" dirty="0">
                <a:latin typeface="Times New Roman"/>
                <a:cs typeface="Times New Roman"/>
              </a:rPr>
              <a:t> </a:t>
            </a:r>
            <a:r>
              <a:rPr sz="1200" dirty="0">
                <a:latin typeface="Times New Roman"/>
                <a:cs typeface="Times New Roman"/>
              </a:rPr>
              <a:t>testing</a:t>
            </a:r>
            <a:r>
              <a:rPr sz="1200" spc="204" dirty="0">
                <a:latin typeface="Times New Roman"/>
                <a:cs typeface="Times New Roman"/>
              </a:rPr>
              <a:t> </a:t>
            </a:r>
            <a:r>
              <a:rPr sz="1200" dirty="0">
                <a:latin typeface="Times New Roman"/>
                <a:cs typeface="Times New Roman"/>
              </a:rPr>
              <a:t>used</a:t>
            </a:r>
            <a:r>
              <a:rPr sz="1200" spc="185" dirty="0">
                <a:latin typeface="Times New Roman"/>
                <a:cs typeface="Times New Roman"/>
              </a:rPr>
              <a:t> </a:t>
            </a:r>
            <a:r>
              <a:rPr sz="1200" dirty="0">
                <a:latin typeface="Times New Roman"/>
                <a:cs typeface="Times New Roman"/>
              </a:rPr>
              <a:t>to</a:t>
            </a:r>
            <a:r>
              <a:rPr sz="1200" spc="195" dirty="0">
                <a:latin typeface="Times New Roman"/>
                <a:cs typeface="Times New Roman"/>
              </a:rPr>
              <a:t> </a:t>
            </a:r>
            <a:r>
              <a:rPr sz="1200" dirty="0">
                <a:latin typeface="Times New Roman"/>
                <a:cs typeface="Times New Roman"/>
              </a:rPr>
              <a:t>verify</a:t>
            </a:r>
            <a:r>
              <a:rPr sz="1200" spc="185" dirty="0">
                <a:latin typeface="Times New Roman"/>
                <a:cs typeface="Times New Roman"/>
              </a:rPr>
              <a:t> </a:t>
            </a:r>
            <a:r>
              <a:rPr sz="1200" dirty="0">
                <a:latin typeface="Times New Roman"/>
                <a:cs typeface="Times New Roman"/>
              </a:rPr>
              <a:t>that</a:t>
            </a:r>
            <a:r>
              <a:rPr sz="1200" spc="190"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dirty="0">
                <a:latin typeface="Times New Roman"/>
                <a:cs typeface="Times New Roman"/>
              </a:rPr>
              <a:t>software</a:t>
            </a:r>
            <a:r>
              <a:rPr sz="1200" spc="180" dirty="0">
                <a:latin typeface="Times New Roman"/>
                <a:cs typeface="Times New Roman"/>
              </a:rPr>
              <a:t> </a:t>
            </a:r>
            <a:r>
              <a:rPr sz="1200" spc="-10" dirty="0">
                <a:latin typeface="Times New Roman"/>
                <a:cs typeface="Times New Roman"/>
              </a:rPr>
              <a:t>system </a:t>
            </a:r>
            <a:r>
              <a:rPr sz="1200" dirty="0">
                <a:latin typeface="Times New Roman"/>
                <a:cs typeface="Times New Roman"/>
              </a:rPr>
              <a:t>performs</a:t>
            </a:r>
            <a:r>
              <a:rPr sz="1200" spc="55" dirty="0">
                <a:latin typeface="Times New Roman"/>
                <a:cs typeface="Times New Roman"/>
              </a:rPr>
              <a:t> </a:t>
            </a:r>
            <a:r>
              <a:rPr sz="1200" dirty="0">
                <a:latin typeface="Times New Roman"/>
                <a:cs typeface="Times New Roman"/>
              </a:rPr>
              <a:t>its</a:t>
            </a:r>
            <a:r>
              <a:rPr sz="1200" spc="60" dirty="0">
                <a:latin typeface="Times New Roman"/>
                <a:cs typeface="Times New Roman"/>
              </a:rPr>
              <a:t> </a:t>
            </a:r>
            <a:r>
              <a:rPr sz="1200" dirty="0">
                <a:latin typeface="Times New Roman"/>
                <a:cs typeface="Times New Roman"/>
              </a:rPr>
              <a:t>intended</a:t>
            </a:r>
            <a:r>
              <a:rPr sz="1200" spc="55" dirty="0">
                <a:latin typeface="Times New Roman"/>
                <a:cs typeface="Times New Roman"/>
              </a:rPr>
              <a:t> </a:t>
            </a:r>
            <a:r>
              <a:rPr sz="1200" dirty="0">
                <a:latin typeface="Times New Roman"/>
                <a:cs typeface="Times New Roman"/>
              </a:rPr>
              <a:t>functions</a:t>
            </a:r>
            <a:r>
              <a:rPr sz="1200" spc="60" dirty="0">
                <a:latin typeface="Times New Roman"/>
                <a:cs typeface="Times New Roman"/>
              </a:rPr>
              <a:t> </a:t>
            </a:r>
            <a:r>
              <a:rPr sz="1200" dirty="0">
                <a:latin typeface="Times New Roman"/>
                <a:cs typeface="Times New Roman"/>
              </a:rPr>
              <a:t>as</a:t>
            </a:r>
            <a:r>
              <a:rPr sz="1200" spc="60" dirty="0">
                <a:latin typeface="Times New Roman"/>
                <a:cs typeface="Times New Roman"/>
              </a:rPr>
              <a:t> </a:t>
            </a:r>
            <a:r>
              <a:rPr sz="1200" dirty="0">
                <a:latin typeface="Times New Roman"/>
                <a:cs typeface="Times New Roman"/>
              </a:rPr>
              <a:t>per</a:t>
            </a:r>
            <a:r>
              <a:rPr sz="1200" spc="55"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specified</a:t>
            </a:r>
            <a:r>
              <a:rPr sz="1200" spc="55" dirty="0">
                <a:latin typeface="Times New Roman"/>
                <a:cs typeface="Times New Roman"/>
              </a:rPr>
              <a:t> </a:t>
            </a:r>
            <a:r>
              <a:rPr sz="1200" dirty="0">
                <a:latin typeface="Times New Roman"/>
                <a:cs typeface="Times New Roman"/>
              </a:rPr>
              <a:t>requirements.</a:t>
            </a:r>
            <a:r>
              <a:rPr sz="1200" spc="60" dirty="0">
                <a:latin typeface="Times New Roman"/>
                <a:cs typeface="Times New Roman"/>
              </a:rPr>
              <a:t> </a:t>
            </a:r>
            <a:r>
              <a:rPr sz="1200" dirty="0">
                <a:latin typeface="Times New Roman"/>
                <a:cs typeface="Times New Roman"/>
              </a:rPr>
              <a:t>Each</a:t>
            </a:r>
            <a:r>
              <a:rPr sz="1200" spc="55" dirty="0">
                <a:latin typeface="Times New Roman"/>
                <a:cs typeface="Times New Roman"/>
              </a:rPr>
              <a:t> </a:t>
            </a:r>
            <a:r>
              <a:rPr sz="1200" dirty="0">
                <a:latin typeface="Times New Roman"/>
                <a:cs typeface="Times New Roman"/>
              </a:rPr>
              <a:t>functional</a:t>
            </a:r>
            <a:r>
              <a:rPr sz="1200" spc="60" dirty="0">
                <a:latin typeface="Times New Roman"/>
                <a:cs typeface="Times New Roman"/>
              </a:rPr>
              <a:t> </a:t>
            </a:r>
            <a:r>
              <a:rPr sz="1200" dirty="0">
                <a:latin typeface="Times New Roman"/>
                <a:cs typeface="Times New Roman"/>
              </a:rPr>
              <a:t>unit</a:t>
            </a:r>
            <a:r>
              <a:rPr sz="1200" spc="60" dirty="0">
                <a:latin typeface="Times New Roman"/>
                <a:cs typeface="Times New Roman"/>
              </a:rPr>
              <a:t> </a:t>
            </a:r>
            <a:r>
              <a:rPr sz="1200" spc="-25" dirty="0">
                <a:latin typeface="Times New Roman"/>
                <a:cs typeface="Times New Roman"/>
              </a:rPr>
              <a:t>was </a:t>
            </a:r>
            <a:r>
              <a:rPr sz="1200" dirty="0">
                <a:latin typeface="Times New Roman"/>
                <a:cs typeface="Times New Roman"/>
              </a:rPr>
              <a:t>tested</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isolation</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combination</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ensure</a:t>
            </a:r>
            <a:r>
              <a:rPr sz="1200" spc="-30" dirty="0">
                <a:latin typeface="Times New Roman"/>
                <a:cs typeface="Times New Roman"/>
              </a:rPr>
              <a:t> </a:t>
            </a:r>
            <a:r>
              <a:rPr sz="1200" dirty="0">
                <a:latin typeface="Times New Roman"/>
                <a:cs typeface="Times New Roman"/>
              </a:rPr>
              <a:t>reliability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completeness.</a:t>
            </a:r>
            <a:endParaRPr sz="1200" dirty="0">
              <a:latin typeface="Times New Roman"/>
              <a:cs typeface="Times New Roman"/>
            </a:endParaRPr>
          </a:p>
          <a:p>
            <a:pPr marL="12700" algn="just">
              <a:lnSpc>
                <a:spcPct val="100000"/>
              </a:lnSpc>
              <a:spcBef>
                <a:spcPts val="134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major</a:t>
            </a:r>
            <a:r>
              <a:rPr sz="1200" spc="-15" dirty="0">
                <a:latin typeface="Times New Roman"/>
                <a:cs typeface="Times New Roman"/>
              </a:rPr>
              <a:t> </a:t>
            </a:r>
            <a:r>
              <a:rPr sz="1200" spc="-10" dirty="0">
                <a:latin typeface="Times New Roman"/>
                <a:cs typeface="Times New Roman"/>
              </a:rPr>
              <a:t>functionalities</a:t>
            </a:r>
            <a:r>
              <a:rPr sz="1200" dirty="0">
                <a:latin typeface="Times New Roman"/>
                <a:cs typeface="Times New Roman"/>
              </a:rPr>
              <a:t> tested</a:t>
            </a:r>
            <a:r>
              <a:rPr sz="1200" spc="-10"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phase</a:t>
            </a:r>
            <a:r>
              <a:rPr sz="1200" spc="-15" dirty="0">
                <a:latin typeface="Times New Roman"/>
                <a:cs typeface="Times New Roman"/>
              </a:rPr>
              <a:t> </a:t>
            </a:r>
            <a:r>
              <a:rPr sz="1200" spc="-10" dirty="0">
                <a:latin typeface="Times New Roman"/>
                <a:cs typeface="Times New Roman"/>
              </a:rPr>
              <a:t>included:</a:t>
            </a:r>
            <a:endParaRPr sz="1200" dirty="0">
              <a:latin typeface="Times New Roman"/>
              <a:cs typeface="Times New Roman"/>
            </a:endParaRPr>
          </a:p>
          <a:p>
            <a:pPr>
              <a:lnSpc>
                <a:spcPct val="100000"/>
              </a:lnSpc>
              <a:spcBef>
                <a:spcPts val="60"/>
              </a:spcBef>
            </a:pPr>
            <a:endParaRPr sz="1200" dirty="0">
              <a:latin typeface="Times New Roman"/>
              <a:cs typeface="Times New Roman"/>
            </a:endParaRPr>
          </a:p>
          <a:p>
            <a:pPr marL="469265" marR="8255" indent="-228600" algn="just">
              <a:lnSpc>
                <a:spcPts val="1380"/>
              </a:lnSpc>
              <a:buSzPct val="83333"/>
              <a:buFont typeface="Symbol"/>
              <a:buChar char=""/>
              <a:tabLst>
                <a:tab pos="469265" algn="l"/>
              </a:tabLst>
            </a:pPr>
            <a:r>
              <a:rPr sz="1200" b="1" dirty="0">
                <a:latin typeface="Times New Roman"/>
                <a:cs typeface="Times New Roman"/>
              </a:rPr>
              <a:t>User</a:t>
            </a:r>
            <a:r>
              <a:rPr sz="1200" b="1" spc="114" dirty="0">
                <a:latin typeface="Times New Roman"/>
                <a:cs typeface="Times New Roman"/>
              </a:rPr>
              <a:t>  </a:t>
            </a:r>
            <a:r>
              <a:rPr sz="1200" b="1" dirty="0">
                <a:latin typeface="Times New Roman"/>
                <a:cs typeface="Times New Roman"/>
              </a:rPr>
              <a:t>Registration</a:t>
            </a:r>
            <a:r>
              <a:rPr sz="1200" b="1" spc="114" dirty="0">
                <a:latin typeface="Times New Roman"/>
                <a:cs typeface="Times New Roman"/>
              </a:rPr>
              <a:t>  </a:t>
            </a:r>
            <a:r>
              <a:rPr sz="1200" b="1" dirty="0">
                <a:latin typeface="Times New Roman"/>
                <a:cs typeface="Times New Roman"/>
              </a:rPr>
              <a:t>and</a:t>
            </a:r>
            <a:r>
              <a:rPr sz="1200" b="1" spc="110" dirty="0">
                <a:latin typeface="Times New Roman"/>
                <a:cs typeface="Times New Roman"/>
              </a:rPr>
              <a:t>  </a:t>
            </a:r>
            <a:r>
              <a:rPr sz="1200" b="1" dirty="0">
                <a:latin typeface="Times New Roman"/>
                <a:cs typeface="Times New Roman"/>
              </a:rPr>
              <a:t>Login:</a:t>
            </a:r>
            <a:r>
              <a:rPr sz="1200" b="1" spc="120" dirty="0">
                <a:latin typeface="Times New Roman"/>
                <a:cs typeface="Times New Roman"/>
              </a:rPr>
              <a:t>  </a:t>
            </a:r>
            <a:r>
              <a:rPr sz="1200" dirty="0">
                <a:latin typeface="Times New Roman"/>
                <a:cs typeface="Times New Roman"/>
              </a:rPr>
              <a:t>Separate</a:t>
            </a:r>
            <a:r>
              <a:rPr sz="1200" spc="120" dirty="0">
                <a:latin typeface="Times New Roman"/>
                <a:cs typeface="Times New Roman"/>
              </a:rPr>
              <a:t>  </a:t>
            </a:r>
            <a:r>
              <a:rPr sz="1200" dirty="0">
                <a:latin typeface="Times New Roman"/>
                <a:cs typeface="Times New Roman"/>
              </a:rPr>
              <a:t>workflows</a:t>
            </a:r>
            <a:r>
              <a:rPr sz="1200" spc="110" dirty="0">
                <a:latin typeface="Times New Roman"/>
                <a:cs typeface="Times New Roman"/>
              </a:rPr>
              <a:t>  </a:t>
            </a:r>
            <a:r>
              <a:rPr sz="1200" dirty="0">
                <a:latin typeface="Times New Roman"/>
                <a:cs typeface="Times New Roman"/>
              </a:rPr>
              <a:t>for</a:t>
            </a:r>
            <a:r>
              <a:rPr sz="1200" spc="114" dirty="0">
                <a:latin typeface="Times New Roman"/>
                <a:cs typeface="Times New Roman"/>
              </a:rPr>
              <a:t>  </a:t>
            </a:r>
            <a:r>
              <a:rPr sz="1200" dirty="0">
                <a:latin typeface="Times New Roman"/>
                <a:cs typeface="Times New Roman"/>
              </a:rPr>
              <a:t>buyers,</a:t>
            </a:r>
            <a:r>
              <a:rPr sz="1200" spc="110" dirty="0">
                <a:latin typeface="Times New Roman"/>
                <a:cs typeface="Times New Roman"/>
              </a:rPr>
              <a:t>  </a:t>
            </a:r>
            <a:r>
              <a:rPr sz="1200" dirty="0">
                <a:latin typeface="Times New Roman"/>
                <a:cs typeface="Times New Roman"/>
              </a:rPr>
              <a:t>sellers,</a:t>
            </a:r>
            <a:r>
              <a:rPr sz="1200" spc="110" dirty="0">
                <a:latin typeface="Times New Roman"/>
                <a:cs typeface="Times New Roman"/>
              </a:rPr>
              <a:t>  </a:t>
            </a:r>
            <a:r>
              <a:rPr sz="1200" spc="-25" dirty="0">
                <a:latin typeface="Times New Roman"/>
                <a:cs typeface="Times New Roman"/>
              </a:rPr>
              <a:t>and </a:t>
            </a:r>
            <a:r>
              <a:rPr sz="1200" dirty="0">
                <a:latin typeface="Times New Roman"/>
                <a:cs typeface="Times New Roman"/>
              </a:rPr>
              <a:t>administrators</a:t>
            </a:r>
            <a:r>
              <a:rPr sz="1200" spc="315" dirty="0">
                <a:latin typeface="Times New Roman"/>
                <a:cs typeface="Times New Roman"/>
              </a:rPr>
              <a:t> </a:t>
            </a:r>
            <a:r>
              <a:rPr sz="1200" dirty="0">
                <a:latin typeface="Times New Roman"/>
                <a:cs typeface="Times New Roman"/>
              </a:rPr>
              <a:t>were</a:t>
            </a:r>
            <a:r>
              <a:rPr sz="1200" spc="315" dirty="0">
                <a:latin typeface="Times New Roman"/>
                <a:cs typeface="Times New Roman"/>
              </a:rPr>
              <a:t> </a:t>
            </a:r>
            <a:r>
              <a:rPr sz="1200" dirty="0">
                <a:latin typeface="Times New Roman"/>
                <a:cs typeface="Times New Roman"/>
              </a:rPr>
              <a:t>implemented</a:t>
            </a:r>
            <a:r>
              <a:rPr sz="1200" spc="320" dirty="0">
                <a:latin typeface="Times New Roman"/>
                <a:cs typeface="Times New Roman"/>
              </a:rPr>
              <a:t> </a:t>
            </a:r>
            <a:r>
              <a:rPr sz="1200" dirty="0">
                <a:latin typeface="Times New Roman"/>
                <a:cs typeface="Times New Roman"/>
              </a:rPr>
              <a:t>and</a:t>
            </a:r>
            <a:r>
              <a:rPr sz="1200" spc="330" dirty="0">
                <a:latin typeface="Times New Roman"/>
                <a:cs typeface="Times New Roman"/>
              </a:rPr>
              <a:t> </a:t>
            </a:r>
            <a:r>
              <a:rPr sz="1200" dirty="0">
                <a:latin typeface="Times New Roman"/>
                <a:cs typeface="Times New Roman"/>
              </a:rPr>
              <a:t>tested.</a:t>
            </a:r>
            <a:r>
              <a:rPr sz="1200" spc="330" dirty="0">
                <a:latin typeface="Times New Roman"/>
                <a:cs typeface="Times New Roman"/>
              </a:rPr>
              <a:t> </a:t>
            </a:r>
            <a:r>
              <a:rPr sz="1200" dirty="0">
                <a:latin typeface="Times New Roman"/>
                <a:cs typeface="Times New Roman"/>
              </a:rPr>
              <a:t>Proper</a:t>
            </a:r>
            <a:r>
              <a:rPr sz="1200" spc="320" dirty="0">
                <a:latin typeface="Times New Roman"/>
                <a:cs typeface="Times New Roman"/>
              </a:rPr>
              <a:t> </a:t>
            </a:r>
            <a:r>
              <a:rPr sz="1200" dirty="0">
                <a:latin typeface="Times New Roman"/>
                <a:cs typeface="Times New Roman"/>
              </a:rPr>
              <a:t>redirection,</a:t>
            </a:r>
            <a:r>
              <a:rPr sz="1200" spc="320" dirty="0">
                <a:latin typeface="Times New Roman"/>
                <a:cs typeface="Times New Roman"/>
              </a:rPr>
              <a:t> </a:t>
            </a:r>
            <a:r>
              <a:rPr sz="1200" dirty="0">
                <a:latin typeface="Times New Roman"/>
                <a:cs typeface="Times New Roman"/>
              </a:rPr>
              <a:t>token</a:t>
            </a:r>
            <a:r>
              <a:rPr sz="1200" spc="320" dirty="0">
                <a:latin typeface="Times New Roman"/>
                <a:cs typeface="Times New Roman"/>
              </a:rPr>
              <a:t> </a:t>
            </a:r>
            <a:r>
              <a:rPr sz="1200" spc="-10" dirty="0">
                <a:latin typeface="Times New Roman"/>
                <a:cs typeface="Times New Roman"/>
              </a:rPr>
              <a:t>issuance </a:t>
            </a:r>
            <a:r>
              <a:rPr sz="1200" dirty="0">
                <a:latin typeface="Times New Roman"/>
                <a:cs typeface="Times New Roman"/>
              </a:rPr>
              <a:t>(JWT),</a:t>
            </a:r>
            <a:r>
              <a:rPr sz="1200" spc="-3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role-</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dashboard</a:t>
            </a:r>
            <a:r>
              <a:rPr sz="1200" spc="-25"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dirty="0">
                <a:latin typeface="Times New Roman"/>
                <a:cs typeface="Times New Roman"/>
              </a:rPr>
              <a:t>were</a:t>
            </a:r>
            <a:r>
              <a:rPr sz="1200" spc="-35" dirty="0">
                <a:latin typeface="Times New Roman"/>
                <a:cs typeface="Times New Roman"/>
              </a:rPr>
              <a:t> </a:t>
            </a:r>
            <a:r>
              <a:rPr sz="1200" spc="-10" dirty="0">
                <a:latin typeface="Times New Roman"/>
                <a:cs typeface="Times New Roman"/>
              </a:rPr>
              <a:t>validated.</a:t>
            </a:r>
            <a:endParaRPr sz="1200" dirty="0">
              <a:latin typeface="Times New Roman"/>
              <a:cs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46</a:t>
            </a:r>
          </a:p>
        </p:txBody>
      </p:sp>
      <p:sp>
        <p:nvSpPr>
          <p:cNvPr id="2" name="object 2"/>
          <p:cNvSpPr txBox="1"/>
          <p:nvPr/>
        </p:nvSpPr>
        <p:spPr>
          <a:xfrm>
            <a:off x="1176324" y="891285"/>
            <a:ext cx="5696585" cy="3016250"/>
          </a:xfrm>
          <a:prstGeom prst="rect">
            <a:avLst/>
          </a:prstGeom>
        </p:spPr>
        <p:txBody>
          <a:bodyPr vert="horz" wrap="square" lIns="0" tIns="24765" rIns="0" bIns="0" rtlCol="0">
            <a:spAutoFit/>
          </a:bodyPr>
          <a:lstStyle/>
          <a:p>
            <a:pPr marL="469265" marR="5080" indent="-228600" algn="just">
              <a:lnSpc>
                <a:spcPts val="1380"/>
              </a:lnSpc>
              <a:spcBef>
                <a:spcPts val="195"/>
              </a:spcBef>
              <a:buSzPct val="83333"/>
              <a:buFont typeface="Symbol"/>
              <a:buChar char=""/>
              <a:tabLst>
                <a:tab pos="469265" algn="l"/>
              </a:tabLst>
            </a:pPr>
            <a:r>
              <a:rPr sz="1200" b="1" dirty="0">
                <a:latin typeface="Times New Roman"/>
                <a:cs typeface="Times New Roman"/>
              </a:rPr>
              <a:t>Property</a:t>
            </a:r>
            <a:r>
              <a:rPr sz="1200" b="1" spc="70" dirty="0">
                <a:latin typeface="Times New Roman"/>
                <a:cs typeface="Times New Roman"/>
              </a:rPr>
              <a:t> </a:t>
            </a:r>
            <a:r>
              <a:rPr sz="1200" b="1" dirty="0">
                <a:latin typeface="Times New Roman"/>
                <a:cs typeface="Times New Roman"/>
              </a:rPr>
              <a:t>Listing</a:t>
            </a:r>
            <a:r>
              <a:rPr sz="1200" b="1" spc="75" dirty="0">
                <a:latin typeface="Times New Roman"/>
                <a:cs typeface="Times New Roman"/>
              </a:rPr>
              <a:t> </a:t>
            </a:r>
            <a:r>
              <a:rPr sz="1200" b="1" dirty="0">
                <a:latin typeface="Times New Roman"/>
                <a:cs typeface="Times New Roman"/>
              </a:rPr>
              <a:t>and</a:t>
            </a:r>
            <a:r>
              <a:rPr sz="1200" b="1" spc="65" dirty="0">
                <a:latin typeface="Times New Roman"/>
                <a:cs typeface="Times New Roman"/>
              </a:rPr>
              <a:t> </a:t>
            </a:r>
            <a:r>
              <a:rPr sz="1200" b="1" dirty="0">
                <a:latin typeface="Times New Roman"/>
                <a:cs typeface="Times New Roman"/>
              </a:rPr>
              <a:t>Management:</a:t>
            </a:r>
            <a:r>
              <a:rPr sz="1200" b="1" spc="90" dirty="0">
                <a:latin typeface="Times New Roman"/>
                <a:cs typeface="Times New Roman"/>
              </a:rPr>
              <a:t> </a:t>
            </a:r>
            <a:r>
              <a:rPr sz="1200" dirty="0">
                <a:latin typeface="Times New Roman"/>
                <a:cs typeface="Times New Roman"/>
              </a:rPr>
              <a:t>Sellers</a:t>
            </a:r>
            <a:r>
              <a:rPr sz="1200" spc="70" dirty="0">
                <a:latin typeface="Times New Roman"/>
                <a:cs typeface="Times New Roman"/>
              </a:rPr>
              <a:t> </a:t>
            </a:r>
            <a:r>
              <a:rPr sz="1200" dirty="0">
                <a:latin typeface="Times New Roman"/>
                <a:cs typeface="Times New Roman"/>
              </a:rPr>
              <a:t>could</a:t>
            </a:r>
            <a:r>
              <a:rPr sz="1200" spc="75" dirty="0">
                <a:latin typeface="Times New Roman"/>
                <a:cs typeface="Times New Roman"/>
              </a:rPr>
              <a:t> </a:t>
            </a:r>
            <a:r>
              <a:rPr sz="1200" dirty="0">
                <a:latin typeface="Times New Roman"/>
                <a:cs typeface="Times New Roman"/>
              </a:rPr>
              <a:t>list</a:t>
            </a:r>
            <a:r>
              <a:rPr sz="1200" spc="80" dirty="0">
                <a:latin typeface="Times New Roman"/>
                <a:cs typeface="Times New Roman"/>
              </a:rPr>
              <a:t> </a:t>
            </a:r>
            <a:r>
              <a:rPr sz="1200" dirty="0">
                <a:latin typeface="Times New Roman"/>
                <a:cs typeface="Times New Roman"/>
              </a:rPr>
              <a:t>new</a:t>
            </a:r>
            <a:r>
              <a:rPr sz="1200" spc="75" dirty="0">
                <a:latin typeface="Times New Roman"/>
                <a:cs typeface="Times New Roman"/>
              </a:rPr>
              <a:t> </a:t>
            </a:r>
            <a:r>
              <a:rPr sz="1200" dirty="0">
                <a:latin typeface="Times New Roman"/>
                <a:cs typeface="Times New Roman"/>
              </a:rPr>
              <a:t>properties</a:t>
            </a:r>
            <a:r>
              <a:rPr sz="1200" spc="65" dirty="0">
                <a:latin typeface="Times New Roman"/>
                <a:cs typeface="Times New Roman"/>
              </a:rPr>
              <a:t> </a:t>
            </a:r>
            <a:r>
              <a:rPr sz="1200" dirty="0">
                <a:latin typeface="Times New Roman"/>
                <a:cs typeface="Times New Roman"/>
              </a:rPr>
              <a:t>with</a:t>
            </a:r>
            <a:r>
              <a:rPr sz="1200" spc="75" dirty="0">
                <a:latin typeface="Times New Roman"/>
                <a:cs typeface="Times New Roman"/>
              </a:rPr>
              <a:t> </a:t>
            </a:r>
            <a:r>
              <a:rPr sz="1200" spc="-10" dirty="0">
                <a:latin typeface="Times New Roman"/>
                <a:cs typeface="Times New Roman"/>
              </a:rPr>
              <a:t>images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legal</a:t>
            </a:r>
            <a:r>
              <a:rPr sz="1200" spc="95" dirty="0">
                <a:latin typeface="Times New Roman"/>
                <a:cs typeface="Times New Roman"/>
              </a:rPr>
              <a:t> </a:t>
            </a:r>
            <a:r>
              <a:rPr sz="1200" dirty="0">
                <a:latin typeface="Times New Roman"/>
                <a:cs typeface="Times New Roman"/>
              </a:rPr>
              <a:t>documents.</a:t>
            </a:r>
            <a:r>
              <a:rPr sz="1200" spc="100"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edit</a:t>
            </a:r>
            <a:r>
              <a:rPr sz="1200" spc="100" dirty="0">
                <a:latin typeface="Times New Roman"/>
                <a:cs typeface="Times New Roman"/>
              </a:rPr>
              <a:t> </a:t>
            </a:r>
            <a:r>
              <a:rPr sz="1200" dirty="0">
                <a:latin typeface="Times New Roman"/>
                <a:cs typeface="Times New Roman"/>
              </a:rPr>
              <a:t>and</a:t>
            </a:r>
            <a:r>
              <a:rPr sz="1200" spc="95" dirty="0">
                <a:latin typeface="Times New Roman"/>
                <a:cs typeface="Times New Roman"/>
              </a:rPr>
              <a:t> </a:t>
            </a:r>
            <a:r>
              <a:rPr sz="1200" dirty="0">
                <a:latin typeface="Times New Roman"/>
                <a:cs typeface="Times New Roman"/>
              </a:rPr>
              <a:t>delete</a:t>
            </a:r>
            <a:r>
              <a:rPr sz="1200" spc="95" dirty="0">
                <a:latin typeface="Times New Roman"/>
                <a:cs typeface="Times New Roman"/>
              </a:rPr>
              <a:t> </a:t>
            </a:r>
            <a:r>
              <a:rPr sz="1200" dirty="0">
                <a:latin typeface="Times New Roman"/>
                <a:cs typeface="Times New Roman"/>
              </a:rPr>
              <a:t>functionalities</a:t>
            </a:r>
            <a:r>
              <a:rPr sz="1200" spc="95" dirty="0">
                <a:latin typeface="Times New Roman"/>
                <a:cs typeface="Times New Roman"/>
              </a:rPr>
              <a:t> </a:t>
            </a:r>
            <a:r>
              <a:rPr sz="1200" dirty="0">
                <a:latin typeface="Times New Roman"/>
                <a:cs typeface="Times New Roman"/>
              </a:rPr>
              <a:t>were</a:t>
            </a:r>
            <a:r>
              <a:rPr sz="1200" spc="90" dirty="0">
                <a:latin typeface="Times New Roman"/>
                <a:cs typeface="Times New Roman"/>
              </a:rPr>
              <a:t> </a:t>
            </a:r>
            <a:r>
              <a:rPr sz="1200" dirty="0">
                <a:latin typeface="Times New Roman"/>
                <a:cs typeface="Times New Roman"/>
              </a:rPr>
              <a:t>tested</a:t>
            </a:r>
            <a:r>
              <a:rPr sz="1200" spc="95" dirty="0">
                <a:latin typeface="Times New Roman"/>
                <a:cs typeface="Times New Roman"/>
              </a:rPr>
              <a:t> </a:t>
            </a:r>
            <a:r>
              <a:rPr sz="1200" dirty="0">
                <a:latin typeface="Times New Roman"/>
                <a:cs typeface="Times New Roman"/>
              </a:rPr>
              <a:t>to</a:t>
            </a:r>
            <a:r>
              <a:rPr sz="1200" spc="100" dirty="0">
                <a:latin typeface="Times New Roman"/>
                <a:cs typeface="Times New Roman"/>
              </a:rPr>
              <a:t> </a:t>
            </a:r>
            <a:r>
              <a:rPr sz="1200" dirty="0">
                <a:latin typeface="Times New Roman"/>
                <a:cs typeface="Times New Roman"/>
              </a:rPr>
              <a:t>ensure</a:t>
            </a:r>
            <a:r>
              <a:rPr sz="1200" spc="85" dirty="0">
                <a:latin typeface="Times New Roman"/>
                <a:cs typeface="Times New Roman"/>
              </a:rPr>
              <a:t> </a:t>
            </a:r>
            <a:r>
              <a:rPr sz="1200" spc="-20" dirty="0">
                <a:latin typeface="Times New Roman"/>
                <a:cs typeface="Times New Roman"/>
              </a:rPr>
              <a:t>data </a:t>
            </a:r>
            <a:r>
              <a:rPr sz="1200" dirty="0">
                <a:latin typeface="Times New Roman"/>
                <a:cs typeface="Times New Roman"/>
              </a:rPr>
              <a:t>persistence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validation.</a:t>
            </a:r>
            <a:endParaRPr sz="1200">
              <a:latin typeface="Times New Roman"/>
              <a:cs typeface="Times New Roman"/>
            </a:endParaRPr>
          </a:p>
          <a:p>
            <a:pPr marL="469265" marR="5080" indent="-228600" algn="just">
              <a:lnSpc>
                <a:spcPts val="1380"/>
              </a:lnSpc>
              <a:buSzPct val="83333"/>
              <a:buFont typeface="Symbol"/>
              <a:buChar char=""/>
              <a:tabLst>
                <a:tab pos="469265" algn="l"/>
              </a:tabLst>
            </a:pPr>
            <a:r>
              <a:rPr sz="1200" b="1" spc="-10" dirty="0">
                <a:latin typeface="Times New Roman"/>
                <a:cs typeface="Times New Roman"/>
              </a:rPr>
              <a:t>Real-</a:t>
            </a:r>
            <a:r>
              <a:rPr sz="1200" b="1" dirty="0">
                <a:latin typeface="Times New Roman"/>
                <a:cs typeface="Times New Roman"/>
              </a:rPr>
              <a:t>Time</a:t>
            </a:r>
            <a:r>
              <a:rPr sz="1200" b="1" spc="145" dirty="0">
                <a:latin typeface="Times New Roman"/>
                <a:cs typeface="Times New Roman"/>
              </a:rPr>
              <a:t> </a:t>
            </a:r>
            <a:r>
              <a:rPr sz="1200" b="1" dirty="0">
                <a:latin typeface="Times New Roman"/>
                <a:cs typeface="Times New Roman"/>
              </a:rPr>
              <a:t>Bidding:</a:t>
            </a:r>
            <a:r>
              <a:rPr sz="1200" b="1" spc="145" dirty="0">
                <a:latin typeface="Times New Roman"/>
                <a:cs typeface="Times New Roman"/>
              </a:rPr>
              <a:t> </a:t>
            </a:r>
            <a:r>
              <a:rPr sz="1200" dirty="0">
                <a:latin typeface="Times New Roman"/>
                <a:cs typeface="Times New Roman"/>
              </a:rPr>
              <a:t>Buyers</a:t>
            </a:r>
            <a:r>
              <a:rPr sz="1200" spc="150" dirty="0">
                <a:latin typeface="Times New Roman"/>
                <a:cs typeface="Times New Roman"/>
              </a:rPr>
              <a:t> </a:t>
            </a:r>
            <a:r>
              <a:rPr sz="1200" dirty="0">
                <a:latin typeface="Times New Roman"/>
                <a:cs typeface="Times New Roman"/>
              </a:rPr>
              <a:t>were</a:t>
            </a:r>
            <a:r>
              <a:rPr sz="1200" spc="145" dirty="0">
                <a:latin typeface="Times New Roman"/>
                <a:cs typeface="Times New Roman"/>
              </a:rPr>
              <a:t> </a:t>
            </a:r>
            <a:r>
              <a:rPr sz="1200" dirty="0">
                <a:latin typeface="Times New Roman"/>
                <a:cs typeface="Times New Roman"/>
              </a:rPr>
              <a:t>able</a:t>
            </a:r>
            <a:r>
              <a:rPr sz="1200" spc="145" dirty="0">
                <a:latin typeface="Times New Roman"/>
                <a:cs typeface="Times New Roman"/>
              </a:rPr>
              <a:t> </a:t>
            </a:r>
            <a:r>
              <a:rPr sz="1200" dirty="0">
                <a:latin typeface="Times New Roman"/>
                <a:cs typeface="Times New Roman"/>
              </a:rPr>
              <a:t>to</a:t>
            </a:r>
            <a:r>
              <a:rPr sz="1200" spc="155" dirty="0">
                <a:latin typeface="Times New Roman"/>
                <a:cs typeface="Times New Roman"/>
              </a:rPr>
              <a:t> </a:t>
            </a:r>
            <a:r>
              <a:rPr sz="1200" dirty="0">
                <a:latin typeface="Times New Roman"/>
                <a:cs typeface="Times New Roman"/>
              </a:rPr>
              <a:t>participate</a:t>
            </a:r>
            <a:r>
              <a:rPr sz="1200" spc="145" dirty="0">
                <a:latin typeface="Times New Roman"/>
                <a:cs typeface="Times New Roman"/>
              </a:rPr>
              <a:t> </a:t>
            </a:r>
            <a:r>
              <a:rPr sz="1200" dirty="0">
                <a:latin typeface="Times New Roman"/>
                <a:cs typeface="Times New Roman"/>
              </a:rPr>
              <a:t>in</a:t>
            </a:r>
            <a:r>
              <a:rPr sz="1200" spc="155" dirty="0">
                <a:latin typeface="Times New Roman"/>
                <a:cs typeface="Times New Roman"/>
              </a:rPr>
              <a:t> </a:t>
            </a:r>
            <a:r>
              <a:rPr sz="1200" dirty="0">
                <a:latin typeface="Times New Roman"/>
                <a:cs typeface="Times New Roman"/>
              </a:rPr>
              <a:t>live</a:t>
            </a:r>
            <a:r>
              <a:rPr sz="1200" spc="145" dirty="0">
                <a:latin typeface="Times New Roman"/>
                <a:cs typeface="Times New Roman"/>
              </a:rPr>
              <a:t> </a:t>
            </a:r>
            <a:r>
              <a:rPr sz="1200" dirty="0">
                <a:latin typeface="Times New Roman"/>
                <a:cs typeface="Times New Roman"/>
              </a:rPr>
              <a:t>auctions.</a:t>
            </a:r>
            <a:r>
              <a:rPr sz="1200" spc="155" dirty="0">
                <a:latin typeface="Times New Roman"/>
                <a:cs typeface="Times New Roman"/>
              </a:rPr>
              <a:t> </a:t>
            </a:r>
            <a:r>
              <a:rPr sz="1200" dirty="0">
                <a:latin typeface="Times New Roman"/>
                <a:cs typeface="Times New Roman"/>
              </a:rPr>
              <a:t>The</a:t>
            </a:r>
            <a:r>
              <a:rPr sz="1200" spc="145" dirty="0">
                <a:latin typeface="Times New Roman"/>
                <a:cs typeface="Times New Roman"/>
              </a:rPr>
              <a:t> </a:t>
            </a:r>
            <a:r>
              <a:rPr sz="1200" spc="-10" dirty="0">
                <a:latin typeface="Times New Roman"/>
                <a:cs typeface="Times New Roman"/>
              </a:rPr>
              <a:t>system </a:t>
            </a:r>
            <a:r>
              <a:rPr sz="1200" dirty="0">
                <a:latin typeface="Times New Roman"/>
                <a:cs typeface="Times New Roman"/>
              </a:rPr>
              <a:t>handled</a:t>
            </a:r>
            <a:r>
              <a:rPr sz="1200" spc="-5" dirty="0">
                <a:latin typeface="Times New Roman"/>
                <a:cs typeface="Times New Roman"/>
              </a:rPr>
              <a:t> </a:t>
            </a:r>
            <a:r>
              <a:rPr sz="1200" dirty="0">
                <a:latin typeface="Times New Roman"/>
                <a:cs typeface="Times New Roman"/>
              </a:rPr>
              <a:t>bid</a:t>
            </a:r>
            <a:r>
              <a:rPr sz="1200" spc="5" dirty="0">
                <a:latin typeface="Times New Roman"/>
                <a:cs typeface="Times New Roman"/>
              </a:rPr>
              <a:t> </a:t>
            </a:r>
            <a:r>
              <a:rPr sz="1200" dirty="0">
                <a:latin typeface="Times New Roman"/>
                <a:cs typeface="Times New Roman"/>
              </a:rPr>
              <a:t>updates in real</a:t>
            </a:r>
            <a:r>
              <a:rPr sz="1200" spc="5" dirty="0">
                <a:latin typeface="Times New Roman"/>
                <a:cs typeface="Times New Roman"/>
              </a:rPr>
              <a:t> </a:t>
            </a:r>
            <a:r>
              <a:rPr sz="1200" dirty="0">
                <a:latin typeface="Times New Roman"/>
                <a:cs typeface="Times New Roman"/>
              </a:rPr>
              <a:t>time using WebSockets</a:t>
            </a:r>
            <a:r>
              <a:rPr sz="1200" spc="5" dirty="0">
                <a:latin typeface="Times New Roman"/>
                <a:cs typeface="Times New Roman"/>
              </a:rPr>
              <a:t> </a:t>
            </a:r>
            <a:r>
              <a:rPr sz="1200" dirty="0">
                <a:latin typeface="Times New Roman"/>
                <a:cs typeface="Times New Roman"/>
              </a:rPr>
              <a:t>(Socket.io),</a:t>
            </a:r>
            <a:r>
              <a:rPr sz="1200" spc="20" dirty="0">
                <a:latin typeface="Times New Roman"/>
                <a:cs typeface="Times New Roman"/>
              </a:rPr>
              <a:t> </a:t>
            </a:r>
            <a:r>
              <a:rPr sz="1200" dirty="0">
                <a:latin typeface="Times New Roman"/>
                <a:cs typeface="Times New Roman"/>
              </a:rPr>
              <a:t>which was</a:t>
            </a:r>
            <a:r>
              <a:rPr sz="1200" spc="5" dirty="0">
                <a:latin typeface="Times New Roman"/>
                <a:cs typeface="Times New Roman"/>
              </a:rPr>
              <a:t> </a:t>
            </a:r>
            <a:r>
              <a:rPr sz="1200" dirty="0">
                <a:latin typeface="Times New Roman"/>
                <a:cs typeface="Times New Roman"/>
              </a:rPr>
              <a:t>tested </a:t>
            </a:r>
            <a:r>
              <a:rPr sz="1200" spc="-25" dirty="0">
                <a:latin typeface="Times New Roman"/>
                <a:cs typeface="Times New Roman"/>
              </a:rPr>
              <a:t>for </a:t>
            </a:r>
            <a:r>
              <a:rPr sz="1200" dirty="0">
                <a:latin typeface="Times New Roman"/>
                <a:cs typeface="Times New Roman"/>
              </a:rPr>
              <a:t>latency,</a:t>
            </a:r>
            <a:r>
              <a:rPr sz="1200" spc="-40" dirty="0">
                <a:latin typeface="Times New Roman"/>
                <a:cs typeface="Times New Roman"/>
              </a:rPr>
              <a:t> </a:t>
            </a:r>
            <a:r>
              <a:rPr sz="1200" dirty="0">
                <a:latin typeface="Times New Roman"/>
                <a:cs typeface="Times New Roman"/>
              </a:rPr>
              <a:t>accuracy,</a:t>
            </a:r>
            <a:r>
              <a:rPr sz="1200" spc="-4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synchronization.</a:t>
            </a:r>
            <a:endParaRPr sz="1200">
              <a:latin typeface="Times New Roman"/>
              <a:cs typeface="Times New Roman"/>
            </a:endParaRPr>
          </a:p>
          <a:p>
            <a:pPr marL="469265" marR="6985" indent="-228600" algn="just">
              <a:lnSpc>
                <a:spcPts val="1380"/>
              </a:lnSpc>
              <a:buSzPct val="83333"/>
              <a:buFont typeface="Symbol"/>
              <a:buChar char=""/>
              <a:tabLst>
                <a:tab pos="469265" algn="l"/>
              </a:tabLst>
            </a:pPr>
            <a:r>
              <a:rPr sz="1200" b="1" dirty="0">
                <a:latin typeface="Times New Roman"/>
                <a:cs typeface="Times New Roman"/>
              </a:rPr>
              <a:t>AI</a:t>
            </a:r>
            <a:r>
              <a:rPr sz="1200" b="1" spc="285" dirty="0">
                <a:latin typeface="Times New Roman"/>
                <a:cs typeface="Times New Roman"/>
              </a:rPr>
              <a:t> </a:t>
            </a:r>
            <a:r>
              <a:rPr sz="1200" b="1" dirty="0">
                <a:latin typeface="Times New Roman"/>
                <a:cs typeface="Times New Roman"/>
              </a:rPr>
              <a:t>Module</a:t>
            </a:r>
            <a:r>
              <a:rPr sz="1200" b="1" spc="285" dirty="0">
                <a:latin typeface="Times New Roman"/>
                <a:cs typeface="Times New Roman"/>
              </a:rPr>
              <a:t> </a:t>
            </a:r>
            <a:r>
              <a:rPr sz="1200" b="1" dirty="0">
                <a:latin typeface="Times New Roman"/>
                <a:cs typeface="Times New Roman"/>
              </a:rPr>
              <a:t>Integration:</a:t>
            </a:r>
            <a:r>
              <a:rPr sz="1200" b="1" spc="295" dirty="0">
                <a:latin typeface="Times New Roman"/>
                <a:cs typeface="Times New Roman"/>
              </a:rPr>
              <a:t> </a:t>
            </a:r>
            <a:r>
              <a:rPr sz="1200" dirty="0">
                <a:latin typeface="Times New Roman"/>
                <a:cs typeface="Times New Roman"/>
              </a:rPr>
              <a:t>Price</a:t>
            </a:r>
            <a:r>
              <a:rPr sz="1200" spc="285" dirty="0">
                <a:latin typeface="Times New Roman"/>
                <a:cs typeface="Times New Roman"/>
              </a:rPr>
              <a:t> </a:t>
            </a:r>
            <a:r>
              <a:rPr sz="1200" dirty="0">
                <a:latin typeface="Times New Roman"/>
                <a:cs typeface="Times New Roman"/>
              </a:rPr>
              <a:t>prediction</a:t>
            </a:r>
            <a:r>
              <a:rPr sz="1200" spc="295" dirty="0">
                <a:latin typeface="Times New Roman"/>
                <a:cs typeface="Times New Roman"/>
              </a:rPr>
              <a:t> </a:t>
            </a:r>
            <a:r>
              <a:rPr sz="1200" dirty="0">
                <a:latin typeface="Times New Roman"/>
                <a:cs typeface="Times New Roman"/>
              </a:rPr>
              <a:t>used</a:t>
            </a:r>
            <a:r>
              <a:rPr sz="1200" spc="290" dirty="0">
                <a:latin typeface="Times New Roman"/>
                <a:cs typeface="Times New Roman"/>
              </a:rPr>
              <a:t> </a:t>
            </a:r>
            <a:r>
              <a:rPr sz="1200" dirty="0">
                <a:latin typeface="Times New Roman"/>
                <a:cs typeface="Times New Roman"/>
              </a:rPr>
              <a:t>a</a:t>
            </a:r>
            <a:r>
              <a:rPr sz="1200" spc="285" dirty="0">
                <a:latin typeface="Times New Roman"/>
                <a:cs typeface="Times New Roman"/>
              </a:rPr>
              <a:t> </a:t>
            </a:r>
            <a:r>
              <a:rPr sz="1200" spc="-10" dirty="0">
                <a:latin typeface="Times New Roman"/>
                <a:cs typeface="Times New Roman"/>
              </a:rPr>
              <a:t>regression-</a:t>
            </a:r>
            <a:r>
              <a:rPr sz="1200" dirty="0">
                <a:latin typeface="Times New Roman"/>
                <a:cs typeface="Times New Roman"/>
              </a:rPr>
              <a:t>based</a:t>
            </a:r>
            <a:r>
              <a:rPr sz="1200" spc="290" dirty="0">
                <a:latin typeface="Times New Roman"/>
                <a:cs typeface="Times New Roman"/>
              </a:rPr>
              <a:t> </a:t>
            </a:r>
            <a:r>
              <a:rPr sz="1200" dirty="0">
                <a:latin typeface="Times New Roman"/>
                <a:cs typeface="Times New Roman"/>
              </a:rPr>
              <a:t>model,</a:t>
            </a:r>
            <a:r>
              <a:rPr sz="1200" spc="295" dirty="0">
                <a:latin typeface="Times New Roman"/>
                <a:cs typeface="Times New Roman"/>
              </a:rPr>
              <a:t> </a:t>
            </a:r>
            <a:r>
              <a:rPr sz="1200" spc="-10" dirty="0">
                <a:latin typeface="Times New Roman"/>
                <a:cs typeface="Times New Roman"/>
              </a:rPr>
              <a:t>while document</a:t>
            </a:r>
            <a:r>
              <a:rPr sz="1200" spc="-35" dirty="0">
                <a:latin typeface="Times New Roman"/>
                <a:cs typeface="Times New Roman"/>
              </a:rPr>
              <a:t> </a:t>
            </a:r>
            <a:r>
              <a:rPr sz="1200" spc="-10" dirty="0">
                <a:latin typeface="Times New Roman"/>
                <a:cs typeface="Times New Roman"/>
              </a:rPr>
              <a:t>verification</a:t>
            </a:r>
            <a:r>
              <a:rPr sz="1200" spc="-35" dirty="0">
                <a:latin typeface="Times New Roman"/>
                <a:cs typeface="Times New Roman"/>
              </a:rPr>
              <a:t> </a:t>
            </a:r>
            <a:r>
              <a:rPr sz="1200" spc="-10" dirty="0">
                <a:latin typeface="Times New Roman"/>
                <a:cs typeface="Times New Roman"/>
              </a:rPr>
              <a:t>used</a:t>
            </a:r>
            <a:r>
              <a:rPr sz="1200" spc="-35" dirty="0">
                <a:latin typeface="Times New Roman"/>
                <a:cs typeface="Times New Roman"/>
              </a:rPr>
              <a:t> </a:t>
            </a:r>
            <a:r>
              <a:rPr sz="1200" spc="-10" dirty="0">
                <a:latin typeface="Times New Roman"/>
                <a:cs typeface="Times New Roman"/>
              </a:rPr>
              <a:t>NLP</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image</a:t>
            </a:r>
            <a:r>
              <a:rPr sz="1200" spc="-40" dirty="0">
                <a:latin typeface="Times New Roman"/>
                <a:cs typeface="Times New Roman"/>
              </a:rPr>
              <a:t> </a:t>
            </a:r>
            <a:r>
              <a:rPr sz="1200" spc="-10" dirty="0">
                <a:latin typeface="Times New Roman"/>
                <a:cs typeface="Times New Roman"/>
              </a:rPr>
              <a:t>processing</a:t>
            </a:r>
            <a:r>
              <a:rPr sz="1200" spc="-35" dirty="0">
                <a:latin typeface="Times New Roman"/>
                <a:cs typeface="Times New Roman"/>
              </a:rPr>
              <a:t> </a:t>
            </a:r>
            <a:r>
              <a:rPr sz="1200" spc="-10" dirty="0">
                <a:latin typeface="Times New Roman"/>
                <a:cs typeface="Times New Roman"/>
              </a:rPr>
              <a:t>techniques.</a:t>
            </a:r>
            <a:r>
              <a:rPr sz="1200" spc="-40" dirty="0">
                <a:latin typeface="Times New Roman"/>
                <a:cs typeface="Times New Roman"/>
              </a:rPr>
              <a:t> </a:t>
            </a:r>
            <a:r>
              <a:rPr sz="1200" spc="-10" dirty="0">
                <a:latin typeface="Times New Roman"/>
                <a:cs typeface="Times New Roman"/>
              </a:rPr>
              <a:t>Both</a:t>
            </a:r>
            <a:r>
              <a:rPr sz="1200" spc="-45" dirty="0">
                <a:latin typeface="Times New Roman"/>
                <a:cs typeface="Times New Roman"/>
              </a:rPr>
              <a:t> </a:t>
            </a:r>
            <a:r>
              <a:rPr sz="1200" spc="-10" dirty="0">
                <a:latin typeface="Times New Roman"/>
                <a:cs typeface="Times New Roman"/>
              </a:rPr>
              <a:t>modules</a:t>
            </a:r>
            <a:r>
              <a:rPr sz="1200" spc="-40" dirty="0">
                <a:latin typeface="Times New Roman"/>
                <a:cs typeface="Times New Roman"/>
              </a:rPr>
              <a:t> </a:t>
            </a:r>
            <a:r>
              <a:rPr sz="1200" spc="-20" dirty="0">
                <a:latin typeface="Times New Roman"/>
                <a:cs typeface="Times New Roman"/>
              </a:rPr>
              <a:t>were </a:t>
            </a:r>
            <a:r>
              <a:rPr sz="1200" dirty="0">
                <a:latin typeface="Times New Roman"/>
                <a:cs typeface="Times New Roman"/>
              </a:rPr>
              <a:t>integrated</a:t>
            </a:r>
            <a:r>
              <a:rPr sz="1200" spc="254" dirty="0">
                <a:latin typeface="Times New Roman"/>
                <a:cs typeface="Times New Roman"/>
              </a:rPr>
              <a:t> </a:t>
            </a:r>
            <a:r>
              <a:rPr sz="1200" dirty="0">
                <a:latin typeface="Times New Roman"/>
                <a:cs typeface="Times New Roman"/>
              </a:rPr>
              <a:t>with</a:t>
            </a:r>
            <a:r>
              <a:rPr sz="1200" spc="265" dirty="0">
                <a:latin typeface="Times New Roman"/>
                <a:cs typeface="Times New Roman"/>
              </a:rPr>
              <a:t> </a:t>
            </a:r>
            <a:r>
              <a:rPr sz="1200" dirty="0">
                <a:latin typeface="Times New Roman"/>
                <a:cs typeface="Times New Roman"/>
              </a:rPr>
              <a:t>the</a:t>
            </a:r>
            <a:r>
              <a:rPr sz="1200" spc="260" dirty="0">
                <a:latin typeface="Times New Roman"/>
                <a:cs typeface="Times New Roman"/>
              </a:rPr>
              <a:t> </a:t>
            </a:r>
            <a:r>
              <a:rPr sz="1200" dirty="0">
                <a:latin typeface="Times New Roman"/>
                <a:cs typeface="Times New Roman"/>
              </a:rPr>
              <a:t>backend</a:t>
            </a:r>
            <a:r>
              <a:rPr sz="1200" spc="265" dirty="0">
                <a:latin typeface="Times New Roman"/>
                <a:cs typeface="Times New Roman"/>
              </a:rPr>
              <a:t> </a:t>
            </a:r>
            <a:r>
              <a:rPr sz="1200" dirty="0">
                <a:latin typeface="Times New Roman"/>
                <a:cs typeface="Times New Roman"/>
              </a:rPr>
              <a:t>using</a:t>
            </a:r>
            <a:r>
              <a:rPr sz="1200" spc="265" dirty="0">
                <a:latin typeface="Times New Roman"/>
                <a:cs typeface="Times New Roman"/>
              </a:rPr>
              <a:t> </a:t>
            </a:r>
            <a:r>
              <a:rPr sz="1200" dirty="0">
                <a:latin typeface="Times New Roman"/>
                <a:cs typeface="Times New Roman"/>
              </a:rPr>
              <a:t>Flask</a:t>
            </a:r>
            <a:r>
              <a:rPr sz="1200" spc="265" dirty="0">
                <a:latin typeface="Times New Roman"/>
                <a:cs typeface="Times New Roman"/>
              </a:rPr>
              <a:t> </a:t>
            </a:r>
            <a:r>
              <a:rPr sz="1200" dirty="0">
                <a:latin typeface="Times New Roman"/>
                <a:cs typeface="Times New Roman"/>
              </a:rPr>
              <a:t>APIs</a:t>
            </a:r>
            <a:r>
              <a:rPr sz="1200" spc="275" dirty="0">
                <a:latin typeface="Times New Roman"/>
                <a:cs typeface="Times New Roman"/>
              </a:rPr>
              <a:t> </a:t>
            </a:r>
            <a:r>
              <a:rPr sz="1200" dirty="0">
                <a:latin typeface="Times New Roman"/>
                <a:cs typeface="Times New Roman"/>
              </a:rPr>
              <a:t>and</a:t>
            </a:r>
            <a:r>
              <a:rPr sz="1200" spc="260" dirty="0">
                <a:latin typeface="Times New Roman"/>
                <a:cs typeface="Times New Roman"/>
              </a:rPr>
              <a:t> </a:t>
            </a:r>
            <a:r>
              <a:rPr sz="1200" dirty="0">
                <a:latin typeface="Times New Roman"/>
                <a:cs typeface="Times New Roman"/>
              </a:rPr>
              <a:t>tested</a:t>
            </a:r>
            <a:r>
              <a:rPr sz="1200" spc="275" dirty="0">
                <a:latin typeface="Times New Roman"/>
                <a:cs typeface="Times New Roman"/>
              </a:rPr>
              <a:t> </a:t>
            </a:r>
            <a:r>
              <a:rPr sz="1200" dirty="0">
                <a:latin typeface="Times New Roman"/>
                <a:cs typeface="Times New Roman"/>
              </a:rPr>
              <a:t>thoroughly</a:t>
            </a:r>
            <a:r>
              <a:rPr sz="1200" spc="280" dirty="0">
                <a:latin typeface="Times New Roman"/>
                <a:cs typeface="Times New Roman"/>
              </a:rPr>
              <a:t> </a:t>
            </a:r>
            <a:r>
              <a:rPr sz="1200" dirty="0">
                <a:latin typeface="Times New Roman"/>
                <a:cs typeface="Times New Roman"/>
              </a:rPr>
              <a:t>for</a:t>
            </a:r>
            <a:r>
              <a:rPr sz="1200" spc="254" dirty="0">
                <a:latin typeface="Times New Roman"/>
                <a:cs typeface="Times New Roman"/>
              </a:rPr>
              <a:t> </a:t>
            </a:r>
            <a:r>
              <a:rPr sz="1200" spc="-10" dirty="0">
                <a:latin typeface="Times New Roman"/>
                <a:cs typeface="Times New Roman"/>
              </a:rPr>
              <a:t>correct outputs.</a:t>
            </a:r>
            <a:endParaRPr sz="1200">
              <a:latin typeface="Times New Roman"/>
              <a:cs typeface="Times New Roman"/>
            </a:endParaRPr>
          </a:p>
          <a:p>
            <a:pPr marL="469265" marR="8890" indent="-228600" algn="just">
              <a:lnSpc>
                <a:spcPts val="1380"/>
              </a:lnSpc>
              <a:buSzPct val="83333"/>
              <a:buFont typeface="Symbol"/>
              <a:buChar char=""/>
              <a:tabLst>
                <a:tab pos="469265" algn="l"/>
              </a:tabLst>
            </a:pPr>
            <a:r>
              <a:rPr sz="1200" b="1" dirty="0">
                <a:latin typeface="Times New Roman"/>
                <a:cs typeface="Times New Roman"/>
              </a:rPr>
              <a:t>Notification</a:t>
            </a:r>
            <a:r>
              <a:rPr sz="1200" b="1" spc="-45" dirty="0">
                <a:latin typeface="Times New Roman"/>
                <a:cs typeface="Times New Roman"/>
              </a:rPr>
              <a:t> </a:t>
            </a:r>
            <a:r>
              <a:rPr sz="1200" b="1" dirty="0">
                <a:latin typeface="Times New Roman"/>
                <a:cs typeface="Times New Roman"/>
              </a:rPr>
              <a:t>System:</a:t>
            </a:r>
            <a:r>
              <a:rPr sz="1200" b="1" spc="-45" dirty="0">
                <a:latin typeface="Times New Roman"/>
                <a:cs typeface="Times New Roman"/>
              </a:rPr>
              <a:t> </a:t>
            </a:r>
            <a:r>
              <a:rPr sz="1200" dirty="0">
                <a:latin typeface="Times New Roman"/>
                <a:cs typeface="Times New Roman"/>
              </a:rPr>
              <a:t>Bid</a:t>
            </a:r>
            <a:r>
              <a:rPr sz="1200" spc="-45" dirty="0">
                <a:latin typeface="Times New Roman"/>
                <a:cs typeface="Times New Roman"/>
              </a:rPr>
              <a:t> </a:t>
            </a:r>
            <a:r>
              <a:rPr sz="1200" spc="-10" dirty="0">
                <a:latin typeface="Times New Roman"/>
                <a:cs typeface="Times New Roman"/>
              </a:rPr>
              <a:t>confirmations,</a:t>
            </a:r>
            <a:r>
              <a:rPr sz="1200" spc="-45" dirty="0">
                <a:latin typeface="Times New Roman"/>
                <a:cs typeface="Times New Roman"/>
              </a:rPr>
              <a:t> </a:t>
            </a:r>
            <a:r>
              <a:rPr sz="1200" dirty="0">
                <a:latin typeface="Times New Roman"/>
                <a:cs typeface="Times New Roman"/>
              </a:rPr>
              <a:t>auction</a:t>
            </a:r>
            <a:r>
              <a:rPr sz="1200" spc="-35" dirty="0">
                <a:latin typeface="Times New Roman"/>
                <a:cs typeface="Times New Roman"/>
              </a:rPr>
              <a:t> </a:t>
            </a:r>
            <a:r>
              <a:rPr sz="1200" spc="-10" dirty="0">
                <a:latin typeface="Times New Roman"/>
                <a:cs typeface="Times New Roman"/>
              </a:rPr>
              <a:t>start/end</a:t>
            </a:r>
            <a:r>
              <a:rPr sz="1200" spc="-50" dirty="0">
                <a:latin typeface="Times New Roman"/>
                <a:cs typeface="Times New Roman"/>
              </a:rPr>
              <a:t> </a:t>
            </a:r>
            <a:r>
              <a:rPr sz="1200" dirty="0">
                <a:latin typeface="Times New Roman"/>
                <a:cs typeface="Times New Roman"/>
              </a:rPr>
              <a:t>alerts,</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admin</a:t>
            </a:r>
            <a:r>
              <a:rPr sz="1200" spc="-50" dirty="0">
                <a:latin typeface="Times New Roman"/>
                <a:cs typeface="Times New Roman"/>
              </a:rPr>
              <a:t> </a:t>
            </a:r>
            <a:r>
              <a:rPr sz="1200" spc="-10" dirty="0">
                <a:latin typeface="Times New Roman"/>
                <a:cs typeface="Times New Roman"/>
              </a:rPr>
              <a:t>messages </a:t>
            </a:r>
            <a:r>
              <a:rPr sz="1200" dirty="0">
                <a:latin typeface="Times New Roman"/>
                <a:cs typeface="Times New Roman"/>
              </a:rPr>
              <a:t>were</a:t>
            </a:r>
            <a:r>
              <a:rPr sz="1200" spc="405" dirty="0">
                <a:latin typeface="Times New Roman"/>
                <a:cs typeface="Times New Roman"/>
              </a:rPr>
              <a:t> </a:t>
            </a:r>
            <a:r>
              <a:rPr sz="1200" dirty="0">
                <a:latin typeface="Times New Roman"/>
                <a:cs typeface="Times New Roman"/>
              </a:rPr>
              <a:t>delivered</a:t>
            </a:r>
            <a:r>
              <a:rPr sz="1200" spc="409" dirty="0">
                <a:latin typeface="Times New Roman"/>
                <a:cs typeface="Times New Roman"/>
              </a:rPr>
              <a:t> </a:t>
            </a:r>
            <a:r>
              <a:rPr sz="1200" dirty="0">
                <a:latin typeface="Times New Roman"/>
                <a:cs typeface="Times New Roman"/>
              </a:rPr>
              <a:t>instantly</a:t>
            </a:r>
            <a:r>
              <a:rPr sz="1200" spc="409" dirty="0">
                <a:latin typeface="Times New Roman"/>
                <a:cs typeface="Times New Roman"/>
              </a:rPr>
              <a:t> </a:t>
            </a:r>
            <a:r>
              <a:rPr sz="1200" dirty="0">
                <a:latin typeface="Times New Roman"/>
                <a:cs typeface="Times New Roman"/>
              </a:rPr>
              <a:t>through</a:t>
            </a:r>
            <a:r>
              <a:rPr sz="1200" spc="415" dirty="0">
                <a:latin typeface="Times New Roman"/>
                <a:cs typeface="Times New Roman"/>
              </a:rPr>
              <a:t> </a:t>
            </a:r>
            <a:r>
              <a:rPr sz="1200" dirty="0">
                <a:latin typeface="Times New Roman"/>
                <a:cs typeface="Times New Roman"/>
              </a:rPr>
              <a:t>toast</a:t>
            </a:r>
            <a:r>
              <a:rPr sz="1200" spc="415" dirty="0">
                <a:latin typeface="Times New Roman"/>
                <a:cs typeface="Times New Roman"/>
              </a:rPr>
              <a:t> </a:t>
            </a:r>
            <a:r>
              <a:rPr sz="1200" dirty="0">
                <a:latin typeface="Times New Roman"/>
                <a:cs typeface="Times New Roman"/>
              </a:rPr>
              <a:t>notifications</a:t>
            </a:r>
            <a:r>
              <a:rPr sz="1200" spc="415" dirty="0">
                <a:latin typeface="Times New Roman"/>
                <a:cs typeface="Times New Roman"/>
              </a:rPr>
              <a:t> </a:t>
            </a:r>
            <a:r>
              <a:rPr sz="1200" dirty="0">
                <a:latin typeface="Times New Roman"/>
                <a:cs typeface="Times New Roman"/>
              </a:rPr>
              <a:t>and</a:t>
            </a:r>
            <a:r>
              <a:rPr sz="1200" spc="415" dirty="0">
                <a:latin typeface="Times New Roman"/>
                <a:cs typeface="Times New Roman"/>
              </a:rPr>
              <a:t> </a:t>
            </a:r>
            <a:r>
              <a:rPr sz="1200" dirty="0">
                <a:latin typeface="Times New Roman"/>
                <a:cs typeface="Times New Roman"/>
              </a:rPr>
              <a:t>email</a:t>
            </a:r>
            <a:r>
              <a:rPr sz="1200" spc="415" dirty="0">
                <a:latin typeface="Times New Roman"/>
                <a:cs typeface="Times New Roman"/>
              </a:rPr>
              <a:t> </a:t>
            </a:r>
            <a:r>
              <a:rPr sz="1200" dirty="0">
                <a:latin typeface="Times New Roman"/>
                <a:cs typeface="Times New Roman"/>
              </a:rPr>
              <a:t>(SendGrid</a:t>
            </a:r>
            <a:r>
              <a:rPr sz="1200" spc="415" dirty="0">
                <a:latin typeface="Times New Roman"/>
                <a:cs typeface="Times New Roman"/>
              </a:rPr>
              <a:t> </a:t>
            </a:r>
            <a:r>
              <a:rPr sz="1200" spc="-25" dirty="0">
                <a:latin typeface="Times New Roman"/>
                <a:cs typeface="Times New Roman"/>
              </a:rPr>
              <a:t>API</a:t>
            </a:r>
            <a:endParaRPr sz="1200">
              <a:latin typeface="Times New Roman"/>
              <a:cs typeface="Times New Roman"/>
            </a:endParaRPr>
          </a:p>
          <a:p>
            <a:pPr marL="469265" algn="just">
              <a:lnSpc>
                <a:spcPts val="1345"/>
              </a:lnSpc>
            </a:pPr>
            <a:r>
              <a:rPr sz="1200" dirty="0">
                <a:latin typeface="Times New Roman"/>
                <a:cs typeface="Times New Roman"/>
              </a:rPr>
              <a:t>integration</a:t>
            </a:r>
            <a:r>
              <a:rPr sz="1200" spc="-35" dirty="0">
                <a:latin typeface="Times New Roman"/>
                <a:cs typeface="Times New Roman"/>
              </a:rPr>
              <a:t> </a:t>
            </a:r>
            <a:r>
              <a:rPr sz="1200" dirty="0">
                <a:latin typeface="Times New Roman"/>
                <a:cs typeface="Times New Roman"/>
              </a:rPr>
              <a:t>tested</a:t>
            </a:r>
            <a:r>
              <a:rPr sz="1200" spc="-3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well).</a:t>
            </a:r>
            <a:endParaRPr sz="1200">
              <a:latin typeface="Times New Roman"/>
              <a:cs typeface="Times New Roman"/>
            </a:endParaRPr>
          </a:p>
          <a:p>
            <a:pPr>
              <a:lnSpc>
                <a:spcPct val="100000"/>
              </a:lnSpc>
              <a:spcBef>
                <a:spcPts val="60"/>
              </a:spcBef>
            </a:pPr>
            <a:endParaRPr sz="1200">
              <a:latin typeface="Times New Roman"/>
              <a:cs typeface="Times New Roman"/>
            </a:endParaRPr>
          </a:p>
          <a:p>
            <a:pPr marL="12700" marR="10160" algn="just">
              <a:lnSpc>
                <a:spcPts val="1380"/>
              </a:lnSpc>
            </a:pPr>
            <a:r>
              <a:rPr sz="1200" b="1" dirty="0">
                <a:latin typeface="Times New Roman"/>
                <a:cs typeface="Times New Roman"/>
              </a:rPr>
              <a:t>Outcome:</a:t>
            </a:r>
            <a:r>
              <a:rPr sz="1200" b="1" spc="130" dirty="0">
                <a:latin typeface="Times New Roman"/>
                <a:cs typeface="Times New Roman"/>
              </a:rPr>
              <a:t> </a:t>
            </a:r>
            <a:r>
              <a:rPr sz="1200" dirty="0">
                <a:latin typeface="Times New Roman"/>
                <a:cs typeface="Times New Roman"/>
              </a:rPr>
              <a:t>All</a:t>
            </a:r>
            <a:r>
              <a:rPr sz="1200" spc="135" dirty="0">
                <a:latin typeface="Times New Roman"/>
                <a:cs typeface="Times New Roman"/>
              </a:rPr>
              <a:t> </a:t>
            </a:r>
            <a:r>
              <a:rPr sz="1200" dirty="0">
                <a:latin typeface="Times New Roman"/>
                <a:cs typeface="Times New Roman"/>
              </a:rPr>
              <a:t>functional</a:t>
            </a:r>
            <a:r>
              <a:rPr sz="1200" spc="135" dirty="0">
                <a:latin typeface="Times New Roman"/>
                <a:cs typeface="Times New Roman"/>
              </a:rPr>
              <a:t> </a:t>
            </a:r>
            <a:r>
              <a:rPr sz="1200" dirty="0">
                <a:latin typeface="Times New Roman"/>
                <a:cs typeface="Times New Roman"/>
              </a:rPr>
              <a:t>modules</a:t>
            </a:r>
            <a:r>
              <a:rPr sz="1200" spc="130" dirty="0">
                <a:latin typeface="Times New Roman"/>
                <a:cs typeface="Times New Roman"/>
              </a:rPr>
              <a:t> </a:t>
            </a:r>
            <a:r>
              <a:rPr sz="1200" dirty="0">
                <a:latin typeface="Times New Roman"/>
                <a:cs typeface="Times New Roman"/>
              </a:rPr>
              <a:t>behaved</a:t>
            </a:r>
            <a:r>
              <a:rPr sz="1200" spc="135" dirty="0">
                <a:latin typeface="Times New Roman"/>
                <a:cs typeface="Times New Roman"/>
              </a:rPr>
              <a:t> </a:t>
            </a:r>
            <a:r>
              <a:rPr sz="1200" dirty="0">
                <a:latin typeface="Times New Roman"/>
                <a:cs typeface="Times New Roman"/>
              </a:rPr>
              <a:t>as</a:t>
            </a:r>
            <a:r>
              <a:rPr sz="1200" spc="130" dirty="0">
                <a:latin typeface="Times New Roman"/>
                <a:cs typeface="Times New Roman"/>
              </a:rPr>
              <a:t> </a:t>
            </a:r>
            <a:r>
              <a:rPr sz="1200" dirty="0">
                <a:latin typeface="Times New Roman"/>
                <a:cs typeface="Times New Roman"/>
              </a:rPr>
              <a:t>expected</a:t>
            </a:r>
            <a:r>
              <a:rPr sz="1200" spc="125" dirty="0">
                <a:latin typeface="Times New Roman"/>
                <a:cs typeface="Times New Roman"/>
              </a:rPr>
              <a:t> </a:t>
            </a:r>
            <a:r>
              <a:rPr sz="1200" dirty="0">
                <a:latin typeface="Times New Roman"/>
                <a:cs typeface="Times New Roman"/>
              </a:rPr>
              <a:t>under</a:t>
            </a:r>
            <a:r>
              <a:rPr sz="1200" spc="130" dirty="0">
                <a:latin typeface="Times New Roman"/>
                <a:cs typeface="Times New Roman"/>
              </a:rPr>
              <a:t> </a:t>
            </a:r>
            <a:r>
              <a:rPr sz="1200" dirty="0">
                <a:latin typeface="Times New Roman"/>
                <a:cs typeface="Times New Roman"/>
              </a:rPr>
              <a:t>various</a:t>
            </a:r>
            <a:r>
              <a:rPr sz="1200" spc="130" dirty="0">
                <a:latin typeface="Times New Roman"/>
                <a:cs typeface="Times New Roman"/>
              </a:rPr>
              <a:t> </a:t>
            </a:r>
            <a:r>
              <a:rPr sz="1200" dirty="0">
                <a:latin typeface="Times New Roman"/>
                <a:cs typeface="Times New Roman"/>
              </a:rPr>
              <a:t>scenarios</a:t>
            </a:r>
            <a:r>
              <a:rPr sz="1200" spc="13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spc="-20" dirty="0">
                <a:latin typeface="Times New Roman"/>
                <a:cs typeface="Times New Roman"/>
              </a:rPr>
              <a:t>edge </a:t>
            </a:r>
            <a:r>
              <a:rPr sz="1200" dirty="0">
                <a:latin typeface="Times New Roman"/>
                <a:cs typeface="Times New Roman"/>
              </a:rPr>
              <a:t>cases.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testing</a:t>
            </a:r>
            <a:r>
              <a:rPr sz="1200" spc="35" dirty="0">
                <a:latin typeface="Times New Roman"/>
                <a:cs typeface="Times New Roman"/>
              </a:rPr>
              <a:t> </a:t>
            </a:r>
            <a:r>
              <a:rPr sz="1200" dirty="0">
                <a:latin typeface="Times New Roman"/>
                <a:cs typeface="Times New Roman"/>
              </a:rPr>
              <a:t>confirmed</a:t>
            </a:r>
            <a:r>
              <a:rPr sz="1200" spc="30" dirty="0">
                <a:latin typeface="Times New Roman"/>
                <a:cs typeface="Times New Roman"/>
              </a:rPr>
              <a:t> </a:t>
            </a:r>
            <a:r>
              <a:rPr sz="1200" dirty="0">
                <a:latin typeface="Times New Roman"/>
                <a:cs typeface="Times New Roman"/>
              </a:rPr>
              <a:t>full</a:t>
            </a:r>
            <a:r>
              <a:rPr sz="1200" spc="30" dirty="0">
                <a:latin typeface="Times New Roman"/>
                <a:cs typeface="Times New Roman"/>
              </a:rPr>
              <a:t> </a:t>
            </a:r>
            <a:r>
              <a:rPr sz="1200" dirty="0">
                <a:latin typeface="Times New Roman"/>
                <a:cs typeface="Times New Roman"/>
              </a:rPr>
              <a:t>compliance</a:t>
            </a:r>
            <a:r>
              <a:rPr sz="1200" spc="3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Software</a:t>
            </a:r>
            <a:r>
              <a:rPr sz="1200" spc="25" dirty="0">
                <a:latin typeface="Times New Roman"/>
                <a:cs typeface="Times New Roman"/>
              </a:rPr>
              <a:t> </a:t>
            </a:r>
            <a:r>
              <a:rPr sz="1200" dirty="0">
                <a:latin typeface="Times New Roman"/>
                <a:cs typeface="Times New Roman"/>
              </a:rPr>
              <a:t>Requirements</a:t>
            </a:r>
            <a:r>
              <a:rPr sz="1200" spc="30" dirty="0">
                <a:latin typeface="Times New Roman"/>
                <a:cs typeface="Times New Roman"/>
              </a:rPr>
              <a:t> </a:t>
            </a:r>
            <a:r>
              <a:rPr sz="1200" spc="-10" dirty="0">
                <a:latin typeface="Times New Roman"/>
                <a:cs typeface="Times New Roman"/>
              </a:rPr>
              <a:t>Specification (SRS).</a:t>
            </a:r>
            <a:endParaRPr sz="1200">
              <a:latin typeface="Times New Roman"/>
              <a:cs typeface="Times New Roman"/>
            </a:endParaRPr>
          </a:p>
        </p:txBody>
      </p:sp>
      <p:sp>
        <p:nvSpPr>
          <p:cNvPr id="3" name="object 3"/>
          <p:cNvSpPr txBox="1"/>
          <p:nvPr/>
        </p:nvSpPr>
        <p:spPr>
          <a:xfrm>
            <a:off x="1176324" y="4402963"/>
            <a:ext cx="5696585" cy="4686539"/>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6.3</a:t>
            </a:r>
            <a:r>
              <a:rPr lang="en-US" sz="1350" b="1" dirty="0">
                <a:latin typeface="Times New Roman"/>
                <a:cs typeface="Times New Roman"/>
              </a:rPr>
              <a:t>  </a:t>
            </a:r>
            <a:r>
              <a:rPr sz="1350" b="1" spc="-25" dirty="0">
                <a:latin typeface="Times New Roman"/>
                <a:cs typeface="Times New Roman"/>
              </a:rPr>
              <a:t> </a:t>
            </a:r>
            <a:r>
              <a:rPr sz="1350" b="1" dirty="0">
                <a:latin typeface="Times New Roman"/>
                <a:cs typeface="Times New Roman"/>
              </a:rPr>
              <a:t>Unit</a:t>
            </a:r>
            <a:r>
              <a:rPr sz="1350" b="1" spc="-5" dirty="0">
                <a:latin typeface="Times New Roman"/>
                <a:cs typeface="Times New Roman"/>
              </a:rPr>
              <a:t> </a:t>
            </a:r>
            <a:r>
              <a:rPr sz="1350" b="1" spc="-10" dirty="0">
                <a:latin typeface="Times New Roman"/>
                <a:cs typeface="Times New Roman"/>
              </a:rPr>
              <a:t>Testing</a:t>
            </a:r>
            <a:endParaRPr sz="1350" dirty="0">
              <a:latin typeface="Times New Roman"/>
              <a:cs typeface="Times New Roman"/>
            </a:endParaRPr>
          </a:p>
          <a:p>
            <a:pPr marL="12700" marR="6985" algn="just">
              <a:lnSpc>
                <a:spcPts val="1380"/>
              </a:lnSpc>
              <a:spcBef>
                <a:spcPts val="1435"/>
              </a:spcBef>
            </a:pPr>
            <a:r>
              <a:rPr sz="1200" dirty="0">
                <a:latin typeface="Times New Roman"/>
                <a:cs typeface="Times New Roman"/>
              </a:rPr>
              <a:t>Unit</a:t>
            </a:r>
            <a:r>
              <a:rPr sz="1200" spc="150" dirty="0">
                <a:latin typeface="Times New Roman"/>
                <a:cs typeface="Times New Roman"/>
              </a:rPr>
              <a:t> </a:t>
            </a:r>
            <a:r>
              <a:rPr sz="1200" dirty="0">
                <a:latin typeface="Times New Roman"/>
                <a:cs typeface="Times New Roman"/>
              </a:rPr>
              <a:t>testing</a:t>
            </a:r>
            <a:r>
              <a:rPr sz="1200" spc="155" dirty="0">
                <a:latin typeface="Times New Roman"/>
                <a:cs typeface="Times New Roman"/>
              </a:rPr>
              <a:t> </a:t>
            </a:r>
            <a:r>
              <a:rPr sz="1200" dirty="0">
                <a:latin typeface="Times New Roman"/>
                <a:cs typeface="Times New Roman"/>
              </a:rPr>
              <a:t>involves</a:t>
            </a:r>
            <a:r>
              <a:rPr sz="1200" spc="15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dirty="0">
                <a:latin typeface="Times New Roman"/>
                <a:cs typeface="Times New Roman"/>
              </a:rPr>
              <a:t>validation</a:t>
            </a:r>
            <a:r>
              <a:rPr sz="1200" spc="150"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dirty="0">
                <a:latin typeface="Times New Roman"/>
                <a:cs typeface="Times New Roman"/>
              </a:rPr>
              <a:t>individual</a:t>
            </a:r>
            <a:r>
              <a:rPr sz="1200" spc="150" dirty="0">
                <a:latin typeface="Times New Roman"/>
                <a:cs typeface="Times New Roman"/>
              </a:rPr>
              <a:t> </a:t>
            </a:r>
            <a:r>
              <a:rPr sz="1200" dirty="0">
                <a:latin typeface="Times New Roman"/>
                <a:cs typeface="Times New Roman"/>
              </a:rPr>
              <a:t>components</a:t>
            </a:r>
            <a:r>
              <a:rPr sz="1200" spc="155" dirty="0">
                <a:latin typeface="Times New Roman"/>
                <a:cs typeface="Times New Roman"/>
              </a:rPr>
              <a:t> </a:t>
            </a:r>
            <a:r>
              <a:rPr sz="1200" dirty="0">
                <a:latin typeface="Times New Roman"/>
                <a:cs typeface="Times New Roman"/>
              </a:rPr>
              <a:t>or</a:t>
            </a:r>
            <a:r>
              <a:rPr sz="1200" spc="150" dirty="0">
                <a:latin typeface="Times New Roman"/>
                <a:cs typeface="Times New Roman"/>
              </a:rPr>
              <a:t> </a:t>
            </a:r>
            <a:r>
              <a:rPr sz="1200" dirty="0">
                <a:latin typeface="Times New Roman"/>
                <a:cs typeface="Times New Roman"/>
              </a:rPr>
              <a:t>"units"</a:t>
            </a:r>
            <a:r>
              <a:rPr sz="1200" spc="15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dirty="0">
                <a:latin typeface="Times New Roman"/>
                <a:cs typeface="Times New Roman"/>
              </a:rPr>
              <a:t>the</a:t>
            </a:r>
            <a:r>
              <a:rPr sz="1200" spc="150" dirty="0">
                <a:latin typeface="Times New Roman"/>
                <a:cs typeface="Times New Roman"/>
              </a:rPr>
              <a:t> </a:t>
            </a:r>
            <a:r>
              <a:rPr sz="1200" dirty="0">
                <a:latin typeface="Times New Roman"/>
                <a:cs typeface="Times New Roman"/>
              </a:rPr>
              <a:t>system</a:t>
            </a:r>
            <a:r>
              <a:rPr sz="1200" spc="155" dirty="0">
                <a:latin typeface="Times New Roman"/>
                <a:cs typeface="Times New Roman"/>
              </a:rPr>
              <a:t> </a:t>
            </a:r>
            <a:r>
              <a:rPr sz="1200" spc="-25" dirty="0">
                <a:latin typeface="Times New Roman"/>
                <a:cs typeface="Times New Roman"/>
              </a:rPr>
              <a:t>in </a:t>
            </a:r>
            <a:r>
              <a:rPr sz="1200" dirty="0">
                <a:latin typeface="Times New Roman"/>
                <a:cs typeface="Times New Roman"/>
              </a:rPr>
              <a:t>isolation.</a:t>
            </a:r>
            <a:r>
              <a:rPr sz="1200" spc="254" dirty="0">
                <a:latin typeface="Times New Roman"/>
                <a:cs typeface="Times New Roman"/>
              </a:rPr>
              <a:t> </a:t>
            </a:r>
            <a:r>
              <a:rPr sz="1200" dirty="0">
                <a:latin typeface="Times New Roman"/>
                <a:cs typeface="Times New Roman"/>
              </a:rPr>
              <a:t>This</a:t>
            </a:r>
            <a:r>
              <a:rPr sz="1200" spc="260" dirty="0">
                <a:latin typeface="Times New Roman"/>
                <a:cs typeface="Times New Roman"/>
              </a:rPr>
              <a:t> </a:t>
            </a:r>
            <a:r>
              <a:rPr sz="1200" dirty="0">
                <a:latin typeface="Times New Roman"/>
                <a:cs typeface="Times New Roman"/>
              </a:rPr>
              <a:t>level</a:t>
            </a:r>
            <a:r>
              <a:rPr sz="1200" spc="260" dirty="0">
                <a:latin typeface="Times New Roman"/>
                <a:cs typeface="Times New Roman"/>
              </a:rPr>
              <a:t> </a:t>
            </a:r>
            <a:r>
              <a:rPr sz="1200" dirty="0">
                <a:latin typeface="Times New Roman"/>
                <a:cs typeface="Times New Roman"/>
              </a:rPr>
              <a:t>of</a:t>
            </a:r>
            <a:r>
              <a:rPr sz="1200" spc="254" dirty="0">
                <a:latin typeface="Times New Roman"/>
                <a:cs typeface="Times New Roman"/>
              </a:rPr>
              <a:t> </a:t>
            </a:r>
            <a:r>
              <a:rPr sz="1200" dirty="0">
                <a:latin typeface="Times New Roman"/>
                <a:cs typeface="Times New Roman"/>
              </a:rPr>
              <a:t>testing</a:t>
            </a:r>
            <a:r>
              <a:rPr sz="1200" spc="260" dirty="0">
                <a:latin typeface="Times New Roman"/>
                <a:cs typeface="Times New Roman"/>
              </a:rPr>
              <a:t> </a:t>
            </a:r>
            <a:r>
              <a:rPr sz="1200" dirty="0">
                <a:latin typeface="Times New Roman"/>
                <a:cs typeface="Times New Roman"/>
              </a:rPr>
              <a:t>allows</a:t>
            </a:r>
            <a:r>
              <a:rPr sz="1200" spc="260" dirty="0">
                <a:latin typeface="Times New Roman"/>
                <a:cs typeface="Times New Roman"/>
              </a:rPr>
              <a:t> </a:t>
            </a:r>
            <a:r>
              <a:rPr sz="1200" dirty="0">
                <a:latin typeface="Times New Roman"/>
                <a:cs typeface="Times New Roman"/>
              </a:rPr>
              <a:t>developers</a:t>
            </a:r>
            <a:r>
              <a:rPr sz="1200" spc="260" dirty="0">
                <a:latin typeface="Times New Roman"/>
                <a:cs typeface="Times New Roman"/>
              </a:rPr>
              <a:t> </a:t>
            </a:r>
            <a:r>
              <a:rPr sz="1200" dirty="0">
                <a:latin typeface="Times New Roman"/>
                <a:cs typeface="Times New Roman"/>
              </a:rPr>
              <a:t>to</a:t>
            </a:r>
            <a:r>
              <a:rPr sz="1200" spc="260" dirty="0">
                <a:latin typeface="Times New Roman"/>
                <a:cs typeface="Times New Roman"/>
              </a:rPr>
              <a:t> </a:t>
            </a:r>
            <a:r>
              <a:rPr sz="1200" dirty="0">
                <a:latin typeface="Times New Roman"/>
                <a:cs typeface="Times New Roman"/>
              </a:rPr>
              <a:t>catch</a:t>
            </a:r>
            <a:r>
              <a:rPr sz="1200" spc="250" dirty="0">
                <a:latin typeface="Times New Roman"/>
                <a:cs typeface="Times New Roman"/>
              </a:rPr>
              <a:t> </a:t>
            </a:r>
            <a:r>
              <a:rPr sz="1200" dirty="0">
                <a:latin typeface="Times New Roman"/>
                <a:cs typeface="Times New Roman"/>
              </a:rPr>
              <a:t>bugs</a:t>
            </a:r>
            <a:r>
              <a:rPr sz="1200" spc="260" dirty="0">
                <a:latin typeface="Times New Roman"/>
                <a:cs typeface="Times New Roman"/>
              </a:rPr>
              <a:t> </a:t>
            </a:r>
            <a:r>
              <a:rPr sz="1200" dirty="0">
                <a:latin typeface="Times New Roman"/>
                <a:cs typeface="Times New Roman"/>
              </a:rPr>
              <a:t>at</a:t>
            </a:r>
            <a:r>
              <a:rPr sz="1200" spc="260" dirty="0">
                <a:latin typeface="Times New Roman"/>
                <a:cs typeface="Times New Roman"/>
              </a:rPr>
              <a:t> </a:t>
            </a:r>
            <a:r>
              <a:rPr sz="1200" dirty="0">
                <a:latin typeface="Times New Roman"/>
                <a:cs typeface="Times New Roman"/>
              </a:rPr>
              <a:t>the</a:t>
            </a:r>
            <a:r>
              <a:rPr sz="1200" spc="254" dirty="0">
                <a:latin typeface="Times New Roman"/>
                <a:cs typeface="Times New Roman"/>
              </a:rPr>
              <a:t> </a:t>
            </a:r>
            <a:r>
              <a:rPr sz="1200" dirty="0">
                <a:latin typeface="Times New Roman"/>
                <a:cs typeface="Times New Roman"/>
              </a:rPr>
              <a:t>earliest</a:t>
            </a:r>
            <a:r>
              <a:rPr sz="1200" spc="260" dirty="0">
                <a:latin typeface="Times New Roman"/>
                <a:cs typeface="Times New Roman"/>
              </a:rPr>
              <a:t> </a:t>
            </a:r>
            <a:r>
              <a:rPr sz="1200" dirty="0">
                <a:latin typeface="Times New Roman"/>
                <a:cs typeface="Times New Roman"/>
              </a:rPr>
              <a:t>stage</a:t>
            </a:r>
            <a:r>
              <a:rPr sz="1200" spc="254" dirty="0">
                <a:latin typeface="Times New Roman"/>
                <a:cs typeface="Times New Roman"/>
              </a:rPr>
              <a:t> </a:t>
            </a:r>
            <a:r>
              <a:rPr sz="1200" spc="-25" dirty="0">
                <a:latin typeface="Times New Roman"/>
                <a:cs typeface="Times New Roman"/>
              </a:rPr>
              <a:t>of </a:t>
            </a:r>
            <a:r>
              <a:rPr sz="1200" spc="-1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often</a:t>
            </a:r>
            <a:r>
              <a:rPr sz="1200" spc="-20" dirty="0">
                <a:latin typeface="Times New Roman"/>
                <a:cs typeface="Times New Roman"/>
              </a:rPr>
              <a:t> </a:t>
            </a:r>
            <a:r>
              <a:rPr sz="1200" dirty="0">
                <a:latin typeface="Times New Roman"/>
                <a:cs typeface="Times New Roman"/>
              </a:rPr>
              <a:t>before</a:t>
            </a:r>
            <a:r>
              <a:rPr sz="1200" spc="-20" dirty="0">
                <a:latin typeface="Times New Roman"/>
                <a:cs typeface="Times New Roman"/>
              </a:rPr>
              <a:t> </a:t>
            </a:r>
            <a:r>
              <a:rPr sz="1200" dirty="0">
                <a:latin typeface="Times New Roman"/>
                <a:cs typeface="Times New Roman"/>
              </a:rPr>
              <a:t>integration</a:t>
            </a:r>
            <a:r>
              <a:rPr sz="1200" spc="-20" dirty="0">
                <a:latin typeface="Times New Roman"/>
                <a:cs typeface="Times New Roman"/>
              </a:rPr>
              <a:t> </a:t>
            </a:r>
            <a:r>
              <a:rPr sz="1200" spc="-10" dirty="0">
                <a:latin typeface="Times New Roman"/>
                <a:cs typeface="Times New Roman"/>
              </a:rPr>
              <a:t>begins.</a:t>
            </a:r>
            <a:endParaRPr sz="1200" dirty="0">
              <a:latin typeface="Times New Roman"/>
              <a:cs typeface="Times New Roman"/>
            </a:endParaRPr>
          </a:p>
          <a:p>
            <a:pPr marL="12700">
              <a:lnSpc>
                <a:spcPct val="100000"/>
              </a:lnSpc>
              <a:spcBef>
                <a:spcPts val="1310"/>
              </a:spcBef>
            </a:pPr>
            <a:r>
              <a:rPr sz="1200" b="1" dirty="0">
                <a:latin typeface="Times New Roman"/>
                <a:cs typeface="Times New Roman"/>
              </a:rPr>
              <a:t>Backend</a:t>
            </a:r>
            <a:r>
              <a:rPr sz="1200" b="1" spc="-3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469265" indent="-228600">
              <a:lnSpc>
                <a:spcPts val="1410"/>
              </a:lnSpc>
              <a:spcBef>
                <a:spcPts val="1330"/>
              </a:spcBef>
              <a:buSzPct val="83333"/>
              <a:buFont typeface="Symbol"/>
              <a:buChar char=""/>
              <a:tabLst>
                <a:tab pos="469265" algn="l"/>
              </a:tabLst>
            </a:pPr>
            <a:r>
              <a:rPr sz="1200" dirty="0">
                <a:latin typeface="Times New Roman"/>
                <a:cs typeface="Times New Roman"/>
              </a:rPr>
              <a:t>Frameworks</a:t>
            </a:r>
            <a:r>
              <a:rPr sz="1200" spc="-3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Mocha</a:t>
            </a:r>
            <a:r>
              <a:rPr sz="1200" spc="-35" dirty="0">
                <a:latin typeface="Times New Roman"/>
                <a:cs typeface="Times New Roman"/>
              </a:rPr>
              <a:t> </a:t>
            </a:r>
            <a:r>
              <a:rPr sz="1200" dirty="0">
                <a:latin typeface="Times New Roman"/>
                <a:cs typeface="Times New Roman"/>
              </a:rPr>
              <a:t>(test</a:t>
            </a:r>
            <a:r>
              <a:rPr sz="1200" spc="-25" dirty="0">
                <a:latin typeface="Times New Roman"/>
                <a:cs typeface="Times New Roman"/>
              </a:rPr>
              <a:t> </a:t>
            </a:r>
            <a:r>
              <a:rPr sz="1200" dirty="0">
                <a:latin typeface="Times New Roman"/>
                <a:cs typeface="Times New Roman"/>
              </a:rPr>
              <a:t>runner)</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Chai</a:t>
            </a:r>
            <a:r>
              <a:rPr sz="1200" spc="-25" dirty="0">
                <a:latin typeface="Times New Roman"/>
                <a:cs typeface="Times New Roman"/>
              </a:rPr>
              <a:t> </a:t>
            </a:r>
            <a:r>
              <a:rPr sz="1200" dirty="0">
                <a:latin typeface="Times New Roman"/>
                <a:cs typeface="Times New Roman"/>
              </a:rPr>
              <a:t>(assertion</a:t>
            </a:r>
            <a:r>
              <a:rPr sz="1200" spc="-30" dirty="0">
                <a:latin typeface="Times New Roman"/>
                <a:cs typeface="Times New Roman"/>
              </a:rPr>
              <a:t> </a:t>
            </a:r>
            <a:r>
              <a:rPr sz="1200" spc="-10" dirty="0">
                <a:latin typeface="Times New Roman"/>
                <a:cs typeface="Times New Roman"/>
              </a:rPr>
              <a:t>library).</a:t>
            </a:r>
            <a:endParaRPr sz="1200" dirty="0">
              <a:latin typeface="Times New Roman"/>
              <a:cs typeface="Times New Roman"/>
            </a:endParaRPr>
          </a:p>
          <a:p>
            <a:pPr marL="469265" marR="5080" indent="-228600">
              <a:lnSpc>
                <a:spcPts val="1380"/>
              </a:lnSpc>
              <a:spcBef>
                <a:spcPts val="65"/>
              </a:spcBef>
              <a:buSzPct val="83333"/>
              <a:buFont typeface="Symbol"/>
              <a:buChar char=""/>
              <a:tabLst>
                <a:tab pos="469265" algn="l"/>
              </a:tabLst>
            </a:pPr>
            <a:r>
              <a:rPr sz="1200" dirty="0">
                <a:latin typeface="Times New Roman"/>
                <a:cs typeface="Times New Roman"/>
              </a:rPr>
              <a:t>Coverage:</a:t>
            </a:r>
            <a:r>
              <a:rPr sz="1200" spc="-10" dirty="0">
                <a:latin typeface="Times New Roman"/>
                <a:cs typeface="Times New Roman"/>
              </a:rPr>
              <a:t> </a:t>
            </a:r>
            <a:r>
              <a:rPr sz="1200" dirty="0">
                <a:latin typeface="Times New Roman"/>
                <a:cs typeface="Times New Roman"/>
              </a:rPr>
              <a:t>User</a:t>
            </a:r>
            <a:r>
              <a:rPr sz="1200" spc="-5" dirty="0">
                <a:latin typeface="Times New Roman"/>
                <a:cs typeface="Times New Roman"/>
              </a:rPr>
              <a:t> </a:t>
            </a:r>
            <a:r>
              <a:rPr sz="1200" dirty="0">
                <a:latin typeface="Times New Roman"/>
                <a:cs typeface="Times New Roman"/>
              </a:rPr>
              <a:t>authentication,</a:t>
            </a:r>
            <a:r>
              <a:rPr sz="1200" spc="-10" dirty="0">
                <a:latin typeface="Times New Roman"/>
                <a:cs typeface="Times New Roman"/>
              </a:rPr>
              <a:t> </a:t>
            </a:r>
            <a:r>
              <a:rPr sz="1200" dirty="0">
                <a:latin typeface="Times New Roman"/>
                <a:cs typeface="Times New Roman"/>
              </a:rPr>
              <a:t>property</a:t>
            </a:r>
            <a:r>
              <a:rPr sz="1200" spc="-15" dirty="0">
                <a:latin typeface="Times New Roman"/>
                <a:cs typeface="Times New Roman"/>
              </a:rPr>
              <a:t> </a:t>
            </a:r>
            <a:r>
              <a:rPr sz="1200" dirty="0">
                <a:latin typeface="Times New Roman"/>
                <a:cs typeface="Times New Roman"/>
              </a:rPr>
              <a:t>CRUD</a:t>
            </a:r>
            <a:r>
              <a:rPr sz="1200" spc="-10" dirty="0">
                <a:latin typeface="Times New Roman"/>
                <a:cs typeface="Times New Roman"/>
              </a:rPr>
              <a:t> </a:t>
            </a:r>
            <a:r>
              <a:rPr sz="1200" dirty="0">
                <a:latin typeface="Times New Roman"/>
                <a:cs typeface="Times New Roman"/>
              </a:rPr>
              <a:t>operations,</a:t>
            </a:r>
            <a:r>
              <a:rPr sz="1200" spc="-10" dirty="0">
                <a:latin typeface="Times New Roman"/>
                <a:cs typeface="Times New Roman"/>
              </a:rPr>
              <a:t> </a:t>
            </a:r>
            <a:r>
              <a:rPr sz="1200" dirty="0">
                <a:latin typeface="Times New Roman"/>
                <a:cs typeface="Times New Roman"/>
              </a:rPr>
              <a:t>bidding</a:t>
            </a:r>
            <a:r>
              <a:rPr sz="1200" spc="-15" dirty="0">
                <a:latin typeface="Times New Roman"/>
                <a:cs typeface="Times New Roman"/>
              </a:rPr>
              <a:t> </a:t>
            </a:r>
            <a:r>
              <a:rPr sz="1200" dirty="0">
                <a:latin typeface="Times New Roman"/>
                <a:cs typeface="Times New Roman"/>
              </a:rPr>
              <a:t>logic, and</a:t>
            </a:r>
            <a:r>
              <a:rPr sz="1200" spc="-15" dirty="0">
                <a:latin typeface="Times New Roman"/>
                <a:cs typeface="Times New Roman"/>
              </a:rPr>
              <a:t> </a:t>
            </a:r>
            <a:r>
              <a:rPr sz="1200" spc="-10" dirty="0">
                <a:latin typeface="Times New Roman"/>
                <a:cs typeface="Times New Roman"/>
              </a:rPr>
              <a:t>Flask-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AI</a:t>
            </a:r>
            <a:r>
              <a:rPr sz="1200" spc="-20" dirty="0">
                <a:latin typeface="Times New Roman"/>
                <a:cs typeface="Times New Roman"/>
              </a:rPr>
              <a:t> </a:t>
            </a:r>
            <a:r>
              <a:rPr sz="1200" spc="-10" dirty="0">
                <a:latin typeface="Times New Roman"/>
                <a:cs typeface="Times New Roman"/>
              </a:rPr>
              <a:t>endpoints.</a:t>
            </a:r>
            <a:endParaRPr sz="1200" dirty="0">
              <a:latin typeface="Times New Roman"/>
              <a:cs typeface="Times New Roman"/>
            </a:endParaRPr>
          </a:p>
          <a:p>
            <a:pPr marL="469265" marR="10795" indent="-228600">
              <a:lnSpc>
                <a:spcPts val="1380"/>
              </a:lnSpc>
              <a:buSzPct val="83333"/>
              <a:buFont typeface="Symbol"/>
              <a:buChar char=""/>
              <a:tabLst>
                <a:tab pos="469265" algn="l"/>
              </a:tabLst>
            </a:pPr>
            <a:r>
              <a:rPr sz="1200" dirty="0">
                <a:latin typeface="Times New Roman"/>
                <a:cs typeface="Times New Roman"/>
              </a:rPr>
              <a:t>Example:</a:t>
            </a:r>
            <a:r>
              <a:rPr sz="1200" spc="150"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dirty="0">
                <a:latin typeface="Times New Roman"/>
                <a:cs typeface="Times New Roman"/>
              </a:rPr>
              <a:t>user</a:t>
            </a:r>
            <a:r>
              <a:rPr sz="1200" spc="155" dirty="0">
                <a:latin typeface="Times New Roman"/>
                <a:cs typeface="Times New Roman"/>
              </a:rPr>
              <a:t> </a:t>
            </a:r>
            <a:r>
              <a:rPr sz="1200" dirty="0">
                <a:latin typeface="Times New Roman"/>
                <a:cs typeface="Times New Roman"/>
              </a:rPr>
              <a:t>registration</a:t>
            </a:r>
            <a:r>
              <a:rPr sz="1200" spc="145" dirty="0">
                <a:latin typeface="Times New Roman"/>
                <a:cs typeface="Times New Roman"/>
              </a:rPr>
              <a:t> </a:t>
            </a:r>
            <a:r>
              <a:rPr sz="1200" dirty="0">
                <a:latin typeface="Times New Roman"/>
                <a:cs typeface="Times New Roman"/>
              </a:rPr>
              <a:t>route</a:t>
            </a:r>
            <a:r>
              <a:rPr sz="1200" spc="140" dirty="0">
                <a:latin typeface="Times New Roman"/>
                <a:cs typeface="Times New Roman"/>
              </a:rPr>
              <a:t> </a:t>
            </a:r>
            <a:r>
              <a:rPr sz="1200" dirty="0">
                <a:latin typeface="Times New Roman"/>
                <a:cs typeface="Times New Roman"/>
              </a:rPr>
              <a:t>was</a:t>
            </a:r>
            <a:r>
              <a:rPr sz="1200" spc="150" dirty="0">
                <a:latin typeface="Times New Roman"/>
                <a:cs typeface="Times New Roman"/>
              </a:rPr>
              <a:t> </a:t>
            </a:r>
            <a:r>
              <a:rPr sz="1200" dirty="0">
                <a:latin typeface="Times New Roman"/>
                <a:cs typeface="Times New Roman"/>
              </a:rPr>
              <a:t>tested</a:t>
            </a:r>
            <a:r>
              <a:rPr sz="1200" spc="170" dirty="0">
                <a:latin typeface="Times New Roman"/>
                <a:cs typeface="Times New Roman"/>
              </a:rPr>
              <a:t> </a:t>
            </a:r>
            <a:r>
              <a:rPr sz="1200" dirty="0">
                <a:latin typeface="Times New Roman"/>
                <a:cs typeface="Times New Roman"/>
              </a:rPr>
              <a:t>with</a:t>
            </a:r>
            <a:r>
              <a:rPr sz="1200" spc="150" dirty="0">
                <a:latin typeface="Times New Roman"/>
                <a:cs typeface="Times New Roman"/>
              </a:rPr>
              <a:t> </a:t>
            </a:r>
            <a:r>
              <a:rPr sz="1200" dirty="0">
                <a:latin typeface="Times New Roman"/>
                <a:cs typeface="Times New Roman"/>
              </a:rPr>
              <a:t>valid</a:t>
            </a:r>
            <a:r>
              <a:rPr sz="1200" spc="150" dirty="0">
                <a:latin typeface="Times New Roman"/>
                <a:cs typeface="Times New Roman"/>
              </a:rPr>
              <a:t> </a:t>
            </a:r>
            <a:r>
              <a:rPr sz="1200" dirty="0">
                <a:latin typeface="Times New Roman"/>
                <a:cs typeface="Times New Roman"/>
              </a:rPr>
              <a:t>data,</a:t>
            </a:r>
            <a:r>
              <a:rPr sz="1200" spc="145" dirty="0">
                <a:latin typeface="Times New Roman"/>
                <a:cs typeface="Times New Roman"/>
              </a:rPr>
              <a:t> </a:t>
            </a:r>
            <a:r>
              <a:rPr sz="1200" dirty="0">
                <a:latin typeface="Times New Roman"/>
                <a:cs typeface="Times New Roman"/>
              </a:rPr>
              <a:t>duplicate</a:t>
            </a:r>
            <a:r>
              <a:rPr sz="1200" spc="145" dirty="0">
                <a:latin typeface="Times New Roman"/>
                <a:cs typeface="Times New Roman"/>
              </a:rPr>
              <a:t> </a:t>
            </a:r>
            <a:r>
              <a:rPr sz="1200" spc="-10" dirty="0">
                <a:latin typeface="Times New Roman"/>
                <a:cs typeface="Times New Roman"/>
              </a:rPr>
              <a:t>emails, </a:t>
            </a:r>
            <a:r>
              <a:rPr sz="1200" dirty="0">
                <a:latin typeface="Times New Roman"/>
                <a:cs typeface="Times New Roman"/>
              </a:rPr>
              <a:t>missing</a:t>
            </a:r>
            <a:r>
              <a:rPr sz="1200" spc="-20" dirty="0">
                <a:latin typeface="Times New Roman"/>
                <a:cs typeface="Times New Roman"/>
              </a:rPr>
              <a:t> </a:t>
            </a:r>
            <a:r>
              <a:rPr sz="1200" dirty="0">
                <a:latin typeface="Times New Roman"/>
                <a:cs typeface="Times New Roman"/>
              </a:rPr>
              <a:t>fields,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spc="-10" dirty="0">
                <a:latin typeface="Times New Roman"/>
                <a:cs typeface="Times New Roman"/>
              </a:rPr>
              <a:t>mismatches.</a:t>
            </a:r>
            <a:endParaRPr sz="1200" dirty="0">
              <a:latin typeface="Times New Roman"/>
              <a:cs typeface="Times New Roman"/>
            </a:endParaRPr>
          </a:p>
          <a:p>
            <a:pPr marL="12700">
              <a:lnSpc>
                <a:spcPct val="100000"/>
              </a:lnSpc>
              <a:spcBef>
                <a:spcPts val="1310"/>
              </a:spcBef>
            </a:pPr>
            <a:r>
              <a:rPr sz="1200" b="1" dirty="0">
                <a:latin typeface="Times New Roman"/>
                <a:cs typeface="Times New Roman"/>
              </a:rPr>
              <a:t>Frontend</a:t>
            </a:r>
            <a:r>
              <a:rPr sz="1200" b="1" spc="-45"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469265" indent="-228600">
              <a:lnSpc>
                <a:spcPts val="1410"/>
              </a:lnSpc>
              <a:spcBef>
                <a:spcPts val="1335"/>
              </a:spcBef>
              <a:buSzPct val="83333"/>
              <a:buFont typeface="Symbol"/>
              <a:buChar char=""/>
              <a:tabLst>
                <a:tab pos="469265" algn="l"/>
              </a:tabLst>
            </a:pPr>
            <a:r>
              <a:rPr sz="1200" dirty="0">
                <a:latin typeface="Times New Roman"/>
                <a:cs typeface="Times New Roman"/>
              </a:rPr>
              <a:t>Tool</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Jest</a:t>
            </a:r>
            <a:r>
              <a:rPr sz="1200" spc="-2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React</a:t>
            </a:r>
            <a:r>
              <a:rPr sz="1200" spc="-25"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spc="-10" dirty="0">
                <a:latin typeface="Times New Roman"/>
                <a:cs typeface="Times New Roman"/>
              </a:rPr>
              <a:t>Library.</a:t>
            </a:r>
            <a:endParaRPr sz="1200" dirty="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Scope:</a:t>
            </a:r>
            <a:r>
              <a:rPr sz="1200" spc="-35" dirty="0">
                <a:latin typeface="Times New Roman"/>
                <a:cs typeface="Times New Roman"/>
              </a:rPr>
              <a:t> </a:t>
            </a:r>
            <a:r>
              <a:rPr sz="1200" dirty="0">
                <a:latin typeface="Times New Roman"/>
                <a:cs typeface="Times New Roman"/>
              </a:rPr>
              <a:t>Component</a:t>
            </a:r>
            <a:r>
              <a:rPr sz="1200" spc="-35" dirty="0">
                <a:latin typeface="Times New Roman"/>
                <a:cs typeface="Times New Roman"/>
              </a:rPr>
              <a:t> </a:t>
            </a:r>
            <a:r>
              <a:rPr sz="1200" dirty="0">
                <a:latin typeface="Times New Roman"/>
                <a:cs typeface="Times New Roman"/>
              </a:rPr>
              <a:t>rendering,</a:t>
            </a:r>
            <a:r>
              <a:rPr sz="1200" spc="-35" dirty="0">
                <a:latin typeface="Times New Roman"/>
                <a:cs typeface="Times New Roman"/>
              </a:rPr>
              <a:t> </a:t>
            </a:r>
            <a:r>
              <a:rPr sz="1200" dirty="0">
                <a:latin typeface="Times New Roman"/>
                <a:cs typeface="Times New Roman"/>
              </a:rPr>
              <a:t>button</a:t>
            </a:r>
            <a:r>
              <a:rPr sz="1200" spc="-35" dirty="0">
                <a:latin typeface="Times New Roman"/>
                <a:cs typeface="Times New Roman"/>
              </a:rPr>
              <a:t> </a:t>
            </a:r>
            <a:r>
              <a:rPr sz="1200" dirty="0">
                <a:latin typeface="Times New Roman"/>
                <a:cs typeface="Times New Roman"/>
              </a:rPr>
              <a:t>click</a:t>
            </a:r>
            <a:r>
              <a:rPr sz="1200" spc="-35" dirty="0">
                <a:latin typeface="Times New Roman"/>
                <a:cs typeface="Times New Roman"/>
              </a:rPr>
              <a:t> </a:t>
            </a:r>
            <a:r>
              <a:rPr sz="1200" dirty="0">
                <a:latin typeface="Times New Roman"/>
                <a:cs typeface="Times New Roman"/>
              </a:rPr>
              <a:t>events,</a:t>
            </a:r>
            <a:r>
              <a:rPr sz="1200" spc="-35" dirty="0">
                <a:latin typeface="Times New Roman"/>
                <a:cs typeface="Times New Roman"/>
              </a:rPr>
              <a:t> </a:t>
            </a:r>
            <a:r>
              <a:rPr sz="1200" dirty="0">
                <a:latin typeface="Times New Roman"/>
                <a:cs typeface="Times New Roman"/>
              </a:rPr>
              <a:t>state</a:t>
            </a:r>
            <a:r>
              <a:rPr sz="1200" spc="-40"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form</a:t>
            </a:r>
            <a:r>
              <a:rPr sz="1200" spc="-35" dirty="0">
                <a:latin typeface="Times New Roman"/>
                <a:cs typeface="Times New Roman"/>
              </a:rPr>
              <a:t> </a:t>
            </a:r>
            <a:r>
              <a:rPr sz="1200" spc="-10" dirty="0">
                <a:latin typeface="Times New Roman"/>
                <a:cs typeface="Times New Roman"/>
              </a:rPr>
              <a:t>validation.</a:t>
            </a:r>
            <a:endParaRPr sz="1200" dirty="0">
              <a:latin typeface="Times New Roman"/>
              <a:cs typeface="Times New Roman"/>
            </a:endParaRPr>
          </a:p>
          <a:p>
            <a:pPr marL="469265" marR="12065" indent="-228600">
              <a:lnSpc>
                <a:spcPts val="1380"/>
              </a:lnSpc>
              <a:spcBef>
                <a:spcPts val="65"/>
              </a:spcBef>
              <a:buSzPct val="83333"/>
              <a:buFont typeface="Symbol"/>
              <a:buChar char=""/>
              <a:tabLst>
                <a:tab pos="469265" algn="l"/>
              </a:tabLst>
            </a:pPr>
            <a:r>
              <a:rPr sz="1200" dirty="0">
                <a:latin typeface="Times New Roman"/>
                <a:cs typeface="Times New Roman"/>
              </a:rPr>
              <a:t>Example:</a:t>
            </a:r>
            <a:r>
              <a:rPr sz="1200" spc="5" dirty="0">
                <a:latin typeface="Times New Roman"/>
                <a:cs typeface="Times New Roman"/>
              </a:rPr>
              <a:t> </a:t>
            </a:r>
            <a:r>
              <a:rPr sz="1200" dirty="0">
                <a:latin typeface="Times New Roman"/>
                <a:cs typeface="Times New Roman"/>
              </a:rPr>
              <a:t>Bidding</a:t>
            </a:r>
            <a:r>
              <a:rPr sz="1200" spc="10" dirty="0">
                <a:latin typeface="Times New Roman"/>
                <a:cs typeface="Times New Roman"/>
              </a:rPr>
              <a:t> </a:t>
            </a:r>
            <a:r>
              <a:rPr sz="1200" dirty="0">
                <a:latin typeface="Times New Roman"/>
                <a:cs typeface="Times New Roman"/>
              </a:rPr>
              <a:t>component</a:t>
            </a:r>
            <a:r>
              <a:rPr sz="1200" spc="10" dirty="0">
                <a:latin typeface="Times New Roman"/>
                <a:cs typeface="Times New Roman"/>
              </a:rPr>
              <a:t> </a:t>
            </a:r>
            <a:r>
              <a:rPr sz="1200" dirty="0">
                <a:latin typeface="Times New Roman"/>
                <a:cs typeface="Times New Roman"/>
              </a:rPr>
              <a:t>was</a:t>
            </a:r>
            <a:r>
              <a:rPr sz="1200" spc="5" dirty="0">
                <a:latin typeface="Times New Roman"/>
                <a:cs typeface="Times New Roman"/>
              </a:rPr>
              <a:t> </a:t>
            </a:r>
            <a:r>
              <a:rPr sz="1200" dirty="0">
                <a:latin typeface="Times New Roman"/>
                <a:cs typeface="Times New Roman"/>
              </a:rPr>
              <a:t>tested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ensure bid</a:t>
            </a:r>
            <a:r>
              <a:rPr sz="1200" spc="10" dirty="0">
                <a:latin typeface="Times New Roman"/>
                <a:cs typeface="Times New Roman"/>
              </a:rPr>
              <a:t> </a:t>
            </a:r>
            <a:r>
              <a:rPr sz="1200" dirty="0">
                <a:latin typeface="Times New Roman"/>
                <a:cs typeface="Times New Roman"/>
              </a:rPr>
              <a:t>updates</a:t>
            </a:r>
            <a:r>
              <a:rPr sz="1200" spc="5" dirty="0">
                <a:latin typeface="Times New Roman"/>
                <a:cs typeface="Times New Roman"/>
              </a:rPr>
              <a:t> </a:t>
            </a:r>
            <a:r>
              <a:rPr sz="1200" dirty="0">
                <a:latin typeface="Times New Roman"/>
                <a:cs typeface="Times New Roman"/>
              </a:rPr>
              <a:t>triggered</a:t>
            </a:r>
            <a:r>
              <a:rPr sz="1200" spc="20" dirty="0">
                <a:latin typeface="Times New Roman"/>
                <a:cs typeface="Times New Roman"/>
              </a:rPr>
              <a:t> </a:t>
            </a:r>
            <a:r>
              <a:rPr sz="1200" spc="-10" dirty="0">
                <a:latin typeface="Times New Roman"/>
                <a:cs typeface="Times New Roman"/>
              </a:rPr>
              <a:t>WebSocket </a:t>
            </a:r>
            <a:r>
              <a:rPr sz="1200" dirty="0">
                <a:latin typeface="Times New Roman"/>
                <a:cs typeface="Times New Roman"/>
              </a:rPr>
              <a:t>emissions</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UI</a:t>
            </a:r>
            <a:r>
              <a:rPr sz="1200" spc="-20" dirty="0">
                <a:latin typeface="Times New Roman"/>
                <a:cs typeface="Times New Roman"/>
              </a:rPr>
              <a:t> </a:t>
            </a:r>
            <a:r>
              <a:rPr sz="1200" spc="-10" dirty="0">
                <a:latin typeface="Times New Roman"/>
                <a:cs typeface="Times New Roman"/>
              </a:rPr>
              <a:t>refresh.</a:t>
            </a:r>
            <a:endParaRPr sz="1200" dirty="0">
              <a:latin typeface="Times New Roman"/>
              <a:cs typeface="Times New Roman"/>
            </a:endParaRPr>
          </a:p>
          <a:p>
            <a:pPr marL="12700">
              <a:lnSpc>
                <a:spcPct val="100000"/>
              </a:lnSpc>
              <a:spcBef>
                <a:spcPts val="1310"/>
              </a:spcBef>
            </a:pPr>
            <a:r>
              <a:rPr sz="1200" b="1" dirty="0">
                <a:latin typeface="Times New Roman"/>
                <a:cs typeface="Times New Roman"/>
              </a:rPr>
              <a:t>AI</a:t>
            </a:r>
            <a:r>
              <a:rPr sz="1200" b="1" spc="-20" dirty="0">
                <a:latin typeface="Times New Roman"/>
                <a:cs typeface="Times New Roman"/>
              </a:rPr>
              <a:t> </a:t>
            </a:r>
            <a:r>
              <a:rPr sz="1200" b="1" dirty="0">
                <a:latin typeface="Times New Roman"/>
                <a:cs typeface="Times New Roman"/>
              </a:rPr>
              <a:t>Model</a:t>
            </a:r>
            <a:r>
              <a:rPr sz="1200" b="1" spc="-2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469265" indent="-228600">
              <a:lnSpc>
                <a:spcPts val="1410"/>
              </a:lnSpc>
              <a:spcBef>
                <a:spcPts val="1345"/>
              </a:spcBef>
              <a:buSzPct val="83333"/>
              <a:buFont typeface="Symbol"/>
              <a:buChar char=""/>
              <a:tabLst>
                <a:tab pos="469265" algn="l"/>
              </a:tabLst>
            </a:pPr>
            <a:r>
              <a:rPr sz="1200" dirty="0">
                <a:latin typeface="Times New Roman"/>
                <a:cs typeface="Times New Roman"/>
              </a:rPr>
              <a:t>Tool</a:t>
            </a:r>
            <a:r>
              <a:rPr sz="1200" spc="-3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PyTest</a:t>
            </a:r>
            <a:r>
              <a:rPr sz="1200" spc="-25" dirty="0">
                <a:latin typeface="Times New Roman"/>
                <a:cs typeface="Times New Roman"/>
              </a:rPr>
              <a:t> </a:t>
            </a:r>
            <a:r>
              <a:rPr sz="1200" spc="-10" dirty="0">
                <a:latin typeface="Times New Roman"/>
                <a:cs typeface="Times New Roman"/>
              </a:rPr>
              <a:t>(Python).</a:t>
            </a:r>
            <a:endParaRPr sz="1200" dirty="0">
              <a:latin typeface="Times New Roman"/>
              <a:cs typeface="Times New Roman"/>
            </a:endParaRPr>
          </a:p>
          <a:p>
            <a:pPr marL="469265" marR="9525" indent="-228600">
              <a:lnSpc>
                <a:spcPts val="1380"/>
              </a:lnSpc>
              <a:spcBef>
                <a:spcPts val="65"/>
              </a:spcBef>
              <a:buSzPct val="83333"/>
              <a:buFont typeface="Symbol"/>
              <a:buChar char=""/>
              <a:tabLst>
                <a:tab pos="469265" algn="l"/>
              </a:tabLst>
            </a:pP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price</a:t>
            </a:r>
            <a:r>
              <a:rPr sz="1200" spc="100" dirty="0">
                <a:latin typeface="Times New Roman"/>
                <a:cs typeface="Times New Roman"/>
              </a:rPr>
              <a:t> </a:t>
            </a:r>
            <a:r>
              <a:rPr sz="1200" dirty="0">
                <a:latin typeface="Times New Roman"/>
                <a:cs typeface="Times New Roman"/>
              </a:rPr>
              <a:t>prediction</a:t>
            </a:r>
            <a:r>
              <a:rPr sz="1200" spc="100" dirty="0">
                <a:latin typeface="Times New Roman"/>
                <a:cs typeface="Times New Roman"/>
              </a:rPr>
              <a:t> </a:t>
            </a:r>
            <a:r>
              <a:rPr sz="1200" dirty="0">
                <a:latin typeface="Times New Roman"/>
                <a:cs typeface="Times New Roman"/>
              </a:rPr>
              <a:t>model</a:t>
            </a:r>
            <a:r>
              <a:rPr sz="1200" spc="105" dirty="0">
                <a:latin typeface="Times New Roman"/>
                <a:cs typeface="Times New Roman"/>
              </a:rPr>
              <a:t> </a:t>
            </a:r>
            <a:r>
              <a:rPr sz="1200" dirty="0">
                <a:latin typeface="Times New Roman"/>
                <a:cs typeface="Times New Roman"/>
              </a:rPr>
              <a:t>was</a:t>
            </a:r>
            <a:r>
              <a:rPr sz="1200" spc="105" dirty="0">
                <a:latin typeface="Times New Roman"/>
                <a:cs typeface="Times New Roman"/>
              </a:rPr>
              <a:t> </a:t>
            </a:r>
            <a:r>
              <a:rPr sz="1200" dirty="0">
                <a:latin typeface="Times New Roman"/>
                <a:cs typeface="Times New Roman"/>
              </a:rPr>
              <a:t>tested</a:t>
            </a:r>
            <a:r>
              <a:rPr sz="1200" spc="100" dirty="0">
                <a:latin typeface="Times New Roman"/>
                <a:cs typeface="Times New Roman"/>
              </a:rPr>
              <a:t> </a:t>
            </a:r>
            <a:r>
              <a:rPr sz="1200" dirty="0">
                <a:latin typeface="Times New Roman"/>
                <a:cs typeface="Times New Roman"/>
              </a:rPr>
              <a:t>with</a:t>
            </a:r>
            <a:r>
              <a:rPr sz="1200" spc="105" dirty="0">
                <a:latin typeface="Times New Roman"/>
                <a:cs typeface="Times New Roman"/>
              </a:rPr>
              <a:t> </a:t>
            </a:r>
            <a:r>
              <a:rPr sz="1200" dirty="0">
                <a:latin typeface="Times New Roman"/>
                <a:cs typeface="Times New Roman"/>
              </a:rPr>
              <a:t>different</a:t>
            </a:r>
            <a:r>
              <a:rPr sz="1200" spc="100" dirty="0">
                <a:latin typeface="Times New Roman"/>
                <a:cs typeface="Times New Roman"/>
              </a:rPr>
              <a:t> </a:t>
            </a:r>
            <a:r>
              <a:rPr sz="1200" dirty="0">
                <a:latin typeface="Times New Roman"/>
                <a:cs typeface="Times New Roman"/>
              </a:rPr>
              <a:t>property</a:t>
            </a:r>
            <a:r>
              <a:rPr sz="1200" spc="100" dirty="0">
                <a:latin typeface="Times New Roman"/>
                <a:cs typeface="Times New Roman"/>
              </a:rPr>
              <a:t> </a:t>
            </a:r>
            <a:r>
              <a:rPr sz="1200" dirty="0">
                <a:latin typeface="Times New Roman"/>
                <a:cs typeface="Times New Roman"/>
              </a:rPr>
              <a:t>data</a:t>
            </a:r>
            <a:r>
              <a:rPr sz="1200" spc="95" dirty="0">
                <a:latin typeface="Times New Roman"/>
                <a:cs typeface="Times New Roman"/>
              </a:rPr>
              <a:t> </a:t>
            </a:r>
            <a:r>
              <a:rPr sz="1200" dirty="0">
                <a:latin typeface="Times New Roman"/>
                <a:cs typeface="Times New Roman"/>
              </a:rPr>
              <a:t>sets</a:t>
            </a:r>
            <a:r>
              <a:rPr sz="1200" spc="105" dirty="0">
                <a:latin typeface="Times New Roman"/>
                <a:cs typeface="Times New Roman"/>
              </a:rPr>
              <a:t> </a:t>
            </a:r>
            <a:r>
              <a:rPr sz="1200" dirty="0">
                <a:latin typeface="Times New Roman"/>
                <a:cs typeface="Times New Roman"/>
              </a:rPr>
              <a:t>to</a:t>
            </a:r>
            <a:r>
              <a:rPr sz="1200" spc="105" dirty="0">
                <a:latin typeface="Times New Roman"/>
                <a:cs typeface="Times New Roman"/>
              </a:rPr>
              <a:t> </a:t>
            </a:r>
            <a:r>
              <a:rPr sz="1200" spc="-10" dirty="0">
                <a:latin typeface="Times New Roman"/>
                <a:cs typeface="Times New Roman"/>
              </a:rPr>
              <a:t>evaluate </a:t>
            </a:r>
            <a:r>
              <a:rPr sz="1200" dirty="0">
                <a:latin typeface="Times New Roman"/>
                <a:cs typeface="Times New Roman"/>
              </a:rPr>
              <a:t>consistency</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response</a:t>
            </a:r>
            <a:r>
              <a:rPr sz="1200" spc="-15" dirty="0">
                <a:latin typeface="Times New Roman"/>
                <a:cs typeface="Times New Roman"/>
              </a:rPr>
              <a:t> </a:t>
            </a:r>
            <a:r>
              <a:rPr sz="1200" spc="-10" dirty="0">
                <a:latin typeface="Times New Roman"/>
                <a:cs typeface="Times New Roman"/>
              </a:rPr>
              <a:t>correctness.</a:t>
            </a:r>
            <a:endParaRPr sz="1200" dirty="0">
              <a:latin typeface="Times New Roman"/>
              <a:cs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47</a:t>
            </a:r>
          </a:p>
        </p:txBody>
      </p:sp>
      <p:sp>
        <p:nvSpPr>
          <p:cNvPr id="2" name="object 2"/>
          <p:cNvSpPr txBox="1"/>
          <p:nvPr/>
        </p:nvSpPr>
        <p:spPr>
          <a:xfrm>
            <a:off x="1176324" y="891285"/>
            <a:ext cx="5695315" cy="1968500"/>
          </a:xfrm>
          <a:prstGeom prst="rect">
            <a:avLst/>
          </a:prstGeom>
        </p:spPr>
        <p:txBody>
          <a:bodyPr vert="horz" wrap="square" lIns="0" tIns="24765" rIns="0" bIns="0" rtlCol="0">
            <a:spAutoFit/>
          </a:bodyPr>
          <a:lstStyle/>
          <a:p>
            <a:pPr marL="469265" marR="8255" indent="-228600">
              <a:lnSpc>
                <a:spcPts val="1380"/>
              </a:lnSpc>
              <a:spcBef>
                <a:spcPts val="195"/>
              </a:spcBef>
              <a:buSzPct val="83333"/>
              <a:buFont typeface="Symbol"/>
              <a:buChar char=""/>
              <a:tabLst>
                <a:tab pos="469265" algn="l"/>
              </a:tabLst>
            </a:pPr>
            <a:r>
              <a:rPr sz="1200" dirty="0">
                <a:latin typeface="Times New Roman"/>
                <a:cs typeface="Times New Roman"/>
              </a:rPr>
              <a:t>Edge</a:t>
            </a:r>
            <a:r>
              <a:rPr sz="1200" spc="165" dirty="0">
                <a:latin typeface="Times New Roman"/>
                <a:cs typeface="Times New Roman"/>
              </a:rPr>
              <a:t> </a:t>
            </a:r>
            <a:r>
              <a:rPr sz="1200" dirty="0">
                <a:latin typeface="Times New Roman"/>
                <a:cs typeface="Times New Roman"/>
              </a:rPr>
              <a:t>cases</a:t>
            </a:r>
            <a:r>
              <a:rPr sz="1200" spc="175" dirty="0">
                <a:latin typeface="Times New Roman"/>
                <a:cs typeface="Times New Roman"/>
              </a:rPr>
              <a:t> </a:t>
            </a:r>
            <a:r>
              <a:rPr sz="1200" dirty="0">
                <a:latin typeface="Times New Roman"/>
                <a:cs typeface="Times New Roman"/>
              </a:rPr>
              <a:t>like</a:t>
            </a:r>
            <a:r>
              <a:rPr sz="1200" spc="170" dirty="0">
                <a:latin typeface="Times New Roman"/>
                <a:cs typeface="Times New Roman"/>
              </a:rPr>
              <a:t> </a:t>
            </a:r>
            <a:r>
              <a:rPr sz="1200" dirty="0">
                <a:latin typeface="Times New Roman"/>
                <a:cs typeface="Times New Roman"/>
              </a:rPr>
              <a:t>missing</a:t>
            </a:r>
            <a:r>
              <a:rPr sz="1200" spc="175" dirty="0">
                <a:latin typeface="Times New Roman"/>
                <a:cs typeface="Times New Roman"/>
              </a:rPr>
              <a:t> </a:t>
            </a:r>
            <a:r>
              <a:rPr sz="1200" dirty="0">
                <a:latin typeface="Times New Roman"/>
                <a:cs typeface="Times New Roman"/>
              </a:rPr>
              <a:t>values,</a:t>
            </a:r>
            <a:r>
              <a:rPr sz="1200" spc="175" dirty="0">
                <a:latin typeface="Times New Roman"/>
                <a:cs typeface="Times New Roman"/>
              </a:rPr>
              <a:t> </a:t>
            </a:r>
            <a:r>
              <a:rPr sz="1200" dirty="0">
                <a:latin typeface="Times New Roman"/>
                <a:cs typeface="Times New Roman"/>
              </a:rPr>
              <a:t>unrealistic</a:t>
            </a:r>
            <a:r>
              <a:rPr sz="1200" spc="170" dirty="0">
                <a:latin typeface="Times New Roman"/>
                <a:cs typeface="Times New Roman"/>
              </a:rPr>
              <a:t> </a:t>
            </a:r>
            <a:r>
              <a:rPr sz="1200" dirty="0">
                <a:latin typeface="Times New Roman"/>
                <a:cs typeface="Times New Roman"/>
              </a:rPr>
              <a:t>inputs,</a:t>
            </a:r>
            <a:r>
              <a:rPr sz="1200" spc="175" dirty="0">
                <a:latin typeface="Times New Roman"/>
                <a:cs typeface="Times New Roman"/>
              </a:rPr>
              <a:t> </a:t>
            </a:r>
            <a:r>
              <a:rPr sz="1200" dirty="0">
                <a:latin typeface="Times New Roman"/>
                <a:cs typeface="Times New Roman"/>
              </a:rPr>
              <a:t>and</a:t>
            </a:r>
            <a:r>
              <a:rPr sz="1200" spc="170" dirty="0">
                <a:latin typeface="Times New Roman"/>
                <a:cs typeface="Times New Roman"/>
              </a:rPr>
              <a:t> </a:t>
            </a:r>
            <a:r>
              <a:rPr sz="1200" dirty="0">
                <a:latin typeface="Times New Roman"/>
                <a:cs typeface="Times New Roman"/>
              </a:rPr>
              <a:t>noisy</a:t>
            </a:r>
            <a:r>
              <a:rPr sz="1200" spc="180" dirty="0">
                <a:latin typeface="Times New Roman"/>
                <a:cs typeface="Times New Roman"/>
              </a:rPr>
              <a:t> </a:t>
            </a:r>
            <a:r>
              <a:rPr sz="1200" dirty="0">
                <a:latin typeface="Times New Roman"/>
                <a:cs typeface="Times New Roman"/>
              </a:rPr>
              <a:t>data</a:t>
            </a:r>
            <a:r>
              <a:rPr sz="1200" spc="175" dirty="0">
                <a:latin typeface="Times New Roman"/>
                <a:cs typeface="Times New Roman"/>
              </a:rPr>
              <a:t> </a:t>
            </a:r>
            <a:r>
              <a:rPr sz="1200" dirty="0">
                <a:latin typeface="Times New Roman"/>
                <a:cs typeface="Times New Roman"/>
              </a:rPr>
              <a:t>were</a:t>
            </a:r>
            <a:r>
              <a:rPr sz="1200" spc="180" dirty="0">
                <a:latin typeface="Times New Roman"/>
                <a:cs typeface="Times New Roman"/>
              </a:rPr>
              <a:t> </a:t>
            </a:r>
            <a:r>
              <a:rPr sz="1200" dirty="0">
                <a:latin typeface="Times New Roman"/>
                <a:cs typeface="Times New Roman"/>
              </a:rPr>
              <a:t>tested</a:t>
            </a:r>
            <a:r>
              <a:rPr sz="1200" spc="175" dirty="0">
                <a:latin typeface="Times New Roman"/>
                <a:cs typeface="Times New Roman"/>
              </a:rPr>
              <a:t> </a:t>
            </a:r>
            <a:r>
              <a:rPr sz="1200" spc="-25" dirty="0">
                <a:latin typeface="Times New Roman"/>
                <a:cs typeface="Times New Roman"/>
              </a:rPr>
              <a:t>for </a:t>
            </a:r>
            <a:r>
              <a:rPr sz="1200" dirty="0">
                <a:latin typeface="Times New Roman"/>
                <a:cs typeface="Times New Roman"/>
              </a:rPr>
              <a:t>graceful</a:t>
            </a:r>
            <a:r>
              <a:rPr sz="1200" spc="-50" dirty="0">
                <a:latin typeface="Times New Roman"/>
                <a:cs typeface="Times New Roman"/>
              </a:rPr>
              <a:t> </a:t>
            </a:r>
            <a:r>
              <a:rPr sz="1200" spc="-10" dirty="0">
                <a:latin typeface="Times New Roman"/>
                <a:cs typeface="Times New Roman"/>
              </a:rPr>
              <a:t>handling.</a:t>
            </a:r>
            <a:endParaRPr sz="1200">
              <a:latin typeface="Times New Roman"/>
              <a:cs typeface="Times New Roman"/>
            </a:endParaRPr>
          </a:p>
          <a:p>
            <a:pPr marL="12700">
              <a:lnSpc>
                <a:spcPct val="100000"/>
              </a:lnSpc>
              <a:spcBef>
                <a:spcPts val="1310"/>
              </a:spcBef>
            </a:pPr>
            <a:r>
              <a:rPr sz="1200" b="1" dirty="0">
                <a:latin typeface="Times New Roman"/>
                <a:cs typeface="Times New Roman"/>
              </a:rPr>
              <a:t>Test</a:t>
            </a:r>
            <a:r>
              <a:rPr sz="1200" b="1" spc="-20" dirty="0">
                <a:latin typeface="Times New Roman"/>
                <a:cs typeface="Times New Roman"/>
              </a:rPr>
              <a:t> </a:t>
            </a:r>
            <a:r>
              <a:rPr sz="1200" b="1" spc="-10" dirty="0">
                <a:latin typeface="Times New Roman"/>
                <a:cs typeface="Times New Roman"/>
              </a:rPr>
              <a:t>Categories:</a:t>
            </a:r>
            <a:endParaRPr sz="1200">
              <a:latin typeface="Times New Roman"/>
              <a:cs typeface="Times New Roman"/>
            </a:endParaRPr>
          </a:p>
          <a:p>
            <a:pPr marL="469265" indent="-228600">
              <a:lnSpc>
                <a:spcPts val="1410"/>
              </a:lnSpc>
              <a:spcBef>
                <a:spcPts val="1330"/>
              </a:spcBef>
              <a:buSzPct val="83333"/>
              <a:buFont typeface="Symbol"/>
              <a:buChar char=""/>
              <a:tabLst>
                <a:tab pos="469265" algn="l"/>
              </a:tabLst>
            </a:pPr>
            <a:r>
              <a:rPr sz="1200" dirty="0">
                <a:latin typeface="Times New Roman"/>
                <a:cs typeface="Times New Roman"/>
              </a:rPr>
              <a:t>Normal</a:t>
            </a:r>
            <a:r>
              <a:rPr sz="1200" spc="-25" dirty="0">
                <a:latin typeface="Times New Roman"/>
                <a:cs typeface="Times New Roman"/>
              </a:rPr>
              <a:t> </a:t>
            </a:r>
            <a:r>
              <a:rPr sz="1200" dirty="0">
                <a:latin typeface="Times New Roman"/>
                <a:cs typeface="Times New Roman"/>
              </a:rPr>
              <a:t>Case</a:t>
            </a:r>
            <a:r>
              <a:rPr sz="1200" spc="-30" dirty="0">
                <a:latin typeface="Times New Roman"/>
                <a:cs typeface="Times New Roman"/>
              </a:rPr>
              <a:t> </a:t>
            </a:r>
            <a:r>
              <a:rPr sz="1200" dirty="0">
                <a:latin typeface="Times New Roman"/>
                <a:cs typeface="Times New Roman"/>
              </a:rPr>
              <a:t>Testing</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regular,</a:t>
            </a:r>
            <a:r>
              <a:rPr sz="1200" spc="-20" dirty="0">
                <a:latin typeface="Times New Roman"/>
                <a:cs typeface="Times New Roman"/>
              </a:rPr>
              <a:t> </a:t>
            </a:r>
            <a:r>
              <a:rPr sz="1200" dirty="0">
                <a:latin typeface="Times New Roman"/>
                <a:cs typeface="Times New Roman"/>
              </a:rPr>
              <a:t>valid</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Boundary</a:t>
            </a:r>
            <a:r>
              <a:rPr sz="1200" spc="-35" dirty="0">
                <a:latin typeface="Times New Roman"/>
                <a:cs typeface="Times New Roman"/>
              </a:rPr>
              <a:t> </a:t>
            </a:r>
            <a:r>
              <a:rPr sz="1200" dirty="0">
                <a:latin typeface="Times New Roman"/>
                <a:cs typeface="Times New Roman"/>
              </a:rPr>
              <a:t>Testing</a:t>
            </a:r>
            <a:r>
              <a:rPr sz="1200" spc="-3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Input</a:t>
            </a:r>
            <a:r>
              <a:rPr sz="1200" spc="-30" dirty="0">
                <a:latin typeface="Times New Roman"/>
                <a:cs typeface="Times New Roman"/>
              </a:rPr>
              <a:t> </a:t>
            </a:r>
            <a:r>
              <a:rPr sz="1200" dirty="0">
                <a:latin typeface="Times New Roman"/>
                <a:cs typeface="Times New Roman"/>
              </a:rPr>
              <a:t>extremes</a:t>
            </a:r>
            <a:r>
              <a:rPr sz="1200" spc="-35" dirty="0">
                <a:latin typeface="Times New Roman"/>
                <a:cs typeface="Times New Roman"/>
              </a:rPr>
              <a:t> </a:t>
            </a:r>
            <a:r>
              <a:rPr sz="1200" dirty="0">
                <a:latin typeface="Times New Roman"/>
                <a:cs typeface="Times New Roman"/>
              </a:rPr>
              <a:t>(e.g.,</a:t>
            </a:r>
            <a:r>
              <a:rPr sz="1200" spc="-35" dirty="0">
                <a:latin typeface="Times New Roman"/>
                <a:cs typeface="Times New Roman"/>
              </a:rPr>
              <a:t> </a:t>
            </a:r>
            <a:r>
              <a:rPr sz="1200" dirty="0">
                <a:latin typeface="Times New Roman"/>
                <a:cs typeface="Times New Roman"/>
              </a:rPr>
              <a:t>highest/lowest</a:t>
            </a:r>
            <a:r>
              <a:rPr sz="1200" spc="-30" dirty="0">
                <a:latin typeface="Times New Roman"/>
                <a:cs typeface="Times New Roman"/>
              </a:rPr>
              <a:t> </a:t>
            </a:r>
            <a:r>
              <a:rPr sz="1200" spc="-10" dirty="0">
                <a:latin typeface="Times New Roman"/>
                <a:cs typeface="Times New Roman"/>
              </a:rPr>
              <a:t>bid).</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Error</a:t>
            </a:r>
            <a:r>
              <a:rPr sz="1200" spc="-40" dirty="0">
                <a:latin typeface="Times New Roman"/>
                <a:cs typeface="Times New Roman"/>
              </a:rPr>
              <a:t> </a:t>
            </a:r>
            <a:r>
              <a:rPr sz="1200" dirty="0">
                <a:latin typeface="Times New Roman"/>
                <a:cs typeface="Times New Roman"/>
              </a:rPr>
              <a:t>Case</a:t>
            </a:r>
            <a:r>
              <a:rPr sz="1200" spc="-35"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Invalid</a:t>
            </a:r>
            <a:r>
              <a:rPr sz="1200" spc="-30" dirty="0">
                <a:latin typeface="Times New Roman"/>
                <a:cs typeface="Times New Roman"/>
              </a:rPr>
              <a:t> </a:t>
            </a:r>
            <a:r>
              <a:rPr sz="1200" dirty="0">
                <a:latin typeface="Times New Roman"/>
                <a:cs typeface="Times New Roman"/>
              </a:rPr>
              <a:t>formats,</a:t>
            </a:r>
            <a:r>
              <a:rPr sz="1200" spc="-30" dirty="0">
                <a:latin typeface="Times New Roman"/>
                <a:cs typeface="Times New Roman"/>
              </a:rPr>
              <a:t> </a:t>
            </a:r>
            <a:r>
              <a:rPr sz="1200" dirty="0">
                <a:latin typeface="Times New Roman"/>
                <a:cs typeface="Times New Roman"/>
              </a:rPr>
              <a:t>unauthorized</a:t>
            </a:r>
            <a:r>
              <a:rPr sz="1200" spc="-3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missing</a:t>
            </a:r>
            <a:r>
              <a:rPr sz="1200" spc="-30" dirty="0">
                <a:latin typeface="Times New Roman"/>
                <a:cs typeface="Times New Roman"/>
              </a:rPr>
              <a:t> </a:t>
            </a:r>
            <a:r>
              <a:rPr sz="1200" spc="-10" dirty="0">
                <a:latin typeface="Times New Roman"/>
                <a:cs typeface="Times New Roman"/>
              </a:rPr>
              <a:t>fields.</a:t>
            </a:r>
            <a:endParaRPr sz="1200">
              <a:latin typeface="Times New Roman"/>
              <a:cs typeface="Times New Roman"/>
            </a:endParaRPr>
          </a:p>
          <a:p>
            <a:pPr>
              <a:lnSpc>
                <a:spcPct val="100000"/>
              </a:lnSpc>
              <a:spcBef>
                <a:spcPts val="60"/>
              </a:spcBef>
            </a:pPr>
            <a:endParaRPr sz="1200">
              <a:latin typeface="Times New Roman"/>
              <a:cs typeface="Times New Roman"/>
            </a:endParaRPr>
          </a:p>
          <a:p>
            <a:pPr marL="12700" marR="5080">
              <a:lnSpc>
                <a:spcPts val="1380"/>
              </a:lnSpc>
            </a:pPr>
            <a:r>
              <a:rPr sz="1200" dirty="0">
                <a:latin typeface="Times New Roman"/>
                <a:cs typeface="Times New Roman"/>
              </a:rPr>
              <a:t>Result:</a:t>
            </a:r>
            <a:r>
              <a:rPr sz="1200" spc="55" dirty="0">
                <a:latin typeface="Times New Roman"/>
                <a:cs typeface="Times New Roman"/>
              </a:rPr>
              <a:t> </a:t>
            </a:r>
            <a:r>
              <a:rPr sz="1200" dirty="0">
                <a:latin typeface="Times New Roman"/>
                <a:cs typeface="Times New Roman"/>
              </a:rPr>
              <a:t>Unit</a:t>
            </a:r>
            <a:r>
              <a:rPr sz="1200" spc="45" dirty="0">
                <a:latin typeface="Times New Roman"/>
                <a:cs typeface="Times New Roman"/>
              </a:rPr>
              <a:t> </a:t>
            </a:r>
            <a:r>
              <a:rPr sz="1200" dirty="0">
                <a:latin typeface="Times New Roman"/>
                <a:cs typeface="Times New Roman"/>
              </a:rPr>
              <a:t>tests</a:t>
            </a:r>
            <a:r>
              <a:rPr sz="1200" spc="55" dirty="0">
                <a:latin typeface="Times New Roman"/>
                <a:cs typeface="Times New Roman"/>
              </a:rPr>
              <a:t> </a:t>
            </a:r>
            <a:r>
              <a:rPr sz="1200" dirty="0">
                <a:latin typeface="Times New Roman"/>
                <a:cs typeface="Times New Roman"/>
              </a:rPr>
              <a:t>achieved</a:t>
            </a:r>
            <a:r>
              <a:rPr sz="1200" spc="55" dirty="0">
                <a:latin typeface="Times New Roman"/>
                <a:cs typeface="Times New Roman"/>
              </a:rPr>
              <a:t> </a:t>
            </a:r>
            <a:r>
              <a:rPr sz="1200" dirty="0">
                <a:latin typeface="Times New Roman"/>
                <a:cs typeface="Times New Roman"/>
              </a:rPr>
              <a:t>over</a:t>
            </a:r>
            <a:r>
              <a:rPr sz="1200" spc="45" dirty="0">
                <a:latin typeface="Times New Roman"/>
                <a:cs typeface="Times New Roman"/>
              </a:rPr>
              <a:t> </a:t>
            </a:r>
            <a:r>
              <a:rPr sz="1200" dirty="0">
                <a:latin typeface="Times New Roman"/>
                <a:cs typeface="Times New Roman"/>
              </a:rPr>
              <a:t>90%</a:t>
            </a:r>
            <a:r>
              <a:rPr sz="1200" spc="50" dirty="0">
                <a:latin typeface="Times New Roman"/>
                <a:cs typeface="Times New Roman"/>
              </a:rPr>
              <a:t> </a:t>
            </a:r>
            <a:r>
              <a:rPr sz="1200" dirty="0">
                <a:latin typeface="Times New Roman"/>
                <a:cs typeface="Times New Roman"/>
              </a:rPr>
              <a:t>code</a:t>
            </a:r>
            <a:r>
              <a:rPr sz="1200" spc="50" dirty="0">
                <a:latin typeface="Times New Roman"/>
                <a:cs typeface="Times New Roman"/>
              </a:rPr>
              <a:t> </a:t>
            </a:r>
            <a:r>
              <a:rPr sz="1200" dirty="0">
                <a:latin typeface="Times New Roman"/>
                <a:cs typeface="Times New Roman"/>
              </a:rPr>
              <a:t>coverage</a:t>
            </a:r>
            <a:r>
              <a:rPr sz="1200" spc="45"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helped</a:t>
            </a:r>
            <a:r>
              <a:rPr sz="1200" spc="50" dirty="0">
                <a:latin typeface="Times New Roman"/>
                <a:cs typeface="Times New Roman"/>
              </a:rPr>
              <a:t> </a:t>
            </a:r>
            <a:r>
              <a:rPr sz="1200" dirty="0">
                <a:latin typeface="Times New Roman"/>
                <a:cs typeface="Times New Roman"/>
              </a:rPr>
              <a:t>maintain</a:t>
            </a:r>
            <a:r>
              <a:rPr sz="1200" spc="5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stable</a:t>
            </a:r>
            <a:r>
              <a:rPr sz="1200" spc="45" dirty="0">
                <a:latin typeface="Times New Roman"/>
                <a:cs typeface="Times New Roman"/>
              </a:rPr>
              <a:t> </a:t>
            </a:r>
            <a:r>
              <a:rPr sz="1200" spc="-10" dirty="0">
                <a:latin typeface="Times New Roman"/>
                <a:cs typeface="Times New Roman"/>
              </a:rPr>
              <a:t>codebase </a:t>
            </a:r>
            <a:r>
              <a:rPr sz="1200" dirty="0">
                <a:latin typeface="Times New Roman"/>
                <a:cs typeface="Times New Roman"/>
              </a:rPr>
              <a:t>throughout</a:t>
            </a:r>
            <a:r>
              <a:rPr sz="1200" spc="-55" dirty="0">
                <a:latin typeface="Times New Roman"/>
                <a:cs typeface="Times New Roman"/>
              </a:rPr>
              <a:t> </a:t>
            </a:r>
            <a:r>
              <a:rPr sz="1200" spc="-10" dirty="0">
                <a:latin typeface="Times New Roman"/>
                <a:cs typeface="Times New Roman"/>
              </a:rPr>
              <a:t>development.</a:t>
            </a:r>
            <a:endParaRPr sz="1200">
              <a:latin typeface="Times New Roman"/>
              <a:cs typeface="Times New Roman"/>
            </a:endParaRPr>
          </a:p>
        </p:txBody>
      </p:sp>
      <p:sp>
        <p:nvSpPr>
          <p:cNvPr id="3" name="object 3"/>
          <p:cNvSpPr txBox="1"/>
          <p:nvPr/>
        </p:nvSpPr>
        <p:spPr>
          <a:xfrm>
            <a:off x="1176324" y="3357498"/>
            <a:ext cx="5694680" cy="462597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6.4</a:t>
            </a:r>
            <a:r>
              <a:rPr sz="1350" b="1" spc="-30" dirty="0">
                <a:latin typeface="Times New Roman"/>
                <a:cs typeface="Times New Roman"/>
              </a:rPr>
              <a:t> </a:t>
            </a:r>
            <a:r>
              <a:rPr sz="1350" b="1" dirty="0">
                <a:latin typeface="Times New Roman"/>
                <a:cs typeface="Times New Roman"/>
              </a:rPr>
              <a:t>Integration</a:t>
            </a:r>
            <a:r>
              <a:rPr sz="1350" b="1" spc="-30" dirty="0">
                <a:latin typeface="Times New Roman"/>
                <a:cs typeface="Times New Roman"/>
              </a:rPr>
              <a:t> </a:t>
            </a:r>
            <a:r>
              <a:rPr sz="1350" b="1" spc="-10" dirty="0">
                <a:latin typeface="Times New Roman"/>
                <a:cs typeface="Times New Roman"/>
              </a:rPr>
              <a:t>Testing</a:t>
            </a:r>
            <a:endParaRPr sz="1350" dirty="0">
              <a:latin typeface="Times New Roman"/>
              <a:cs typeface="Times New Roman"/>
            </a:endParaRPr>
          </a:p>
          <a:p>
            <a:pPr marL="12700" marR="8890" algn="just">
              <a:lnSpc>
                <a:spcPts val="1380"/>
              </a:lnSpc>
              <a:spcBef>
                <a:spcPts val="1420"/>
              </a:spcBef>
            </a:pPr>
            <a:r>
              <a:rPr sz="1200" dirty="0">
                <a:latin typeface="Times New Roman"/>
                <a:cs typeface="Times New Roman"/>
              </a:rPr>
              <a:t>Integration</a:t>
            </a:r>
            <a:r>
              <a:rPr sz="1200" spc="55" dirty="0">
                <a:latin typeface="Times New Roman"/>
                <a:cs typeface="Times New Roman"/>
              </a:rPr>
              <a:t> </a:t>
            </a:r>
            <a:r>
              <a:rPr sz="1200" dirty="0">
                <a:latin typeface="Times New Roman"/>
                <a:cs typeface="Times New Roman"/>
              </a:rPr>
              <a:t>testing</a:t>
            </a:r>
            <a:r>
              <a:rPr sz="1200" spc="60" dirty="0">
                <a:latin typeface="Times New Roman"/>
                <a:cs typeface="Times New Roman"/>
              </a:rPr>
              <a:t> </a:t>
            </a:r>
            <a:r>
              <a:rPr sz="1200" dirty="0">
                <a:latin typeface="Times New Roman"/>
                <a:cs typeface="Times New Roman"/>
              </a:rPr>
              <a:t>examines</a:t>
            </a:r>
            <a:r>
              <a:rPr sz="1200" spc="6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interaction</a:t>
            </a:r>
            <a:r>
              <a:rPr sz="1200" spc="55" dirty="0">
                <a:latin typeface="Times New Roman"/>
                <a:cs typeface="Times New Roman"/>
              </a:rPr>
              <a:t> </a:t>
            </a:r>
            <a:r>
              <a:rPr sz="1200" dirty="0">
                <a:latin typeface="Times New Roman"/>
                <a:cs typeface="Times New Roman"/>
              </a:rPr>
              <a:t>between</a:t>
            </a:r>
            <a:r>
              <a:rPr sz="1200" spc="55" dirty="0">
                <a:latin typeface="Times New Roman"/>
                <a:cs typeface="Times New Roman"/>
              </a:rPr>
              <a:t> </a:t>
            </a:r>
            <a:r>
              <a:rPr sz="1200" dirty="0">
                <a:latin typeface="Times New Roman"/>
                <a:cs typeface="Times New Roman"/>
              </a:rPr>
              <a:t>multiple</a:t>
            </a:r>
            <a:r>
              <a:rPr sz="1200" spc="55" dirty="0">
                <a:latin typeface="Times New Roman"/>
                <a:cs typeface="Times New Roman"/>
              </a:rPr>
              <a:t> </a:t>
            </a:r>
            <a:r>
              <a:rPr sz="1200" dirty="0">
                <a:latin typeface="Times New Roman"/>
                <a:cs typeface="Times New Roman"/>
              </a:rPr>
              <a:t>modules</a:t>
            </a:r>
            <a:r>
              <a:rPr sz="1200" spc="65" dirty="0">
                <a:latin typeface="Times New Roman"/>
                <a:cs typeface="Times New Roman"/>
              </a:rPr>
              <a:t> </a:t>
            </a:r>
            <a:r>
              <a:rPr sz="1200" dirty="0">
                <a:latin typeface="Times New Roman"/>
                <a:cs typeface="Times New Roman"/>
              </a:rPr>
              <a:t>to</a:t>
            </a:r>
            <a:r>
              <a:rPr sz="1200" spc="60" dirty="0">
                <a:latin typeface="Times New Roman"/>
                <a:cs typeface="Times New Roman"/>
              </a:rPr>
              <a:t> </a:t>
            </a:r>
            <a:r>
              <a:rPr sz="1200" dirty="0">
                <a:latin typeface="Times New Roman"/>
                <a:cs typeface="Times New Roman"/>
              </a:rPr>
              <a:t>ensure</a:t>
            </a:r>
            <a:r>
              <a:rPr sz="1200" spc="50" dirty="0">
                <a:latin typeface="Times New Roman"/>
                <a:cs typeface="Times New Roman"/>
              </a:rPr>
              <a:t> </a:t>
            </a:r>
            <a:r>
              <a:rPr sz="1200" dirty="0">
                <a:latin typeface="Times New Roman"/>
                <a:cs typeface="Times New Roman"/>
              </a:rPr>
              <a:t>they</a:t>
            </a:r>
            <a:r>
              <a:rPr sz="1200" spc="55" dirty="0">
                <a:latin typeface="Times New Roman"/>
                <a:cs typeface="Times New Roman"/>
              </a:rPr>
              <a:t> </a:t>
            </a:r>
            <a:r>
              <a:rPr sz="1200" spc="-20" dirty="0">
                <a:latin typeface="Times New Roman"/>
                <a:cs typeface="Times New Roman"/>
              </a:rPr>
              <a:t>work </a:t>
            </a:r>
            <a:r>
              <a:rPr sz="1200" dirty="0">
                <a:latin typeface="Times New Roman"/>
                <a:cs typeface="Times New Roman"/>
              </a:rPr>
              <a:t>together</a:t>
            </a:r>
            <a:r>
              <a:rPr sz="1200" spc="-45" dirty="0">
                <a:latin typeface="Times New Roman"/>
                <a:cs typeface="Times New Roman"/>
              </a:rPr>
              <a:t> </a:t>
            </a:r>
            <a:r>
              <a:rPr sz="1200" dirty="0">
                <a:latin typeface="Times New Roman"/>
                <a:cs typeface="Times New Roman"/>
              </a:rPr>
              <a:t>seamlessly.</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i="1" dirty="0">
                <a:latin typeface="Times New Roman"/>
                <a:cs typeface="Times New Roman"/>
              </a:rPr>
              <a:t>Auction</a:t>
            </a:r>
            <a:r>
              <a:rPr sz="1200" i="1" spc="-45" dirty="0">
                <a:latin typeface="Times New Roman"/>
                <a:cs typeface="Times New Roman"/>
              </a:rPr>
              <a:t> </a:t>
            </a:r>
            <a:r>
              <a:rPr sz="1200" i="1" dirty="0">
                <a:latin typeface="Times New Roman"/>
                <a:cs typeface="Times New Roman"/>
              </a:rPr>
              <a:t>Abode</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several</a:t>
            </a:r>
            <a:r>
              <a:rPr sz="1200" spc="-40" dirty="0">
                <a:latin typeface="Times New Roman"/>
                <a:cs typeface="Times New Roman"/>
              </a:rPr>
              <a:t> </a:t>
            </a:r>
            <a:r>
              <a:rPr sz="1200" dirty="0">
                <a:latin typeface="Times New Roman"/>
                <a:cs typeface="Times New Roman"/>
              </a:rPr>
              <a:t>critical</a:t>
            </a:r>
            <a:r>
              <a:rPr sz="1200" spc="-45" dirty="0">
                <a:latin typeface="Times New Roman"/>
                <a:cs typeface="Times New Roman"/>
              </a:rPr>
              <a:t> </a:t>
            </a:r>
            <a:r>
              <a:rPr sz="1200" dirty="0">
                <a:latin typeface="Times New Roman"/>
                <a:cs typeface="Times New Roman"/>
              </a:rPr>
              <a:t>integrations</a:t>
            </a:r>
            <a:r>
              <a:rPr sz="1200" spc="-40" dirty="0">
                <a:latin typeface="Times New Roman"/>
                <a:cs typeface="Times New Roman"/>
              </a:rPr>
              <a:t> </a:t>
            </a:r>
            <a:r>
              <a:rPr sz="1200" dirty="0">
                <a:latin typeface="Times New Roman"/>
                <a:cs typeface="Times New Roman"/>
              </a:rPr>
              <a:t>were</a:t>
            </a:r>
            <a:r>
              <a:rPr sz="1200" spc="-45" dirty="0">
                <a:latin typeface="Times New Roman"/>
                <a:cs typeface="Times New Roman"/>
              </a:rPr>
              <a:t> </a:t>
            </a:r>
            <a:r>
              <a:rPr sz="1200" spc="-10" dirty="0">
                <a:latin typeface="Times New Roman"/>
                <a:cs typeface="Times New Roman"/>
              </a:rPr>
              <a:t>evaluated:</a:t>
            </a:r>
            <a:endParaRPr sz="1200" dirty="0">
              <a:latin typeface="Times New Roman"/>
              <a:cs typeface="Times New Roman"/>
            </a:endParaRPr>
          </a:p>
          <a:p>
            <a:pPr>
              <a:lnSpc>
                <a:spcPct val="100000"/>
              </a:lnSpc>
              <a:spcBef>
                <a:spcPts val="25"/>
              </a:spcBef>
            </a:pPr>
            <a:endParaRPr sz="1200" dirty="0">
              <a:latin typeface="Times New Roman"/>
              <a:cs typeface="Times New Roman"/>
            </a:endParaRPr>
          </a:p>
          <a:p>
            <a:pPr marL="469265" marR="5715" indent="-228600" algn="just">
              <a:lnSpc>
                <a:spcPts val="1380"/>
              </a:lnSpc>
              <a:buSzPct val="83333"/>
              <a:buFont typeface="Symbol"/>
              <a:buChar char=""/>
              <a:tabLst>
                <a:tab pos="469265" algn="l"/>
              </a:tabLst>
            </a:pPr>
            <a:r>
              <a:rPr sz="1200" spc="-10" dirty="0">
                <a:latin typeface="Times New Roman"/>
                <a:cs typeface="Times New Roman"/>
              </a:rPr>
              <a:t>Frontend-Backend</a:t>
            </a:r>
            <a:r>
              <a:rPr sz="1200" spc="-25" dirty="0">
                <a:latin typeface="Times New Roman"/>
                <a:cs typeface="Times New Roman"/>
              </a:rPr>
              <a:t> </a:t>
            </a:r>
            <a:r>
              <a:rPr sz="1200" dirty="0">
                <a:latin typeface="Times New Roman"/>
                <a:cs typeface="Times New Roman"/>
              </a:rPr>
              <a:t>API</a:t>
            </a:r>
            <a:r>
              <a:rPr sz="1200" spc="-25" dirty="0">
                <a:latin typeface="Times New Roman"/>
                <a:cs typeface="Times New Roman"/>
              </a:rPr>
              <a:t> </a:t>
            </a:r>
            <a:r>
              <a:rPr sz="1200" spc="-10" dirty="0">
                <a:latin typeface="Times New Roman"/>
                <a:cs typeface="Times New Roman"/>
              </a:rPr>
              <a:t>Interaction:</a:t>
            </a:r>
            <a:r>
              <a:rPr sz="1200" spc="-25" dirty="0">
                <a:latin typeface="Times New Roman"/>
                <a:cs typeface="Times New Roman"/>
              </a:rPr>
              <a:t> </a:t>
            </a:r>
            <a:r>
              <a:rPr sz="1200" spc="-10" dirty="0">
                <a:latin typeface="Times New Roman"/>
                <a:cs typeface="Times New Roman"/>
              </a:rPr>
              <a:t>RESTful</a:t>
            </a:r>
            <a:r>
              <a:rPr sz="1200" spc="-20" dirty="0">
                <a:latin typeface="Times New Roman"/>
                <a:cs typeface="Times New Roman"/>
              </a:rPr>
              <a:t> </a:t>
            </a:r>
            <a:r>
              <a:rPr sz="1200" dirty="0">
                <a:latin typeface="Times New Roman"/>
                <a:cs typeface="Times New Roman"/>
              </a:rPr>
              <a:t>API</a:t>
            </a:r>
            <a:r>
              <a:rPr sz="1200" spc="-25" dirty="0">
                <a:latin typeface="Times New Roman"/>
                <a:cs typeface="Times New Roman"/>
              </a:rPr>
              <a:t> </a:t>
            </a:r>
            <a:r>
              <a:rPr sz="1200" spc="-10" dirty="0">
                <a:latin typeface="Times New Roman"/>
                <a:cs typeface="Times New Roman"/>
              </a:rPr>
              <a:t>endpoints</a:t>
            </a:r>
            <a:r>
              <a:rPr sz="1200" spc="-20" dirty="0">
                <a:latin typeface="Times New Roman"/>
                <a:cs typeface="Times New Roman"/>
              </a:rPr>
              <a:t> </a:t>
            </a:r>
            <a:r>
              <a:rPr sz="1200" spc="-10" dirty="0">
                <a:latin typeface="Times New Roman"/>
                <a:cs typeface="Times New Roman"/>
              </a:rPr>
              <a:t>were</a:t>
            </a:r>
            <a:r>
              <a:rPr sz="1200" spc="-35" dirty="0">
                <a:latin typeface="Times New Roman"/>
                <a:cs typeface="Times New Roman"/>
              </a:rPr>
              <a:t> </a:t>
            </a:r>
            <a:r>
              <a:rPr sz="1200" spc="-10" dirty="0">
                <a:latin typeface="Times New Roman"/>
                <a:cs typeface="Times New Roman"/>
              </a:rPr>
              <a:t>tested</a:t>
            </a:r>
            <a:r>
              <a:rPr sz="1200" spc="-2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ensure</a:t>
            </a:r>
            <a:r>
              <a:rPr sz="1200" spc="-35" dirty="0">
                <a:latin typeface="Times New Roman"/>
                <a:cs typeface="Times New Roman"/>
              </a:rPr>
              <a:t> </a:t>
            </a:r>
            <a:r>
              <a:rPr sz="1200" spc="-20" dirty="0">
                <a:latin typeface="Times New Roman"/>
                <a:cs typeface="Times New Roman"/>
              </a:rPr>
              <a:t>they </a:t>
            </a:r>
            <a:r>
              <a:rPr sz="1200" dirty="0">
                <a:latin typeface="Times New Roman"/>
                <a:cs typeface="Times New Roman"/>
              </a:rPr>
              <a:t>return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expected</a:t>
            </a:r>
            <a:r>
              <a:rPr sz="1200" spc="-20" dirty="0">
                <a:latin typeface="Times New Roman"/>
                <a:cs typeface="Times New Roman"/>
              </a:rPr>
              <a:t> </a:t>
            </a:r>
            <a:r>
              <a:rPr sz="1200" dirty="0">
                <a:latin typeface="Times New Roman"/>
                <a:cs typeface="Times New Roman"/>
              </a:rPr>
              <a:t>JSON</a:t>
            </a:r>
            <a:r>
              <a:rPr sz="1200" spc="-25" dirty="0">
                <a:latin typeface="Times New Roman"/>
                <a:cs typeface="Times New Roman"/>
              </a:rPr>
              <a:t> </a:t>
            </a:r>
            <a:r>
              <a:rPr sz="1200" dirty="0">
                <a:latin typeface="Times New Roman"/>
                <a:cs typeface="Times New Roman"/>
              </a:rPr>
              <a:t>response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HTTP</a:t>
            </a:r>
            <a:r>
              <a:rPr sz="1200" spc="-25" dirty="0">
                <a:latin typeface="Times New Roman"/>
                <a:cs typeface="Times New Roman"/>
              </a:rPr>
              <a:t> </a:t>
            </a:r>
            <a:r>
              <a:rPr sz="1200" dirty="0">
                <a:latin typeface="Times New Roman"/>
                <a:cs typeface="Times New Roman"/>
              </a:rPr>
              <a:t>status</a:t>
            </a:r>
            <a:r>
              <a:rPr sz="1200" spc="-20" dirty="0">
                <a:latin typeface="Times New Roman"/>
                <a:cs typeface="Times New Roman"/>
              </a:rPr>
              <a:t> </a:t>
            </a:r>
            <a:r>
              <a:rPr sz="1200" spc="-10" dirty="0">
                <a:latin typeface="Times New Roman"/>
                <a:cs typeface="Times New Roman"/>
              </a:rPr>
              <a:t>codes.</a:t>
            </a:r>
            <a:endParaRPr sz="1200" dirty="0">
              <a:latin typeface="Times New Roman"/>
              <a:cs typeface="Times New Roman"/>
            </a:endParaRPr>
          </a:p>
          <a:p>
            <a:pPr marL="469265" marR="5080" indent="-228600" algn="just">
              <a:lnSpc>
                <a:spcPts val="1380"/>
              </a:lnSpc>
              <a:buSzPct val="83333"/>
              <a:buFont typeface="Symbol"/>
              <a:buChar char=""/>
              <a:tabLst>
                <a:tab pos="469265" algn="l"/>
              </a:tabLst>
            </a:pPr>
            <a:r>
              <a:rPr sz="1200" dirty="0">
                <a:latin typeface="Times New Roman"/>
                <a:cs typeface="Times New Roman"/>
              </a:rPr>
              <a:t>WebSocket</a:t>
            </a:r>
            <a:r>
              <a:rPr sz="1200" spc="-25" dirty="0">
                <a:latin typeface="Times New Roman"/>
                <a:cs typeface="Times New Roman"/>
              </a:rPr>
              <a:t> </a:t>
            </a:r>
            <a:r>
              <a:rPr sz="1200" spc="-10" dirty="0">
                <a:latin typeface="Times New Roman"/>
                <a:cs typeface="Times New Roman"/>
              </a:rPr>
              <a:t>Communication:</a:t>
            </a:r>
            <a:r>
              <a:rPr sz="1200" spc="-2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bidding</a:t>
            </a:r>
            <a:r>
              <a:rPr sz="1200" spc="-25" dirty="0">
                <a:latin typeface="Times New Roman"/>
                <a:cs typeface="Times New Roman"/>
              </a:rPr>
              <a:t> </a:t>
            </a:r>
            <a:r>
              <a:rPr sz="1200" dirty="0">
                <a:latin typeface="Times New Roman"/>
                <a:cs typeface="Times New Roman"/>
              </a:rPr>
              <a:t>were</a:t>
            </a:r>
            <a:r>
              <a:rPr sz="1200" spc="-35" dirty="0">
                <a:latin typeface="Times New Roman"/>
                <a:cs typeface="Times New Roman"/>
              </a:rPr>
              <a:t> </a:t>
            </a:r>
            <a:r>
              <a:rPr sz="1200" dirty="0">
                <a:latin typeface="Times New Roman"/>
                <a:cs typeface="Times New Roman"/>
              </a:rPr>
              <a:t>handled</a:t>
            </a:r>
            <a:r>
              <a:rPr sz="1200" spc="-25" dirty="0">
                <a:latin typeface="Times New Roman"/>
                <a:cs typeface="Times New Roman"/>
              </a:rPr>
              <a:t> </a:t>
            </a:r>
            <a:r>
              <a:rPr sz="1200" spc="-10" dirty="0">
                <a:latin typeface="Times New Roman"/>
                <a:cs typeface="Times New Roman"/>
              </a:rPr>
              <a:t>through </a:t>
            </a:r>
            <a:r>
              <a:rPr sz="1200" dirty="0">
                <a:latin typeface="Times New Roman"/>
                <a:cs typeface="Times New Roman"/>
              </a:rPr>
              <a:t>Socket.io.</a:t>
            </a:r>
            <a:r>
              <a:rPr sz="1200" spc="130" dirty="0">
                <a:latin typeface="Times New Roman"/>
                <a:cs typeface="Times New Roman"/>
              </a:rPr>
              <a:t> </a:t>
            </a:r>
            <a:r>
              <a:rPr sz="1200" dirty="0">
                <a:latin typeface="Times New Roman"/>
                <a:cs typeface="Times New Roman"/>
              </a:rPr>
              <a:t>Integration</a:t>
            </a:r>
            <a:r>
              <a:rPr sz="1200" spc="120" dirty="0">
                <a:latin typeface="Times New Roman"/>
                <a:cs typeface="Times New Roman"/>
              </a:rPr>
              <a:t> </a:t>
            </a:r>
            <a:r>
              <a:rPr sz="1200" dirty="0">
                <a:latin typeface="Times New Roman"/>
                <a:cs typeface="Times New Roman"/>
              </a:rPr>
              <a:t>tests</a:t>
            </a:r>
            <a:r>
              <a:rPr sz="1200" spc="125" dirty="0">
                <a:latin typeface="Times New Roman"/>
                <a:cs typeface="Times New Roman"/>
              </a:rPr>
              <a:t> </a:t>
            </a:r>
            <a:r>
              <a:rPr sz="1200" dirty="0">
                <a:latin typeface="Times New Roman"/>
                <a:cs typeface="Times New Roman"/>
              </a:rPr>
              <a:t>confirmed</a:t>
            </a:r>
            <a:r>
              <a:rPr sz="1200" spc="13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emission</a:t>
            </a:r>
            <a:r>
              <a:rPr sz="1200" spc="120" dirty="0">
                <a:latin typeface="Times New Roman"/>
                <a:cs typeface="Times New Roman"/>
              </a:rPr>
              <a:t> </a:t>
            </a:r>
            <a:r>
              <a:rPr sz="1200" dirty="0">
                <a:latin typeface="Times New Roman"/>
                <a:cs typeface="Times New Roman"/>
              </a:rPr>
              <a:t>and</a:t>
            </a:r>
            <a:r>
              <a:rPr sz="1200" spc="135" dirty="0">
                <a:latin typeface="Times New Roman"/>
                <a:cs typeface="Times New Roman"/>
              </a:rPr>
              <a:t> </a:t>
            </a:r>
            <a:r>
              <a:rPr sz="1200" dirty="0">
                <a:latin typeface="Times New Roman"/>
                <a:cs typeface="Times New Roman"/>
              </a:rPr>
              <a:t>reception</a:t>
            </a:r>
            <a:r>
              <a:rPr sz="1200" spc="114" dirty="0">
                <a:latin typeface="Times New Roman"/>
                <a:cs typeface="Times New Roman"/>
              </a:rPr>
              <a:t> </a:t>
            </a:r>
            <a:r>
              <a:rPr sz="1200" dirty="0">
                <a:latin typeface="Times New Roman"/>
                <a:cs typeface="Times New Roman"/>
              </a:rPr>
              <a:t>of</a:t>
            </a:r>
            <a:r>
              <a:rPr sz="1200" spc="130" dirty="0">
                <a:latin typeface="Times New Roman"/>
                <a:cs typeface="Times New Roman"/>
              </a:rPr>
              <a:t> </a:t>
            </a:r>
            <a:r>
              <a:rPr sz="1200" dirty="0">
                <a:latin typeface="Times New Roman"/>
                <a:cs typeface="Times New Roman"/>
              </a:rPr>
              <a:t>messages,</a:t>
            </a:r>
            <a:r>
              <a:rPr sz="1200" spc="125" dirty="0">
                <a:latin typeface="Times New Roman"/>
                <a:cs typeface="Times New Roman"/>
              </a:rPr>
              <a:t> </a:t>
            </a:r>
            <a:r>
              <a:rPr sz="1200" spc="-25" dirty="0">
                <a:latin typeface="Times New Roman"/>
                <a:cs typeface="Times New Roman"/>
              </a:rPr>
              <a:t>bid </a:t>
            </a:r>
            <a:r>
              <a:rPr sz="1200" dirty="0">
                <a:latin typeface="Times New Roman"/>
                <a:cs typeface="Times New Roman"/>
              </a:rPr>
              <a:t>queuing,</a:t>
            </a:r>
            <a:r>
              <a:rPr sz="1200" spc="-2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UI</a:t>
            </a:r>
            <a:r>
              <a:rPr sz="1200" spc="-40" dirty="0">
                <a:latin typeface="Times New Roman"/>
                <a:cs typeface="Times New Roman"/>
              </a:rPr>
              <a:t> </a:t>
            </a:r>
            <a:r>
              <a:rPr sz="1200" spc="-10" dirty="0">
                <a:latin typeface="Times New Roman"/>
                <a:cs typeface="Times New Roman"/>
              </a:rPr>
              <a:t>synchronization.</a:t>
            </a:r>
            <a:endParaRPr sz="1200" dirty="0">
              <a:latin typeface="Times New Roman"/>
              <a:cs typeface="Times New Roman"/>
            </a:endParaRPr>
          </a:p>
          <a:p>
            <a:pPr marL="469265" marR="7620" indent="-228600" algn="just">
              <a:lnSpc>
                <a:spcPts val="1380"/>
              </a:lnSpc>
              <a:spcBef>
                <a:spcPts val="5"/>
              </a:spcBef>
              <a:buSzPct val="83333"/>
              <a:buFont typeface="Symbol"/>
              <a:buChar char=""/>
              <a:tabLst>
                <a:tab pos="469265" algn="l"/>
              </a:tabLst>
            </a:pPr>
            <a:r>
              <a:rPr sz="1200" spc="-10" dirty="0">
                <a:latin typeface="Times New Roman"/>
                <a:cs typeface="Times New Roman"/>
              </a:rPr>
              <a:t>Backend-</a:t>
            </a:r>
            <a:r>
              <a:rPr sz="1200" dirty="0">
                <a:latin typeface="Times New Roman"/>
                <a:cs typeface="Times New Roman"/>
              </a:rPr>
              <a:t>AI</a:t>
            </a:r>
            <a:r>
              <a:rPr sz="1200" spc="190" dirty="0">
                <a:latin typeface="Times New Roman"/>
                <a:cs typeface="Times New Roman"/>
              </a:rPr>
              <a:t> </a:t>
            </a:r>
            <a:r>
              <a:rPr sz="1200" dirty="0">
                <a:latin typeface="Times New Roman"/>
                <a:cs typeface="Times New Roman"/>
              </a:rPr>
              <a:t>Services:</a:t>
            </a:r>
            <a:r>
              <a:rPr sz="1200" spc="210" dirty="0">
                <a:latin typeface="Times New Roman"/>
                <a:cs typeface="Times New Roman"/>
              </a:rPr>
              <a:t> </a:t>
            </a:r>
            <a:r>
              <a:rPr sz="1200" dirty="0">
                <a:latin typeface="Times New Roman"/>
                <a:cs typeface="Times New Roman"/>
              </a:rPr>
              <a:t>Flask</a:t>
            </a:r>
            <a:r>
              <a:rPr sz="1200" spc="190" dirty="0">
                <a:latin typeface="Times New Roman"/>
                <a:cs typeface="Times New Roman"/>
              </a:rPr>
              <a:t> </a:t>
            </a:r>
            <a:r>
              <a:rPr sz="1200" dirty="0">
                <a:latin typeface="Times New Roman"/>
                <a:cs typeface="Times New Roman"/>
              </a:rPr>
              <a:t>APIs</a:t>
            </a:r>
            <a:r>
              <a:rPr sz="1200" spc="200" dirty="0">
                <a:latin typeface="Times New Roman"/>
                <a:cs typeface="Times New Roman"/>
              </a:rPr>
              <a:t> </a:t>
            </a:r>
            <a:r>
              <a:rPr sz="1200" dirty="0">
                <a:latin typeface="Times New Roman"/>
                <a:cs typeface="Times New Roman"/>
              </a:rPr>
              <a:t>hosted</a:t>
            </a:r>
            <a:r>
              <a:rPr sz="1200" spc="190" dirty="0">
                <a:latin typeface="Times New Roman"/>
                <a:cs typeface="Times New Roman"/>
              </a:rPr>
              <a:t> </a:t>
            </a:r>
            <a:r>
              <a:rPr sz="1200" dirty="0">
                <a:latin typeface="Times New Roman"/>
                <a:cs typeface="Times New Roman"/>
              </a:rPr>
              <a:t>on</a:t>
            </a:r>
            <a:r>
              <a:rPr sz="1200" spc="204" dirty="0">
                <a:latin typeface="Times New Roman"/>
                <a:cs typeface="Times New Roman"/>
              </a:rPr>
              <a:t> </a:t>
            </a:r>
            <a:r>
              <a:rPr sz="1200" dirty="0">
                <a:latin typeface="Times New Roman"/>
                <a:cs typeface="Times New Roman"/>
              </a:rPr>
              <a:t>a</a:t>
            </a:r>
            <a:r>
              <a:rPr sz="1200" spc="190" dirty="0">
                <a:latin typeface="Times New Roman"/>
                <a:cs typeface="Times New Roman"/>
              </a:rPr>
              <a:t> </a:t>
            </a:r>
            <a:r>
              <a:rPr sz="1200" dirty="0">
                <a:latin typeface="Times New Roman"/>
                <a:cs typeface="Times New Roman"/>
              </a:rPr>
              <a:t>separate</a:t>
            </a:r>
            <a:r>
              <a:rPr sz="1200" spc="195" dirty="0">
                <a:latin typeface="Times New Roman"/>
                <a:cs typeface="Times New Roman"/>
              </a:rPr>
              <a:t> </a:t>
            </a:r>
            <a:r>
              <a:rPr sz="1200" dirty="0">
                <a:latin typeface="Times New Roman"/>
                <a:cs typeface="Times New Roman"/>
              </a:rPr>
              <a:t>server</a:t>
            </a:r>
            <a:r>
              <a:rPr sz="1200" spc="200" dirty="0">
                <a:latin typeface="Times New Roman"/>
                <a:cs typeface="Times New Roman"/>
              </a:rPr>
              <a:t> </a:t>
            </a:r>
            <a:r>
              <a:rPr sz="1200" dirty="0">
                <a:latin typeface="Times New Roman"/>
                <a:cs typeface="Times New Roman"/>
              </a:rPr>
              <a:t>interacted</a:t>
            </a:r>
            <a:r>
              <a:rPr sz="1200" spc="200" dirty="0">
                <a:latin typeface="Times New Roman"/>
                <a:cs typeface="Times New Roman"/>
              </a:rPr>
              <a:t> </a:t>
            </a:r>
            <a:r>
              <a:rPr sz="1200" dirty="0">
                <a:latin typeface="Times New Roman"/>
                <a:cs typeface="Times New Roman"/>
              </a:rPr>
              <a:t>with</a:t>
            </a:r>
            <a:r>
              <a:rPr sz="1200" spc="195" dirty="0">
                <a:latin typeface="Times New Roman"/>
                <a:cs typeface="Times New Roman"/>
              </a:rPr>
              <a:t> </a:t>
            </a:r>
            <a:r>
              <a:rPr sz="1200" spc="-25" dirty="0">
                <a:latin typeface="Times New Roman"/>
                <a:cs typeface="Times New Roman"/>
              </a:rPr>
              <a:t>the </a:t>
            </a:r>
            <a:r>
              <a:rPr sz="1200" dirty="0">
                <a:latin typeface="Times New Roman"/>
                <a:cs typeface="Times New Roman"/>
              </a:rPr>
              <a:t>Node.js</a:t>
            </a:r>
            <a:r>
              <a:rPr sz="1200" spc="204" dirty="0">
                <a:latin typeface="Times New Roman"/>
                <a:cs typeface="Times New Roman"/>
              </a:rPr>
              <a:t> </a:t>
            </a:r>
            <a:r>
              <a:rPr sz="1200" dirty="0">
                <a:latin typeface="Times New Roman"/>
                <a:cs typeface="Times New Roman"/>
              </a:rPr>
              <a:t>backend.</a:t>
            </a:r>
            <a:r>
              <a:rPr sz="1200" spc="215" dirty="0">
                <a:latin typeface="Times New Roman"/>
                <a:cs typeface="Times New Roman"/>
              </a:rPr>
              <a:t> </a:t>
            </a:r>
            <a:r>
              <a:rPr sz="1200" dirty="0">
                <a:latin typeface="Times New Roman"/>
                <a:cs typeface="Times New Roman"/>
              </a:rPr>
              <a:t>Integration</a:t>
            </a:r>
            <a:r>
              <a:rPr sz="1200" spc="204" dirty="0">
                <a:latin typeface="Times New Roman"/>
                <a:cs typeface="Times New Roman"/>
              </a:rPr>
              <a:t> </a:t>
            </a:r>
            <a:r>
              <a:rPr sz="1200" dirty="0">
                <a:latin typeface="Times New Roman"/>
                <a:cs typeface="Times New Roman"/>
              </a:rPr>
              <a:t>tested</a:t>
            </a:r>
            <a:r>
              <a:rPr sz="1200" spc="200" dirty="0">
                <a:latin typeface="Times New Roman"/>
                <a:cs typeface="Times New Roman"/>
              </a:rPr>
              <a:t> </a:t>
            </a:r>
            <a:r>
              <a:rPr sz="1200" dirty="0">
                <a:latin typeface="Times New Roman"/>
                <a:cs typeface="Times New Roman"/>
              </a:rPr>
              <a:t>AI</a:t>
            </a:r>
            <a:r>
              <a:rPr sz="1200" spc="190" dirty="0">
                <a:latin typeface="Times New Roman"/>
                <a:cs typeface="Times New Roman"/>
              </a:rPr>
              <a:t> </a:t>
            </a:r>
            <a:r>
              <a:rPr sz="1200" dirty="0">
                <a:latin typeface="Times New Roman"/>
                <a:cs typeface="Times New Roman"/>
              </a:rPr>
              <a:t>prediction</a:t>
            </a:r>
            <a:r>
              <a:rPr sz="1200" spc="200" dirty="0">
                <a:latin typeface="Times New Roman"/>
                <a:cs typeface="Times New Roman"/>
              </a:rPr>
              <a:t> </a:t>
            </a:r>
            <a:r>
              <a:rPr sz="1200" dirty="0">
                <a:latin typeface="Times New Roman"/>
                <a:cs typeface="Times New Roman"/>
              </a:rPr>
              <a:t>routes</a:t>
            </a:r>
            <a:r>
              <a:rPr sz="1200" spc="210" dirty="0">
                <a:latin typeface="Times New Roman"/>
                <a:cs typeface="Times New Roman"/>
              </a:rPr>
              <a:t> </a:t>
            </a:r>
            <a:r>
              <a:rPr sz="1200" dirty="0">
                <a:latin typeface="Times New Roman"/>
                <a:cs typeface="Times New Roman"/>
              </a:rPr>
              <a:t>for</a:t>
            </a:r>
            <a:r>
              <a:rPr sz="1200" spc="195" dirty="0">
                <a:latin typeface="Times New Roman"/>
                <a:cs typeface="Times New Roman"/>
              </a:rPr>
              <a:t> </a:t>
            </a:r>
            <a:r>
              <a:rPr sz="1200" dirty="0">
                <a:latin typeface="Times New Roman"/>
                <a:cs typeface="Times New Roman"/>
              </a:rPr>
              <a:t>price</a:t>
            </a:r>
            <a:r>
              <a:rPr sz="1200" spc="200" dirty="0">
                <a:latin typeface="Times New Roman"/>
                <a:cs typeface="Times New Roman"/>
              </a:rPr>
              <a:t> </a:t>
            </a:r>
            <a:r>
              <a:rPr sz="1200" dirty="0">
                <a:latin typeface="Times New Roman"/>
                <a:cs typeface="Times New Roman"/>
              </a:rPr>
              <a:t>estimation</a:t>
            </a:r>
            <a:r>
              <a:rPr sz="1200" spc="204" dirty="0">
                <a:latin typeface="Times New Roman"/>
                <a:cs typeface="Times New Roman"/>
              </a:rPr>
              <a:t> </a:t>
            </a:r>
            <a:r>
              <a:rPr sz="1200" spc="-25" dirty="0">
                <a:latin typeface="Times New Roman"/>
                <a:cs typeface="Times New Roman"/>
              </a:rPr>
              <a:t>and </a:t>
            </a:r>
            <a:r>
              <a:rPr sz="1200" dirty="0">
                <a:latin typeface="Times New Roman"/>
                <a:cs typeface="Times New Roman"/>
              </a:rPr>
              <a:t>document</a:t>
            </a:r>
            <a:r>
              <a:rPr sz="1200" spc="-55" dirty="0">
                <a:latin typeface="Times New Roman"/>
                <a:cs typeface="Times New Roman"/>
              </a:rPr>
              <a:t> </a:t>
            </a:r>
            <a:r>
              <a:rPr sz="1200" spc="-10" dirty="0">
                <a:latin typeface="Times New Roman"/>
                <a:cs typeface="Times New Roman"/>
              </a:rPr>
              <a:t>classification/verification.</a:t>
            </a:r>
            <a:endParaRPr sz="1200" dirty="0">
              <a:latin typeface="Times New Roman"/>
              <a:cs typeface="Times New Roman"/>
            </a:endParaRPr>
          </a:p>
          <a:p>
            <a:pPr marL="469265" marR="6350" indent="-228600" algn="just">
              <a:lnSpc>
                <a:spcPts val="1380"/>
              </a:lnSpc>
              <a:buSzPct val="83333"/>
              <a:buFont typeface="Symbol"/>
              <a:buChar char=""/>
              <a:tabLst>
                <a:tab pos="469265" algn="l"/>
              </a:tabLst>
            </a:pPr>
            <a:r>
              <a:rPr sz="1200" dirty="0">
                <a:latin typeface="Times New Roman"/>
                <a:cs typeface="Times New Roman"/>
              </a:rPr>
              <a:t>Database</a:t>
            </a:r>
            <a:r>
              <a:rPr sz="1200" spc="95" dirty="0">
                <a:latin typeface="Times New Roman"/>
                <a:cs typeface="Times New Roman"/>
              </a:rPr>
              <a:t> </a:t>
            </a:r>
            <a:r>
              <a:rPr sz="1200" dirty="0">
                <a:latin typeface="Times New Roman"/>
                <a:cs typeface="Times New Roman"/>
              </a:rPr>
              <a:t>Integration</a:t>
            </a:r>
            <a:r>
              <a:rPr sz="1200" spc="90" dirty="0">
                <a:latin typeface="Times New Roman"/>
                <a:cs typeface="Times New Roman"/>
              </a:rPr>
              <a:t> </a:t>
            </a:r>
            <a:r>
              <a:rPr sz="1200" dirty="0">
                <a:latin typeface="Times New Roman"/>
                <a:cs typeface="Times New Roman"/>
              </a:rPr>
              <a:t>(MongoDB):</a:t>
            </a:r>
            <a:r>
              <a:rPr sz="1200" spc="90" dirty="0">
                <a:latin typeface="Times New Roman"/>
                <a:cs typeface="Times New Roman"/>
              </a:rPr>
              <a:t> </a:t>
            </a:r>
            <a:r>
              <a:rPr sz="1200" dirty="0">
                <a:latin typeface="Times New Roman"/>
                <a:cs typeface="Times New Roman"/>
              </a:rPr>
              <a:t>Insertions,</a:t>
            </a:r>
            <a:r>
              <a:rPr sz="1200" spc="90" dirty="0">
                <a:latin typeface="Times New Roman"/>
                <a:cs typeface="Times New Roman"/>
              </a:rPr>
              <a:t> </a:t>
            </a:r>
            <a:r>
              <a:rPr sz="1200" dirty="0">
                <a:latin typeface="Times New Roman"/>
                <a:cs typeface="Times New Roman"/>
              </a:rPr>
              <a:t>updates,</a:t>
            </a:r>
            <a:r>
              <a:rPr sz="1200" spc="90"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retrievals</a:t>
            </a:r>
            <a:r>
              <a:rPr sz="1200" spc="90" dirty="0">
                <a:latin typeface="Times New Roman"/>
                <a:cs typeface="Times New Roman"/>
              </a:rPr>
              <a:t> </a:t>
            </a:r>
            <a:r>
              <a:rPr sz="1200" dirty="0">
                <a:latin typeface="Times New Roman"/>
                <a:cs typeface="Times New Roman"/>
              </a:rPr>
              <a:t>were</a:t>
            </a:r>
            <a:r>
              <a:rPr sz="1200" spc="90" dirty="0">
                <a:latin typeface="Times New Roman"/>
                <a:cs typeface="Times New Roman"/>
              </a:rPr>
              <a:t> </a:t>
            </a:r>
            <a:r>
              <a:rPr sz="1200" dirty="0">
                <a:latin typeface="Times New Roman"/>
                <a:cs typeface="Times New Roman"/>
              </a:rPr>
              <a:t>tested</a:t>
            </a:r>
            <a:r>
              <a:rPr sz="1200" spc="90" dirty="0">
                <a:latin typeface="Times New Roman"/>
                <a:cs typeface="Times New Roman"/>
              </a:rPr>
              <a:t> </a:t>
            </a:r>
            <a:r>
              <a:rPr sz="1200" spc="-25" dirty="0">
                <a:latin typeface="Times New Roman"/>
                <a:cs typeface="Times New Roman"/>
              </a:rPr>
              <a:t>to </a:t>
            </a:r>
            <a:r>
              <a:rPr sz="1200" dirty="0">
                <a:latin typeface="Times New Roman"/>
                <a:cs typeface="Times New Roman"/>
              </a:rPr>
              <a:t>confirm</a:t>
            </a:r>
            <a:r>
              <a:rPr sz="1200" spc="4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dirty="0">
                <a:latin typeface="Times New Roman"/>
                <a:cs typeface="Times New Roman"/>
              </a:rPr>
              <a:t>consistency.</a:t>
            </a:r>
            <a:r>
              <a:rPr sz="1200" spc="45" dirty="0">
                <a:latin typeface="Times New Roman"/>
                <a:cs typeface="Times New Roman"/>
              </a:rPr>
              <a:t> </a:t>
            </a:r>
            <a:r>
              <a:rPr sz="1200" dirty="0">
                <a:latin typeface="Times New Roman"/>
                <a:cs typeface="Times New Roman"/>
              </a:rPr>
              <a:t>Edge</a:t>
            </a:r>
            <a:r>
              <a:rPr sz="1200" spc="45" dirty="0">
                <a:latin typeface="Times New Roman"/>
                <a:cs typeface="Times New Roman"/>
              </a:rPr>
              <a:t> </a:t>
            </a:r>
            <a:r>
              <a:rPr sz="1200" dirty="0">
                <a:latin typeface="Times New Roman"/>
                <a:cs typeface="Times New Roman"/>
              </a:rPr>
              <a:t>cases</a:t>
            </a:r>
            <a:r>
              <a:rPr sz="1200" spc="45" dirty="0">
                <a:latin typeface="Times New Roman"/>
                <a:cs typeface="Times New Roman"/>
              </a:rPr>
              <a:t> </a:t>
            </a:r>
            <a:r>
              <a:rPr sz="1200" dirty="0">
                <a:latin typeface="Times New Roman"/>
                <a:cs typeface="Times New Roman"/>
              </a:rPr>
              <a:t>like</a:t>
            </a:r>
            <a:r>
              <a:rPr sz="1200" spc="40" dirty="0">
                <a:latin typeface="Times New Roman"/>
                <a:cs typeface="Times New Roman"/>
              </a:rPr>
              <a:t> </a:t>
            </a:r>
            <a:r>
              <a:rPr sz="1200" dirty="0">
                <a:latin typeface="Times New Roman"/>
                <a:cs typeface="Times New Roman"/>
              </a:rPr>
              <a:t>simultaneous</a:t>
            </a:r>
            <a:r>
              <a:rPr sz="1200" spc="45" dirty="0">
                <a:latin typeface="Times New Roman"/>
                <a:cs typeface="Times New Roman"/>
              </a:rPr>
              <a:t> </a:t>
            </a:r>
            <a:r>
              <a:rPr sz="1200" dirty="0">
                <a:latin typeface="Times New Roman"/>
                <a:cs typeface="Times New Roman"/>
              </a:rPr>
              <a:t>updates</a:t>
            </a:r>
            <a:r>
              <a:rPr sz="1200" spc="4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deletion</a:t>
            </a:r>
            <a:r>
              <a:rPr sz="1200" spc="45" dirty="0">
                <a:latin typeface="Times New Roman"/>
                <a:cs typeface="Times New Roman"/>
              </a:rPr>
              <a:t> </a:t>
            </a:r>
            <a:r>
              <a:rPr sz="1200" spc="-10" dirty="0">
                <a:latin typeface="Times New Roman"/>
                <a:cs typeface="Times New Roman"/>
              </a:rPr>
              <a:t>during </a:t>
            </a:r>
            <a:r>
              <a:rPr sz="1200" dirty="0">
                <a:latin typeface="Times New Roman"/>
                <a:cs typeface="Times New Roman"/>
              </a:rPr>
              <a:t>active</a:t>
            </a:r>
            <a:r>
              <a:rPr sz="1200" spc="-40" dirty="0">
                <a:latin typeface="Times New Roman"/>
                <a:cs typeface="Times New Roman"/>
              </a:rPr>
              <a:t> </a:t>
            </a:r>
            <a:r>
              <a:rPr sz="1200" dirty="0">
                <a:latin typeface="Times New Roman"/>
                <a:cs typeface="Times New Roman"/>
              </a:rPr>
              <a:t>auctions</a:t>
            </a:r>
            <a:r>
              <a:rPr sz="1200" spc="-35" dirty="0">
                <a:latin typeface="Times New Roman"/>
                <a:cs typeface="Times New Roman"/>
              </a:rPr>
              <a:t> </a:t>
            </a:r>
            <a:r>
              <a:rPr sz="1200" dirty="0">
                <a:latin typeface="Times New Roman"/>
                <a:cs typeface="Times New Roman"/>
              </a:rPr>
              <a:t>were</a:t>
            </a:r>
            <a:r>
              <a:rPr sz="1200" spc="-35" dirty="0">
                <a:latin typeface="Times New Roman"/>
                <a:cs typeface="Times New Roman"/>
              </a:rPr>
              <a:t> </a:t>
            </a:r>
            <a:r>
              <a:rPr sz="1200" spc="-10" dirty="0">
                <a:latin typeface="Times New Roman"/>
                <a:cs typeface="Times New Roman"/>
              </a:rPr>
              <a:t>evaluated.</a:t>
            </a:r>
            <a:endParaRPr sz="1200" dirty="0">
              <a:latin typeface="Times New Roman"/>
              <a:cs typeface="Times New Roman"/>
            </a:endParaRPr>
          </a:p>
          <a:p>
            <a:pPr marL="12700" algn="just">
              <a:lnSpc>
                <a:spcPct val="100000"/>
              </a:lnSpc>
              <a:spcBef>
                <a:spcPts val="1295"/>
              </a:spcBef>
            </a:pPr>
            <a:r>
              <a:rPr sz="1200" b="1" dirty="0">
                <a:latin typeface="Times New Roman"/>
                <a:cs typeface="Times New Roman"/>
              </a:rPr>
              <a:t>Tools </a:t>
            </a:r>
            <a:r>
              <a:rPr sz="1200" b="1" spc="-10" dirty="0">
                <a:latin typeface="Times New Roman"/>
                <a:cs typeface="Times New Roman"/>
              </a:rPr>
              <a:t>Used:</a:t>
            </a:r>
            <a:endParaRPr sz="1200" dirty="0">
              <a:latin typeface="Times New Roman"/>
              <a:cs typeface="Times New Roman"/>
            </a:endParaRPr>
          </a:p>
          <a:p>
            <a:pPr marL="469265" indent="-228600">
              <a:lnSpc>
                <a:spcPts val="1410"/>
              </a:lnSpc>
              <a:spcBef>
                <a:spcPts val="1345"/>
              </a:spcBef>
              <a:buSzPct val="83333"/>
              <a:buFont typeface="Symbol"/>
              <a:buChar char=""/>
              <a:tabLst>
                <a:tab pos="469265" algn="l"/>
              </a:tabLst>
            </a:pPr>
            <a:r>
              <a:rPr sz="1200" dirty="0">
                <a:latin typeface="Times New Roman"/>
                <a:cs typeface="Times New Roman"/>
              </a:rPr>
              <a:t>Postman</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manual</a:t>
            </a:r>
            <a:r>
              <a:rPr sz="1200" spc="-25" dirty="0">
                <a:latin typeface="Times New Roman"/>
                <a:cs typeface="Times New Roman"/>
              </a:rPr>
              <a:t> </a:t>
            </a:r>
            <a:r>
              <a:rPr sz="1200" dirty="0">
                <a:latin typeface="Times New Roman"/>
                <a:cs typeface="Times New Roman"/>
              </a:rPr>
              <a:t>API</a:t>
            </a:r>
            <a:r>
              <a:rPr sz="1200" spc="-40" dirty="0">
                <a:latin typeface="Times New Roman"/>
                <a:cs typeface="Times New Roman"/>
              </a:rPr>
              <a:t> </a:t>
            </a:r>
            <a:r>
              <a:rPr sz="1200" spc="-10" dirty="0">
                <a:latin typeface="Times New Roman"/>
                <a:cs typeface="Times New Roman"/>
              </a:rPr>
              <a:t>testing)</a:t>
            </a:r>
            <a:endParaRPr sz="1200" dirty="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Jest/Mocha</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end-to-</a:t>
            </a:r>
            <a:r>
              <a:rPr sz="1200" dirty="0">
                <a:latin typeface="Times New Roman"/>
                <a:cs typeface="Times New Roman"/>
              </a:rPr>
              <a:t>end</a:t>
            </a:r>
            <a:r>
              <a:rPr sz="1200" spc="-15" dirty="0">
                <a:latin typeface="Times New Roman"/>
                <a:cs typeface="Times New Roman"/>
              </a:rPr>
              <a:t> </a:t>
            </a:r>
            <a:r>
              <a:rPr sz="1200" dirty="0">
                <a:latin typeface="Times New Roman"/>
                <a:cs typeface="Times New Roman"/>
              </a:rPr>
              <a:t>test</a:t>
            </a:r>
            <a:r>
              <a:rPr sz="1200" spc="-15" dirty="0">
                <a:latin typeface="Times New Roman"/>
                <a:cs typeface="Times New Roman"/>
              </a:rPr>
              <a:t> </a:t>
            </a:r>
            <a:r>
              <a:rPr sz="1200" spc="-10" dirty="0">
                <a:latin typeface="Times New Roman"/>
                <a:cs typeface="Times New Roman"/>
              </a:rPr>
              <a:t>scripts</a:t>
            </a:r>
            <a:endParaRPr sz="1200" dirty="0">
              <a:latin typeface="Times New Roman"/>
              <a:cs typeface="Times New Roman"/>
            </a:endParaRPr>
          </a:p>
          <a:p>
            <a:pPr marL="469265" indent="-228600">
              <a:lnSpc>
                <a:spcPts val="1410"/>
              </a:lnSpc>
              <a:buSzPct val="83333"/>
              <a:buFont typeface="Symbol"/>
              <a:buChar char=""/>
              <a:tabLst>
                <a:tab pos="469265" algn="l"/>
              </a:tabLst>
            </a:pPr>
            <a:r>
              <a:rPr sz="1200" spc="-10" dirty="0">
                <a:latin typeface="Times New Roman"/>
                <a:cs typeface="Times New Roman"/>
              </a:rPr>
              <a:t>Socket.io-</a:t>
            </a:r>
            <a:r>
              <a:rPr sz="1200" dirty="0">
                <a:latin typeface="Times New Roman"/>
                <a:cs typeface="Times New Roman"/>
              </a:rPr>
              <a:t>client</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simulating</a:t>
            </a:r>
            <a:r>
              <a:rPr sz="1200" spc="-2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sessions</a:t>
            </a:r>
            <a:endParaRPr sz="1200" dirty="0">
              <a:latin typeface="Times New Roman"/>
              <a:cs typeface="Times New Roman"/>
            </a:endParaRPr>
          </a:p>
          <a:p>
            <a:pPr>
              <a:lnSpc>
                <a:spcPct val="100000"/>
              </a:lnSpc>
              <a:spcBef>
                <a:spcPts val="60"/>
              </a:spcBef>
            </a:pPr>
            <a:endParaRPr sz="1200" dirty="0">
              <a:latin typeface="Times New Roman"/>
              <a:cs typeface="Times New Roman"/>
            </a:endParaRPr>
          </a:p>
          <a:p>
            <a:pPr marL="12700" marR="5715" algn="just">
              <a:lnSpc>
                <a:spcPts val="1380"/>
              </a:lnSpc>
            </a:pPr>
            <a:r>
              <a:rPr sz="1200" b="1" dirty="0">
                <a:latin typeface="Times New Roman"/>
                <a:cs typeface="Times New Roman"/>
              </a:rPr>
              <a:t>Result:</a:t>
            </a:r>
            <a:r>
              <a:rPr sz="1200" b="1" spc="240" dirty="0">
                <a:latin typeface="Times New Roman"/>
                <a:cs typeface="Times New Roman"/>
              </a:rPr>
              <a:t> </a:t>
            </a:r>
            <a:r>
              <a:rPr sz="1200" dirty="0">
                <a:latin typeface="Times New Roman"/>
                <a:cs typeface="Times New Roman"/>
              </a:rPr>
              <a:t>All</a:t>
            </a:r>
            <a:r>
              <a:rPr sz="1200" spc="250" dirty="0">
                <a:latin typeface="Times New Roman"/>
                <a:cs typeface="Times New Roman"/>
              </a:rPr>
              <a:t> </a:t>
            </a:r>
            <a:r>
              <a:rPr sz="1200" dirty="0">
                <a:latin typeface="Times New Roman"/>
                <a:cs typeface="Times New Roman"/>
              </a:rPr>
              <a:t>modules</a:t>
            </a:r>
            <a:r>
              <a:rPr sz="1200" spc="245" dirty="0">
                <a:latin typeface="Times New Roman"/>
                <a:cs typeface="Times New Roman"/>
              </a:rPr>
              <a:t> </a:t>
            </a:r>
            <a:r>
              <a:rPr sz="1200" dirty="0">
                <a:latin typeface="Times New Roman"/>
                <a:cs typeface="Times New Roman"/>
              </a:rPr>
              <a:t>were</a:t>
            </a:r>
            <a:r>
              <a:rPr sz="1200" spc="240" dirty="0">
                <a:latin typeface="Times New Roman"/>
                <a:cs typeface="Times New Roman"/>
              </a:rPr>
              <a:t> </a:t>
            </a:r>
            <a:r>
              <a:rPr sz="1200" dirty="0">
                <a:latin typeface="Times New Roman"/>
                <a:cs typeface="Times New Roman"/>
              </a:rPr>
              <a:t>integrated</a:t>
            </a:r>
            <a:r>
              <a:rPr sz="1200" spc="245" dirty="0">
                <a:latin typeface="Times New Roman"/>
                <a:cs typeface="Times New Roman"/>
              </a:rPr>
              <a:t> </a:t>
            </a:r>
            <a:r>
              <a:rPr sz="1200" dirty="0">
                <a:latin typeface="Times New Roman"/>
                <a:cs typeface="Times New Roman"/>
              </a:rPr>
              <a:t>successfully,</a:t>
            </a:r>
            <a:r>
              <a:rPr sz="1200" spc="240" dirty="0">
                <a:latin typeface="Times New Roman"/>
                <a:cs typeface="Times New Roman"/>
              </a:rPr>
              <a:t> </a:t>
            </a:r>
            <a:r>
              <a:rPr sz="1200" dirty="0">
                <a:latin typeface="Times New Roman"/>
                <a:cs typeface="Times New Roman"/>
              </a:rPr>
              <a:t>with</a:t>
            </a:r>
            <a:r>
              <a:rPr sz="1200" spc="250" dirty="0">
                <a:latin typeface="Times New Roman"/>
                <a:cs typeface="Times New Roman"/>
              </a:rPr>
              <a:t> </a:t>
            </a:r>
            <a:r>
              <a:rPr sz="1200" dirty="0">
                <a:latin typeface="Times New Roman"/>
                <a:cs typeface="Times New Roman"/>
              </a:rPr>
              <a:t>no</a:t>
            </a:r>
            <a:r>
              <a:rPr sz="1200" spc="245" dirty="0">
                <a:latin typeface="Times New Roman"/>
                <a:cs typeface="Times New Roman"/>
              </a:rPr>
              <a:t> </a:t>
            </a:r>
            <a:r>
              <a:rPr sz="1200" dirty="0">
                <a:latin typeface="Times New Roman"/>
                <a:cs typeface="Times New Roman"/>
              </a:rPr>
              <a:t>mismatches</a:t>
            </a:r>
            <a:r>
              <a:rPr sz="1200" spc="245" dirty="0">
                <a:latin typeface="Times New Roman"/>
                <a:cs typeface="Times New Roman"/>
              </a:rPr>
              <a:t> </a:t>
            </a:r>
            <a:r>
              <a:rPr sz="1200" dirty="0">
                <a:latin typeface="Times New Roman"/>
                <a:cs typeface="Times New Roman"/>
              </a:rPr>
              <a:t>in</a:t>
            </a:r>
            <a:r>
              <a:rPr sz="1200" spc="250" dirty="0">
                <a:latin typeface="Times New Roman"/>
                <a:cs typeface="Times New Roman"/>
              </a:rPr>
              <a:t> </a:t>
            </a:r>
            <a:r>
              <a:rPr sz="1200" dirty="0">
                <a:latin typeface="Times New Roman"/>
                <a:cs typeface="Times New Roman"/>
              </a:rPr>
              <a:t>data</a:t>
            </a:r>
            <a:r>
              <a:rPr sz="1200" spc="240" dirty="0">
                <a:latin typeface="Times New Roman"/>
                <a:cs typeface="Times New Roman"/>
              </a:rPr>
              <a:t> </a:t>
            </a:r>
            <a:r>
              <a:rPr sz="1200" dirty="0">
                <a:latin typeface="Times New Roman"/>
                <a:cs typeface="Times New Roman"/>
              </a:rPr>
              <a:t>flow</a:t>
            </a:r>
            <a:r>
              <a:rPr sz="1200" spc="254" dirty="0">
                <a:latin typeface="Times New Roman"/>
                <a:cs typeface="Times New Roman"/>
              </a:rPr>
              <a:t> </a:t>
            </a:r>
            <a:r>
              <a:rPr sz="1200" spc="-25" dirty="0">
                <a:latin typeface="Times New Roman"/>
                <a:cs typeface="Times New Roman"/>
              </a:rPr>
              <a:t>or </a:t>
            </a:r>
            <a:r>
              <a:rPr sz="1200" dirty="0">
                <a:latin typeface="Times New Roman"/>
                <a:cs typeface="Times New Roman"/>
              </a:rPr>
              <a:t>response</a:t>
            </a:r>
            <a:r>
              <a:rPr sz="1200" spc="-10" dirty="0">
                <a:latin typeface="Times New Roman"/>
                <a:cs typeface="Times New Roman"/>
              </a:rPr>
              <a:t> </a:t>
            </a:r>
            <a:r>
              <a:rPr sz="1200" dirty="0">
                <a:latin typeface="Times New Roman"/>
                <a:cs typeface="Times New Roman"/>
              </a:rPr>
              <a:t>formats.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integration</a:t>
            </a:r>
            <a:r>
              <a:rPr sz="1200" spc="-15" dirty="0">
                <a:latin typeface="Times New Roman"/>
                <a:cs typeface="Times New Roman"/>
              </a:rPr>
              <a:t> </a:t>
            </a:r>
            <a:r>
              <a:rPr sz="1200" dirty="0">
                <a:latin typeface="Times New Roman"/>
                <a:cs typeface="Times New Roman"/>
              </a:rPr>
              <a:t>testing</a:t>
            </a:r>
            <a:r>
              <a:rPr sz="1200" spc="-20" dirty="0">
                <a:latin typeface="Times New Roman"/>
                <a:cs typeface="Times New Roman"/>
              </a:rPr>
              <a:t> </a:t>
            </a:r>
            <a:r>
              <a:rPr sz="1200" dirty="0">
                <a:latin typeface="Times New Roman"/>
                <a:cs typeface="Times New Roman"/>
              </a:rPr>
              <a:t>validated</a:t>
            </a:r>
            <a:r>
              <a:rPr sz="1200" spc="-15" dirty="0">
                <a:latin typeface="Times New Roman"/>
                <a:cs typeface="Times New Roman"/>
              </a:rPr>
              <a:t> </a:t>
            </a:r>
            <a:r>
              <a:rPr sz="1200" dirty="0">
                <a:latin typeface="Times New Roman"/>
                <a:cs typeface="Times New Roman"/>
              </a:rPr>
              <a:t>the architectural</a:t>
            </a:r>
            <a:r>
              <a:rPr sz="1200" spc="-20" dirty="0">
                <a:latin typeface="Times New Roman"/>
                <a:cs typeface="Times New Roman"/>
              </a:rPr>
              <a:t> </a:t>
            </a:r>
            <a:r>
              <a:rPr sz="1200" dirty="0">
                <a:latin typeface="Times New Roman"/>
                <a:cs typeface="Times New Roman"/>
              </a:rPr>
              <a:t>soundness</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20" dirty="0">
                <a:latin typeface="Times New Roman"/>
                <a:cs typeface="Times New Roman"/>
              </a:rPr>
              <a:t>MERN </a:t>
            </a:r>
            <a:r>
              <a:rPr sz="1200" dirty="0">
                <a:latin typeface="Times New Roman"/>
                <a:cs typeface="Times New Roman"/>
              </a:rPr>
              <a:t>stack</a:t>
            </a:r>
            <a:r>
              <a:rPr sz="1200" spc="-30" dirty="0">
                <a:latin typeface="Times New Roman"/>
                <a:cs typeface="Times New Roman"/>
              </a:rPr>
              <a:t> </a:t>
            </a:r>
            <a:r>
              <a:rPr sz="1200" spc="-10" dirty="0">
                <a:latin typeface="Times New Roman"/>
                <a:cs typeface="Times New Roman"/>
              </a:rPr>
              <a:t>used.</a:t>
            </a:r>
            <a:endParaRPr sz="1200" dirty="0">
              <a:latin typeface="Times New Roman"/>
              <a:cs typeface="Times New Roman"/>
            </a:endParaRPr>
          </a:p>
        </p:txBody>
      </p:sp>
      <p:sp>
        <p:nvSpPr>
          <p:cNvPr id="4" name="object 4"/>
          <p:cNvSpPr txBox="1"/>
          <p:nvPr/>
        </p:nvSpPr>
        <p:spPr>
          <a:xfrm>
            <a:off x="1176324" y="8478773"/>
            <a:ext cx="1393190" cy="232410"/>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6.5</a:t>
            </a:r>
            <a:r>
              <a:rPr sz="1350" b="1" spc="-25" dirty="0">
                <a:latin typeface="Times New Roman"/>
                <a:cs typeface="Times New Roman"/>
              </a:rPr>
              <a:t> </a:t>
            </a:r>
            <a:r>
              <a:rPr sz="1350" b="1" dirty="0">
                <a:latin typeface="Times New Roman"/>
                <a:cs typeface="Times New Roman"/>
              </a:rPr>
              <a:t>System</a:t>
            </a:r>
            <a:r>
              <a:rPr sz="1350" b="1" spc="5" dirty="0">
                <a:latin typeface="Times New Roman"/>
                <a:cs typeface="Times New Roman"/>
              </a:rPr>
              <a:t> </a:t>
            </a:r>
            <a:r>
              <a:rPr sz="1350" b="1" spc="-10" dirty="0">
                <a:latin typeface="Times New Roman"/>
                <a:cs typeface="Times New Roman"/>
              </a:rPr>
              <a:t>Testing</a:t>
            </a:r>
            <a:endParaRPr sz="1350">
              <a:latin typeface="Times New Roman"/>
              <a:cs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48</a:t>
            </a:r>
          </a:p>
        </p:txBody>
      </p:sp>
      <p:sp>
        <p:nvSpPr>
          <p:cNvPr id="2" name="object 2"/>
          <p:cNvSpPr txBox="1"/>
          <p:nvPr/>
        </p:nvSpPr>
        <p:spPr>
          <a:xfrm>
            <a:off x="1176324" y="891285"/>
            <a:ext cx="5696585" cy="3724910"/>
          </a:xfrm>
          <a:prstGeom prst="rect">
            <a:avLst/>
          </a:prstGeom>
        </p:spPr>
        <p:txBody>
          <a:bodyPr vert="horz" wrap="square" lIns="0" tIns="24765" rIns="0" bIns="0" rtlCol="0">
            <a:spAutoFit/>
          </a:bodyPr>
          <a:lstStyle/>
          <a:p>
            <a:pPr marL="12700" marR="9525" algn="just">
              <a:lnSpc>
                <a:spcPts val="1380"/>
              </a:lnSpc>
              <a:spcBef>
                <a:spcPts val="195"/>
              </a:spcBef>
            </a:pPr>
            <a:r>
              <a:rPr sz="1200" dirty="0">
                <a:latin typeface="Times New Roman"/>
                <a:cs typeface="Times New Roman"/>
              </a:rPr>
              <a:t>System</a:t>
            </a:r>
            <a:r>
              <a:rPr sz="1200" spc="459" dirty="0">
                <a:latin typeface="Times New Roman"/>
                <a:cs typeface="Times New Roman"/>
              </a:rPr>
              <a:t> </a:t>
            </a:r>
            <a:r>
              <a:rPr sz="1200" dirty="0">
                <a:latin typeface="Times New Roman"/>
                <a:cs typeface="Times New Roman"/>
              </a:rPr>
              <a:t>testing</a:t>
            </a:r>
            <a:r>
              <a:rPr sz="1200" spc="455" dirty="0">
                <a:latin typeface="Times New Roman"/>
                <a:cs typeface="Times New Roman"/>
              </a:rPr>
              <a:t> </a:t>
            </a:r>
            <a:r>
              <a:rPr sz="1200" dirty="0">
                <a:latin typeface="Times New Roman"/>
                <a:cs typeface="Times New Roman"/>
              </a:rPr>
              <a:t>involved</a:t>
            </a:r>
            <a:r>
              <a:rPr sz="1200" spc="465" dirty="0">
                <a:latin typeface="Times New Roman"/>
                <a:cs typeface="Times New Roman"/>
              </a:rPr>
              <a:t> </a:t>
            </a:r>
            <a:r>
              <a:rPr sz="1200" dirty="0">
                <a:latin typeface="Times New Roman"/>
                <a:cs typeface="Times New Roman"/>
              </a:rPr>
              <a:t>testing</a:t>
            </a:r>
            <a:r>
              <a:rPr sz="1200" spc="455" dirty="0">
                <a:latin typeface="Times New Roman"/>
                <a:cs typeface="Times New Roman"/>
              </a:rPr>
              <a:t> </a:t>
            </a:r>
            <a:r>
              <a:rPr sz="1200" dirty="0">
                <a:latin typeface="Times New Roman"/>
                <a:cs typeface="Times New Roman"/>
              </a:rPr>
              <a:t>the</a:t>
            </a:r>
            <a:r>
              <a:rPr sz="1200" spc="459" dirty="0">
                <a:latin typeface="Times New Roman"/>
                <a:cs typeface="Times New Roman"/>
              </a:rPr>
              <a:t> </a:t>
            </a:r>
            <a:r>
              <a:rPr sz="1200" dirty="0">
                <a:latin typeface="Times New Roman"/>
                <a:cs typeface="Times New Roman"/>
              </a:rPr>
              <a:t>complete</a:t>
            </a:r>
            <a:r>
              <a:rPr sz="1200" spc="465" dirty="0">
                <a:latin typeface="Times New Roman"/>
                <a:cs typeface="Times New Roman"/>
              </a:rPr>
              <a:t> </a:t>
            </a:r>
            <a:r>
              <a:rPr sz="1200" dirty="0">
                <a:latin typeface="Times New Roman"/>
                <a:cs typeface="Times New Roman"/>
              </a:rPr>
              <a:t>application</a:t>
            </a:r>
            <a:r>
              <a:rPr sz="1200" spc="465" dirty="0">
                <a:latin typeface="Times New Roman"/>
                <a:cs typeface="Times New Roman"/>
              </a:rPr>
              <a:t> </a:t>
            </a:r>
            <a:r>
              <a:rPr sz="1200" dirty="0">
                <a:latin typeface="Times New Roman"/>
                <a:cs typeface="Times New Roman"/>
              </a:rPr>
              <a:t>in</a:t>
            </a:r>
            <a:r>
              <a:rPr sz="1200" spc="470" dirty="0">
                <a:latin typeface="Times New Roman"/>
                <a:cs typeface="Times New Roman"/>
              </a:rPr>
              <a:t> </a:t>
            </a:r>
            <a:r>
              <a:rPr sz="1200" dirty="0">
                <a:latin typeface="Times New Roman"/>
                <a:cs typeface="Times New Roman"/>
              </a:rPr>
              <a:t>a</a:t>
            </a:r>
            <a:r>
              <a:rPr sz="1200" spc="450" dirty="0">
                <a:latin typeface="Times New Roman"/>
                <a:cs typeface="Times New Roman"/>
              </a:rPr>
              <a:t> </a:t>
            </a:r>
            <a:r>
              <a:rPr sz="1200" dirty="0">
                <a:latin typeface="Times New Roman"/>
                <a:cs typeface="Times New Roman"/>
              </a:rPr>
              <a:t>simulated</a:t>
            </a:r>
            <a:r>
              <a:rPr sz="1200" spc="459" dirty="0">
                <a:latin typeface="Times New Roman"/>
                <a:cs typeface="Times New Roman"/>
              </a:rPr>
              <a:t> </a:t>
            </a:r>
            <a:r>
              <a:rPr sz="1200" spc="-10" dirty="0">
                <a:latin typeface="Times New Roman"/>
                <a:cs typeface="Times New Roman"/>
              </a:rPr>
              <a:t>production </a:t>
            </a:r>
            <a:r>
              <a:rPr sz="1200" dirty="0">
                <a:latin typeface="Times New Roman"/>
                <a:cs typeface="Times New Roman"/>
              </a:rPr>
              <a:t>environment.</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entire</a:t>
            </a:r>
            <a:r>
              <a:rPr sz="1200" spc="5" dirty="0">
                <a:latin typeface="Times New Roman"/>
                <a:cs typeface="Times New Roman"/>
              </a:rPr>
              <a:t> </a:t>
            </a:r>
            <a:r>
              <a:rPr sz="1200" dirty="0">
                <a:latin typeface="Times New Roman"/>
                <a:cs typeface="Times New Roman"/>
              </a:rPr>
              <a:t>Auction</a:t>
            </a:r>
            <a:r>
              <a:rPr sz="1200" spc="5" dirty="0">
                <a:latin typeface="Times New Roman"/>
                <a:cs typeface="Times New Roman"/>
              </a:rPr>
              <a:t> </a:t>
            </a:r>
            <a:r>
              <a:rPr sz="1200" dirty="0">
                <a:latin typeface="Times New Roman"/>
                <a:cs typeface="Times New Roman"/>
              </a:rPr>
              <a:t>Abode</a:t>
            </a:r>
            <a:r>
              <a:rPr sz="1200" spc="-5" dirty="0">
                <a:latin typeface="Times New Roman"/>
                <a:cs typeface="Times New Roman"/>
              </a:rPr>
              <a:t> </a:t>
            </a:r>
            <a:r>
              <a:rPr sz="1200" dirty="0">
                <a:latin typeface="Times New Roman"/>
                <a:cs typeface="Times New Roman"/>
              </a:rPr>
              <a:t>system</a:t>
            </a:r>
            <a:r>
              <a:rPr sz="1200" spc="10" dirty="0">
                <a:latin typeface="Times New Roman"/>
                <a:cs typeface="Times New Roman"/>
              </a:rPr>
              <a:t> </a:t>
            </a:r>
            <a:r>
              <a:rPr sz="1200" dirty="0">
                <a:latin typeface="Times New Roman"/>
                <a:cs typeface="Times New Roman"/>
              </a:rPr>
              <a:t>was</a:t>
            </a:r>
            <a:r>
              <a:rPr sz="1200" spc="5" dirty="0">
                <a:latin typeface="Times New Roman"/>
                <a:cs typeface="Times New Roman"/>
              </a:rPr>
              <a:t> </a:t>
            </a:r>
            <a:r>
              <a:rPr sz="1200" dirty="0">
                <a:latin typeface="Times New Roman"/>
                <a:cs typeface="Times New Roman"/>
              </a:rPr>
              <a:t>deployed on</a:t>
            </a:r>
            <a:r>
              <a:rPr sz="1200" spc="5" dirty="0">
                <a:latin typeface="Times New Roman"/>
                <a:cs typeface="Times New Roman"/>
              </a:rPr>
              <a:t> </a:t>
            </a:r>
            <a:r>
              <a:rPr sz="1200" dirty="0">
                <a:latin typeface="Times New Roman"/>
                <a:cs typeface="Times New Roman"/>
              </a:rPr>
              <a:t>a staging</a:t>
            </a:r>
            <a:r>
              <a:rPr sz="1200" spc="15" dirty="0">
                <a:latin typeface="Times New Roman"/>
                <a:cs typeface="Times New Roman"/>
              </a:rPr>
              <a:t> </a:t>
            </a:r>
            <a:r>
              <a:rPr sz="1200" dirty="0">
                <a:latin typeface="Times New Roman"/>
                <a:cs typeface="Times New Roman"/>
              </a:rPr>
              <a:t>server</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tested end-to-</a:t>
            </a:r>
            <a:r>
              <a:rPr sz="1200" dirty="0">
                <a:latin typeface="Times New Roman"/>
                <a:cs typeface="Times New Roman"/>
              </a:rPr>
              <a:t>end</a:t>
            </a:r>
            <a:r>
              <a:rPr sz="1200"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mimic</a:t>
            </a:r>
            <a:r>
              <a:rPr sz="1200" spc="-10" dirty="0">
                <a:latin typeface="Times New Roman"/>
                <a:cs typeface="Times New Roman"/>
              </a:rPr>
              <a:t> real-</a:t>
            </a:r>
            <a:r>
              <a:rPr sz="1200" dirty="0">
                <a:latin typeface="Times New Roman"/>
                <a:cs typeface="Times New Roman"/>
              </a:rPr>
              <a:t>world</a:t>
            </a:r>
            <a:r>
              <a:rPr sz="1200" spc="-5" dirty="0">
                <a:latin typeface="Times New Roman"/>
                <a:cs typeface="Times New Roman"/>
              </a:rPr>
              <a:t> </a:t>
            </a:r>
            <a:r>
              <a:rPr sz="1200" spc="-10" dirty="0">
                <a:latin typeface="Times New Roman"/>
                <a:cs typeface="Times New Roman"/>
              </a:rPr>
              <a:t>scenarios.</a:t>
            </a:r>
            <a:endParaRPr sz="1200">
              <a:latin typeface="Times New Roman"/>
              <a:cs typeface="Times New Roman"/>
            </a:endParaRPr>
          </a:p>
          <a:p>
            <a:pPr marL="12700">
              <a:lnSpc>
                <a:spcPct val="100000"/>
              </a:lnSpc>
              <a:spcBef>
                <a:spcPts val="1310"/>
              </a:spcBef>
            </a:pPr>
            <a:r>
              <a:rPr sz="1200" b="1" dirty="0">
                <a:latin typeface="Times New Roman"/>
                <a:cs typeface="Times New Roman"/>
              </a:rPr>
              <a:t>Key</a:t>
            </a:r>
            <a:r>
              <a:rPr sz="1200" b="1" spc="-35" dirty="0">
                <a:latin typeface="Times New Roman"/>
                <a:cs typeface="Times New Roman"/>
              </a:rPr>
              <a:t> </a:t>
            </a:r>
            <a:r>
              <a:rPr sz="1200" b="1" dirty="0">
                <a:latin typeface="Times New Roman"/>
                <a:cs typeface="Times New Roman"/>
              </a:rPr>
              <a:t>Scenarios</a:t>
            </a:r>
            <a:r>
              <a:rPr sz="1200" b="1" spc="-30" dirty="0">
                <a:latin typeface="Times New Roman"/>
                <a:cs typeface="Times New Roman"/>
              </a:rPr>
              <a:t> </a:t>
            </a:r>
            <a:r>
              <a:rPr sz="1200" b="1" spc="-10" dirty="0">
                <a:latin typeface="Times New Roman"/>
                <a:cs typeface="Times New Roman"/>
              </a:rPr>
              <a:t>Tested:</a:t>
            </a:r>
            <a:endParaRPr sz="1200">
              <a:latin typeface="Times New Roman"/>
              <a:cs typeface="Times New Roman"/>
            </a:endParaRPr>
          </a:p>
          <a:p>
            <a:pPr>
              <a:lnSpc>
                <a:spcPct val="100000"/>
              </a:lnSpc>
              <a:spcBef>
                <a:spcPts val="45"/>
              </a:spcBef>
            </a:pPr>
            <a:endParaRPr sz="1200">
              <a:latin typeface="Times New Roman"/>
              <a:cs typeface="Times New Roman"/>
            </a:endParaRPr>
          </a:p>
          <a:p>
            <a:pPr marL="469265" marR="5080" indent="-228600" algn="just">
              <a:lnSpc>
                <a:spcPts val="1380"/>
              </a:lnSpc>
              <a:buSzPct val="83333"/>
              <a:buFont typeface="Symbol"/>
              <a:buChar char=""/>
              <a:tabLst>
                <a:tab pos="469265" algn="l"/>
              </a:tabLst>
            </a:pPr>
            <a:r>
              <a:rPr sz="1200" dirty="0">
                <a:latin typeface="Times New Roman"/>
                <a:cs typeface="Times New Roman"/>
              </a:rPr>
              <a:t>Simulated</a:t>
            </a:r>
            <a:r>
              <a:rPr sz="1200" spc="-10" dirty="0">
                <a:latin typeface="Times New Roman"/>
                <a:cs typeface="Times New Roman"/>
              </a:rPr>
              <a:t> </a:t>
            </a:r>
            <a:r>
              <a:rPr sz="1200" dirty="0">
                <a:latin typeface="Times New Roman"/>
                <a:cs typeface="Times New Roman"/>
              </a:rPr>
              <a:t>Auction</a:t>
            </a:r>
            <a:r>
              <a:rPr sz="1200" spc="-10" dirty="0">
                <a:latin typeface="Times New Roman"/>
                <a:cs typeface="Times New Roman"/>
              </a:rPr>
              <a:t> </a:t>
            </a:r>
            <a:r>
              <a:rPr sz="1200" dirty="0">
                <a:latin typeface="Times New Roman"/>
                <a:cs typeface="Times New Roman"/>
              </a:rPr>
              <a:t>Sessions:</a:t>
            </a:r>
            <a:r>
              <a:rPr sz="1200" spc="-5" dirty="0">
                <a:latin typeface="Times New Roman"/>
                <a:cs typeface="Times New Roman"/>
              </a:rPr>
              <a:t> </a:t>
            </a:r>
            <a:r>
              <a:rPr sz="1200" dirty="0">
                <a:latin typeface="Times New Roman"/>
                <a:cs typeface="Times New Roman"/>
              </a:rPr>
              <a:t>Multiple</a:t>
            </a:r>
            <a:r>
              <a:rPr sz="1200" spc="-15" dirty="0">
                <a:latin typeface="Times New Roman"/>
                <a:cs typeface="Times New Roman"/>
              </a:rPr>
              <a:t> </a:t>
            </a:r>
            <a:r>
              <a:rPr sz="1200" dirty="0">
                <a:latin typeface="Times New Roman"/>
                <a:cs typeface="Times New Roman"/>
              </a:rPr>
              <a:t>users</a:t>
            </a:r>
            <a:r>
              <a:rPr sz="1200" spc="-10" dirty="0">
                <a:latin typeface="Times New Roman"/>
                <a:cs typeface="Times New Roman"/>
              </a:rPr>
              <a:t> </a:t>
            </a:r>
            <a:r>
              <a:rPr sz="1200" dirty="0">
                <a:latin typeface="Times New Roman"/>
                <a:cs typeface="Times New Roman"/>
              </a:rPr>
              <a:t>participated</a:t>
            </a:r>
            <a:r>
              <a:rPr sz="1200" spc="-1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scheduled auction.</a:t>
            </a:r>
            <a:r>
              <a:rPr sz="1200" spc="-5" dirty="0">
                <a:latin typeface="Times New Roman"/>
                <a:cs typeface="Times New Roman"/>
              </a:rPr>
              <a:t> </a:t>
            </a:r>
            <a:r>
              <a:rPr sz="1200" spc="-20" dirty="0">
                <a:latin typeface="Times New Roman"/>
                <a:cs typeface="Times New Roman"/>
              </a:rPr>
              <a:t>Bids </a:t>
            </a:r>
            <a:r>
              <a:rPr sz="1200" dirty="0">
                <a:latin typeface="Times New Roman"/>
                <a:cs typeface="Times New Roman"/>
              </a:rPr>
              <a:t>were</a:t>
            </a:r>
            <a:r>
              <a:rPr sz="1200" spc="70" dirty="0">
                <a:latin typeface="Times New Roman"/>
                <a:cs typeface="Times New Roman"/>
              </a:rPr>
              <a:t> </a:t>
            </a:r>
            <a:r>
              <a:rPr sz="1200" dirty="0">
                <a:latin typeface="Times New Roman"/>
                <a:cs typeface="Times New Roman"/>
              </a:rPr>
              <a:t>placed</a:t>
            </a:r>
            <a:r>
              <a:rPr sz="1200" spc="70" dirty="0">
                <a:latin typeface="Times New Roman"/>
                <a:cs typeface="Times New Roman"/>
              </a:rPr>
              <a:t> </a:t>
            </a:r>
            <a:r>
              <a:rPr sz="1200" dirty="0">
                <a:latin typeface="Times New Roman"/>
                <a:cs typeface="Times New Roman"/>
              </a:rPr>
              <a:t>in</a:t>
            </a:r>
            <a:r>
              <a:rPr sz="1200" spc="80" dirty="0">
                <a:latin typeface="Times New Roman"/>
                <a:cs typeface="Times New Roman"/>
              </a:rPr>
              <a:t> </a:t>
            </a:r>
            <a:r>
              <a:rPr sz="1200" dirty="0">
                <a:latin typeface="Times New Roman"/>
                <a:cs typeface="Times New Roman"/>
              </a:rPr>
              <a:t>quick</a:t>
            </a:r>
            <a:r>
              <a:rPr sz="1200" spc="70" dirty="0">
                <a:latin typeface="Times New Roman"/>
                <a:cs typeface="Times New Roman"/>
              </a:rPr>
              <a:t> </a:t>
            </a:r>
            <a:r>
              <a:rPr sz="1200" dirty="0">
                <a:latin typeface="Times New Roman"/>
                <a:cs typeface="Times New Roman"/>
              </a:rPr>
              <a:t>succession,</a:t>
            </a:r>
            <a:r>
              <a:rPr sz="1200" spc="80" dirty="0">
                <a:latin typeface="Times New Roman"/>
                <a:cs typeface="Times New Roman"/>
              </a:rPr>
              <a:t> </a:t>
            </a:r>
            <a:r>
              <a:rPr sz="1200" dirty="0">
                <a:latin typeface="Times New Roman"/>
                <a:cs typeface="Times New Roman"/>
              </a:rPr>
              <a:t>testing</a:t>
            </a:r>
            <a:r>
              <a:rPr sz="1200" spc="75" dirty="0">
                <a:latin typeface="Times New Roman"/>
                <a:cs typeface="Times New Roman"/>
              </a:rPr>
              <a:t> </a:t>
            </a:r>
            <a:r>
              <a:rPr sz="1200" dirty="0">
                <a:latin typeface="Times New Roman"/>
                <a:cs typeface="Times New Roman"/>
              </a:rPr>
              <a:t>race</a:t>
            </a:r>
            <a:r>
              <a:rPr sz="1200" spc="70" dirty="0">
                <a:latin typeface="Times New Roman"/>
                <a:cs typeface="Times New Roman"/>
              </a:rPr>
              <a:t> </a:t>
            </a:r>
            <a:r>
              <a:rPr sz="1200" dirty="0">
                <a:latin typeface="Times New Roman"/>
                <a:cs typeface="Times New Roman"/>
              </a:rPr>
              <a:t>conditions,</a:t>
            </a:r>
            <a:r>
              <a:rPr sz="1200" spc="8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70" dirty="0">
                <a:latin typeface="Times New Roman"/>
                <a:cs typeface="Times New Roman"/>
              </a:rPr>
              <a:t> </a:t>
            </a:r>
            <a:r>
              <a:rPr sz="1200" dirty="0">
                <a:latin typeface="Times New Roman"/>
                <a:cs typeface="Times New Roman"/>
              </a:rPr>
              <a:t>update</a:t>
            </a:r>
            <a:r>
              <a:rPr sz="1200" spc="90" dirty="0">
                <a:latin typeface="Times New Roman"/>
                <a:cs typeface="Times New Roman"/>
              </a:rPr>
              <a:t> </a:t>
            </a:r>
            <a:r>
              <a:rPr sz="1200" spc="-10" dirty="0">
                <a:latin typeface="Times New Roman"/>
                <a:cs typeface="Times New Roman"/>
              </a:rPr>
              <a:t>handling,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conflict</a:t>
            </a:r>
            <a:r>
              <a:rPr sz="1200" spc="-30" dirty="0">
                <a:latin typeface="Times New Roman"/>
                <a:cs typeface="Times New Roman"/>
              </a:rPr>
              <a:t> </a:t>
            </a:r>
            <a:r>
              <a:rPr sz="1200" spc="-10" dirty="0">
                <a:latin typeface="Times New Roman"/>
                <a:cs typeface="Times New Roman"/>
              </a:rPr>
              <a:t>resolution.</a:t>
            </a:r>
            <a:endParaRPr sz="1200">
              <a:latin typeface="Times New Roman"/>
              <a:cs typeface="Times New Roman"/>
            </a:endParaRPr>
          </a:p>
          <a:p>
            <a:pPr marL="469265" marR="8890" indent="-228600" algn="just">
              <a:lnSpc>
                <a:spcPts val="1380"/>
              </a:lnSpc>
              <a:buSzPct val="83333"/>
              <a:buFont typeface="Symbol"/>
              <a:buChar char=""/>
              <a:tabLst>
                <a:tab pos="469265" algn="l"/>
              </a:tabLst>
            </a:pPr>
            <a:r>
              <a:rPr sz="1200" dirty="0">
                <a:latin typeface="Times New Roman"/>
                <a:cs typeface="Times New Roman"/>
              </a:rPr>
              <a:t>Document</a:t>
            </a:r>
            <a:r>
              <a:rPr sz="1200" spc="5" dirty="0">
                <a:latin typeface="Times New Roman"/>
                <a:cs typeface="Times New Roman"/>
              </a:rPr>
              <a:t> </a:t>
            </a:r>
            <a:r>
              <a:rPr sz="1200" dirty="0">
                <a:latin typeface="Times New Roman"/>
                <a:cs typeface="Times New Roman"/>
              </a:rPr>
              <a:t>Verification:</a:t>
            </a:r>
            <a:r>
              <a:rPr sz="1200" spc="15" dirty="0">
                <a:latin typeface="Times New Roman"/>
                <a:cs typeface="Times New Roman"/>
              </a:rPr>
              <a:t> </a:t>
            </a:r>
            <a:r>
              <a:rPr sz="1200" dirty="0">
                <a:latin typeface="Times New Roman"/>
                <a:cs typeface="Times New Roman"/>
              </a:rPr>
              <a:t>Admins</a:t>
            </a:r>
            <a:r>
              <a:rPr sz="1200" spc="10" dirty="0">
                <a:latin typeface="Times New Roman"/>
                <a:cs typeface="Times New Roman"/>
              </a:rPr>
              <a:t> </a:t>
            </a:r>
            <a:r>
              <a:rPr sz="1200" dirty="0">
                <a:latin typeface="Times New Roman"/>
                <a:cs typeface="Times New Roman"/>
              </a:rPr>
              <a:t>received</a:t>
            </a:r>
            <a:r>
              <a:rPr sz="1200" spc="10" dirty="0">
                <a:latin typeface="Times New Roman"/>
                <a:cs typeface="Times New Roman"/>
              </a:rPr>
              <a:t> </a:t>
            </a:r>
            <a:r>
              <a:rPr sz="1200" dirty="0">
                <a:latin typeface="Times New Roman"/>
                <a:cs typeface="Times New Roman"/>
              </a:rPr>
              <a:t>uploaded</a:t>
            </a:r>
            <a:r>
              <a:rPr sz="1200" spc="5" dirty="0">
                <a:latin typeface="Times New Roman"/>
                <a:cs typeface="Times New Roman"/>
              </a:rPr>
              <a:t> </a:t>
            </a:r>
            <a:r>
              <a:rPr sz="1200" dirty="0">
                <a:latin typeface="Times New Roman"/>
                <a:cs typeface="Times New Roman"/>
              </a:rPr>
              <a:t>files</a:t>
            </a:r>
            <a:r>
              <a:rPr sz="1200" spc="1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approved/rejected</a:t>
            </a:r>
            <a:r>
              <a:rPr sz="1200" spc="10" dirty="0">
                <a:latin typeface="Times New Roman"/>
                <a:cs typeface="Times New Roman"/>
              </a:rPr>
              <a:t> </a:t>
            </a:r>
            <a:r>
              <a:rPr sz="1200" spc="-20" dirty="0">
                <a:latin typeface="Times New Roman"/>
                <a:cs typeface="Times New Roman"/>
              </a:rPr>
              <a:t>them </a:t>
            </a:r>
            <a:r>
              <a:rPr sz="1200" dirty="0">
                <a:latin typeface="Times New Roman"/>
                <a:cs typeface="Times New Roman"/>
              </a:rPr>
              <a:t>after</a:t>
            </a:r>
            <a:r>
              <a:rPr sz="1200" spc="-45" dirty="0">
                <a:latin typeface="Times New Roman"/>
                <a:cs typeface="Times New Roman"/>
              </a:rPr>
              <a:t> </a:t>
            </a:r>
            <a:r>
              <a:rPr sz="1200" dirty="0">
                <a:latin typeface="Times New Roman"/>
                <a:cs typeface="Times New Roman"/>
              </a:rPr>
              <a:t>automated</a:t>
            </a:r>
            <a:r>
              <a:rPr sz="1200" spc="-50" dirty="0">
                <a:latin typeface="Times New Roman"/>
                <a:cs typeface="Times New Roman"/>
              </a:rPr>
              <a:t> </a:t>
            </a:r>
            <a:r>
              <a:rPr sz="1200" spc="-10" dirty="0">
                <a:latin typeface="Times New Roman"/>
                <a:cs typeface="Times New Roman"/>
              </a:rPr>
              <a:t>verification.</a:t>
            </a:r>
            <a:endParaRPr sz="1200">
              <a:latin typeface="Times New Roman"/>
              <a:cs typeface="Times New Roman"/>
            </a:endParaRPr>
          </a:p>
          <a:p>
            <a:pPr marL="469265" marR="8890" indent="-228600" algn="just">
              <a:lnSpc>
                <a:spcPts val="1380"/>
              </a:lnSpc>
              <a:buSzPct val="83333"/>
              <a:buFont typeface="Symbol"/>
              <a:buChar char=""/>
              <a:tabLst>
                <a:tab pos="469265" algn="l"/>
              </a:tabLst>
            </a:pPr>
            <a:r>
              <a:rPr sz="1200" dirty="0">
                <a:latin typeface="Times New Roman"/>
                <a:cs typeface="Times New Roman"/>
              </a:rPr>
              <a:t>Bid</a:t>
            </a:r>
            <a:r>
              <a:rPr sz="1200" spc="-25" dirty="0">
                <a:latin typeface="Times New Roman"/>
                <a:cs typeface="Times New Roman"/>
              </a:rPr>
              <a:t> </a:t>
            </a:r>
            <a:r>
              <a:rPr sz="1200" dirty="0">
                <a:latin typeface="Times New Roman"/>
                <a:cs typeface="Times New Roman"/>
              </a:rPr>
              <a:t>Confirmation</a:t>
            </a:r>
            <a:r>
              <a:rPr sz="1200" spc="-20" dirty="0">
                <a:latin typeface="Times New Roman"/>
                <a:cs typeface="Times New Roman"/>
              </a:rPr>
              <a:t> </a:t>
            </a:r>
            <a:r>
              <a:rPr sz="1200" dirty="0">
                <a:latin typeface="Times New Roman"/>
                <a:cs typeface="Times New Roman"/>
              </a:rPr>
              <a:t>Flow:</a:t>
            </a:r>
            <a:r>
              <a:rPr sz="1200" spc="-30" dirty="0">
                <a:latin typeface="Times New Roman"/>
                <a:cs typeface="Times New Roman"/>
              </a:rPr>
              <a:t> </a:t>
            </a:r>
            <a:r>
              <a:rPr sz="1200" dirty="0">
                <a:latin typeface="Times New Roman"/>
                <a:cs typeface="Times New Roman"/>
              </a:rPr>
              <a:t>Buyers</a:t>
            </a:r>
            <a:r>
              <a:rPr sz="1200" spc="-25" dirty="0">
                <a:latin typeface="Times New Roman"/>
                <a:cs typeface="Times New Roman"/>
              </a:rPr>
              <a:t> </a:t>
            </a:r>
            <a:r>
              <a:rPr sz="1200" dirty="0">
                <a:latin typeface="Times New Roman"/>
                <a:cs typeface="Times New Roman"/>
              </a:rPr>
              <a:t>received</a:t>
            </a:r>
            <a:r>
              <a:rPr sz="1200" spc="-30" dirty="0">
                <a:latin typeface="Times New Roman"/>
                <a:cs typeface="Times New Roman"/>
              </a:rPr>
              <a:t> </a:t>
            </a:r>
            <a:r>
              <a:rPr sz="120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upon</a:t>
            </a:r>
            <a:r>
              <a:rPr sz="1200" spc="-20" dirty="0">
                <a:latin typeface="Times New Roman"/>
                <a:cs typeface="Times New Roman"/>
              </a:rPr>
              <a:t> </a:t>
            </a:r>
            <a:r>
              <a:rPr sz="1200" dirty="0">
                <a:latin typeface="Times New Roman"/>
                <a:cs typeface="Times New Roman"/>
              </a:rPr>
              <a:t>successful</a:t>
            </a:r>
            <a:r>
              <a:rPr sz="1200" spc="-25" dirty="0">
                <a:latin typeface="Times New Roman"/>
                <a:cs typeface="Times New Roman"/>
              </a:rPr>
              <a:t> </a:t>
            </a:r>
            <a:r>
              <a:rPr sz="1200" dirty="0">
                <a:latin typeface="Times New Roman"/>
                <a:cs typeface="Times New Roman"/>
              </a:rPr>
              <a:t>bid</a:t>
            </a:r>
            <a:r>
              <a:rPr sz="1200" spc="-20" dirty="0">
                <a:latin typeface="Times New Roman"/>
                <a:cs typeface="Times New Roman"/>
              </a:rPr>
              <a:t> </a:t>
            </a:r>
            <a:r>
              <a:rPr sz="1200" spc="-10" dirty="0">
                <a:latin typeface="Times New Roman"/>
                <a:cs typeface="Times New Roman"/>
              </a:rPr>
              <a:t>placement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being</a:t>
            </a:r>
            <a:r>
              <a:rPr sz="1200" spc="-25" dirty="0">
                <a:latin typeface="Times New Roman"/>
                <a:cs typeface="Times New Roman"/>
              </a:rPr>
              <a:t> </a:t>
            </a:r>
            <a:r>
              <a:rPr sz="1200" spc="-10" dirty="0">
                <a:latin typeface="Times New Roman"/>
                <a:cs typeface="Times New Roman"/>
              </a:rPr>
              <a:t>outbid.</a:t>
            </a:r>
            <a:endParaRPr sz="1200">
              <a:latin typeface="Times New Roman"/>
              <a:cs typeface="Times New Roman"/>
            </a:endParaRPr>
          </a:p>
          <a:p>
            <a:pPr marL="469265" marR="8255" indent="-228600" algn="just">
              <a:lnSpc>
                <a:spcPts val="1380"/>
              </a:lnSpc>
              <a:spcBef>
                <a:spcPts val="5"/>
              </a:spcBef>
              <a:buSzPct val="83333"/>
              <a:buFont typeface="Symbol"/>
              <a:buChar char=""/>
              <a:tabLst>
                <a:tab pos="469265" algn="l"/>
              </a:tabLst>
            </a:pPr>
            <a:r>
              <a:rPr sz="1200" spc="-10" dirty="0">
                <a:latin typeface="Times New Roman"/>
                <a:cs typeface="Times New Roman"/>
              </a:rPr>
              <a:t>Role-</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Access</a:t>
            </a:r>
            <a:r>
              <a:rPr sz="1200" spc="20" dirty="0">
                <a:latin typeface="Times New Roman"/>
                <a:cs typeface="Times New Roman"/>
              </a:rPr>
              <a:t> </a:t>
            </a:r>
            <a:r>
              <a:rPr sz="1200" dirty="0">
                <a:latin typeface="Times New Roman"/>
                <a:cs typeface="Times New Roman"/>
              </a:rPr>
              <a:t>Control:</a:t>
            </a:r>
            <a:r>
              <a:rPr sz="1200" spc="20" dirty="0">
                <a:latin typeface="Times New Roman"/>
                <a:cs typeface="Times New Roman"/>
              </a:rPr>
              <a:t> </a:t>
            </a:r>
            <a:r>
              <a:rPr sz="1200" dirty="0">
                <a:latin typeface="Times New Roman"/>
                <a:cs typeface="Times New Roman"/>
              </a:rPr>
              <a:t>Sellers</a:t>
            </a:r>
            <a:r>
              <a:rPr sz="1200" spc="15" dirty="0">
                <a:latin typeface="Times New Roman"/>
                <a:cs typeface="Times New Roman"/>
              </a:rPr>
              <a:t> </a:t>
            </a:r>
            <a:r>
              <a:rPr sz="1200" dirty="0">
                <a:latin typeface="Times New Roman"/>
                <a:cs typeface="Times New Roman"/>
              </a:rPr>
              <a:t>could</a:t>
            </a:r>
            <a:r>
              <a:rPr sz="1200" spc="25" dirty="0">
                <a:latin typeface="Times New Roman"/>
                <a:cs typeface="Times New Roman"/>
              </a:rPr>
              <a:t> </a:t>
            </a:r>
            <a:r>
              <a:rPr sz="1200" dirty="0">
                <a:latin typeface="Times New Roman"/>
                <a:cs typeface="Times New Roman"/>
              </a:rPr>
              <a:t>not</a:t>
            </a:r>
            <a:r>
              <a:rPr sz="1200" spc="30"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features;</a:t>
            </a:r>
            <a:r>
              <a:rPr sz="1200" spc="25" dirty="0">
                <a:latin typeface="Times New Roman"/>
                <a:cs typeface="Times New Roman"/>
              </a:rPr>
              <a:t> </a:t>
            </a:r>
            <a:r>
              <a:rPr sz="1200" dirty="0">
                <a:latin typeface="Times New Roman"/>
                <a:cs typeface="Times New Roman"/>
              </a:rPr>
              <a:t>buyers</a:t>
            </a:r>
            <a:r>
              <a:rPr sz="1200" spc="15" dirty="0">
                <a:latin typeface="Times New Roman"/>
                <a:cs typeface="Times New Roman"/>
              </a:rPr>
              <a:t> </a:t>
            </a:r>
            <a:r>
              <a:rPr sz="1200" spc="-10" dirty="0">
                <a:latin typeface="Times New Roman"/>
                <a:cs typeface="Times New Roman"/>
              </a:rPr>
              <a:t>could </a:t>
            </a:r>
            <a:r>
              <a:rPr sz="1200" dirty="0">
                <a:latin typeface="Times New Roman"/>
                <a:cs typeface="Times New Roman"/>
              </a:rPr>
              <a:t>not</a:t>
            </a:r>
            <a:r>
              <a:rPr sz="1200" spc="-20" dirty="0">
                <a:latin typeface="Times New Roman"/>
                <a:cs typeface="Times New Roman"/>
              </a:rPr>
              <a:t> </a:t>
            </a:r>
            <a:r>
              <a:rPr sz="1200" dirty="0">
                <a:latin typeface="Times New Roman"/>
                <a:cs typeface="Times New Roman"/>
              </a:rPr>
              <a:t>list</a:t>
            </a:r>
            <a:r>
              <a:rPr sz="1200" spc="-15" dirty="0">
                <a:latin typeface="Times New Roman"/>
                <a:cs typeface="Times New Roman"/>
              </a:rPr>
              <a:t> </a:t>
            </a:r>
            <a:r>
              <a:rPr sz="1200" spc="-10" dirty="0">
                <a:latin typeface="Times New Roman"/>
                <a:cs typeface="Times New Roman"/>
              </a:rPr>
              <a:t>properties.</a:t>
            </a:r>
            <a:endParaRPr sz="1200">
              <a:latin typeface="Times New Roman"/>
              <a:cs typeface="Times New Roman"/>
            </a:endParaRPr>
          </a:p>
          <a:p>
            <a:pPr marL="12700">
              <a:lnSpc>
                <a:spcPct val="100000"/>
              </a:lnSpc>
              <a:spcBef>
                <a:spcPts val="1305"/>
              </a:spcBef>
            </a:pPr>
            <a:r>
              <a:rPr sz="1200" b="1" spc="-10" dirty="0">
                <a:latin typeface="Times New Roman"/>
                <a:cs typeface="Times New Roman"/>
              </a:rPr>
              <a:t>Results:</a:t>
            </a:r>
            <a:endParaRPr sz="1200">
              <a:latin typeface="Times New Roman"/>
              <a:cs typeface="Times New Roman"/>
            </a:endParaRPr>
          </a:p>
          <a:p>
            <a:pPr marL="469265" indent="-228600">
              <a:lnSpc>
                <a:spcPts val="1410"/>
              </a:lnSpc>
              <a:spcBef>
                <a:spcPts val="1345"/>
              </a:spcBef>
              <a:buSzPct val="83333"/>
              <a:buFont typeface="Symbol"/>
              <a:buChar char=""/>
              <a:tabLst>
                <a:tab pos="469265" algn="l"/>
              </a:tabLst>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exhibited</a:t>
            </a:r>
            <a:r>
              <a:rPr sz="1200" spc="-25" dirty="0">
                <a:latin typeface="Times New Roman"/>
                <a:cs typeface="Times New Roman"/>
              </a:rPr>
              <a:t> </a:t>
            </a:r>
            <a:r>
              <a:rPr sz="1200" dirty="0">
                <a:latin typeface="Times New Roman"/>
                <a:cs typeface="Times New Roman"/>
              </a:rPr>
              <a:t>stability</a:t>
            </a:r>
            <a:r>
              <a:rPr sz="1200" spc="-30" dirty="0">
                <a:latin typeface="Times New Roman"/>
                <a:cs typeface="Times New Roman"/>
              </a:rPr>
              <a:t> </a:t>
            </a:r>
            <a:r>
              <a:rPr sz="1200" dirty="0">
                <a:latin typeface="Times New Roman"/>
                <a:cs typeface="Times New Roman"/>
              </a:rPr>
              <a:t>under</a:t>
            </a:r>
            <a:r>
              <a:rPr sz="1200" spc="-3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tested</a:t>
            </a:r>
            <a:r>
              <a:rPr sz="1200" spc="-30" dirty="0">
                <a:latin typeface="Times New Roman"/>
                <a:cs typeface="Times New Roman"/>
              </a:rPr>
              <a:t> </a:t>
            </a:r>
            <a:r>
              <a:rPr sz="1200" spc="-10" dirty="0">
                <a:latin typeface="Times New Roman"/>
                <a:cs typeface="Times New Roman"/>
              </a:rPr>
              <a:t>workflows.</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No</a:t>
            </a:r>
            <a:r>
              <a:rPr sz="1200" spc="-35" dirty="0">
                <a:latin typeface="Times New Roman"/>
                <a:cs typeface="Times New Roman"/>
              </a:rPr>
              <a:t> </a:t>
            </a:r>
            <a:r>
              <a:rPr sz="1200" dirty="0">
                <a:latin typeface="Times New Roman"/>
                <a:cs typeface="Times New Roman"/>
              </a:rPr>
              <a:t>critical</a:t>
            </a:r>
            <a:r>
              <a:rPr sz="1200" spc="-35" dirty="0">
                <a:latin typeface="Times New Roman"/>
                <a:cs typeface="Times New Roman"/>
              </a:rPr>
              <a:t> </a:t>
            </a:r>
            <a:r>
              <a:rPr sz="1200" dirty="0">
                <a:latin typeface="Times New Roman"/>
                <a:cs typeface="Times New Roman"/>
              </a:rPr>
              <a:t>errors,</a:t>
            </a:r>
            <a:r>
              <a:rPr sz="1200" spc="-30" dirty="0">
                <a:latin typeface="Times New Roman"/>
                <a:cs typeface="Times New Roman"/>
              </a:rPr>
              <a:t> </a:t>
            </a:r>
            <a:r>
              <a:rPr sz="1200" dirty="0">
                <a:latin typeface="Times New Roman"/>
                <a:cs typeface="Times New Roman"/>
              </a:rPr>
              <a:t>deadlocks,</a:t>
            </a:r>
            <a:r>
              <a:rPr sz="1200" spc="-3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incorrect</a:t>
            </a:r>
            <a:r>
              <a:rPr sz="1200" spc="-35"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redirections</a:t>
            </a:r>
            <a:r>
              <a:rPr sz="1200" spc="-35" dirty="0">
                <a:latin typeface="Times New Roman"/>
                <a:cs typeface="Times New Roman"/>
              </a:rPr>
              <a:t> </a:t>
            </a:r>
            <a:r>
              <a:rPr sz="1200" dirty="0">
                <a:latin typeface="Times New Roman"/>
                <a:cs typeface="Times New Roman"/>
              </a:rPr>
              <a:t>were</a:t>
            </a:r>
            <a:r>
              <a:rPr sz="1200" spc="-35" dirty="0">
                <a:latin typeface="Times New Roman"/>
                <a:cs typeface="Times New Roman"/>
              </a:rPr>
              <a:t> </a:t>
            </a:r>
            <a:r>
              <a:rPr sz="1200" spc="-10" dirty="0">
                <a:latin typeface="Times New Roman"/>
                <a:cs typeface="Times New Roman"/>
              </a:rPr>
              <a:t>observed.</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Role</a:t>
            </a:r>
            <a:r>
              <a:rPr sz="1200" spc="-15" dirty="0">
                <a:latin typeface="Times New Roman"/>
                <a:cs typeface="Times New Roman"/>
              </a:rPr>
              <a:t> </a:t>
            </a:r>
            <a:r>
              <a:rPr sz="1200" spc="-10" dirty="0">
                <a:latin typeface="Times New Roman"/>
                <a:cs typeface="Times New Roman"/>
              </a:rPr>
              <a:t>segregation</a:t>
            </a:r>
            <a:r>
              <a:rPr sz="1200" spc="-1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access</a:t>
            </a:r>
            <a:r>
              <a:rPr sz="1200" spc="-10" dirty="0">
                <a:latin typeface="Times New Roman"/>
                <a:cs typeface="Times New Roman"/>
              </a:rPr>
              <a:t> </a:t>
            </a:r>
            <a:r>
              <a:rPr sz="1200" dirty="0">
                <a:latin typeface="Times New Roman"/>
                <a:cs typeface="Times New Roman"/>
              </a:rPr>
              <a:t>privileges</a:t>
            </a:r>
            <a:r>
              <a:rPr sz="1200" spc="-15" dirty="0">
                <a:latin typeface="Times New Roman"/>
                <a:cs typeface="Times New Roman"/>
              </a:rPr>
              <a:t> </a:t>
            </a:r>
            <a:r>
              <a:rPr sz="1200" dirty="0">
                <a:latin typeface="Times New Roman"/>
                <a:cs typeface="Times New Roman"/>
              </a:rPr>
              <a:t>worked</a:t>
            </a:r>
            <a:r>
              <a:rPr sz="1200" spc="-15" dirty="0">
                <a:latin typeface="Times New Roman"/>
                <a:cs typeface="Times New Roman"/>
              </a:rPr>
              <a:t> </a:t>
            </a:r>
            <a:r>
              <a:rPr sz="1200" spc="-10" dirty="0">
                <a:latin typeface="Times New Roman"/>
                <a:cs typeface="Times New Roman"/>
              </a:rPr>
              <a:t>perfectly.</a:t>
            </a:r>
            <a:endParaRPr sz="1200">
              <a:latin typeface="Times New Roman"/>
              <a:cs typeface="Times New Roman"/>
            </a:endParaRPr>
          </a:p>
        </p:txBody>
      </p:sp>
      <p:sp>
        <p:nvSpPr>
          <p:cNvPr id="3" name="object 3"/>
          <p:cNvSpPr txBox="1"/>
          <p:nvPr/>
        </p:nvSpPr>
        <p:spPr>
          <a:xfrm>
            <a:off x="1176324" y="5111877"/>
            <a:ext cx="5690235" cy="2522220"/>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6.6</a:t>
            </a:r>
            <a:r>
              <a:rPr sz="1350" b="1" spc="-45" dirty="0">
                <a:latin typeface="Times New Roman"/>
                <a:cs typeface="Times New Roman"/>
              </a:rPr>
              <a:t> </a:t>
            </a:r>
            <a:r>
              <a:rPr sz="1350" b="1" dirty="0">
                <a:latin typeface="Times New Roman"/>
                <a:cs typeface="Times New Roman"/>
              </a:rPr>
              <a:t>Performance</a:t>
            </a:r>
            <a:r>
              <a:rPr sz="1350" b="1" spc="-35" dirty="0">
                <a:latin typeface="Times New Roman"/>
                <a:cs typeface="Times New Roman"/>
              </a:rPr>
              <a:t> </a:t>
            </a:r>
            <a:r>
              <a:rPr sz="1350" b="1" dirty="0">
                <a:latin typeface="Times New Roman"/>
                <a:cs typeface="Times New Roman"/>
              </a:rPr>
              <a:t>(Load)</a:t>
            </a:r>
            <a:r>
              <a:rPr sz="1350" b="1" spc="-25" dirty="0">
                <a:latin typeface="Times New Roman"/>
                <a:cs typeface="Times New Roman"/>
              </a:rPr>
              <a:t> </a:t>
            </a:r>
            <a:r>
              <a:rPr sz="1350" b="1" spc="-10" dirty="0">
                <a:latin typeface="Times New Roman"/>
                <a:cs typeface="Times New Roman"/>
              </a:rPr>
              <a:t>Testing</a:t>
            </a:r>
            <a:endParaRPr sz="1350">
              <a:latin typeface="Times New Roman"/>
              <a:cs typeface="Times New Roman"/>
            </a:endParaRPr>
          </a:p>
          <a:p>
            <a:pPr marL="12700" marR="5080">
              <a:lnSpc>
                <a:spcPts val="1380"/>
              </a:lnSpc>
              <a:spcBef>
                <a:spcPts val="1435"/>
              </a:spcBef>
            </a:pPr>
            <a:r>
              <a:rPr sz="1200" dirty="0">
                <a:latin typeface="Times New Roman"/>
                <a:cs typeface="Times New Roman"/>
              </a:rPr>
              <a:t>Performance</a:t>
            </a:r>
            <a:r>
              <a:rPr sz="1200" spc="55" dirty="0">
                <a:latin typeface="Times New Roman"/>
                <a:cs typeface="Times New Roman"/>
              </a:rPr>
              <a:t> </a:t>
            </a:r>
            <a:r>
              <a:rPr sz="1200" dirty="0">
                <a:latin typeface="Times New Roman"/>
                <a:cs typeface="Times New Roman"/>
              </a:rPr>
              <a:t>testing</a:t>
            </a:r>
            <a:r>
              <a:rPr sz="1200" spc="65" dirty="0">
                <a:latin typeface="Times New Roman"/>
                <a:cs typeface="Times New Roman"/>
              </a:rPr>
              <a:t> </a:t>
            </a:r>
            <a:r>
              <a:rPr sz="1200" dirty="0">
                <a:latin typeface="Times New Roman"/>
                <a:cs typeface="Times New Roman"/>
              </a:rPr>
              <a:t>was</a:t>
            </a:r>
            <a:r>
              <a:rPr sz="1200" spc="65" dirty="0">
                <a:latin typeface="Times New Roman"/>
                <a:cs typeface="Times New Roman"/>
              </a:rPr>
              <a:t> </a:t>
            </a:r>
            <a:r>
              <a:rPr sz="1200" dirty="0">
                <a:latin typeface="Times New Roman"/>
                <a:cs typeface="Times New Roman"/>
              </a:rPr>
              <a:t>essential</a:t>
            </a:r>
            <a:r>
              <a:rPr sz="1200" spc="55"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verify</a:t>
            </a:r>
            <a:r>
              <a:rPr sz="1200" spc="60" dirty="0">
                <a:latin typeface="Times New Roman"/>
                <a:cs typeface="Times New Roman"/>
              </a:rPr>
              <a:t> </a:t>
            </a:r>
            <a:r>
              <a:rPr sz="1200" dirty="0">
                <a:latin typeface="Times New Roman"/>
                <a:cs typeface="Times New Roman"/>
              </a:rPr>
              <a:t>that</a:t>
            </a:r>
            <a:r>
              <a:rPr sz="1200" spc="5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system</a:t>
            </a:r>
            <a:r>
              <a:rPr sz="1200" spc="65" dirty="0">
                <a:latin typeface="Times New Roman"/>
                <a:cs typeface="Times New Roman"/>
              </a:rPr>
              <a:t> </a:t>
            </a:r>
            <a:r>
              <a:rPr sz="1200" dirty="0">
                <a:latin typeface="Times New Roman"/>
                <a:cs typeface="Times New Roman"/>
              </a:rPr>
              <a:t>could</a:t>
            </a:r>
            <a:r>
              <a:rPr sz="1200" spc="65" dirty="0">
                <a:latin typeface="Times New Roman"/>
                <a:cs typeface="Times New Roman"/>
              </a:rPr>
              <a:t> </a:t>
            </a:r>
            <a:r>
              <a:rPr sz="1200" dirty="0">
                <a:latin typeface="Times New Roman"/>
                <a:cs typeface="Times New Roman"/>
              </a:rPr>
              <a:t>handle</a:t>
            </a:r>
            <a:r>
              <a:rPr sz="1200" spc="50" dirty="0">
                <a:latin typeface="Times New Roman"/>
                <a:cs typeface="Times New Roman"/>
              </a:rPr>
              <a:t> </a:t>
            </a:r>
            <a:r>
              <a:rPr sz="1200" dirty="0">
                <a:latin typeface="Times New Roman"/>
                <a:cs typeface="Times New Roman"/>
              </a:rPr>
              <a:t>high</a:t>
            </a:r>
            <a:r>
              <a:rPr sz="1200" spc="60" dirty="0">
                <a:latin typeface="Times New Roman"/>
                <a:cs typeface="Times New Roman"/>
              </a:rPr>
              <a:t> </a:t>
            </a:r>
            <a:r>
              <a:rPr sz="1200" spc="-10" dirty="0">
                <a:latin typeface="Times New Roman"/>
                <a:cs typeface="Times New Roman"/>
              </a:rPr>
              <a:t>concurrency, </a:t>
            </a:r>
            <a:r>
              <a:rPr sz="1200" dirty="0">
                <a:latin typeface="Times New Roman"/>
                <a:cs typeface="Times New Roman"/>
              </a:rPr>
              <a:t>especially</a:t>
            </a:r>
            <a:r>
              <a:rPr sz="1200" spc="-40" dirty="0">
                <a:latin typeface="Times New Roman"/>
                <a:cs typeface="Times New Roman"/>
              </a:rPr>
              <a:t> </a:t>
            </a:r>
            <a:r>
              <a:rPr sz="1200" dirty="0">
                <a:latin typeface="Times New Roman"/>
                <a:cs typeface="Times New Roman"/>
              </a:rPr>
              <a:t>during</a:t>
            </a:r>
            <a:r>
              <a:rPr sz="1200" spc="-40" dirty="0">
                <a:latin typeface="Times New Roman"/>
                <a:cs typeface="Times New Roman"/>
              </a:rPr>
              <a:t> </a:t>
            </a:r>
            <a:r>
              <a:rPr sz="1200" dirty="0">
                <a:latin typeface="Times New Roman"/>
                <a:cs typeface="Times New Roman"/>
              </a:rPr>
              <a:t>live</a:t>
            </a:r>
            <a:r>
              <a:rPr sz="1200" spc="-40" dirty="0">
                <a:latin typeface="Times New Roman"/>
                <a:cs typeface="Times New Roman"/>
              </a:rPr>
              <a:t> </a:t>
            </a:r>
            <a:r>
              <a:rPr sz="1200" spc="-10" dirty="0">
                <a:latin typeface="Times New Roman"/>
                <a:cs typeface="Times New Roman"/>
              </a:rPr>
              <a:t>auctions.</a:t>
            </a:r>
            <a:endParaRPr sz="1200">
              <a:latin typeface="Times New Roman"/>
              <a:cs typeface="Times New Roman"/>
            </a:endParaRPr>
          </a:p>
          <a:p>
            <a:pPr marL="12700">
              <a:lnSpc>
                <a:spcPct val="100000"/>
              </a:lnSpc>
              <a:spcBef>
                <a:spcPts val="1305"/>
              </a:spcBef>
            </a:pPr>
            <a:r>
              <a:rPr sz="1200" b="1" dirty="0">
                <a:latin typeface="Times New Roman"/>
                <a:cs typeface="Times New Roman"/>
              </a:rPr>
              <a:t>Tool</a:t>
            </a:r>
            <a:r>
              <a:rPr sz="1200" b="1" spc="-30" dirty="0">
                <a:latin typeface="Times New Roman"/>
                <a:cs typeface="Times New Roman"/>
              </a:rPr>
              <a:t> </a:t>
            </a:r>
            <a:r>
              <a:rPr sz="1200" b="1" dirty="0">
                <a:latin typeface="Times New Roman"/>
                <a:cs typeface="Times New Roman"/>
              </a:rPr>
              <a:t>Used:</a:t>
            </a:r>
            <a:r>
              <a:rPr sz="1200" b="1" spc="-30" dirty="0">
                <a:latin typeface="Times New Roman"/>
                <a:cs typeface="Times New Roman"/>
              </a:rPr>
              <a:t> </a:t>
            </a:r>
            <a:r>
              <a:rPr sz="1200" dirty="0">
                <a:latin typeface="Times New Roman"/>
                <a:cs typeface="Times New Roman"/>
              </a:rPr>
              <a:t>Apache</a:t>
            </a:r>
            <a:r>
              <a:rPr sz="1200" spc="-30" dirty="0">
                <a:latin typeface="Times New Roman"/>
                <a:cs typeface="Times New Roman"/>
              </a:rPr>
              <a:t> </a:t>
            </a:r>
            <a:r>
              <a:rPr sz="1200" spc="-10" dirty="0">
                <a:latin typeface="Times New Roman"/>
                <a:cs typeface="Times New Roman"/>
              </a:rPr>
              <a:t>JMeter</a:t>
            </a:r>
            <a:endParaRPr sz="1200">
              <a:latin typeface="Times New Roman"/>
              <a:cs typeface="Times New Roman"/>
            </a:endParaRPr>
          </a:p>
          <a:p>
            <a:pPr marL="12700">
              <a:lnSpc>
                <a:spcPct val="100000"/>
              </a:lnSpc>
              <a:spcBef>
                <a:spcPts val="1335"/>
              </a:spcBef>
            </a:pPr>
            <a:r>
              <a:rPr sz="1200" b="1" dirty="0">
                <a:latin typeface="Times New Roman"/>
                <a:cs typeface="Times New Roman"/>
              </a:rPr>
              <a:t>Test</a:t>
            </a:r>
            <a:r>
              <a:rPr sz="1200" b="1" spc="-15" dirty="0">
                <a:latin typeface="Times New Roman"/>
                <a:cs typeface="Times New Roman"/>
              </a:rPr>
              <a:t> </a:t>
            </a:r>
            <a:r>
              <a:rPr sz="1200" b="1" spc="-10" dirty="0">
                <a:latin typeface="Times New Roman"/>
                <a:cs typeface="Times New Roman"/>
              </a:rPr>
              <a:t>Parameters:</a:t>
            </a:r>
            <a:endParaRPr sz="1200">
              <a:latin typeface="Times New Roman"/>
              <a:cs typeface="Times New Roman"/>
            </a:endParaRPr>
          </a:p>
          <a:p>
            <a:pPr marL="469265" indent="-228600">
              <a:lnSpc>
                <a:spcPts val="1410"/>
              </a:lnSpc>
              <a:spcBef>
                <a:spcPts val="1340"/>
              </a:spcBef>
              <a:buSzPct val="83333"/>
              <a:buFont typeface="Symbol"/>
              <a:buChar char=""/>
              <a:tabLst>
                <a:tab pos="469265" algn="l"/>
              </a:tabLst>
            </a:pPr>
            <a:r>
              <a:rPr sz="1200" dirty="0">
                <a:latin typeface="Times New Roman"/>
                <a:cs typeface="Times New Roman"/>
              </a:rPr>
              <a:t>Simulated</a:t>
            </a:r>
            <a:r>
              <a:rPr sz="1200" spc="-10" dirty="0">
                <a:latin typeface="Times New Roman"/>
                <a:cs typeface="Times New Roman"/>
              </a:rPr>
              <a:t> </a:t>
            </a:r>
            <a:r>
              <a:rPr sz="1200" dirty="0">
                <a:latin typeface="Times New Roman"/>
                <a:cs typeface="Times New Roman"/>
              </a:rPr>
              <a:t>up</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1000</a:t>
            </a:r>
            <a:r>
              <a:rPr sz="1200" spc="-5" dirty="0">
                <a:latin typeface="Times New Roman"/>
                <a:cs typeface="Times New Roman"/>
              </a:rPr>
              <a:t> </a:t>
            </a:r>
            <a:r>
              <a:rPr sz="1200" spc="-10" dirty="0">
                <a:latin typeface="Times New Roman"/>
                <a:cs typeface="Times New Roman"/>
              </a:rPr>
              <a:t>concurrent</a:t>
            </a:r>
            <a:r>
              <a:rPr sz="1200" spc="-5" dirty="0">
                <a:latin typeface="Times New Roman"/>
                <a:cs typeface="Times New Roman"/>
              </a:rPr>
              <a:t> </a:t>
            </a:r>
            <a:r>
              <a:rPr sz="1200" spc="-20" dirty="0">
                <a:latin typeface="Times New Roman"/>
                <a:cs typeface="Times New Roman"/>
              </a:rPr>
              <a:t>users</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Simultaneous</a:t>
            </a:r>
            <a:r>
              <a:rPr sz="1200" spc="-35" dirty="0">
                <a:latin typeface="Times New Roman"/>
                <a:cs typeface="Times New Roman"/>
              </a:rPr>
              <a:t> </a:t>
            </a:r>
            <a:r>
              <a:rPr sz="1200" dirty="0">
                <a:latin typeface="Times New Roman"/>
                <a:cs typeface="Times New Roman"/>
              </a:rPr>
              <a:t>auction</a:t>
            </a:r>
            <a:r>
              <a:rPr sz="1200" spc="-30" dirty="0">
                <a:latin typeface="Times New Roman"/>
                <a:cs typeface="Times New Roman"/>
              </a:rPr>
              <a:t> </a:t>
            </a:r>
            <a:r>
              <a:rPr sz="1200" dirty="0">
                <a:latin typeface="Times New Roman"/>
                <a:cs typeface="Times New Roman"/>
              </a:rPr>
              <a:t>sessions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property</a:t>
            </a:r>
            <a:r>
              <a:rPr sz="1200" spc="-35" dirty="0">
                <a:latin typeface="Times New Roman"/>
                <a:cs typeface="Times New Roman"/>
              </a:rPr>
              <a:t> </a:t>
            </a:r>
            <a:r>
              <a:rPr sz="1200" spc="-10" dirty="0">
                <a:latin typeface="Times New Roman"/>
                <a:cs typeface="Times New Roman"/>
              </a:rPr>
              <a:t>listings</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Stress</a:t>
            </a:r>
            <a:r>
              <a:rPr sz="1200" spc="-20" dirty="0">
                <a:latin typeface="Times New Roman"/>
                <a:cs typeface="Times New Roman"/>
              </a:rPr>
              <a:t> </a:t>
            </a:r>
            <a:r>
              <a:rPr sz="1200" dirty="0">
                <a:latin typeface="Times New Roman"/>
                <a:cs typeface="Times New Roman"/>
              </a:rPr>
              <a:t>tested</a:t>
            </a:r>
            <a:r>
              <a:rPr sz="1200" spc="-20" dirty="0">
                <a:latin typeface="Times New Roman"/>
                <a:cs typeface="Times New Roman"/>
              </a:rPr>
              <a:t> </a:t>
            </a:r>
            <a:r>
              <a:rPr sz="1200" dirty="0">
                <a:latin typeface="Times New Roman"/>
                <a:cs typeface="Times New Roman"/>
              </a:rPr>
              <a:t>Flask</a:t>
            </a:r>
            <a:r>
              <a:rPr sz="1200" spc="-20" dirty="0">
                <a:latin typeface="Times New Roman"/>
                <a:cs typeface="Times New Roman"/>
              </a:rPr>
              <a:t> </a:t>
            </a:r>
            <a:r>
              <a:rPr sz="1200" dirty="0">
                <a:latin typeface="Times New Roman"/>
                <a:cs typeface="Times New Roman"/>
              </a:rPr>
              <a:t>APIs</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AI</a:t>
            </a:r>
            <a:r>
              <a:rPr sz="1200" spc="-40" dirty="0">
                <a:latin typeface="Times New Roman"/>
                <a:cs typeface="Times New Roman"/>
              </a:rPr>
              <a:t> </a:t>
            </a:r>
            <a:r>
              <a:rPr sz="1200" spc="-10" dirty="0">
                <a:latin typeface="Times New Roman"/>
                <a:cs typeface="Times New Roman"/>
              </a:rPr>
              <a:t>services</a:t>
            </a:r>
            <a:endParaRPr sz="1200">
              <a:latin typeface="Times New Roman"/>
              <a:cs typeface="Times New Roman"/>
            </a:endParaRPr>
          </a:p>
          <a:p>
            <a:pPr marL="12700">
              <a:lnSpc>
                <a:spcPct val="100000"/>
              </a:lnSpc>
              <a:spcBef>
                <a:spcPts val="1335"/>
              </a:spcBef>
            </a:pPr>
            <a:r>
              <a:rPr sz="1200" b="1" dirty="0">
                <a:latin typeface="Times New Roman"/>
                <a:cs typeface="Times New Roman"/>
              </a:rPr>
              <a:t>Metrics</a:t>
            </a:r>
            <a:r>
              <a:rPr sz="1200" b="1" spc="-55" dirty="0">
                <a:latin typeface="Times New Roman"/>
                <a:cs typeface="Times New Roman"/>
              </a:rPr>
              <a:t> </a:t>
            </a:r>
            <a:r>
              <a:rPr sz="1200" b="1" spc="-10" dirty="0">
                <a:latin typeface="Times New Roman"/>
                <a:cs typeface="Times New Roman"/>
              </a:rPr>
              <a:t>Recorded:</a:t>
            </a:r>
            <a:endParaRPr sz="1200">
              <a:latin typeface="Times New Roman"/>
              <a:cs typeface="Times New Roman"/>
            </a:endParaRPr>
          </a:p>
        </p:txBody>
      </p:sp>
      <p:graphicFrame>
        <p:nvGraphicFramePr>
          <p:cNvPr id="4" name="object 4"/>
          <p:cNvGraphicFramePr>
            <a:graphicFrameLocks noGrp="1"/>
          </p:cNvGraphicFramePr>
          <p:nvPr/>
        </p:nvGraphicFramePr>
        <p:xfrm>
          <a:off x="1186230" y="7837508"/>
          <a:ext cx="2475864" cy="1232535"/>
        </p:xfrm>
        <a:graphic>
          <a:graphicData uri="http://schemas.openxmlformats.org/drawingml/2006/table">
            <a:tbl>
              <a:tblPr firstRow="1" bandRow="1">
                <a:tableStyleId>{2D5ABB26-0587-4C30-8999-92F81FD0307C}</a:tableStyleId>
              </a:tblPr>
              <a:tblGrid>
                <a:gridCol w="1765300">
                  <a:extLst>
                    <a:ext uri="{9D8B030D-6E8A-4147-A177-3AD203B41FA5}">
                      <a16:colId xmlns:a16="http://schemas.microsoft.com/office/drawing/2014/main" val="20000"/>
                    </a:ext>
                  </a:extLst>
                </a:gridCol>
                <a:gridCol w="710564">
                  <a:extLst>
                    <a:ext uri="{9D8B030D-6E8A-4147-A177-3AD203B41FA5}">
                      <a16:colId xmlns:a16="http://schemas.microsoft.com/office/drawing/2014/main" val="20001"/>
                    </a:ext>
                  </a:extLst>
                </a:gridCol>
              </a:tblGrid>
              <a:tr h="190500">
                <a:tc>
                  <a:txBody>
                    <a:bodyPr/>
                    <a:lstStyle/>
                    <a:p>
                      <a:pPr marL="31750">
                        <a:lnSpc>
                          <a:spcPts val="1310"/>
                        </a:lnSpc>
                      </a:pPr>
                      <a:r>
                        <a:rPr sz="1200" b="1" spc="-10" dirty="0">
                          <a:latin typeface="Times New Roman"/>
                          <a:cs typeface="Times New Roman"/>
                        </a:rPr>
                        <a:t>Metric</a:t>
                      </a:r>
                      <a:endParaRPr sz="1200">
                        <a:latin typeface="Times New Roman"/>
                        <a:cs typeface="Times New Roman"/>
                      </a:endParaRPr>
                    </a:p>
                  </a:txBody>
                  <a:tcPr marL="0" marR="0" marT="0" marB="0"/>
                </a:tc>
                <a:tc>
                  <a:txBody>
                    <a:bodyPr/>
                    <a:lstStyle/>
                    <a:p>
                      <a:pPr marL="19050">
                        <a:lnSpc>
                          <a:spcPts val="1310"/>
                        </a:lnSpc>
                      </a:pPr>
                      <a:r>
                        <a:rPr sz="1200" b="1" spc="-10" dirty="0">
                          <a:latin typeface="Times New Roman"/>
                          <a:cs typeface="Times New Roman"/>
                        </a:rPr>
                        <a:t>Result</a:t>
                      </a:r>
                      <a:endParaRPr sz="1200">
                        <a:latin typeface="Times New Roman"/>
                        <a:cs typeface="Times New Roman"/>
                      </a:endParaRPr>
                    </a:p>
                  </a:txBody>
                  <a:tcPr marL="0" marR="0" marT="0" marB="0"/>
                </a:tc>
                <a:extLst>
                  <a:ext uri="{0D108BD9-81ED-4DB2-BD59-A6C34878D82A}">
                    <a16:rowId xmlns:a16="http://schemas.microsoft.com/office/drawing/2014/main" val="10000"/>
                  </a:ext>
                </a:extLst>
              </a:tr>
              <a:tr h="212725">
                <a:tc>
                  <a:txBody>
                    <a:bodyPr/>
                    <a:lstStyle/>
                    <a:p>
                      <a:pPr marL="31750">
                        <a:lnSpc>
                          <a:spcPct val="100000"/>
                        </a:lnSpc>
                        <a:spcBef>
                          <a:spcPts val="45"/>
                        </a:spcBef>
                      </a:pPr>
                      <a:r>
                        <a:rPr sz="1200" dirty="0">
                          <a:latin typeface="Times New Roman"/>
                          <a:cs typeface="Times New Roman"/>
                        </a:rPr>
                        <a:t>API</a:t>
                      </a:r>
                      <a:r>
                        <a:rPr sz="1200" spc="-30" dirty="0">
                          <a:latin typeface="Times New Roman"/>
                          <a:cs typeface="Times New Roman"/>
                        </a:rPr>
                        <a:t> </a:t>
                      </a:r>
                      <a:r>
                        <a:rPr sz="1200" dirty="0">
                          <a:latin typeface="Times New Roman"/>
                          <a:cs typeface="Times New Roman"/>
                        </a:rPr>
                        <a:t>Response</a:t>
                      </a:r>
                      <a:r>
                        <a:rPr sz="1200" spc="-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spc="-20" dirty="0">
                          <a:latin typeface="Times New Roman"/>
                          <a:cs typeface="Times New Roman"/>
                        </a:rPr>
                        <a:t>(avg)</a:t>
                      </a:r>
                      <a:endParaRPr sz="1200">
                        <a:latin typeface="Times New Roman"/>
                        <a:cs typeface="Times New Roman"/>
                      </a:endParaRPr>
                    </a:p>
                  </a:txBody>
                  <a:tcPr marL="0" marR="0" marT="5715" marB="0"/>
                </a:tc>
                <a:tc>
                  <a:txBody>
                    <a:bodyPr/>
                    <a:lstStyle/>
                    <a:p>
                      <a:pPr marL="19050">
                        <a:lnSpc>
                          <a:spcPct val="100000"/>
                        </a:lnSpc>
                        <a:spcBef>
                          <a:spcPts val="45"/>
                        </a:spcBef>
                      </a:pPr>
                      <a:r>
                        <a:rPr sz="1200" dirty="0">
                          <a:latin typeface="Times New Roman"/>
                          <a:cs typeface="Times New Roman"/>
                        </a:rPr>
                        <a:t>430 </a:t>
                      </a:r>
                      <a:r>
                        <a:rPr sz="1200" spc="-25" dirty="0">
                          <a:latin typeface="Times New Roman"/>
                          <a:cs typeface="Times New Roman"/>
                        </a:rPr>
                        <a:t>ms</a:t>
                      </a:r>
                      <a:endParaRPr sz="1200">
                        <a:latin typeface="Times New Roman"/>
                        <a:cs typeface="Times New Roman"/>
                      </a:endParaRPr>
                    </a:p>
                  </a:txBody>
                  <a:tcPr marL="0" marR="0" marT="5715" marB="0"/>
                </a:tc>
                <a:extLst>
                  <a:ext uri="{0D108BD9-81ED-4DB2-BD59-A6C34878D82A}">
                    <a16:rowId xmlns:a16="http://schemas.microsoft.com/office/drawing/2014/main" val="10001"/>
                  </a:ext>
                </a:extLst>
              </a:tr>
              <a:tr h="213360">
                <a:tc>
                  <a:txBody>
                    <a:bodyPr/>
                    <a:lstStyle/>
                    <a:p>
                      <a:pPr marL="31750">
                        <a:lnSpc>
                          <a:spcPct val="100000"/>
                        </a:lnSpc>
                        <a:spcBef>
                          <a:spcPts val="45"/>
                        </a:spcBef>
                      </a:pPr>
                      <a:r>
                        <a:rPr sz="1200" dirty="0">
                          <a:latin typeface="Times New Roman"/>
                          <a:cs typeface="Times New Roman"/>
                        </a:rPr>
                        <a:t>WebSocket</a:t>
                      </a:r>
                      <a:r>
                        <a:rPr sz="1200" spc="-70" dirty="0">
                          <a:latin typeface="Times New Roman"/>
                          <a:cs typeface="Times New Roman"/>
                        </a:rPr>
                        <a:t> </a:t>
                      </a:r>
                      <a:r>
                        <a:rPr sz="1200" spc="-10" dirty="0">
                          <a:latin typeface="Times New Roman"/>
                          <a:cs typeface="Times New Roman"/>
                        </a:rPr>
                        <a:t>Latency</a:t>
                      </a:r>
                      <a:endParaRPr sz="1200">
                        <a:latin typeface="Times New Roman"/>
                        <a:cs typeface="Times New Roman"/>
                      </a:endParaRPr>
                    </a:p>
                  </a:txBody>
                  <a:tcPr marL="0" marR="0" marT="5715" marB="0"/>
                </a:tc>
                <a:tc>
                  <a:txBody>
                    <a:bodyPr/>
                    <a:lstStyle/>
                    <a:p>
                      <a:pPr marL="19050">
                        <a:lnSpc>
                          <a:spcPct val="100000"/>
                        </a:lnSpc>
                        <a:spcBef>
                          <a:spcPts val="45"/>
                        </a:spcBef>
                      </a:pPr>
                      <a:r>
                        <a:rPr sz="1200" dirty="0">
                          <a:latin typeface="Times New Roman"/>
                          <a:cs typeface="Times New Roman"/>
                        </a:rPr>
                        <a:t>&lt;</a:t>
                      </a:r>
                      <a:r>
                        <a:rPr sz="1200" spc="-15" dirty="0">
                          <a:latin typeface="Times New Roman"/>
                          <a:cs typeface="Times New Roman"/>
                        </a:rPr>
                        <a:t> </a:t>
                      </a:r>
                      <a:r>
                        <a:rPr sz="1200" dirty="0">
                          <a:latin typeface="Times New Roman"/>
                          <a:cs typeface="Times New Roman"/>
                        </a:rPr>
                        <a:t>1 </a:t>
                      </a:r>
                      <a:r>
                        <a:rPr sz="1200" spc="-10" dirty="0">
                          <a:latin typeface="Times New Roman"/>
                          <a:cs typeface="Times New Roman"/>
                        </a:rPr>
                        <a:t>second</a:t>
                      </a:r>
                      <a:endParaRPr sz="1200">
                        <a:latin typeface="Times New Roman"/>
                        <a:cs typeface="Times New Roman"/>
                      </a:endParaRPr>
                    </a:p>
                  </a:txBody>
                  <a:tcPr marL="0" marR="0" marT="5715" marB="0"/>
                </a:tc>
                <a:extLst>
                  <a:ext uri="{0D108BD9-81ED-4DB2-BD59-A6C34878D82A}">
                    <a16:rowId xmlns:a16="http://schemas.microsoft.com/office/drawing/2014/main" val="10002"/>
                  </a:ext>
                </a:extLst>
              </a:tr>
              <a:tr h="212725">
                <a:tc>
                  <a:txBody>
                    <a:bodyPr/>
                    <a:lstStyle/>
                    <a:p>
                      <a:pPr marL="31750">
                        <a:lnSpc>
                          <a:spcPct val="100000"/>
                        </a:lnSpc>
                        <a:spcBef>
                          <a:spcPts val="45"/>
                        </a:spcBef>
                      </a:pPr>
                      <a:r>
                        <a:rPr sz="1200" dirty="0">
                          <a:latin typeface="Times New Roman"/>
                          <a:cs typeface="Times New Roman"/>
                        </a:rPr>
                        <a:t>AI</a:t>
                      </a:r>
                      <a:r>
                        <a:rPr sz="1200" spc="-45" dirty="0">
                          <a:latin typeface="Times New Roman"/>
                          <a:cs typeface="Times New Roman"/>
                        </a:rPr>
                        <a:t> </a:t>
                      </a:r>
                      <a:r>
                        <a:rPr sz="1200" dirty="0">
                          <a:latin typeface="Times New Roman"/>
                          <a:cs typeface="Times New Roman"/>
                        </a:rPr>
                        <a:t>Prediction</a:t>
                      </a:r>
                      <a:r>
                        <a:rPr sz="1200" spc="-30" dirty="0">
                          <a:latin typeface="Times New Roman"/>
                          <a:cs typeface="Times New Roman"/>
                        </a:rPr>
                        <a:t> </a:t>
                      </a:r>
                      <a:r>
                        <a:rPr sz="1200" spc="-10" dirty="0">
                          <a:latin typeface="Times New Roman"/>
                          <a:cs typeface="Times New Roman"/>
                        </a:rPr>
                        <a:t>Response</a:t>
                      </a:r>
                      <a:endParaRPr sz="1200">
                        <a:latin typeface="Times New Roman"/>
                        <a:cs typeface="Times New Roman"/>
                      </a:endParaRPr>
                    </a:p>
                  </a:txBody>
                  <a:tcPr marL="0" marR="0" marT="5715" marB="0"/>
                </a:tc>
                <a:tc>
                  <a:txBody>
                    <a:bodyPr/>
                    <a:lstStyle/>
                    <a:p>
                      <a:pPr marL="19050">
                        <a:lnSpc>
                          <a:spcPct val="100000"/>
                        </a:lnSpc>
                        <a:spcBef>
                          <a:spcPts val="45"/>
                        </a:spcBef>
                      </a:pPr>
                      <a:r>
                        <a:rPr sz="1200" dirty="0">
                          <a:latin typeface="Times New Roman"/>
                          <a:cs typeface="Times New Roman"/>
                        </a:rPr>
                        <a:t>&lt;</a:t>
                      </a:r>
                      <a:r>
                        <a:rPr sz="1200" spc="-5" dirty="0">
                          <a:latin typeface="Times New Roman"/>
                          <a:cs typeface="Times New Roman"/>
                        </a:rPr>
                        <a:t> </a:t>
                      </a:r>
                      <a:r>
                        <a:rPr sz="1200" dirty="0">
                          <a:latin typeface="Times New Roman"/>
                          <a:cs typeface="Times New Roman"/>
                        </a:rPr>
                        <a:t>600 </a:t>
                      </a:r>
                      <a:r>
                        <a:rPr sz="1200" spc="-25" dirty="0">
                          <a:latin typeface="Times New Roman"/>
                          <a:cs typeface="Times New Roman"/>
                        </a:rPr>
                        <a:t>ms</a:t>
                      </a:r>
                      <a:endParaRPr sz="1200">
                        <a:latin typeface="Times New Roman"/>
                        <a:cs typeface="Times New Roman"/>
                      </a:endParaRPr>
                    </a:p>
                  </a:txBody>
                  <a:tcPr marL="0" marR="0" marT="5715" marB="0"/>
                </a:tc>
                <a:extLst>
                  <a:ext uri="{0D108BD9-81ED-4DB2-BD59-A6C34878D82A}">
                    <a16:rowId xmlns:a16="http://schemas.microsoft.com/office/drawing/2014/main" val="10003"/>
                  </a:ext>
                </a:extLst>
              </a:tr>
              <a:tr h="212725">
                <a:tc>
                  <a:txBody>
                    <a:bodyPr/>
                    <a:lstStyle/>
                    <a:p>
                      <a:pPr marL="31750">
                        <a:lnSpc>
                          <a:spcPct val="100000"/>
                        </a:lnSpc>
                        <a:spcBef>
                          <a:spcPts val="45"/>
                        </a:spcBef>
                      </a:pPr>
                      <a:r>
                        <a:rPr sz="1200" dirty="0">
                          <a:latin typeface="Times New Roman"/>
                          <a:cs typeface="Times New Roman"/>
                        </a:rPr>
                        <a:t>Server</a:t>
                      </a:r>
                      <a:r>
                        <a:rPr sz="1200" spc="-40" dirty="0">
                          <a:latin typeface="Times New Roman"/>
                          <a:cs typeface="Times New Roman"/>
                        </a:rPr>
                        <a:t> </a:t>
                      </a:r>
                      <a:r>
                        <a:rPr sz="1200" spc="-10" dirty="0">
                          <a:latin typeface="Times New Roman"/>
                          <a:cs typeface="Times New Roman"/>
                        </a:rPr>
                        <a:t>Crash/Timeouts</a:t>
                      </a:r>
                      <a:endParaRPr sz="1200">
                        <a:latin typeface="Times New Roman"/>
                        <a:cs typeface="Times New Roman"/>
                      </a:endParaRPr>
                    </a:p>
                  </a:txBody>
                  <a:tcPr marL="0" marR="0" marT="5715" marB="0"/>
                </a:tc>
                <a:tc>
                  <a:txBody>
                    <a:bodyPr/>
                    <a:lstStyle/>
                    <a:p>
                      <a:pPr marL="19050">
                        <a:lnSpc>
                          <a:spcPct val="100000"/>
                        </a:lnSpc>
                        <a:spcBef>
                          <a:spcPts val="45"/>
                        </a:spcBef>
                      </a:pPr>
                      <a:r>
                        <a:rPr sz="1200" spc="-20" dirty="0">
                          <a:latin typeface="Times New Roman"/>
                          <a:cs typeface="Times New Roman"/>
                        </a:rPr>
                        <a:t>None</a:t>
                      </a:r>
                      <a:endParaRPr sz="1200">
                        <a:latin typeface="Times New Roman"/>
                        <a:cs typeface="Times New Roman"/>
                      </a:endParaRPr>
                    </a:p>
                  </a:txBody>
                  <a:tcPr marL="0" marR="0" marT="5715" marB="0"/>
                </a:tc>
                <a:extLst>
                  <a:ext uri="{0D108BD9-81ED-4DB2-BD59-A6C34878D82A}">
                    <a16:rowId xmlns:a16="http://schemas.microsoft.com/office/drawing/2014/main" val="10004"/>
                  </a:ext>
                </a:extLst>
              </a:tr>
              <a:tr h="190500">
                <a:tc>
                  <a:txBody>
                    <a:bodyPr/>
                    <a:lstStyle/>
                    <a:p>
                      <a:pPr marL="31750">
                        <a:lnSpc>
                          <a:spcPts val="1360"/>
                        </a:lnSpc>
                        <a:spcBef>
                          <a:spcPts val="45"/>
                        </a:spcBef>
                      </a:pP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Uptime</a:t>
                      </a:r>
                      <a:r>
                        <a:rPr sz="1200" spc="-30" dirty="0">
                          <a:latin typeface="Times New Roman"/>
                          <a:cs typeface="Times New Roman"/>
                        </a:rPr>
                        <a:t> </a:t>
                      </a:r>
                      <a:r>
                        <a:rPr sz="1200" dirty="0">
                          <a:latin typeface="Times New Roman"/>
                          <a:cs typeface="Times New Roman"/>
                        </a:rPr>
                        <a:t>During</a:t>
                      </a:r>
                      <a:r>
                        <a:rPr sz="1200" spc="-35" dirty="0">
                          <a:latin typeface="Times New Roman"/>
                          <a:cs typeface="Times New Roman"/>
                        </a:rPr>
                        <a:t> </a:t>
                      </a:r>
                      <a:r>
                        <a:rPr sz="1200" spc="-20" dirty="0">
                          <a:latin typeface="Times New Roman"/>
                          <a:cs typeface="Times New Roman"/>
                        </a:rPr>
                        <a:t>Test</a:t>
                      </a:r>
                      <a:endParaRPr sz="1200">
                        <a:latin typeface="Times New Roman"/>
                        <a:cs typeface="Times New Roman"/>
                      </a:endParaRPr>
                    </a:p>
                  </a:txBody>
                  <a:tcPr marL="0" marR="0" marT="5715" marB="0"/>
                </a:tc>
                <a:tc>
                  <a:txBody>
                    <a:bodyPr/>
                    <a:lstStyle/>
                    <a:p>
                      <a:pPr marL="19050">
                        <a:lnSpc>
                          <a:spcPts val="1360"/>
                        </a:lnSpc>
                        <a:spcBef>
                          <a:spcPts val="45"/>
                        </a:spcBef>
                      </a:pPr>
                      <a:r>
                        <a:rPr sz="1200" spc="-20" dirty="0">
                          <a:latin typeface="Times New Roman"/>
                          <a:cs typeface="Times New Roman"/>
                        </a:rPr>
                        <a:t>100%</a:t>
                      </a:r>
                      <a:endParaRPr sz="1200">
                        <a:latin typeface="Times New Roman"/>
                        <a:cs typeface="Times New Roman"/>
                      </a:endParaRPr>
                    </a:p>
                  </a:txBody>
                  <a:tcPr marL="0" marR="0" marT="5715" marB="0"/>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49</a:t>
            </a:r>
          </a:p>
        </p:txBody>
      </p:sp>
      <p:sp>
        <p:nvSpPr>
          <p:cNvPr id="2" name="object 2"/>
          <p:cNvSpPr txBox="1"/>
          <p:nvPr/>
        </p:nvSpPr>
        <p:spPr>
          <a:xfrm>
            <a:off x="1176324" y="891285"/>
            <a:ext cx="5692140" cy="383540"/>
          </a:xfrm>
          <a:prstGeom prst="rect">
            <a:avLst/>
          </a:prstGeom>
        </p:spPr>
        <p:txBody>
          <a:bodyPr vert="horz" wrap="square" lIns="0" tIns="24765" rIns="0" bIns="0" rtlCol="0">
            <a:spAutoFit/>
          </a:bodyPr>
          <a:lstStyle/>
          <a:p>
            <a:pPr marL="12700" marR="5080">
              <a:lnSpc>
                <a:spcPts val="1380"/>
              </a:lnSpc>
              <a:spcBef>
                <a:spcPts val="195"/>
              </a:spcBef>
            </a:pPr>
            <a:r>
              <a:rPr sz="1200" b="1" dirty="0">
                <a:latin typeface="Times New Roman"/>
                <a:cs typeface="Times New Roman"/>
              </a:rPr>
              <a:t>Conclusion:</a:t>
            </a:r>
            <a:r>
              <a:rPr sz="1200" b="1"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platform-</a:t>
            </a:r>
            <a:r>
              <a:rPr sz="1200" dirty="0">
                <a:latin typeface="Times New Roman"/>
                <a:cs typeface="Times New Roman"/>
              </a:rPr>
              <a:t>maintained</a:t>
            </a:r>
            <a:r>
              <a:rPr sz="1200" spc="-10" dirty="0">
                <a:latin typeface="Times New Roman"/>
                <a:cs typeface="Times New Roman"/>
              </a:rPr>
              <a:t> </a:t>
            </a:r>
            <a:r>
              <a:rPr sz="1200" dirty="0">
                <a:latin typeface="Times New Roman"/>
                <a:cs typeface="Times New Roman"/>
              </a:rPr>
              <a:t>responsiveness</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low</a:t>
            </a:r>
            <a:r>
              <a:rPr sz="1200" spc="-10" dirty="0">
                <a:latin typeface="Times New Roman"/>
                <a:cs typeface="Times New Roman"/>
              </a:rPr>
              <a:t> </a:t>
            </a:r>
            <a:r>
              <a:rPr sz="1200" dirty="0">
                <a:latin typeface="Times New Roman"/>
                <a:cs typeface="Times New Roman"/>
              </a:rPr>
              <a:t>latency</a:t>
            </a:r>
            <a:r>
              <a:rPr sz="1200" spc="-10" dirty="0">
                <a:latin typeface="Times New Roman"/>
                <a:cs typeface="Times New Roman"/>
              </a:rPr>
              <a:t> </a:t>
            </a:r>
            <a:r>
              <a:rPr sz="1200" dirty="0">
                <a:latin typeface="Times New Roman"/>
                <a:cs typeface="Times New Roman"/>
              </a:rPr>
              <a:t>under</a:t>
            </a:r>
            <a:r>
              <a:rPr sz="1200" spc="-15" dirty="0">
                <a:latin typeface="Times New Roman"/>
                <a:cs typeface="Times New Roman"/>
              </a:rPr>
              <a:t> </a:t>
            </a:r>
            <a:r>
              <a:rPr sz="1200" dirty="0">
                <a:latin typeface="Times New Roman"/>
                <a:cs typeface="Times New Roman"/>
              </a:rPr>
              <a:t>simulated</a:t>
            </a:r>
            <a:r>
              <a:rPr sz="1200" spc="-10" dirty="0">
                <a:latin typeface="Times New Roman"/>
                <a:cs typeface="Times New Roman"/>
              </a:rPr>
              <a:t> load, </a:t>
            </a:r>
            <a:r>
              <a:rPr sz="1200" dirty="0">
                <a:latin typeface="Times New Roman"/>
                <a:cs typeface="Times New Roman"/>
              </a:rPr>
              <a:t>confirming</a:t>
            </a:r>
            <a:r>
              <a:rPr sz="1200" spc="-4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dirty="0">
                <a:latin typeface="Times New Roman"/>
                <a:cs typeface="Times New Roman"/>
              </a:rPr>
              <a:t>scalability</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performance</a:t>
            </a:r>
            <a:r>
              <a:rPr sz="1200" spc="-40" dirty="0">
                <a:latin typeface="Times New Roman"/>
                <a:cs typeface="Times New Roman"/>
              </a:rPr>
              <a:t> </a:t>
            </a:r>
            <a:r>
              <a:rPr sz="1200" dirty="0">
                <a:latin typeface="Times New Roman"/>
                <a:cs typeface="Times New Roman"/>
              </a:rPr>
              <a:t>readiness</a:t>
            </a:r>
            <a:r>
              <a:rPr sz="1200"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public</a:t>
            </a:r>
            <a:r>
              <a:rPr sz="1200" spc="-40" dirty="0">
                <a:latin typeface="Times New Roman"/>
                <a:cs typeface="Times New Roman"/>
              </a:rPr>
              <a:t> </a:t>
            </a:r>
            <a:r>
              <a:rPr sz="1200" spc="-10" dirty="0">
                <a:latin typeface="Times New Roman"/>
                <a:cs typeface="Times New Roman"/>
              </a:rPr>
              <a:t>deployment.</a:t>
            </a:r>
            <a:endParaRPr sz="1200">
              <a:latin typeface="Times New Roman"/>
              <a:cs typeface="Times New Roman"/>
            </a:endParaRPr>
          </a:p>
        </p:txBody>
      </p:sp>
      <p:sp>
        <p:nvSpPr>
          <p:cNvPr id="3" name="object 3"/>
          <p:cNvSpPr txBox="1"/>
          <p:nvPr/>
        </p:nvSpPr>
        <p:spPr>
          <a:xfrm>
            <a:off x="1176324" y="1772157"/>
            <a:ext cx="5697220" cy="339534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6.7</a:t>
            </a:r>
            <a:r>
              <a:rPr sz="1350" b="1" spc="-25" dirty="0">
                <a:latin typeface="Times New Roman"/>
                <a:cs typeface="Times New Roman"/>
              </a:rPr>
              <a:t> </a:t>
            </a:r>
            <a:r>
              <a:rPr sz="1350" b="1" dirty="0">
                <a:latin typeface="Times New Roman"/>
                <a:cs typeface="Times New Roman"/>
              </a:rPr>
              <a:t>Security</a:t>
            </a:r>
            <a:r>
              <a:rPr sz="1350" b="1" spc="-15" dirty="0">
                <a:latin typeface="Times New Roman"/>
                <a:cs typeface="Times New Roman"/>
              </a:rPr>
              <a:t> </a:t>
            </a:r>
            <a:r>
              <a:rPr sz="1350" b="1" spc="-10" dirty="0">
                <a:latin typeface="Times New Roman"/>
                <a:cs typeface="Times New Roman"/>
              </a:rPr>
              <a:t>Testing</a:t>
            </a:r>
            <a:endParaRPr sz="1350">
              <a:latin typeface="Times New Roman"/>
              <a:cs typeface="Times New Roman"/>
            </a:endParaRPr>
          </a:p>
          <a:p>
            <a:pPr marL="12700" marR="6350">
              <a:lnSpc>
                <a:spcPts val="1380"/>
              </a:lnSpc>
              <a:spcBef>
                <a:spcPts val="1420"/>
              </a:spcBef>
            </a:pPr>
            <a:r>
              <a:rPr sz="1200" dirty="0">
                <a:latin typeface="Times New Roman"/>
                <a:cs typeface="Times New Roman"/>
              </a:rPr>
              <a:t>Given</a:t>
            </a:r>
            <a:r>
              <a:rPr sz="1200" spc="405" dirty="0">
                <a:latin typeface="Times New Roman"/>
                <a:cs typeface="Times New Roman"/>
              </a:rPr>
              <a:t> </a:t>
            </a:r>
            <a:r>
              <a:rPr sz="1200" dirty="0">
                <a:latin typeface="Times New Roman"/>
                <a:cs typeface="Times New Roman"/>
              </a:rPr>
              <a:t>the</a:t>
            </a:r>
            <a:r>
              <a:rPr sz="1200" spc="409" dirty="0">
                <a:latin typeface="Times New Roman"/>
                <a:cs typeface="Times New Roman"/>
              </a:rPr>
              <a:t> </a:t>
            </a:r>
            <a:r>
              <a:rPr sz="1200" dirty="0">
                <a:latin typeface="Times New Roman"/>
                <a:cs typeface="Times New Roman"/>
              </a:rPr>
              <a:t>sensitive</a:t>
            </a:r>
            <a:r>
              <a:rPr sz="1200" spc="409" dirty="0">
                <a:latin typeface="Times New Roman"/>
                <a:cs typeface="Times New Roman"/>
              </a:rPr>
              <a:t> </a:t>
            </a:r>
            <a:r>
              <a:rPr sz="1200" dirty="0">
                <a:latin typeface="Times New Roman"/>
                <a:cs typeface="Times New Roman"/>
              </a:rPr>
              <a:t>nature</a:t>
            </a:r>
            <a:r>
              <a:rPr sz="1200" spc="405" dirty="0">
                <a:latin typeface="Times New Roman"/>
                <a:cs typeface="Times New Roman"/>
              </a:rPr>
              <a:t> </a:t>
            </a:r>
            <a:r>
              <a:rPr sz="1200" dirty="0">
                <a:latin typeface="Times New Roman"/>
                <a:cs typeface="Times New Roman"/>
              </a:rPr>
              <a:t>of</a:t>
            </a:r>
            <a:r>
              <a:rPr sz="1200" spc="405" dirty="0">
                <a:latin typeface="Times New Roman"/>
                <a:cs typeface="Times New Roman"/>
              </a:rPr>
              <a:t> </a:t>
            </a:r>
            <a:r>
              <a:rPr sz="1200" dirty="0">
                <a:latin typeface="Times New Roman"/>
                <a:cs typeface="Times New Roman"/>
              </a:rPr>
              <a:t>the</a:t>
            </a:r>
            <a:r>
              <a:rPr sz="1200" spc="409" dirty="0">
                <a:latin typeface="Times New Roman"/>
                <a:cs typeface="Times New Roman"/>
              </a:rPr>
              <a:t> </a:t>
            </a:r>
            <a:r>
              <a:rPr sz="1200" dirty="0">
                <a:latin typeface="Times New Roman"/>
                <a:cs typeface="Times New Roman"/>
              </a:rPr>
              <a:t>data</a:t>
            </a:r>
            <a:r>
              <a:rPr sz="1200" spc="405" dirty="0">
                <a:latin typeface="Times New Roman"/>
                <a:cs typeface="Times New Roman"/>
              </a:rPr>
              <a:t> </a:t>
            </a:r>
            <a:r>
              <a:rPr sz="1200" dirty="0">
                <a:latin typeface="Times New Roman"/>
                <a:cs typeface="Times New Roman"/>
              </a:rPr>
              <a:t>(user</a:t>
            </a:r>
            <a:r>
              <a:rPr sz="1200" spc="420" dirty="0">
                <a:latin typeface="Times New Roman"/>
                <a:cs typeface="Times New Roman"/>
              </a:rPr>
              <a:t> </a:t>
            </a:r>
            <a:r>
              <a:rPr sz="1200" dirty="0">
                <a:latin typeface="Times New Roman"/>
                <a:cs typeface="Times New Roman"/>
              </a:rPr>
              <a:t>information,</a:t>
            </a:r>
            <a:r>
              <a:rPr sz="1200" spc="440" dirty="0">
                <a:latin typeface="Times New Roman"/>
                <a:cs typeface="Times New Roman"/>
              </a:rPr>
              <a:t> </a:t>
            </a:r>
            <a:r>
              <a:rPr sz="1200" dirty="0">
                <a:latin typeface="Times New Roman"/>
                <a:cs typeface="Times New Roman"/>
              </a:rPr>
              <a:t>legal</a:t>
            </a:r>
            <a:r>
              <a:rPr sz="1200" spc="415" dirty="0">
                <a:latin typeface="Times New Roman"/>
                <a:cs typeface="Times New Roman"/>
              </a:rPr>
              <a:t> </a:t>
            </a:r>
            <a:r>
              <a:rPr sz="1200" dirty="0">
                <a:latin typeface="Times New Roman"/>
                <a:cs typeface="Times New Roman"/>
              </a:rPr>
              <a:t>documents,</a:t>
            </a:r>
            <a:r>
              <a:rPr sz="1200" spc="409" dirty="0">
                <a:latin typeface="Times New Roman"/>
                <a:cs typeface="Times New Roman"/>
              </a:rPr>
              <a:t> </a:t>
            </a:r>
            <a:r>
              <a:rPr sz="1200" spc="-10" dirty="0">
                <a:latin typeface="Times New Roman"/>
                <a:cs typeface="Times New Roman"/>
              </a:rPr>
              <a:t>financial </a:t>
            </a:r>
            <a:r>
              <a:rPr sz="1200" dirty="0">
                <a:latin typeface="Times New Roman"/>
                <a:cs typeface="Times New Roman"/>
              </a:rPr>
              <a:t>transactions),</a:t>
            </a:r>
            <a:r>
              <a:rPr sz="1200" spc="-35" dirty="0">
                <a:latin typeface="Times New Roman"/>
                <a:cs typeface="Times New Roman"/>
              </a:rPr>
              <a:t> </a:t>
            </a:r>
            <a:r>
              <a:rPr sz="1200" dirty="0">
                <a:latin typeface="Times New Roman"/>
                <a:cs typeface="Times New Roman"/>
              </a:rPr>
              <a:t>robust</a:t>
            </a:r>
            <a:r>
              <a:rPr sz="1200" spc="-30" dirty="0">
                <a:latin typeface="Times New Roman"/>
                <a:cs typeface="Times New Roman"/>
              </a:rPr>
              <a:t> </a:t>
            </a:r>
            <a:r>
              <a:rPr sz="1200" dirty="0">
                <a:latin typeface="Times New Roman"/>
                <a:cs typeface="Times New Roman"/>
              </a:rPr>
              <a:t>security</a:t>
            </a:r>
            <a:r>
              <a:rPr sz="1200" spc="-30" dirty="0">
                <a:latin typeface="Times New Roman"/>
                <a:cs typeface="Times New Roman"/>
              </a:rPr>
              <a:t> </a:t>
            </a:r>
            <a:r>
              <a:rPr sz="1200" dirty="0">
                <a:latin typeface="Times New Roman"/>
                <a:cs typeface="Times New Roman"/>
              </a:rPr>
              <a:t>testing</a:t>
            </a:r>
            <a:r>
              <a:rPr sz="1200" spc="-30"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spc="-10" dirty="0">
                <a:latin typeface="Times New Roman"/>
                <a:cs typeface="Times New Roman"/>
              </a:rPr>
              <a:t>essential.</a:t>
            </a:r>
            <a:endParaRPr sz="1200">
              <a:latin typeface="Times New Roman"/>
              <a:cs typeface="Times New Roman"/>
            </a:endParaRPr>
          </a:p>
          <a:p>
            <a:pPr marL="12700">
              <a:lnSpc>
                <a:spcPct val="100000"/>
              </a:lnSpc>
              <a:spcBef>
                <a:spcPts val="1310"/>
              </a:spcBef>
            </a:pPr>
            <a:r>
              <a:rPr sz="1200" b="1" dirty="0">
                <a:latin typeface="Times New Roman"/>
                <a:cs typeface="Times New Roman"/>
              </a:rPr>
              <a:t>Security</a:t>
            </a:r>
            <a:r>
              <a:rPr sz="1200" b="1" spc="-45" dirty="0">
                <a:latin typeface="Times New Roman"/>
                <a:cs typeface="Times New Roman"/>
              </a:rPr>
              <a:t> </a:t>
            </a:r>
            <a:r>
              <a:rPr sz="1200" b="1" dirty="0">
                <a:latin typeface="Times New Roman"/>
                <a:cs typeface="Times New Roman"/>
              </a:rPr>
              <a:t>Measures</a:t>
            </a:r>
            <a:r>
              <a:rPr sz="1200" b="1" spc="-45" dirty="0">
                <a:latin typeface="Times New Roman"/>
                <a:cs typeface="Times New Roman"/>
              </a:rPr>
              <a:t> </a:t>
            </a:r>
            <a:r>
              <a:rPr sz="1200" b="1" spc="-10" dirty="0">
                <a:latin typeface="Times New Roman"/>
                <a:cs typeface="Times New Roman"/>
              </a:rPr>
              <a:t>Evaluated:</a:t>
            </a:r>
            <a:endParaRPr sz="1200">
              <a:latin typeface="Times New Roman"/>
              <a:cs typeface="Times New Roman"/>
            </a:endParaRPr>
          </a:p>
          <a:p>
            <a:pPr>
              <a:lnSpc>
                <a:spcPct val="100000"/>
              </a:lnSpc>
              <a:spcBef>
                <a:spcPts val="60"/>
              </a:spcBef>
            </a:pPr>
            <a:endParaRPr sz="1200">
              <a:latin typeface="Times New Roman"/>
              <a:cs typeface="Times New Roman"/>
            </a:endParaRPr>
          </a:p>
          <a:p>
            <a:pPr marL="469265" marR="6985" indent="-228600">
              <a:lnSpc>
                <a:spcPts val="1380"/>
              </a:lnSpc>
              <a:spcBef>
                <a:spcPts val="5"/>
              </a:spcBef>
              <a:buSzPct val="83333"/>
              <a:buFont typeface="Symbol"/>
              <a:buChar char=""/>
              <a:tabLst>
                <a:tab pos="469265" algn="l"/>
              </a:tabLst>
            </a:pPr>
            <a:r>
              <a:rPr sz="1200" spc="-20" dirty="0">
                <a:latin typeface="Times New Roman"/>
                <a:cs typeface="Times New Roman"/>
              </a:rPr>
              <a:t>JWT-</a:t>
            </a:r>
            <a:r>
              <a:rPr sz="1200" dirty="0">
                <a:latin typeface="Times New Roman"/>
                <a:cs typeface="Times New Roman"/>
              </a:rPr>
              <a:t>based</a:t>
            </a:r>
            <a:r>
              <a:rPr sz="1200" spc="-10" dirty="0">
                <a:latin typeface="Times New Roman"/>
                <a:cs typeface="Times New Roman"/>
              </a:rPr>
              <a:t> Authentication:</a:t>
            </a:r>
            <a:r>
              <a:rPr sz="1200" spc="-20" dirty="0">
                <a:latin typeface="Times New Roman"/>
                <a:cs typeface="Times New Roman"/>
              </a:rPr>
              <a:t> </a:t>
            </a:r>
            <a:r>
              <a:rPr sz="1200" dirty="0">
                <a:latin typeface="Times New Roman"/>
                <a:cs typeface="Times New Roman"/>
              </a:rPr>
              <a:t>Ensured</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protected</a:t>
            </a:r>
            <a:r>
              <a:rPr sz="1200" spc="-15" dirty="0">
                <a:latin typeface="Times New Roman"/>
                <a:cs typeface="Times New Roman"/>
              </a:rPr>
              <a:t> </a:t>
            </a:r>
            <a:r>
              <a:rPr sz="1200" dirty="0">
                <a:latin typeface="Times New Roman"/>
                <a:cs typeface="Times New Roman"/>
              </a:rPr>
              <a:t>routes</a:t>
            </a:r>
            <a:r>
              <a:rPr sz="1200" spc="-20" dirty="0">
                <a:latin typeface="Times New Roman"/>
                <a:cs typeface="Times New Roman"/>
              </a:rPr>
              <a:t> </a:t>
            </a:r>
            <a:r>
              <a:rPr sz="1200" dirty="0">
                <a:latin typeface="Times New Roman"/>
                <a:cs typeface="Times New Roman"/>
              </a:rPr>
              <a:t>were</a:t>
            </a:r>
            <a:r>
              <a:rPr sz="1200" spc="-25" dirty="0">
                <a:latin typeface="Times New Roman"/>
                <a:cs typeface="Times New Roman"/>
              </a:rPr>
              <a:t> </a:t>
            </a:r>
            <a:r>
              <a:rPr sz="1200" dirty="0">
                <a:latin typeface="Times New Roman"/>
                <a:cs typeface="Times New Roman"/>
              </a:rPr>
              <a:t>accessible</a:t>
            </a:r>
            <a:r>
              <a:rPr sz="1200" spc="-20" dirty="0">
                <a:latin typeface="Times New Roman"/>
                <a:cs typeface="Times New Roman"/>
              </a:rPr>
              <a:t> </a:t>
            </a:r>
            <a:r>
              <a:rPr sz="1200" dirty="0">
                <a:latin typeface="Times New Roman"/>
                <a:cs typeface="Times New Roman"/>
              </a:rPr>
              <a:t>only</a:t>
            </a:r>
            <a:r>
              <a:rPr sz="1200" spc="-15" dirty="0">
                <a:latin typeface="Times New Roman"/>
                <a:cs typeface="Times New Roman"/>
              </a:rPr>
              <a:t> </a:t>
            </a:r>
            <a:r>
              <a:rPr sz="1200" spc="-25" dirty="0">
                <a:latin typeface="Times New Roman"/>
                <a:cs typeface="Times New Roman"/>
              </a:rPr>
              <a:t>via </a:t>
            </a:r>
            <a:r>
              <a:rPr sz="1200" dirty="0">
                <a:latin typeface="Times New Roman"/>
                <a:cs typeface="Times New Roman"/>
              </a:rPr>
              <a:t>valid</a:t>
            </a:r>
            <a:r>
              <a:rPr sz="1200" spc="-30" dirty="0">
                <a:latin typeface="Times New Roman"/>
                <a:cs typeface="Times New Roman"/>
              </a:rPr>
              <a:t> </a:t>
            </a:r>
            <a:r>
              <a:rPr sz="1200" spc="-10" dirty="0">
                <a:latin typeface="Times New Roman"/>
                <a:cs typeface="Times New Roman"/>
              </a:rPr>
              <a:t>tokens.</a:t>
            </a:r>
            <a:endParaRPr sz="1200">
              <a:latin typeface="Times New Roman"/>
              <a:cs typeface="Times New Roman"/>
            </a:endParaRPr>
          </a:p>
          <a:p>
            <a:pPr marL="469265" indent="-228600">
              <a:lnSpc>
                <a:spcPts val="1315"/>
              </a:lnSpc>
              <a:buSzPct val="83333"/>
              <a:buFont typeface="Symbol"/>
              <a:buChar char=""/>
              <a:tabLst>
                <a:tab pos="469265" algn="l"/>
              </a:tabLst>
            </a:pP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Hashing:</a:t>
            </a:r>
            <a:r>
              <a:rPr sz="1200" spc="-20"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Bcrypt</a:t>
            </a:r>
            <a:r>
              <a:rPr sz="1200"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salt</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encrypt</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passwords.</a:t>
            </a:r>
            <a:endParaRPr sz="1200">
              <a:latin typeface="Times New Roman"/>
              <a:cs typeface="Times New Roman"/>
            </a:endParaRPr>
          </a:p>
          <a:p>
            <a:pPr marL="469265" marR="8255" indent="-228600">
              <a:lnSpc>
                <a:spcPts val="1380"/>
              </a:lnSpc>
              <a:spcBef>
                <a:spcPts val="65"/>
              </a:spcBef>
              <a:buSzPct val="83333"/>
              <a:buFont typeface="Symbol"/>
              <a:buChar char=""/>
              <a:tabLst>
                <a:tab pos="469265" algn="l"/>
              </a:tabLst>
            </a:pPr>
            <a:r>
              <a:rPr sz="1200" dirty="0">
                <a:latin typeface="Times New Roman"/>
                <a:cs typeface="Times New Roman"/>
              </a:rPr>
              <a:t>XSS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NoSQL</a:t>
            </a:r>
            <a:r>
              <a:rPr sz="1200" spc="-35" dirty="0">
                <a:latin typeface="Times New Roman"/>
                <a:cs typeface="Times New Roman"/>
              </a:rPr>
              <a:t> </a:t>
            </a:r>
            <a:r>
              <a:rPr sz="1200" spc="-10" dirty="0">
                <a:latin typeface="Times New Roman"/>
                <a:cs typeface="Times New Roman"/>
              </a:rPr>
              <a:t>Injection:</a:t>
            </a:r>
            <a:r>
              <a:rPr sz="1200" spc="-30" dirty="0">
                <a:latin typeface="Times New Roman"/>
                <a:cs typeface="Times New Roman"/>
              </a:rPr>
              <a:t> </a:t>
            </a:r>
            <a:r>
              <a:rPr sz="1200" spc="-10" dirty="0">
                <a:latin typeface="Times New Roman"/>
                <a:cs typeface="Times New Roman"/>
              </a:rPr>
              <a:t>Simulated</a:t>
            </a:r>
            <a:r>
              <a:rPr sz="1200" spc="-30" dirty="0">
                <a:latin typeface="Times New Roman"/>
                <a:cs typeface="Times New Roman"/>
              </a:rPr>
              <a:t> </a:t>
            </a:r>
            <a:r>
              <a:rPr sz="1200" spc="-10" dirty="0">
                <a:latin typeface="Times New Roman"/>
                <a:cs typeface="Times New Roman"/>
              </a:rPr>
              <a:t>attempts</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inject</a:t>
            </a:r>
            <a:r>
              <a:rPr sz="1200" spc="-30" dirty="0">
                <a:latin typeface="Times New Roman"/>
                <a:cs typeface="Times New Roman"/>
              </a:rPr>
              <a:t> </a:t>
            </a:r>
            <a:r>
              <a:rPr sz="1200" dirty="0">
                <a:latin typeface="Times New Roman"/>
                <a:cs typeface="Times New Roman"/>
              </a:rPr>
              <a:t>malicious</a:t>
            </a:r>
            <a:r>
              <a:rPr sz="1200" spc="-30" dirty="0">
                <a:latin typeface="Times New Roman"/>
                <a:cs typeface="Times New Roman"/>
              </a:rPr>
              <a:t> </a:t>
            </a:r>
            <a:r>
              <a:rPr sz="1200" dirty="0">
                <a:latin typeface="Times New Roman"/>
                <a:cs typeface="Times New Roman"/>
              </a:rPr>
              <a:t>scripts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NoSQL </a:t>
            </a:r>
            <a:r>
              <a:rPr sz="1200" dirty="0">
                <a:latin typeface="Times New Roman"/>
                <a:cs typeface="Times New Roman"/>
              </a:rPr>
              <a:t>queries;</a:t>
            </a:r>
            <a:r>
              <a:rPr sz="1200" spc="-35" dirty="0">
                <a:latin typeface="Times New Roman"/>
                <a:cs typeface="Times New Roman"/>
              </a:rPr>
              <a:t> </a:t>
            </a:r>
            <a:r>
              <a:rPr sz="1200" dirty="0">
                <a:latin typeface="Times New Roman"/>
                <a:cs typeface="Times New Roman"/>
              </a:rPr>
              <a:t>both</a:t>
            </a:r>
            <a:r>
              <a:rPr sz="1200" spc="-35"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dirty="0">
                <a:latin typeface="Times New Roman"/>
                <a:cs typeface="Times New Roman"/>
              </a:rPr>
              <a:t>mitigated</a:t>
            </a:r>
            <a:r>
              <a:rPr sz="1200" spc="-30" dirty="0">
                <a:latin typeface="Times New Roman"/>
                <a:cs typeface="Times New Roman"/>
              </a:rPr>
              <a:t> </a:t>
            </a:r>
            <a:r>
              <a:rPr sz="1200" dirty="0">
                <a:latin typeface="Times New Roman"/>
                <a:cs typeface="Times New Roman"/>
              </a:rPr>
              <a:t>via</a:t>
            </a:r>
            <a:r>
              <a:rPr sz="1200" spc="-40" dirty="0">
                <a:latin typeface="Times New Roman"/>
                <a:cs typeface="Times New Roman"/>
              </a:rPr>
              <a:t> </a:t>
            </a:r>
            <a:r>
              <a:rPr sz="1200" dirty="0">
                <a:latin typeface="Times New Roman"/>
                <a:cs typeface="Times New Roman"/>
              </a:rPr>
              <a:t>input</a:t>
            </a:r>
            <a:r>
              <a:rPr sz="1200" spc="-35" dirty="0">
                <a:latin typeface="Times New Roman"/>
                <a:cs typeface="Times New Roman"/>
              </a:rPr>
              <a:t> </a:t>
            </a:r>
            <a:r>
              <a:rPr sz="120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schema</a:t>
            </a:r>
            <a:r>
              <a:rPr sz="1200" spc="-35" dirty="0">
                <a:latin typeface="Times New Roman"/>
                <a:cs typeface="Times New Roman"/>
              </a:rPr>
              <a:t> </a:t>
            </a:r>
            <a:r>
              <a:rPr sz="1200" spc="-10" dirty="0">
                <a:latin typeface="Times New Roman"/>
                <a:cs typeface="Times New Roman"/>
              </a:rPr>
              <a:t>restrictions.</a:t>
            </a:r>
            <a:endParaRPr sz="1200">
              <a:latin typeface="Times New Roman"/>
              <a:cs typeface="Times New Roman"/>
            </a:endParaRPr>
          </a:p>
          <a:p>
            <a:pPr marL="469265" marR="5080" indent="-228600">
              <a:lnSpc>
                <a:spcPts val="1380"/>
              </a:lnSpc>
              <a:buSzPct val="83333"/>
              <a:buFont typeface="Symbol"/>
              <a:buChar char=""/>
              <a:tabLst>
                <a:tab pos="469265" algn="l"/>
              </a:tabLst>
            </a:pPr>
            <a:r>
              <a:rPr sz="1200" dirty="0">
                <a:latin typeface="Times New Roman"/>
                <a:cs typeface="Times New Roman"/>
              </a:rPr>
              <a:t>SSL</a:t>
            </a:r>
            <a:r>
              <a:rPr sz="1200" spc="440" dirty="0">
                <a:latin typeface="Times New Roman"/>
                <a:cs typeface="Times New Roman"/>
              </a:rPr>
              <a:t> </a:t>
            </a:r>
            <a:r>
              <a:rPr sz="1200" dirty="0">
                <a:latin typeface="Times New Roman"/>
                <a:cs typeface="Times New Roman"/>
              </a:rPr>
              <a:t>Enforcement:</a:t>
            </a:r>
            <a:r>
              <a:rPr sz="1200" spc="445" dirty="0">
                <a:latin typeface="Times New Roman"/>
                <a:cs typeface="Times New Roman"/>
              </a:rPr>
              <a:t> </a:t>
            </a:r>
            <a:r>
              <a:rPr sz="1200" dirty="0">
                <a:latin typeface="Times New Roman"/>
                <a:cs typeface="Times New Roman"/>
              </a:rPr>
              <a:t>All</a:t>
            </a:r>
            <a:r>
              <a:rPr sz="1200" spc="459" dirty="0">
                <a:latin typeface="Times New Roman"/>
                <a:cs typeface="Times New Roman"/>
              </a:rPr>
              <a:t> </a:t>
            </a:r>
            <a:r>
              <a:rPr sz="1200" dirty="0">
                <a:latin typeface="Times New Roman"/>
                <a:cs typeface="Times New Roman"/>
              </a:rPr>
              <a:t>communication</a:t>
            </a:r>
            <a:r>
              <a:rPr sz="1200" spc="440" dirty="0">
                <a:latin typeface="Times New Roman"/>
                <a:cs typeface="Times New Roman"/>
              </a:rPr>
              <a:t> </a:t>
            </a:r>
            <a:r>
              <a:rPr sz="1200" dirty="0">
                <a:latin typeface="Times New Roman"/>
                <a:cs typeface="Times New Roman"/>
              </a:rPr>
              <a:t>was</a:t>
            </a:r>
            <a:r>
              <a:rPr sz="1200" spc="459" dirty="0">
                <a:latin typeface="Times New Roman"/>
                <a:cs typeface="Times New Roman"/>
              </a:rPr>
              <a:t> </a:t>
            </a:r>
            <a:r>
              <a:rPr sz="1200" dirty="0">
                <a:latin typeface="Times New Roman"/>
                <a:cs typeface="Times New Roman"/>
              </a:rPr>
              <a:t>enforced</a:t>
            </a:r>
            <a:r>
              <a:rPr sz="1200" spc="450" dirty="0">
                <a:latin typeface="Times New Roman"/>
                <a:cs typeface="Times New Roman"/>
              </a:rPr>
              <a:t> </a:t>
            </a:r>
            <a:r>
              <a:rPr sz="1200" dirty="0">
                <a:latin typeface="Times New Roman"/>
                <a:cs typeface="Times New Roman"/>
              </a:rPr>
              <a:t>over</a:t>
            </a:r>
            <a:r>
              <a:rPr sz="1200" spc="455" dirty="0">
                <a:latin typeface="Times New Roman"/>
                <a:cs typeface="Times New Roman"/>
              </a:rPr>
              <a:t> </a:t>
            </a:r>
            <a:r>
              <a:rPr sz="1200" dirty="0">
                <a:latin typeface="Times New Roman"/>
                <a:cs typeface="Times New Roman"/>
              </a:rPr>
              <a:t>HTTPS</a:t>
            </a:r>
            <a:r>
              <a:rPr sz="1200" spc="455" dirty="0">
                <a:latin typeface="Times New Roman"/>
                <a:cs typeface="Times New Roman"/>
              </a:rPr>
              <a:t> </a:t>
            </a:r>
            <a:r>
              <a:rPr sz="1200" dirty="0">
                <a:latin typeface="Times New Roman"/>
                <a:cs typeface="Times New Roman"/>
              </a:rPr>
              <a:t>with</a:t>
            </a:r>
            <a:r>
              <a:rPr sz="1200" spc="450" dirty="0">
                <a:latin typeface="Times New Roman"/>
                <a:cs typeface="Times New Roman"/>
              </a:rPr>
              <a:t> </a:t>
            </a:r>
            <a:r>
              <a:rPr sz="1200" spc="-10" dirty="0">
                <a:latin typeface="Times New Roman"/>
                <a:cs typeface="Times New Roman"/>
              </a:rPr>
              <a:t>valid certificates.</a:t>
            </a:r>
            <a:endParaRPr sz="1200">
              <a:latin typeface="Times New Roman"/>
              <a:cs typeface="Times New Roman"/>
            </a:endParaRPr>
          </a:p>
          <a:p>
            <a:pPr marL="469265" marR="12700" indent="-228600">
              <a:lnSpc>
                <a:spcPts val="1380"/>
              </a:lnSpc>
              <a:buSzPct val="83333"/>
              <a:buFont typeface="Symbol"/>
              <a:buChar char=""/>
              <a:tabLst>
                <a:tab pos="469265" algn="l"/>
              </a:tabLst>
            </a:pPr>
            <a:r>
              <a:rPr sz="1200" dirty="0">
                <a:latin typeface="Times New Roman"/>
                <a:cs typeface="Times New Roman"/>
              </a:rPr>
              <a:t>Security</a:t>
            </a:r>
            <a:r>
              <a:rPr sz="1200" spc="395" dirty="0">
                <a:latin typeface="Times New Roman"/>
                <a:cs typeface="Times New Roman"/>
              </a:rPr>
              <a:t> </a:t>
            </a:r>
            <a:r>
              <a:rPr sz="1200" dirty="0">
                <a:latin typeface="Times New Roman"/>
                <a:cs typeface="Times New Roman"/>
              </a:rPr>
              <a:t>Tools:</a:t>
            </a:r>
            <a:r>
              <a:rPr sz="1200" spc="400" dirty="0">
                <a:latin typeface="Times New Roman"/>
                <a:cs typeface="Times New Roman"/>
              </a:rPr>
              <a:t> </a:t>
            </a:r>
            <a:r>
              <a:rPr sz="1200" dirty="0">
                <a:latin typeface="Times New Roman"/>
                <a:cs typeface="Times New Roman"/>
              </a:rPr>
              <a:t>OWASP</a:t>
            </a:r>
            <a:r>
              <a:rPr sz="1200" spc="395" dirty="0">
                <a:latin typeface="Times New Roman"/>
                <a:cs typeface="Times New Roman"/>
              </a:rPr>
              <a:t> </a:t>
            </a:r>
            <a:r>
              <a:rPr sz="1200" dirty="0">
                <a:latin typeface="Times New Roman"/>
                <a:cs typeface="Times New Roman"/>
              </a:rPr>
              <a:t>ZAP</a:t>
            </a:r>
            <a:r>
              <a:rPr sz="1200" spc="400" dirty="0">
                <a:latin typeface="Times New Roman"/>
                <a:cs typeface="Times New Roman"/>
              </a:rPr>
              <a:t> </a:t>
            </a:r>
            <a:r>
              <a:rPr sz="1200" dirty="0">
                <a:latin typeface="Times New Roman"/>
                <a:cs typeface="Times New Roman"/>
              </a:rPr>
              <a:t>was</a:t>
            </a:r>
            <a:r>
              <a:rPr sz="1200" spc="395" dirty="0">
                <a:latin typeface="Times New Roman"/>
                <a:cs typeface="Times New Roman"/>
              </a:rPr>
              <a:t> </a:t>
            </a:r>
            <a:r>
              <a:rPr sz="1200" dirty="0">
                <a:latin typeface="Times New Roman"/>
                <a:cs typeface="Times New Roman"/>
              </a:rPr>
              <a:t>used</a:t>
            </a:r>
            <a:r>
              <a:rPr sz="1200" spc="395" dirty="0">
                <a:latin typeface="Times New Roman"/>
                <a:cs typeface="Times New Roman"/>
              </a:rPr>
              <a:t> </a:t>
            </a:r>
            <a:r>
              <a:rPr sz="1200" dirty="0">
                <a:latin typeface="Times New Roman"/>
                <a:cs typeface="Times New Roman"/>
              </a:rPr>
              <a:t>to</a:t>
            </a:r>
            <a:r>
              <a:rPr sz="1200" spc="400" dirty="0">
                <a:latin typeface="Times New Roman"/>
                <a:cs typeface="Times New Roman"/>
              </a:rPr>
              <a:t> </a:t>
            </a:r>
            <a:r>
              <a:rPr sz="1200" dirty="0">
                <a:latin typeface="Times New Roman"/>
                <a:cs typeface="Times New Roman"/>
              </a:rPr>
              <a:t>scan</a:t>
            </a:r>
            <a:r>
              <a:rPr sz="1200" spc="390" dirty="0">
                <a:latin typeface="Times New Roman"/>
                <a:cs typeface="Times New Roman"/>
              </a:rPr>
              <a:t> </a:t>
            </a:r>
            <a:r>
              <a:rPr sz="1200" dirty="0">
                <a:latin typeface="Times New Roman"/>
                <a:cs typeface="Times New Roman"/>
              </a:rPr>
              <a:t>the</a:t>
            </a:r>
            <a:r>
              <a:rPr sz="1200" spc="405" dirty="0">
                <a:latin typeface="Times New Roman"/>
                <a:cs typeface="Times New Roman"/>
              </a:rPr>
              <a:t> </a:t>
            </a:r>
            <a:r>
              <a:rPr sz="1200" dirty="0">
                <a:latin typeface="Times New Roman"/>
                <a:cs typeface="Times New Roman"/>
              </a:rPr>
              <a:t>application</a:t>
            </a:r>
            <a:r>
              <a:rPr sz="1200" spc="395" dirty="0">
                <a:latin typeface="Times New Roman"/>
                <a:cs typeface="Times New Roman"/>
              </a:rPr>
              <a:t> </a:t>
            </a:r>
            <a:r>
              <a:rPr sz="1200" dirty="0">
                <a:latin typeface="Times New Roman"/>
                <a:cs typeface="Times New Roman"/>
              </a:rPr>
              <a:t>for</a:t>
            </a:r>
            <a:r>
              <a:rPr sz="1200" spc="395" dirty="0">
                <a:latin typeface="Times New Roman"/>
                <a:cs typeface="Times New Roman"/>
              </a:rPr>
              <a:t> </a:t>
            </a:r>
            <a:r>
              <a:rPr sz="1200" spc="-10" dirty="0">
                <a:latin typeface="Times New Roman"/>
                <a:cs typeface="Times New Roman"/>
              </a:rPr>
              <a:t>common vulnerabilities.</a:t>
            </a:r>
            <a:endParaRPr sz="1200">
              <a:latin typeface="Times New Roman"/>
              <a:cs typeface="Times New Roman"/>
            </a:endParaRPr>
          </a:p>
          <a:p>
            <a:pPr>
              <a:lnSpc>
                <a:spcPct val="100000"/>
              </a:lnSpc>
              <a:spcBef>
                <a:spcPts val="10"/>
              </a:spcBef>
            </a:pPr>
            <a:endParaRPr sz="1200">
              <a:latin typeface="Times New Roman"/>
              <a:cs typeface="Times New Roman"/>
            </a:endParaRPr>
          </a:p>
          <a:p>
            <a:pPr marL="12700" marR="10160">
              <a:lnSpc>
                <a:spcPts val="1380"/>
              </a:lnSpc>
            </a:pPr>
            <a:r>
              <a:rPr sz="1200" b="1" dirty="0">
                <a:latin typeface="Times New Roman"/>
                <a:cs typeface="Times New Roman"/>
              </a:rPr>
              <a:t>Outcome:</a:t>
            </a:r>
            <a:r>
              <a:rPr sz="1200" b="1" spc="-35" dirty="0">
                <a:latin typeface="Times New Roman"/>
                <a:cs typeface="Times New Roman"/>
              </a:rPr>
              <a:t> </a:t>
            </a:r>
            <a:r>
              <a:rPr sz="1200" dirty="0">
                <a:latin typeface="Times New Roman"/>
                <a:cs typeface="Times New Roman"/>
              </a:rPr>
              <a:t>No</a:t>
            </a:r>
            <a:r>
              <a:rPr sz="1200" spc="-35" dirty="0">
                <a:latin typeface="Times New Roman"/>
                <a:cs typeface="Times New Roman"/>
              </a:rPr>
              <a:t> </a:t>
            </a:r>
            <a:r>
              <a:rPr sz="1200" dirty="0">
                <a:latin typeface="Times New Roman"/>
                <a:cs typeface="Times New Roman"/>
              </a:rPr>
              <a:t>critical</a:t>
            </a:r>
            <a:r>
              <a:rPr sz="1200" spc="-30" dirty="0">
                <a:latin typeface="Times New Roman"/>
                <a:cs typeface="Times New Roman"/>
              </a:rPr>
              <a:t> </a:t>
            </a:r>
            <a:r>
              <a:rPr sz="1200" spc="-10" dirty="0">
                <a:latin typeface="Times New Roman"/>
                <a:cs typeface="Times New Roman"/>
              </a:rPr>
              <a:t>vulnerabilities</a:t>
            </a:r>
            <a:r>
              <a:rPr sz="1200" spc="-35"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dirty="0">
                <a:latin typeface="Times New Roman"/>
                <a:cs typeface="Times New Roman"/>
              </a:rPr>
              <a:t>found.</a:t>
            </a:r>
            <a:r>
              <a:rPr sz="1200" spc="-2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known</a:t>
            </a:r>
            <a:r>
              <a:rPr sz="1200" spc="-35" dirty="0">
                <a:latin typeface="Times New Roman"/>
                <a:cs typeface="Times New Roman"/>
              </a:rPr>
              <a:t> </a:t>
            </a:r>
            <a:r>
              <a:rPr sz="1200" dirty="0">
                <a:latin typeface="Times New Roman"/>
                <a:cs typeface="Times New Roman"/>
              </a:rPr>
              <a:t>attack</a:t>
            </a:r>
            <a:r>
              <a:rPr sz="1200" spc="-35" dirty="0">
                <a:latin typeface="Times New Roman"/>
                <a:cs typeface="Times New Roman"/>
              </a:rPr>
              <a:t> </a:t>
            </a:r>
            <a:r>
              <a:rPr sz="1200" dirty="0">
                <a:latin typeface="Times New Roman"/>
                <a:cs typeface="Times New Roman"/>
              </a:rPr>
              <a:t>vectors</a:t>
            </a:r>
            <a:r>
              <a:rPr sz="1200" spc="-20"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spc="-10" dirty="0">
                <a:latin typeface="Times New Roman"/>
                <a:cs typeface="Times New Roman"/>
              </a:rPr>
              <a:t>successfully </a:t>
            </a:r>
            <a:r>
              <a:rPr sz="1200" dirty="0">
                <a:latin typeface="Times New Roman"/>
                <a:cs typeface="Times New Roman"/>
              </a:rPr>
              <a:t>mitigated,</a:t>
            </a:r>
            <a:r>
              <a:rPr sz="1200" spc="-40" dirty="0">
                <a:latin typeface="Times New Roman"/>
                <a:cs typeface="Times New Roman"/>
              </a:rPr>
              <a:t> </a:t>
            </a:r>
            <a:r>
              <a:rPr sz="1200" dirty="0">
                <a:latin typeface="Times New Roman"/>
                <a:cs typeface="Times New Roman"/>
              </a:rPr>
              <a:t>demonstrating</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platform's</a:t>
            </a:r>
            <a:r>
              <a:rPr sz="1200" spc="-35" dirty="0">
                <a:latin typeface="Times New Roman"/>
                <a:cs typeface="Times New Roman"/>
              </a:rPr>
              <a:t> </a:t>
            </a:r>
            <a:r>
              <a:rPr sz="1200" dirty="0">
                <a:latin typeface="Times New Roman"/>
                <a:cs typeface="Times New Roman"/>
              </a:rPr>
              <a:t>resilience</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cyber</a:t>
            </a:r>
            <a:r>
              <a:rPr sz="1200" spc="-40" dirty="0">
                <a:latin typeface="Times New Roman"/>
                <a:cs typeface="Times New Roman"/>
              </a:rPr>
              <a:t> </a:t>
            </a:r>
            <a:r>
              <a:rPr sz="1200" spc="-10" dirty="0">
                <a:latin typeface="Times New Roman"/>
                <a:cs typeface="Times New Roman"/>
              </a:rPr>
              <a:t>threats.</a:t>
            </a:r>
            <a:endParaRPr sz="1200">
              <a:latin typeface="Times New Roman"/>
              <a:cs typeface="Times New Roman"/>
            </a:endParaRPr>
          </a:p>
        </p:txBody>
      </p:sp>
      <p:sp>
        <p:nvSpPr>
          <p:cNvPr id="4" name="object 4"/>
          <p:cNvSpPr txBox="1"/>
          <p:nvPr/>
        </p:nvSpPr>
        <p:spPr>
          <a:xfrm>
            <a:off x="1176324" y="5665089"/>
            <a:ext cx="5691505" cy="340169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6.8</a:t>
            </a:r>
            <a:r>
              <a:rPr sz="1350" b="1" spc="-35" dirty="0">
                <a:latin typeface="Times New Roman"/>
                <a:cs typeface="Times New Roman"/>
              </a:rPr>
              <a:t> </a:t>
            </a:r>
            <a:r>
              <a:rPr sz="1350" b="1" dirty="0">
                <a:latin typeface="Times New Roman"/>
                <a:cs typeface="Times New Roman"/>
              </a:rPr>
              <a:t>Usability</a:t>
            </a:r>
            <a:r>
              <a:rPr sz="1350" b="1" spc="-20" dirty="0">
                <a:latin typeface="Times New Roman"/>
                <a:cs typeface="Times New Roman"/>
              </a:rPr>
              <a:t> </a:t>
            </a:r>
            <a:r>
              <a:rPr sz="1350" b="1" spc="-10" dirty="0">
                <a:latin typeface="Times New Roman"/>
                <a:cs typeface="Times New Roman"/>
              </a:rPr>
              <a:t>Testing</a:t>
            </a:r>
            <a:endParaRPr sz="1350">
              <a:latin typeface="Times New Roman"/>
              <a:cs typeface="Times New Roman"/>
            </a:endParaRPr>
          </a:p>
          <a:p>
            <a:pPr marL="12700">
              <a:lnSpc>
                <a:spcPct val="100000"/>
              </a:lnSpc>
              <a:spcBef>
                <a:spcPts val="1335"/>
              </a:spcBef>
            </a:pPr>
            <a:r>
              <a:rPr sz="1200" dirty="0">
                <a:latin typeface="Times New Roman"/>
                <a:cs typeface="Times New Roman"/>
              </a:rPr>
              <a:t>Usability</a:t>
            </a:r>
            <a:r>
              <a:rPr sz="1200" spc="-20" dirty="0">
                <a:latin typeface="Times New Roman"/>
                <a:cs typeface="Times New Roman"/>
              </a:rPr>
              <a:t> </a:t>
            </a:r>
            <a:r>
              <a:rPr sz="1200" dirty="0">
                <a:latin typeface="Times New Roman"/>
                <a:cs typeface="Times New Roman"/>
              </a:rPr>
              <a:t>testing</a:t>
            </a:r>
            <a:r>
              <a:rPr sz="1200" spc="-20" dirty="0">
                <a:latin typeface="Times New Roman"/>
                <a:cs typeface="Times New Roman"/>
              </a:rPr>
              <a:t> </a:t>
            </a:r>
            <a:r>
              <a:rPr sz="1200" dirty="0">
                <a:latin typeface="Times New Roman"/>
                <a:cs typeface="Times New Roman"/>
              </a:rPr>
              <a:t>measures</a:t>
            </a:r>
            <a:r>
              <a:rPr sz="1200" spc="-20" dirty="0">
                <a:latin typeface="Times New Roman"/>
                <a:cs typeface="Times New Roman"/>
              </a:rPr>
              <a:t> </a:t>
            </a:r>
            <a:r>
              <a:rPr sz="1200" dirty="0">
                <a:latin typeface="Times New Roman"/>
                <a:cs typeface="Times New Roman"/>
              </a:rPr>
              <a:t>how</a:t>
            </a:r>
            <a:r>
              <a:rPr sz="1200" spc="-20" dirty="0">
                <a:latin typeface="Times New Roman"/>
                <a:cs typeface="Times New Roman"/>
              </a:rPr>
              <a:t> </a:t>
            </a:r>
            <a:r>
              <a:rPr sz="1200" spc="-10" dirty="0">
                <a:latin typeface="Times New Roman"/>
                <a:cs typeface="Times New Roman"/>
              </a:rPr>
              <a:t>effectively</a:t>
            </a:r>
            <a:r>
              <a:rPr sz="1200" spc="-20" dirty="0">
                <a:latin typeface="Times New Roman"/>
                <a:cs typeface="Times New Roman"/>
              </a:rPr>
              <a:t> </a:t>
            </a:r>
            <a:r>
              <a:rPr sz="1200" dirty="0">
                <a:latin typeface="Times New Roman"/>
                <a:cs typeface="Times New Roman"/>
              </a:rPr>
              <a:t>real</a:t>
            </a:r>
            <a:r>
              <a:rPr sz="1200" spc="-2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navigate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use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ct val="100000"/>
              </a:lnSpc>
              <a:spcBef>
                <a:spcPts val="1335"/>
              </a:spcBef>
            </a:pPr>
            <a:r>
              <a:rPr sz="1200" b="1" dirty="0">
                <a:latin typeface="Times New Roman"/>
                <a:cs typeface="Times New Roman"/>
              </a:rPr>
              <a:t>Testing</a:t>
            </a:r>
            <a:r>
              <a:rPr sz="1200" b="1" spc="-15" dirty="0">
                <a:latin typeface="Times New Roman"/>
                <a:cs typeface="Times New Roman"/>
              </a:rPr>
              <a:t> </a:t>
            </a:r>
            <a:r>
              <a:rPr sz="1200" b="1" spc="-10" dirty="0">
                <a:latin typeface="Times New Roman"/>
                <a:cs typeface="Times New Roman"/>
              </a:rPr>
              <a:t>Methodology:</a:t>
            </a:r>
            <a:endParaRPr sz="1200">
              <a:latin typeface="Times New Roman"/>
              <a:cs typeface="Times New Roman"/>
            </a:endParaRPr>
          </a:p>
          <a:p>
            <a:pPr marL="469265" indent="-228600">
              <a:lnSpc>
                <a:spcPts val="1410"/>
              </a:lnSpc>
              <a:spcBef>
                <a:spcPts val="1345"/>
              </a:spcBef>
              <a:buSzPct val="83333"/>
              <a:buFont typeface="Symbol"/>
              <a:buChar char=""/>
              <a:tabLst>
                <a:tab pos="469265" algn="l"/>
              </a:tabLst>
            </a:pPr>
            <a:r>
              <a:rPr sz="1200" dirty="0">
                <a:latin typeface="Times New Roman"/>
                <a:cs typeface="Times New Roman"/>
              </a:rPr>
              <a:t>Sample</a:t>
            </a:r>
            <a:r>
              <a:rPr sz="1200" spc="-25" dirty="0">
                <a:latin typeface="Times New Roman"/>
                <a:cs typeface="Times New Roman"/>
              </a:rPr>
              <a:t> </a:t>
            </a:r>
            <a:r>
              <a:rPr sz="1200" dirty="0">
                <a:latin typeface="Times New Roman"/>
                <a:cs typeface="Times New Roman"/>
              </a:rPr>
              <a:t>Size:</a:t>
            </a:r>
            <a:r>
              <a:rPr sz="1200" spc="-15" dirty="0">
                <a:latin typeface="Times New Roman"/>
                <a:cs typeface="Times New Roman"/>
              </a:rPr>
              <a:t> </a:t>
            </a:r>
            <a:r>
              <a:rPr sz="1200" dirty="0">
                <a:latin typeface="Times New Roman"/>
                <a:cs typeface="Times New Roman"/>
              </a:rPr>
              <a:t>20</a:t>
            </a:r>
            <a:r>
              <a:rPr sz="1200" spc="-20" dirty="0">
                <a:latin typeface="Times New Roman"/>
                <a:cs typeface="Times New Roman"/>
              </a:rPr>
              <a:t> </a:t>
            </a:r>
            <a:r>
              <a:rPr sz="1200" dirty="0">
                <a:latin typeface="Times New Roman"/>
                <a:cs typeface="Times New Roman"/>
              </a:rPr>
              <a:t>users</a:t>
            </a:r>
            <a:r>
              <a:rPr sz="1200" spc="-15" dirty="0">
                <a:latin typeface="Times New Roman"/>
                <a:cs typeface="Times New Roman"/>
              </a:rPr>
              <a:t> </a:t>
            </a:r>
            <a:r>
              <a:rPr sz="1200" dirty="0">
                <a:latin typeface="Times New Roman"/>
                <a:cs typeface="Times New Roman"/>
              </a:rPr>
              <a:t>(10</a:t>
            </a:r>
            <a:r>
              <a:rPr sz="1200" spc="-15" dirty="0">
                <a:latin typeface="Times New Roman"/>
                <a:cs typeface="Times New Roman"/>
              </a:rPr>
              <a:t> </a:t>
            </a:r>
            <a:r>
              <a:rPr sz="1200" dirty="0">
                <a:latin typeface="Times New Roman"/>
                <a:cs typeface="Times New Roman"/>
              </a:rPr>
              <a:t>buyers,</a:t>
            </a:r>
            <a:r>
              <a:rPr sz="1200" spc="-20" dirty="0">
                <a:latin typeface="Times New Roman"/>
                <a:cs typeface="Times New Roman"/>
              </a:rPr>
              <a:t> </a:t>
            </a:r>
            <a:r>
              <a:rPr sz="1200" dirty="0">
                <a:latin typeface="Times New Roman"/>
                <a:cs typeface="Times New Roman"/>
              </a:rPr>
              <a:t>5</a:t>
            </a:r>
            <a:r>
              <a:rPr sz="1200" spc="-15" dirty="0">
                <a:latin typeface="Times New Roman"/>
                <a:cs typeface="Times New Roman"/>
              </a:rPr>
              <a:t> </a:t>
            </a:r>
            <a:r>
              <a:rPr sz="1200" dirty="0">
                <a:latin typeface="Times New Roman"/>
                <a:cs typeface="Times New Roman"/>
              </a:rPr>
              <a:t>sellers,</a:t>
            </a:r>
            <a:r>
              <a:rPr sz="1200" spc="-15" dirty="0">
                <a:latin typeface="Times New Roman"/>
                <a:cs typeface="Times New Roman"/>
              </a:rPr>
              <a:t> </a:t>
            </a:r>
            <a:r>
              <a:rPr sz="1200" dirty="0">
                <a:latin typeface="Times New Roman"/>
                <a:cs typeface="Times New Roman"/>
              </a:rPr>
              <a:t>5</a:t>
            </a:r>
            <a:r>
              <a:rPr sz="1200" spc="-15" dirty="0">
                <a:latin typeface="Times New Roman"/>
                <a:cs typeface="Times New Roman"/>
              </a:rPr>
              <a:t> </a:t>
            </a:r>
            <a:r>
              <a:rPr sz="1200" spc="-10" dirty="0">
                <a:latin typeface="Times New Roman"/>
                <a:cs typeface="Times New Roman"/>
              </a:rPr>
              <a:t>admins)</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Task</a:t>
            </a:r>
            <a:r>
              <a:rPr sz="1200" spc="-30" dirty="0">
                <a:latin typeface="Times New Roman"/>
                <a:cs typeface="Times New Roman"/>
              </a:rPr>
              <a:t> </a:t>
            </a:r>
            <a:r>
              <a:rPr sz="1200" dirty="0">
                <a:latin typeface="Times New Roman"/>
                <a:cs typeface="Times New Roman"/>
              </a:rPr>
              <a:t>Set:</a:t>
            </a:r>
            <a:r>
              <a:rPr sz="1200" spc="-25"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listing,</a:t>
            </a:r>
            <a:r>
              <a:rPr sz="1200" spc="-25" dirty="0">
                <a:latin typeface="Times New Roman"/>
                <a:cs typeface="Times New Roman"/>
              </a:rPr>
              <a:t> </a:t>
            </a:r>
            <a:r>
              <a:rPr sz="1200" dirty="0">
                <a:latin typeface="Times New Roman"/>
                <a:cs typeface="Times New Roman"/>
              </a:rPr>
              <a:t>join</a:t>
            </a:r>
            <a:r>
              <a:rPr sz="1200" spc="-25"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place</a:t>
            </a:r>
            <a:r>
              <a:rPr sz="1200" spc="-30" dirty="0">
                <a:latin typeface="Times New Roman"/>
                <a:cs typeface="Times New Roman"/>
              </a:rPr>
              <a:t> </a:t>
            </a:r>
            <a:r>
              <a:rPr sz="1200" dirty="0">
                <a:latin typeface="Times New Roman"/>
                <a:cs typeface="Times New Roman"/>
              </a:rPr>
              <a:t>bids,</a:t>
            </a:r>
            <a:r>
              <a:rPr sz="1200" spc="-25" dirty="0">
                <a:latin typeface="Times New Roman"/>
                <a:cs typeface="Times New Roman"/>
              </a:rPr>
              <a:t> </a:t>
            </a:r>
            <a:r>
              <a:rPr sz="1200" dirty="0">
                <a:latin typeface="Times New Roman"/>
                <a:cs typeface="Times New Roman"/>
              </a:rPr>
              <a:t>verify</a:t>
            </a:r>
            <a:r>
              <a:rPr sz="1200" spc="-25" dirty="0">
                <a:latin typeface="Times New Roman"/>
                <a:cs typeface="Times New Roman"/>
              </a:rPr>
              <a:t> </a:t>
            </a:r>
            <a:r>
              <a:rPr sz="1200" spc="-10" dirty="0">
                <a:latin typeface="Times New Roman"/>
                <a:cs typeface="Times New Roman"/>
              </a:rPr>
              <a:t>documents</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Evaluation</a:t>
            </a:r>
            <a:r>
              <a:rPr sz="1200" spc="-25" dirty="0">
                <a:latin typeface="Times New Roman"/>
                <a:cs typeface="Times New Roman"/>
              </a:rPr>
              <a:t> </a:t>
            </a:r>
            <a:r>
              <a:rPr sz="1200" dirty="0">
                <a:latin typeface="Times New Roman"/>
                <a:cs typeface="Times New Roman"/>
              </a:rPr>
              <a:t>Metrics</a:t>
            </a:r>
            <a:r>
              <a:rPr sz="1200" b="1" dirty="0">
                <a:latin typeface="Times New Roman"/>
                <a:cs typeface="Times New Roman"/>
              </a:rPr>
              <a:t>:</a:t>
            </a:r>
            <a:r>
              <a:rPr sz="1200" b="1" spc="-25" dirty="0">
                <a:latin typeface="Times New Roman"/>
                <a:cs typeface="Times New Roman"/>
              </a:rPr>
              <a:t> </a:t>
            </a:r>
            <a:r>
              <a:rPr sz="1200" dirty="0">
                <a:latin typeface="Times New Roman"/>
                <a:cs typeface="Times New Roman"/>
              </a:rPr>
              <a:t>Navigation</a:t>
            </a:r>
            <a:r>
              <a:rPr sz="1200" spc="-25" dirty="0">
                <a:latin typeface="Times New Roman"/>
                <a:cs typeface="Times New Roman"/>
              </a:rPr>
              <a:t> </a:t>
            </a:r>
            <a:r>
              <a:rPr sz="1200" dirty="0">
                <a:latin typeface="Times New Roman"/>
                <a:cs typeface="Times New Roman"/>
              </a:rPr>
              <a:t>ease,</a:t>
            </a:r>
            <a:r>
              <a:rPr sz="1200" spc="-20" dirty="0">
                <a:latin typeface="Times New Roman"/>
                <a:cs typeface="Times New Roman"/>
              </a:rPr>
              <a:t> </a:t>
            </a:r>
            <a:r>
              <a:rPr sz="1200" dirty="0">
                <a:latin typeface="Times New Roman"/>
                <a:cs typeface="Times New Roman"/>
              </a:rPr>
              <a:t>UI</a:t>
            </a:r>
            <a:r>
              <a:rPr sz="1200" spc="-25" dirty="0">
                <a:latin typeface="Times New Roman"/>
                <a:cs typeface="Times New Roman"/>
              </a:rPr>
              <a:t> </a:t>
            </a:r>
            <a:r>
              <a:rPr sz="1200" dirty="0">
                <a:latin typeface="Times New Roman"/>
                <a:cs typeface="Times New Roman"/>
              </a:rPr>
              <a:t>clarity,</a:t>
            </a:r>
            <a:r>
              <a:rPr sz="1200" spc="-2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spc="-10" dirty="0">
                <a:latin typeface="Times New Roman"/>
                <a:cs typeface="Times New Roman"/>
              </a:rPr>
              <a:t>documentation,</a:t>
            </a:r>
            <a:r>
              <a:rPr sz="1200" spc="-20" dirty="0">
                <a:latin typeface="Times New Roman"/>
                <a:cs typeface="Times New Roman"/>
              </a:rPr>
              <a:t> </a:t>
            </a:r>
            <a:r>
              <a:rPr sz="1200" dirty="0">
                <a:latin typeface="Times New Roman"/>
                <a:cs typeface="Times New Roman"/>
              </a:rPr>
              <a:t>error</a:t>
            </a:r>
            <a:r>
              <a:rPr sz="1200" spc="-25" dirty="0">
                <a:latin typeface="Times New Roman"/>
                <a:cs typeface="Times New Roman"/>
              </a:rPr>
              <a:t> </a:t>
            </a:r>
            <a:r>
              <a:rPr sz="1200" spc="-10" dirty="0">
                <a:latin typeface="Times New Roman"/>
                <a:cs typeface="Times New Roman"/>
              </a:rPr>
              <a:t>recovery</a:t>
            </a:r>
            <a:endParaRPr sz="1200">
              <a:latin typeface="Times New Roman"/>
              <a:cs typeface="Times New Roman"/>
            </a:endParaRPr>
          </a:p>
          <a:p>
            <a:pPr marL="12700">
              <a:lnSpc>
                <a:spcPct val="100000"/>
              </a:lnSpc>
              <a:spcBef>
                <a:spcPts val="1345"/>
              </a:spcBef>
            </a:pPr>
            <a:r>
              <a:rPr sz="1200" b="1" dirty="0">
                <a:latin typeface="Times New Roman"/>
                <a:cs typeface="Times New Roman"/>
              </a:rPr>
              <a:t>Feedback</a:t>
            </a:r>
            <a:r>
              <a:rPr sz="1200" b="1" spc="-50" dirty="0">
                <a:latin typeface="Times New Roman"/>
                <a:cs typeface="Times New Roman"/>
              </a:rPr>
              <a:t> </a:t>
            </a:r>
            <a:r>
              <a:rPr sz="1200" b="1" spc="-10" dirty="0">
                <a:latin typeface="Times New Roman"/>
                <a:cs typeface="Times New Roman"/>
              </a:rPr>
              <a:t>Summary:</a:t>
            </a:r>
            <a:endParaRPr sz="1200">
              <a:latin typeface="Times New Roman"/>
              <a:cs typeface="Times New Roman"/>
            </a:endParaRPr>
          </a:p>
          <a:p>
            <a:pPr marL="469265" indent="-228600">
              <a:lnSpc>
                <a:spcPts val="1410"/>
              </a:lnSpc>
              <a:spcBef>
                <a:spcPts val="1335"/>
              </a:spcBef>
              <a:buSzPct val="83333"/>
              <a:buFont typeface="Symbol"/>
              <a:buChar char=""/>
              <a:tabLst>
                <a:tab pos="469265" algn="l"/>
              </a:tabLst>
            </a:pPr>
            <a:r>
              <a:rPr sz="1200" dirty="0">
                <a:latin typeface="Times New Roman"/>
                <a:cs typeface="Times New Roman"/>
              </a:rPr>
              <a:t>92%</a:t>
            </a:r>
            <a:r>
              <a:rPr sz="1200" spc="-30" dirty="0">
                <a:latin typeface="Times New Roman"/>
                <a:cs typeface="Times New Roman"/>
              </a:rPr>
              <a:t> </a:t>
            </a:r>
            <a:r>
              <a:rPr sz="1200" dirty="0">
                <a:latin typeface="Times New Roman"/>
                <a:cs typeface="Times New Roman"/>
              </a:rPr>
              <a:t>found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interface</a:t>
            </a:r>
            <a:r>
              <a:rPr sz="1200" spc="-30" dirty="0">
                <a:latin typeface="Times New Roman"/>
                <a:cs typeface="Times New Roman"/>
              </a:rPr>
              <a:t> </a:t>
            </a:r>
            <a:r>
              <a:rPr sz="1200" dirty="0">
                <a:latin typeface="Times New Roman"/>
                <a:cs typeface="Times New Roman"/>
              </a:rPr>
              <a:t>intuitive</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self-explanatory</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85%</a:t>
            </a:r>
            <a:r>
              <a:rPr sz="1200" spc="-40" dirty="0">
                <a:latin typeface="Times New Roman"/>
                <a:cs typeface="Times New Roman"/>
              </a:rPr>
              <a:t> </a:t>
            </a:r>
            <a:r>
              <a:rPr sz="1200" dirty="0">
                <a:latin typeface="Times New Roman"/>
                <a:cs typeface="Times New Roman"/>
              </a:rPr>
              <a:t>completed</a:t>
            </a:r>
            <a:r>
              <a:rPr sz="1200" spc="-3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assigned</a:t>
            </a:r>
            <a:r>
              <a:rPr sz="1200" spc="-35" dirty="0">
                <a:latin typeface="Times New Roman"/>
                <a:cs typeface="Times New Roman"/>
              </a:rPr>
              <a:t> </a:t>
            </a:r>
            <a:r>
              <a:rPr sz="1200" dirty="0">
                <a:latin typeface="Times New Roman"/>
                <a:cs typeface="Times New Roman"/>
              </a:rPr>
              <a:t>tasks</a:t>
            </a:r>
            <a:r>
              <a:rPr sz="1200" spc="-35" dirty="0">
                <a:latin typeface="Times New Roman"/>
                <a:cs typeface="Times New Roman"/>
              </a:rPr>
              <a:t> </a:t>
            </a:r>
            <a:r>
              <a:rPr sz="1200" dirty="0">
                <a:latin typeface="Times New Roman"/>
                <a:cs typeface="Times New Roman"/>
              </a:rPr>
              <a:t>without</a:t>
            </a:r>
            <a:r>
              <a:rPr sz="1200" spc="-30" dirty="0">
                <a:latin typeface="Times New Roman"/>
                <a:cs typeface="Times New Roman"/>
              </a:rPr>
              <a:t> </a:t>
            </a:r>
            <a:r>
              <a:rPr sz="1200" dirty="0">
                <a:latin typeface="Times New Roman"/>
                <a:cs typeface="Times New Roman"/>
              </a:rPr>
              <a:t>external</a:t>
            </a:r>
            <a:r>
              <a:rPr sz="1200" spc="-35" dirty="0">
                <a:latin typeface="Times New Roman"/>
                <a:cs typeface="Times New Roman"/>
              </a:rPr>
              <a:t> </a:t>
            </a:r>
            <a:r>
              <a:rPr sz="1200" spc="-20" dirty="0">
                <a:latin typeface="Times New Roman"/>
                <a:cs typeface="Times New Roman"/>
              </a:rPr>
              <a:t>help</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appreciated</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dashboard</a:t>
            </a:r>
            <a:r>
              <a:rPr sz="1200" spc="-30" dirty="0">
                <a:latin typeface="Times New Roman"/>
                <a:cs typeface="Times New Roman"/>
              </a:rPr>
              <a:t> </a:t>
            </a:r>
            <a:r>
              <a:rPr sz="1200" dirty="0">
                <a:latin typeface="Times New Roman"/>
                <a:cs typeface="Times New Roman"/>
              </a:rPr>
              <a:t>layout,</a:t>
            </a:r>
            <a:r>
              <a:rPr sz="1200" spc="-30" dirty="0">
                <a:latin typeface="Times New Roman"/>
                <a:cs typeface="Times New Roman"/>
              </a:rPr>
              <a:t> </a:t>
            </a:r>
            <a:r>
              <a:rPr sz="1200" dirty="0">
                <a:latin typeface="Times New Roman"/>
                <a:cs typeface="Times New Roman"/>
              </a:rPr>
              <a:t>color</a:t>
            </a:r>
            <a:r>
              <a:rPr sz="1200" spc="-40" dirty="0">
                <a:latin typeface="Times New Roman"/>
                <a:cs typeface="Times New Roman"/>
              </a:rPr>
              <a:t> </a:t>
            </a:r>
            <a:r>
              <a:rPr sz="1200" dirty="0">
                <a:latin typeface="Times New Roman"/>
                <a:cs typeface="Times New Roman"/>
              </a:rPr>
              <a:t>scheme,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prompt</a:t>
            </a:r>
            <a:r>
              <a:rPr sz="1200" spc="-30" dirty="0">
                <a:latin typeface="Times New Roman"/>
                <a:cs typeface="Times New Roman"/>
              </a:rPr>
              <a:t> </a:t>
            </a:r>
            <a:r>
              <a:rPr sz="1200" spc="-10" dirty="0">
                <a:latin typeface="Times New Roman"/>
                <a:cs typeface="Times New Roman"/>
              </a:rPr>
              <a:t>feedback</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Suggestions</a:t>
            </a:r>
            <a:r>
              <a:rPr sz="1200" spc="-40" dirty="0">
                <a:latin typeface="Times New Roman"/>
                <a:cs typeface="Times New Roman"/>
              </a:rPr>
              <a:t> </a:t>
            </a:r>
            <a:r>
              <a:rPr sz="1200" dirty="0">
                <a:latin typeface="Times New Roman"/>
                <a:cs typeface="Times New Roman"/>
              </a:rPr>
              <a:t>included</a:t>
            </a:r>
            <a:r>
              <a:rPr sz="1200" spc="-35" dirty="0">
                <a:latin typeface="Times New Roman"/>
                <a:cs typeface="Times New Roman"/>
              </a:rPr>
              <a:t> </a:t>
            </a:r>
            <a:r>
              <a:rPr sz="1200" dirty="0">
                <a:latin typeface="Times New Roman"/>
                <a:cs typeface="Times New Roman"/>
              </a:rPr>
              <a:t>better</a:t>
            </a:r>
            <a:r>
              <a:rPr sz="1200" spc="-35" dirty="0">
                <a:latin typeface="Times New Roman"/>
                <a:cs typeface="Times New Roman"/>
              </a:rPr>
              <a:t> </a:t>
            </a:r>
            <a:r>
              <a:rPr sz="1200" dirty="0">
                <a:latin typeface="Times New Roman"/>
                <a:cs typeface="Times New Roman"/>
              </a:rPr>
              <a:t>tooltips,</a:t>
            </a:r>
            <a:r>
              <a:rPr sz="1200" spc="-35" dirty="0">
                <a:latin typeface="Times New Roman"/>
                <a:cs typeface="Times New Roman"/>
              </a:rPr>
              <a:t> </a:t>
            </a:r>
            <a:r>
              <a:rPr sz="1200" dirty="0">
                <a:latin typeface="Times New Roman"/>
                <a:cs typeface="Times New Roman"/>
              </a:rPr>
              <a:t>onboarding</a:t>
            </a:r>
            <a:r>
              <a:rPr sz="1200" spc="-35" dirty="0">
                <a:latin typeface="Times New Roman"/>
                <a:cs typeface="Times New Roman"/>
              </a:rPr>
              <a:t> </a:t>
            </a:r>
            <a:r>
              <a:rPr sz="1200" dirty="0">
                <a:latin typeface="Times New Roman"/>
                <a:cs typeface="Times New Roman"/>
              </a:rPr>
              <a:t>tutorial,</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mobile-</a:t>
            </a:r>
            <a:r>
              <a:rPr sz="1200" dirty="0">
                <a:latin typeface="Times New Roman"/>
                <a:cs typeface="Times New Roman"/>
              </a:rPr>
              <a:t>friendly</a:t>
            </a:r>
            <a:r>
              <a:rPr sz="1200" spc="-35" dirty="0">
                <a:latin typeface="Times New Roman"/>
                <a:cs typeface="Times New Roman"/>
              </a:rPr>
              <a:t> </a:t>
            </a:r>
            <a:r>
              <a:rPr sz="1200" spc="-10" dirty="0">
                <a:latin typeface="Times New Roman"/>
                <a:cs typeface="Times New Roman"/>
              </a:rPr>
              <a:t>layout</a:t>
            </a:r>
            <a:endParaRPr sz="1200">
              <a:latin typeface="Times New Roman"/>
              <a:cs typeface="Times New Roman"/>
            </a:endParaRPr>
          </a:p>
          <a:p>
            <a:pPr>
              <a:lnSpc>
                <a:spcPct val="100000"/>
              </a:lnSpc>
              <a:spcBef>
                <a:spcPts val="55"/>
              </a:spcBef>
            </a:pPr>
            <a:endParaRPr sz="1200">
              <a:latin typeface="Times New Roman"/>
              <a:cs typeface="Times New Roman"/>
            </a:endParaRPr>
          </a:p>
          <a:p>
            <a:pPr marL="12700" marR="5080">
              <a:lnSpc>
                <a:spcPts val="1380"/>
              </a:lnSpc>
            </a:pPr>
            <a:r>
              <a:rPr sz="1200" b="1" dirty="0">
                <a:latin typeface="Times New Roman"/>
                <a:cs typeface="Times New Roman"/>
              </a:rPr>
              <a:t>Conclusion:</a:t>
            </a:r>
            <a:r>
              <a:rPr sz="1200" b="1"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UI/UX</a:t>
            </a:r>
            <a:r>
              <a:rPr sz="1200" spc="-15" dirty="0">
                <a:latin typeface="Times New Roman"/>
                <a:cs typeface="Times New Roman"/>
              </a:rPr>
              <a:t> </a:t>
            </a:r>
            <a:r>
              <a:rPr sz="1200" dirty="0">
                <a:latin typeface="Times New Roman"/>
                <a:cs typeface="Times New Roman"/>
              </a:rPr>
              <a:t>design</a:t>
            </a:r>
            <a:r>
              <a:rPr sz="1200" spc="-15" dirty="0">
                <a:latin typeface="Times New Roman"/>
                <a:cs typeface="Times New Roman"/>
              </a:rPr>
              <a:t> </a:t>
            </a:r>
            <a:r>
              <a:rPr sz="1200" dirty="0">
                <a:latin typeface="Times New Roman"/>
                <a:cs typeface="Times New Roman"/>
              </a:rPr>
              <a:t>achieved</a:t>
            </a:r>
            <a:r>
              <a:rPr sz="1200" spc="-5" dirty="0">
                <a:latin typeface="Times New Roman"/>
                <a:cs typeface="Times New Roman"/>
              </a:rPr>
              <a:t> </a:t>
            </a:r>
            <a:r>
              <a:rPr sz="1200" dirty="0">
                <a:latin typeface="Times New Roman"/>
                <a:cs typeface="Times New Roman"/>
              </a:rPr>
              <a:t>high</a:t>
            </a:r>
            <a:r>
              <a:rPr sz="1200" spc="-15" dirty="0">
                <a:latin typeface="Times New Roman"/>
                <a:cs typeface="Times New Roman"/>
              </a:rPr>
              <a:t> </a:t>
            </a:r>
            <a:r>
              <a:rPr sz="1200" dirty="0">
                <a:latin typeface="Times New Roman"/>
                <a:cs typeface="Times New Roman"/>
              </a:rPr>
              <a:t>satisfaction</a:t>
            </a:r>
            <a:r>
              <a:rPr sz="1200" spc="-15" dirty="0">
                <a:latin typeface="Times New Roman"/>
                <a:cs typeface="Times New Roman"/>
              </a:rPr>
              <a:t> </a:t>
            </a:r>
            <a:r>
              <a:rPr sz="1200" dirty="0">
                <a:latin typeface="Times New Roman"/>
                <a:cs typeface="Times New Roman"/>
              </a:rPr>
              <a:t>levels.</a:t>
            </a:r>
            <a:r>
              <a:rPr sz="1200" spc="-15" dirty="0">
                <a:latin typeface="Times New Roman"/>
                <a:cs typeface="Times New Roman"/>
              </a:rPr>
              <a:t> </a:t>
            </a:r>
            <a:r>
              <a:rPr sz="1200" dirty="0">
                <a:latin typeface="Times New Roman"/>
                <a:cs typeface="Times New Roman"/>
              </a:rPr>
              <a:t>Minor</a:t>
            </a:r>
            <a:r>
              <a:rPr sz="1200" spc="-10" dirty="0">
                <a:latin typeface="Times New Roman"/>
                <a:cs typeface="Times New Roman"/>
              </a:rPr>
              <a:t> </a:t>
            </a:r>
            <a:r>
              <a:rPr sz="1200" dirty="0">
                <a:latin typeface="Times New Roman"/>
                <a:cs typeface="Times New Roman"/>
              </a:rPr>
              <a:t>feedback</a:t>
            </a:r>
            <a:r>
              <a:rPr sz="1200" spc="-10" dirty="0">
                <a:latin typeface="Times New Roman"/>
                <a:cs typeface="Times New Roman"/>
              </a:rPr>
              <a:t> </a:t>
            </a:r>
            <a:r>
              <a:rPr sz="1200" dirty="0">
                <a:latin typeface="Times New Roman"/>
                <a:cs typeface="Times New Roman"/>
              </a:rPr>
              <a:t>points</a:t>
            </a:r>
            <a:r>
              <a:rPr sz="1200" spc="-15" dirty="0">
                <a:latin typeface="Times New Roman"/>
                <a:cs typeface="Times New Roman"/>
              </a:rPr>
              <a:t> </a:t>
            </a:r>
            <a:r>
              <a:rPr sz="1200" spc="-25" dirty="0">
                <a:latin typeface="Times New Roman"/>
                <a:cs typeface="Times New Roman"/>
              </a:rPr>
              <a:t>are </a:t>
            </a:r>
            <a:r>
              <a:rPr sz="1200" dirty="0">
                <a:latin typeface="Times New Roman"/>
                <a:cs typeface="Times New Roman"/>
              </a:rPr>
              <a:t>already</a:t>
            </a:r>
            <a:r>
              <a:rPr sz="1200" spc="-35" dirty="0">
                <a:latin typeface="Times New Roman"/>
                <a:cs typeface="Times New Roman"/>
              </a:rPr>
              <a:t> </a:t>
            </a:r>
            <a:r>
              <a:rPr sz="1200" dirty="0">
                <a:latin typeface="Times New Roman"/>
                <a:cs typeface="Times New Roman"/>
              </a:rPr>
              <a:t>planned</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implementation</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next</a:t>
            </a:r>
            <a:r>
              <a:rPr sz="1200" spc="-30" dirty="0">
                <a:latin typeface="Times New Roman"/>
                <a:cs typeface="Times New Roman"/>
              </a:rPr>
              <a:t> </a:t>
            </a:r>
            <a:r>
              <a:rPr sz="1200" spc="-10" dirty="0">
                <a:latin typeface="Times New Roman"/>
                <a:cs typeface="Times New Roman"/>
              </a:rPr>
              <a:t>version.</a:t>
            </a:r>
            <a:endParaRPr sz="120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50</a:t>
            </a:r>
          </a:p>
        </p:txBody>
      </p:sp>
      <p:sp>
        <p:nvSpPr>
          <p:cNvPr id="2" name="object 2"/>
          <p:cNvSpPr txBox="1"/>
          <p:nvPr/>
        </p:nvSpPr>
        <p:spPr>
          <a:xfrm>
            <a:off x="1176324" y="1243330"/>
            <a:ext cx="5690235" cy="76009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6.9</a:t>
            </a:r>
            <a:r>
              <a:rPr sz="1350" b="1" spc="15" dirty="0">
                <a:latin typeface="Times New Roman"/>
                <a:cs typeface="Times New Roman"/>
              </a:rPr>
              <a:t> </a:t>
            </a:r>
            <a:r>
              <a:rPr sz="1350" b="1" spc="-10" dirty="0">
                <a:latin typeface="Times New Roman"/>
                <a:cs typeface="Times New Roman"/>
              </a:rPr>
              <a:t>Evaluation</a:t>
            </a:r>
            <a:r>
              <a:rPr sz="1350" b="1" dirty="0">
                <a:latin typeface="Times New Roman"/>
                <a:cs typeface="Times New Roman"/>
              </a:rPr>
              <a:t> </a:t>
            </a:r>
            <a:r>
              <a:rPr sz="1350" b="1" spc="-10" dirty="0">
                <a:latin typeface="Times New Roman"/>
                <a:cs typeface="Times New Roman"/>
              </a:rPr>
              <a:t>Metrics</a:t>
            </a:r>
            <a:endParaRPr sz="1350">
              <a:latin typeface="Times New Roman"/>
              <a:cs typeface="Times New Roman"/>
            </a:endParaRPr>
          </a:p>
          <a:p>
            <a:pPr marL="12700" marR="5080">
              <a:lnSpc>
                <a:spcPts val="1380"/>
              </a:lnSpc>
              <a:spcBef>
                <a:spcPts val="1435"/>
              </a:spcBef>
            </a:pPr>
            <a:r>
              <a:rPr sz="1200" dirty="0">
                <a:latin typeface="Times New Roman"/>
                <a:cs typeface="Times New Roman"/>
              </a:rPr>
              <a:t>Quantitative</a:t>
            </a:r>
            <a:r>
              <a:rPr sz="1200" spc="65" dirty="0">
                <a:latin typeface="Times New Roman"/>
                <a:cs typeface="Times New Roman"/>
              </a:rPr>
              <a:t> </a:t>
            </a:r>
            <a:r>
              <a:rPr sz="1200" dirty="0">
                <a:latin typeface="Times New Roman"/>
                <a:cs typeface="Times New Roman"/>
              </a:rPr>
              <a:t>performance</a:t>
            </a:r>
            <a:r>
              <a:rPr sz="1200" spc="70" dirty="0">
                <a:latin typeface="Times New Roman"/>
                <a:cs typeface="Times New Roman"/>
              </a:rPr>
              <a:t> </a:t>
            </a:r>
            <a:r>
              <a:rPr sz="1200" dirty="0">
                <a:latin typeface="Times New Roman"/>
                <a:cs typeface="Times New Roman"/>
              </a:rPr>
              <a:t>evaluation</a:t>
            </a:r>
            <a:r>
              <a:rPr sz="1200" spc="70" dirty="0">
                <a:latin typeface="Times New Roman"/>
                <a:cs typeface="Times New Roman"/>
              </a:rPr>
              <a:t> </a:t>
            </a:r>
            <a:r>
              <a:rPr sz="1200" dirty="0">
                <a:latin typeface="Times New Roman"/>
                <a:cs typeface="Times New Roman"/>
              </a:rPr>
              <a:t>was</a:t>
            </a:r>
            <a:r>
              <a:rPr sz="1200" spc="75" dirty="0">
                <a:latin typeface="Times New Roman"/>
                <a:cs typeface="Times New Roman"/>
              </a:rPr>
              <a:t> </a:t>
            </a:r>
            <a:r>
              <a:rPr sz="1200" dirty="0">
                <a:latin typeface="Times New Roman"/>
                <a:cs typeface="Times New Roman"/>
              </a:rPr>
              <a:t>based</a:t>
            </a:r>
            <a:r>
              <a:rPr sz="1200" spc="80" dirty="0">
                <a:latin typeface="Times New Roman"/>
                <a:cs typeface="Times New Roman"/>
              </a:rPr>
              <a:t> </a:t>
            </a:r>
            <a:r>
              <a:rPr sz="1200" dirty="0">
                <a:latin typeface="Times New Roman"/>
                <a:cs typeface="Times New Roman"/>
              </a:rPr>
              <a:t>on</a:t>
            </a:r>
            <a:r>
              <a:rPr sz="1200" spc="70" dirty="0">
                <a:latin typeface="Times New Roman"/>
                <a:cs typeface="Times New Roman"/>
              </a:rPr>
              <a:t> </a:t>
            </a:r>
            <a:r>
              <a:rPr sz="1200" dirty="0">
                <a:latin typeface="Times New Roman"/>
                <a:cs typeface="Times New Roman"/>
              </a:rPr>
              <a:t>system</a:t>
            </a:r>
            <a:r>
              <a:rPr sz="1200" spc="75" dirty="0">
                <a:latin typeface="Times New Roman"/>
                <a:cs typeface="Times New Roman"/>
              </a:rPr>
              <a:t> </a:t>
            </a:r>
            <a:r>
              <a:rPr sz="1200" dirty="0">
                <a:latin typeface="Times New Roman"/>
                <a:cs typeface="Times New Roman"/>
              </a:rPr>
              <a:t>KPIs,</a:t>
            </a:r>
            <a:r>
              <a:rPr sz="1200" spc="80" dirty="0">
                <a:latin typeface="Times New Roman"/>
                <a:cs typeface="Times New Roman"/>
              </a:rPr>
              <a:t> </a:t>
            </a:r>
            <a:r>
              <a:rPr sz="1200" dirty="0">
                <a:latin typeface="Times New Roman"/>
                <a:cs typeface="Times New Roman"/>
              </a:rPr>
              <a:t>model</a:t>
            </a:r>
            <a:r>
              <a:rPr sz="1200" spc="80" dirty="0">
                <a:latin typeface="Times New Roman"/>
                <a:cs typeface="Times New Roman"/>
              </a:rPr>
              <a:t> </a:t>
            </a:r>
            <a:r>
              <a:rPr sz="1200" dirty="0">
                <a:latin typeface="Times New Roman"/>
                <a:cs typeface="Times New Roman"/>
              </a:rPr>
              <a:t>accuracy,</a:t>
            </a:r>
            <a:r>
              <a:rPr sz="1200" spc="85"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spc="-20" dirty="0">
                <a:latin typeface="Times New Roman"/>
                <a:cs typeface="Times New Roman"/>
              </a:rPr>
              <a:t>user </a:t>
            </a:r>
            <a:r>
              <a:rPr sz="1200" spc="-10" dirty="0">
                <a:latin typeface="Times New Roman"/>
                <a:cs typeface="Times New Roman"/>
              </a:rPr>
              <a:t>satisfaction:</a:t>
            </a:r>
            <a:endParaRPr sz="12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1245099572"/>
              </p:ext>
            </p:extLst>
          </p:nvPr>
        </p:nvGraphicFramePr>
        <p:xfrm>
          <a:off x="1186230" y="2205312"/>
          <a:ext cx="2793999" cy="1452286"/>
        </p:xfrm>
        <a:graphic>
          <a:graphicData uri="http://schemas.openxmlformats.org/drawingml/2006/table">
            <a:tbl>
              <a:tblPr firstRow="1" bandRow="1">
                <a:tableStyleId>{2D5ABB26-0587-4C30-8999-92F81FD0307C}</a:tableStyleId>
              </a:tblPr>
              <a:tblGrid>
                <a:gridCol w="2081530">
                  <a:extLst>
                    <a:ext uri="{9D8B030D-6E8A-4147-A177-3AD203B41FA5}">
                      <a16:colId xmlns:a16="http://schemas.microsoft.com/office/drawing/2014/main" val="20000"/>
                    </a:ext>
                  </a:extLst>
                </a:gridCol>
                <a:gridCol w="712469">
                  <a:extLst>
                    <a:ext uri="{9D8B030D-6E8A-4147-A177-3AD203B41FA5}">
                      <a16:colId xmlns:a16="http://schemas.microsoft.com/office/drawing/2014/main" val="20001"/>
                    </a:ext>
                  </a:extLst>
                </a:gridCol>
              </a:tblGrid>
              <a:tr h="224349">
                <a:tc>
                  <a:txBody>
                    <a:bodyPr/>
                    <a:lstStyle/>
                    <a:p>
                      <a:pPr marL="31750">
                        <a:lnSpc>
                          <a:spcPts val="1310"/>
                        </a:lnSpc>
                      </a:pPr>
                      <a:r>
                        <a:rPr sz="1200" b="1" spc="-10" dirty="0">
                          <a:latin typeface="Times New Roman"/>
                          <a:cs typeface="Times New Roman"/>
                        </a:rPr>
                        <a:t>Metric</a:t>
                      </a:r>
                      <a:endParaRPr sz="1200">
                        <a:latin typeface="Times New Roman"/>
                        <a:cs typeface="Times New Roman"/>
                      </a:endParaRPr>
                    </a:p>
                  </a:txBody>
                  <a:tcPr marL="0" marR="0" marT="0" marB="0"/>
                </a:tc>
                <a:tc>
                  <a:txBody>
                    <a:bodyPr/>
                    <a:lstStyle/>
                    <a:p>
                      <a:pPr marL="20320">
                        <a:lnSpc>
                          <a:spcPts val="1310"/>
                        </a:lnSpc>
                      </a:pPr>
                      <a:r>
                        <a:rPr sz="1200" b="1" spc="-10" dirty="0">
                          <a:latin typeface="Times New Roman"/>
                          <a:cs typeface="Times New Roman"/>
                        </a:rPr>
                        <a:t>Value</a:t>
                      </a:r>
                      <a:endParaRPr sz="1200">
                        <a:latin typeface="Times New Roman"/>
                        <a:cs typeface="Times New Roman"/>
                      </a:endParaRPr>
                    </a:p>
                  </a:txBody>
                  <a:tcPr marL="0" marR="0" marT="0" marB="0"/>
                </a:tc>
                <a:extLst>
                  <a:ext uri="{0D108BD9-81ED-4DB2-BD59-A6C34878D82A}">
                    <a16:rowId xmlns:a16="http://schemas.microsoft.com/office/drawing/2014/main" val="10000"/>
                  </a:ext>
                </a:extLst>
              </a:tr>
              <a:tr h="250523">
                <a:tc>
                  <a:txBody>
                    <a:bodyPr/>
                    <a:lstStyle/>
                    <a:p>
                      <a:pPr marL="31750">
                        <a:lnSpc>
                          <a:spcPct val="100000"/>
                        </a:lnSpc>
                        <a:spcBef>
                          <a:spcPts val="45"/>
                        </a:spcBef>
                      </a:pPr>
                      <a:r>
                        <a:rPr sz="1200" dirty="0">
                          <a:latin typeface="Times New Roman"/>
                          <a:cs typeface="Times New Roman"/>
                        </a:rPr>
                        <a:t>Price</a:t>
                      </a:r>
                      <a:r>
                        <a:rPr sz="1200" spc="-50" dirty="0">
                          <a:latin typeface="Times New Roman"/>
                          <a:cs typeface="Times New Roman"/>
                        </a:rPr>
                        <a:t> </a:t>
                      </a:r>
                      <a:r>
                        <a:rPr sz="1200" dirty="0">
                          <a:latin typeface="Times New Roman"/>
                          <a:cs typeface="Times New Roman"/>
                        </a:rPr>
                        <a:t>Prediction</a:t>
                      </a:r>
                      <a:r>
                        <a:rPr sz="1200" spc="-40" dirty="0">
                          <a:latin typeface="Times New Roman"/>
                          <a:cs typeface="Times New Roman"/>
                        </a:rPr>
                        <a:t> </a:t>
                      </a:r>
                      <a:r>
                        <a:rPr sz="1200" spc="-10" dirty="0">
                          <a:latin typeface="Times New Roman"/>
                          <a:cs typeface="Times New Roman"/>
                        </a:rPr>
                        <a:t>Accuracy</a:t>
                      </a:r>
                      <a:endParaRPr sz="1200" dirty="0">
                        <a:latin typeface="Times New Roman"/>
                        <a:cs typeface="Times New Roman"/>
                      </a:endParaRPr>
                    </a:p>
                  </a:txBody>
                  <a:tcPr marL="0" marR="0" marT="5715" marB="0"/>
                </a:tc>
                <a:tc>
                  <a:txBody>
                    <a:bodyPr/>
                    <a:lstStyle/>
                    <a:p>
                      <a:pPr marL="20320">
                        <a:lnSpc>
                          <a:spcPct val="100000"/>
                        </a:lnSpc>
                        <a:spcBef>
                          <a:spcPts val="45"/>
                        </a:spcBef>
                      </a:pPr>
                      <a:r>
                        <a:rPr sz="1200" spc="-25" dirty="0">
                          <a:latin typeface="Times New Roman"/>
                          <a:cs typeface="Times New Roman"/>
                        </a:rPr>
                        <a:t>87%</a:t>
                      </a:r>
                      <a:endParaRPr sz="1200" dirty="0">
                        <a:latin typeface="Times New Roman"/>
                        <a:cs typeface="Times New Roman"/>
                      </a:endParaRPr>
                    </a:p>
                  </a:txBody>
                  <a:tcPr marL="0" marR="0" marT="5715" marB="0"/>
                </a:tc>
                <a:extLst>
                  <a:ext uri="{0D108BD9-81ED-4DB2-BD59-A6C34878D82A}">
                    <a16:rowId xmlns:a16="http://schemas.microsoft.com/office/drawing/2014/main" val="10001"/>
                  </a:ext>
                </a:extLst>
              </a:tr>
              <a:tr h="251271">
                <a:tc>
                  <a:txBody>
                    <a:bodyPr/>
                    <a:lstStyle/>
                    <a:p>
                      <a:pPr marL="31750">
                        <a:lnSpc>
                          <a:spcPct val="100000"/>
                        </a:lnSpc>
                        <a:spcBef>
                          <a:spcPts val="45"/>
                        </a:spcBef>
                      </a:pPr>
                      <a:r>
                        <a:rPr sz="1200" dirty="0">
                          <a:latin typeface="Times New Roman"/>
                          <a:cs typeface="Times New Roman"/>
                        </a:rPr>
                        <a:t>API</a:t>
                      </a:r>
                      <a:r>
                        <a:rPr sz="1200" spc="-25" dirty="0">
                          <a:latin typeface="Times New Roman"/>
                          <a:cs typeface="Times New Roman"/>
                        </a:rPr>
                        <a:t> </a:t>
                      </a:r>
                      <a:r>
                        <a:rPr sz="1200" dirty="0">
                          <a:latin typeface="Times New Roman"/>
                          <a:cs typeface="Times New Roman"/>
                        </a:rPr>
                        <a:t>Average</a:t>
                      </a:r>
                      <a:r>
                        <a:rPr sz="1200" spc="-20" dirty="0">
                          <a:latin typeface="Times New Roman"/>
                          <a:cs typeface="Times New Roman"/>
                        </a:rPr>
                        <a:t> </a:t>
                      </a:r>
                      <a:r>
                        <a:rPr sz="1200" dirty="0">
                          <a:latin typeface="Times New Roman"/>
                          <a:cs typeface="Times New Roman"/>
                        </a:rPr>
                        <a:t>Response</a:t>
                      </a:r>
                      <a:r>
                        <a:rPr sz="1200" spc="-10" dirty="0">
                          <a:latin typeface="Times New Roman"/>
                          <a:cs typeface="Times New Roman"/>
                        </a:rPr>
                        <a:t> </a:t>
                      </a:r>
                      <a:r>
                        <a:rPr sz="1200" spc="-20" dirty="0">
                          <a:latin typeface="Times New Roman"/>
                          <a:cs typeface="Times New Roman"/>
                        </a:rPr>
                        <a:t>Time</a:t>
                      </a:r>
                      <a:endParaRPr sz="1200" dirty="0">
                        <a:latin typeface="Times New Roman"/>
                        <a:cs typeface="Times New Roman"/>
                      </a:endParaRPr>
                    </a:p>
                  </a:txBody>
                  <a:tcPr marL="0" marR="0" marT="5715" marB="0"/>
                </a:tc>
                <a:tc>
                  <a:txBody>
                    <a:bodyPr/>
                    <a:lstStyle/>
                    <a:p>
                      <a:pPr marL="20320">
                        <a:lnSpc>
                          <a:spcPct val="100000"/>
                        </a:lnSpc>
                        <a:spcBef>
                          <a:spcPts val="45"/>
                        </a:spcBef>
                      </a:pPr>
                      <a:r>
                        <a:rPr sz="1200" dirty="0">
                          <a:latin typeface="Times New Roman"/>
                          <a:cs typeface="Times New Roman"/>
                        </a:rPr>
                        <a:t>&lt;</a:t>
                      </a:r>
                      <a:r>
                        <a:rPr sz="1200" spc="-5" dirty="0">
                          <a:latin typeface="Times New Roman"/>
                          <a:cs typeface="Times New Roman"/>
                        </a:rPr>
                        <a:t> </a:t>
                      </a:r>
                      <a:r>
                        <a:rPr sz="1200" dirty="0">
                          <a:latin typeface="Times New Roman"/>
                          <a:cs typeface="Times New Roman"/>
                        </a:rPr>
                        <a:t>500 </a:t>
                      </a:r>
                      <a:r>
                        <a:rPr sz="1200" spc="-25" dirty="0">
                          <a:latin typeface="Times New Roman"/>
                          <a:cs typeface="Times New Roman"/>
                        </a:rPr>
                        <a:t>ms</a:t>
                      </a:r>
                      <a:endParaRPr sz="1200" dirty="0">
                        <a:latin typeface="Times New Roman"/>
                        <a:cs typeface="Times New Roman"/>
                      </a:endParaRPr>
                    </a:p>
                  </a:txBody>
                  <a:tcPr marL="0" marR="0" marT="5715" marB="0"/>
                </a:tc>
                <a:extLst>
                  <a:ext uri="{0D108BD9-81ED-4DB2-BD59-A6C34878D82A}">
                    <a16:rowId xmlns:a16="http://schemas.microsoft.com/office/drawing/2014/main" val="10003"/>
                  </a:ext>
                </a:extLst>
              </a:tr>
              <a:tr h="251271">
                <a:tc>
                  <a:txBody>
                    <a:bodyPr/>
                    <a:lstStyle/>
                    <a:p>
                      <a:pPr marL="31750">
                        <a:lnSpc>
                          <a:spcPct val="100000"/>
                        </a:lnSpc>
                        <a:spcBef>
                          <a:spcPts val="45"/>
                        </a:spcBef>
                      </a:pPr>
                      <a:r>
                        <a:rPr sz="1200" dirty="0">
                          <a:latin typeface="Times New Roman"/>
                          <a:cs typeface="Times New Roman"/>
                        </a:rPr>
                        <a:t>WebSocket</a:t>
                      </a:r>
                      <a:r>
                        <a:rPr sz="1200" spc="-70" dirty="0">
                          <a:latin typeface="Times New Roman"/>
                          <a:cs typeface="Times New Roman"/>
                        </a:rPr>
                        <a:t> </a:t>
                      </a:r>
                      <a:r>
                        <a:rPr sz="1200" spc="-10" dirty="0">
                          <a:latin typeface="Times New Roman"/>
                          <a:cs typeface="Times New Roman"/>
                        </a:rPr>
                        <a:t>Latency</a:t>
                      </a:r>
                      <a:endParaRPr sz="1200">
                        <a:latin typeface="Times New Roman"/>
                        <a:cs typeface="Times New Roman"/>
                      </a:endParaRPr>
                    </a:p>
                  </a:txBody>
                  <a:tcPr marL="0" marR="0" marT="5715" marB="0"/>
                </a:tc>
                <a:tc>
                  <a:txBody>
                    <a:bodyPr/>
                    <a:lstStyle/>
                    <a:p>
                      <a:pPr marL="20320">
                        <a:lnSpc>
                          <a:spcPct val="100000"/>
                        </a:lnSpc>
                        <a:spcBef>
                          <a:spcPts val="45"/>
                        </a:spcBef>
                      </a:pPr>
                      <a:r>
                        <a:rPr sz="1200" dirty="0">
                          <a:latin typeface="Times New Roman"/>
                          <a:cs typeface="Times New Roman"/>
                        </a:rPr>
                        <a:t>&lt;</a:t>
                      </a:r>
                      <a:r>
                        <a:rPr sz="1200" spc="-15" dirty="0">
                          <a:latin typeface="Times New Roman"/>
                          <a:cs typeface="Times New Roman"/>
                        </a:rPr>
                        <a:t> </a:t>
                      </a:r>
                      <a:r>
                        <a:rPr sz="1200" dirty="0">
                          <a:latin typeface="Times New Roman"/>
                          <a:cs typeface="Times New Roman"/>
                        </a:rPr>
                        <a:t>1 </a:t>
                      </a:r>
                      <a:r>
                        <a:rPr sz="1200" spc="-10" dirty="0">
                          <a:latin typeface="Times New Roman"/>
                          <a:cs typeface="Times New Roman"/>
                        </a:rPr>
                        <a:t>second</a:t>
                      </a:r>
                      <a:endParaRPr sz="1200">
                        <a:latin typeface="Times New Roman"/>
                        <a:cs typeface="Times New Roman"/>
                      </a:endParaRPr>
                    </a:p>
                  </a:txBody>
                  <a:tcPr marL="0" marR="0" marT="5715" marB="0"/>
                </a:tc>
                <a:extLst>
                  <a:ext uri="{0D108BD9-81ED-4DB2-BD59-A6C34878D82A}">
                    <a16:rowId xmlns:a16="http://schemas.microsoft.com/office/drawing/2014/main" val="10004"/>
                  </a:ext>
                </a:extLst>
              </a:tr>
              <a:tr h="250523">
                <a:tc>
                  <a:txBody>
                    <a:bodyPr/>
                    <a:lstStyle/>
                    <a:p>
                      <a:pPr marL="31750">
                        <a:lnSpc>
                          <a:spcPct val="100000"/>
                        </a:lnSpc>
                        <a:spcBef>
                          <a:spcPts val="45"/>
                        </a:spcBef>
                      </a:pP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Satisfaction</a:t>
                      </a:r>
                      <a:r>
                        <a:rPr sz="1200" spc="-40" dirty="0">
                          <a:latin typeface="Times New Roman"/>
                          <a:cs typeface="Times New Roman"/>
                        </a:rPr>
                        <a:t> </a:t>
                      </a:r>
                      <a:r>
                        <a:rPr sz="1200" spc="-20" dirty="0">
                          <a:latin typeface="Times New Roman"/>
                          <a:cs typeface="Times New Roman"/>
                        </a:rPr>
                        <a:t>Rate</a:t>
                      </a:r>
                      <a:endParaRPr sz="1200" dirty="0">
                        <a:latin typeface="Times New Roman"/>
                        <a:cs typeface="Times New Roman"/>
                      </a:endParaRPr>
                    </a:p>
                  </a:txBody>
                  <a:tcPr marL="0" marR="0" marT="5715" marB="0"/>
                </a:tc>
                <a:tc>
                  <a:txBody>
                    <a:bodyPr/>
                    <a:lstStyle/>
                    <a:p>
                      <a:pPr marL="20320">
                        <a:lnSpc>
                          <a:spcPct val="100000"/>
                        </a:lnSpc>
                        <a:spcBef>
                          <a:spcPts val="45"/>
                        </a:spcBef>
                      </a:pPr>
                      <a:r>
                        <a:rPr sz="1200" spc="-25" dirty="0">
                          <a:latin typeface="Times New Roman"/>
                          <a:cs typeface="Times New Roman"/>
                        </a:rPr>
                        <a:t>92%</a:t>
                      </a:r>
                      <a:endParaRPr sz="1200" dirty="0">
                        <a:latin typeface="Times New Roman"/>
                        <a:cs typeface="Times New Roman"/>
                      </a:endParaRPr>
                    </a:p>
                  </a:txBody>
                  <a:tcPr marL="0" marR="0" marT="5715" marB="0"/>
                </a:tc>
                <a:extLst>
                  <a:ext uri="{0D108BD9-81ED-4DB2-BD59-A6C34878D82A}">
                    <a16:rowId xmlns:a16="http://schemas.microsoft.com/office/drawing/2014/main" val="10005"/>
                  </a:ext>
                </a:extLst>
              </a:tr>
              <a:tr h="224349">
                <a:tc>
                  <a:txBody>
                    <a:bodyPr/>
                    <a:lstStyle/>
                    <a:p>
                      <a:pPr marL="31750">
                        <a:lnSpc>
                          <a:spcPts val="1360"/>
                        </a:lnSpc>
                        <a:spcBef>
                          <a:spcPts val="45"/>
                        </a:spcBef>
                      </a:pPr>
                      <a:r>
                        <a:rPr sz="1200" dirty="0">
                          <a:latin typeface="Times New Roman"/>
                          <a:cs typeface="Times New Roman"/>
                        </a:rPr>
                        <a:t>Successful</a:t>
                      </a:r>
                      <a:r>
                        <a:rPr sz="1200" spc="-40" dirty="0">
                          <a:latin typeface="Times New Roman"/>
                          <a:cs typeface="Times New Roman"/>
                        </a:rPr>
                        <a:t> </a:t>
                      </a:r>
                      <a:r>
                        <a:rPr sz="1200" spc="-10" dirty="0">
                          <a:latin typeface="Times New Roman"/>
                          <a:cs typeface="Times New Roman"/>
                        </a:rPr>
                        <a:t>Transactions</a:t>
                      </a:r>
                      <a:endParaRPr sz="1200" dirty="0">
                        <a:latin typeface="Times New Roman"/>
                        <a:cs typeface="Times New Roman"/>
                      </a:endParaRPr>
                    </a:p>
                  </a:txBody>
                  <a:tcPr marL="0" marR="0" marT="5715" marB="0"/>
                </a:tc>
                <a:tc>
                  <a:txBody>
                    <a:bodyPr/>
                    <a:lstStyle/>
                    <a:p>
                      <a:pPr marL="20320">
                        <a:lnSpc>
                          <a:spcPts val="1360"/>
                        </a:lnSpc>
                        <a:spcBef>
                          <a:spcPts val="45"/>
                        </a:spcBef>
                      </a:pPr>
                      <a:r>
                        <a:rPr sz="1200" spc="-25" dirty="0">
                          <a:latin typeface="Times New Roman"/>
                          <a:cs typeface="Times New Roman"/>
                        </a:rPr>
                        <a:t>97%</a:t>
                      </a:r>
                      <a:endParaRPr sz="1200" dirty="0">
                        <a:latin typeface="Times New Roman"/>
                        <a:cs typeface="Times New Roman"/>
                      </a:endParaRPr>
                    </a:p>
                  </a:txBody>
                  <a:tcPr marL="0" marR="0" marT="5715" marB="0"/>
                </a:tc>
                <a:extLst>
                  <a:ext uri="{0D108BD9-81ED-4DB2-BD59-A6C34878D82A}">
                    <a16:rowId xmlns:a16="http://schemas.microsoft.com/office/drawing/2014/main" val="10006"/>
                  </a:ext>
                </a:extLst>
              </a:tr>
            </a:tbl>
          </a:graphicData>
        </a:graphic>
      </p:graphicFrame>
      <p:sp>
        <p:nvSpPr>
          <p:cNvPr id="4" name="object 4"/>
          <p:cNvSpPr txBox="1"/>
          <p:nvPr/>
        </p:nvSpPr>
        <p:spPr>
          <a:xfrm>
            <a:off x="1176324" y="3837559"/>
            <a:ext cx="5693410" cy="383540"/>
          </a:xfrm>
          <a:prstGeom prst="rect">
            <a:avLst/>
          </a:prstGeom>
        </p:spPr>
        <p:txBody>
          <a:bodyPr vert="horz" wrap="square" lIns="0" tIns="24765" rIns="0" bIns="0" rtlCol="0">
            <a:spAutoFit/>
          </a:bodyPr>
          <a:lstStyle/>
          <a:p>
            <a:pPr marL="12700" marR="5080">
              <a:lnSpc>
                <a:spcPts val="1380"/>
              </a:lnSpc>
              <a:spcBef>
                <a:spcPts val="195"/>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metrics</a:t>
            </a:r>
            <a:r>
              <a:rPr sz="1200" spc="30" dirty="0">
                <a:latin typeface="Times New Roman"/>
                <a:cs typeface="Times New Roman"/>
              </a:rPr>
              <a:t> </a:t>
            </a:r>
            <a:r>
              <a:rPr sz="1200" dirty="0">
                <a:latin typeface="Times New Roman"/>
                <a:cs typeface="Times New Roman"/>
              </a:rPr>
              <a:t>establish</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not</a:t>
            </a:r>
            <a:r>
              <a:rPr sz="1200" spc="35" dirty="0">
                <a:latin typeface="Times New Roman"/>
                <a:cs typeface="Times New Roman"/>
              </a:rPr>
              <a:t> </a:t>
            </a:r>
            <a:r>
              <a:rPr sz="1200" dirty="0">
                <a:latin typeface="Times New Roman"/>
                <a:cs typeface="Times New Roman"/>
              </a:rPr>
              <a:t>only</a:t>
            </a:r>
            <a:r>
              <a:rPr sz="1200" spc="30" dirty="0">
                <a:latin typeface="Times New Roman"/>
                <a:cs typeface="Times New Roman"/>
              </a:rPr>
              <a:t> </a:t>
            </a:r>
            <a:r>
              <a:rPr sz="1200" dirty="0">
                <a:latin typeface="Times New Roman"/>
                <a:cs typeface="Times New Roman"/>
              </a:rPr>
              <a:t>technically</a:t>
            </a:r>
            <a:r>
              <a:rPr sz="1200" spc="30" dirty="0">
                <a:latin typeface="Times New Roman"/>
                <a:cs typeface="Times New Roman"/>
              </a:rPr>
              <a:t> </a:t>
            </a:r>
            <a:r>
              <a:rPr sz="1200" dirty="0">
                <a:latin typeface="Times New Roman"/>
                <a:cs typeface="Times New Roman"/>
              </a:rPr>
              <a:t>sound</a:t>
            </a:r>
            <a:r>
              <a:rPr sz="1200" spc="35" dirty="0">
                <a:latin typeface="Times New Roman"/>
                <a:cs typeface="Times New Roman"/>
              </a:rPr>
              <a:t> </a:t>
            </a:r>
            <a:r>
              <a:rPr sz="1200" dirty="0">
                <a:latin typeface="Times New Roman"/>
                <a:cs typeface="Times New Roman"/>
              </a:rPr>
              <a:t>but</a:t>
            </a:r>
            <a:r>
              <a:rPr sz="1200" spc="30" dirty="0">
                <a:latin typeface="Times New Roman"/>
                <a:cs typeface="Times New Roman"/>
              </a:rPr>
              <a:t> </a:t>
            </a:r>
            <a:r>
              <a:rPr sz="1200" dirty="0">
                <a:latin typeface="Times New Roman"/>
                <a:cs typeface="Times New Roman"/>
              </a:rPr>
              <a:t>also</a:t>
            </a:r>
            <a:r>
              <a:rPr sz="1200" spc="35" dirty="0">
                <a:latin typeface="Times New Roman"/>
                <a:cs typeface="Times New Roman"/>
              </a:rPr>
              <a:t> </a:t>
            </a:r>
            <a:r>
              <a:rPr sz="1200" dirty="0">
                <a:latin typeface="Times New Roman"/>
                <a:cs typeface="Times New Roman"/>
              </a:rPr>
              <a:t>performs</a:t>
            </a:r>
            <a:r>
              <a:rPr sz="1200" spc="30" dirty="0">
                <a:latin typeface="Times New Roman"/>
                <a:cs typeface="Times New Roman"/>
              </a:rPr>
              <a:t> </a:t>
            </a:r>
            <a:r>
              <a:rPr sz="1200" spc="-20" dirty="0">
                <a:latin typeface="Times New Roman"/>
                <a:cs typeface="Times New Roman"/>
              </a:rPr>
              <a:t>well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world</a:t>
            </a:r>
            <a:r>
              <a:rPr sz="1200" spc="-10" dirty="0">
                <a:latin typeface="Times New Roman"/>
                <a:cs typeface="Times New Roman"/>
              </a:rPr>
              <a:t> usage.</a:t>
            </a:r>
            <a:endParaRPr sz="1200">
              <a:latin typeface="Times New Roman"/>
              <a:cs typeface="Times New Roman"/>
            </a:endParaRPr>
          </a:p>
        </p:txBody>
      </p:sp>
      <p:sp>
        <p:nvSpPr>
          <p:cNvPr id="5" name="object 5"/>
          <p:cNvSpPr txBox="1"/>
          <p:nvPr/>
        </p:nvSpPr>
        <p:spPr>
          <a:xfrm>
            <a:off x="1176324" y="4718430"/>
            <a:ext cx="5693410" cy="2517775"/>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6.10</a:t>
            </a:r>
            <a:r>
              <a:rPr sz="1350" b="1" spc="-15" dirty="0">
                <a:latin typeface="Times New Roman"/>
                <a:cs typeface="Times New Roman"/>
              </a:rPr>
              <a:t> </a:t>
            </a:r>
            <a:r>
              <a:rPr sz="1350" b="1" dirty="0">
                <a:latin typeface="Times New Roman"/>
                <a:cs typeface="Times New Roman"/>
              </a:rPr>
              <a:t>Summary</a:t>
            </a:r>
            <a:r>
              <a:rPr sz="1350" b="1" spc="-30" dirty="0">
                <a:latin typeface="Times New Roman"/>
                <a:cs typeface="Times New Roman"/>
              </a:rPr>
              <a:t> </a:t>
            </a:r>
            <a:r>
              <a:rPr sz="1350" b="1" dirty="0">
                <a:latin typeface="Times New Roman"/>
                <a:cs typeface="Times New Roman"/>
              </a:rPr>
              <a:t>of</a:t>
            </a:r>
            <a:r>
              <a:rPr sz="1350" b="1" spc="-15" dirty="0">
                <a:latin typeface="Times New Roman"/>
                <a:cs typeface="Times New Roman"/>
              </a:rPr>
              <a:t> </a:t>
            </a:r>
            <a:r>
              <a:rPr sz="1350" b="1" dirty="0">
                <a:latin typeface="Times New Roman"/>
                <a:cs typeface="Times New Roman"/>
              </a:rPr>
              <a:t>Test</a:t>
            </a:r>
            <a:r>
              <a:rPr sz="1350" b="1" spc="-15" dirty="0">
                <a:latin typeface="Times New Roman"/>
                <a:cs typeface="Times New Roman"/>
              </a:rPr>
              <a:t> </a:t>
            </a:r>
            <a:r>
              <a:rPr sz="1350" b="1" spc="-10" dirty="0">
                <a:latin typeface="Times New Roman"/>
                <a:cs typeface="Times New Roman"/>
              </a:rPr>
              <a:t>Results</a:t>
            </a:r>
            <a:endParaRPr sz="1350">
              <a:latin typeface="Times New Roman"/>
              <a:cs typeface="Times New Roman"/>
            </a:endParaRPr>
          </a:p>
          <a:p>
            <a:pPr marL="12700" marR="5080" algn="just">
              <a:lnSpc>
                <a:spcPct val="95900"/>
              </a:lnSpc>
              <a:spcBef>
                <a:spcPts val="1395"/>
              </a:spcBef>
            </a:pPr>
            <a:r>
              <a:rPr sz="1200" dirty="0">
                <a:latin typeface="Times New Roman"/>
                <a:cs typeface="Times New Roman"/>
              </a:rPr>
              <a:t>The</a:t>
            </a:r>
            <a:r>
              <a:rPr sz="1200" spc="310" dirty="0">
                <a:latin typeface="Times New Roman"/>
                <a:cs typeface="Times New Roman"/>
              </a:rPr>
              <a:t> </a:t>
            </a:r>
            <a:r>
              <a:rPr sz="1200" dirty="0">
                <a:latin typeface="Times New Roman"/>
                <a:cs typeface="Times New Roman"/>
              </a:rPr>
              <a:t>comprehensive</a:t>
            </a:r>
            <a:r>
              <a:rPr sz="1200" spc="315" dirty="0">
                <a:latin typeface="Times New Roman"/>
                <a:cs typeface="Times New Roman"/>
              </a:rPr>
              <a:t> </a:t>
            </a:r>
            <a:r>
              <a:rPr sz="1200" dirty="0">
                <a:latin typeface="Times New Roman"/>
                <a:cs typeface="Times New Roman"/>
              </a:rPr>
              <a:t>testing</a:t>
            </a:r>
            <a:r>
              <a:rPr sz="1200" spc="325" dirty="0">
                <a:latin typeface="Times New Roman"/>
                <a:cs typeface="Times New Roman"/>
              </a:rPr>
              <a:t> </a:t>
            </a:r>
            <a:r>
              <a:rPr sz="1200" dirty="0">
                <a:latin typeface="Times New Roman"/>
                <a:cs typeface="Times New Roman"/>
              </a:rPr>
              <a:t>strategy</a:t>
            </a:r>
            <a:r>
              <a:rPr sz="1200" spc="315" dirty="0">
                <a:latin typeface="Times New Roman"/>
                <a:cs typeface="Times New Roman"/>
              </a:rPr>
              <a:t> </a:t>
            </a:r>
            <a:r>
              <a:rPr sz="1200" dirty="0">
                <a:latin typeface="Times New Roman"/>
                <a:cs typeface="Times New Roman"/>
              </a:rPr>
              <a:t>applied</a:t>
            </a:r>
            <a:r>
              <a:rPr sz="1200" spc="315" dirty="0">
                <a:latin typeface="Times New Roman"/>
                <a:cs typeface="Times New Roman"/>
              </a:rPr>
              <a:t> </a:t>
            </a:r>
            <a:r>
              <a:rPr sz="1200" dirty="0">
                <a:latin typeface="Times New Roman"/>
                <a:cs typeface="Times New Roman"/>
              </a:rPr>
              <a:t>to</a:t>
            </a:r>
            <a:r>
              <a:rPr sz="1200" spc="310" dirty="0">
                <a:latin typeface="Times New Roman"/>
                <a:cs typeface="Times New Roman"/>
              </a:rPr>
              <a:t> </a:t>
            </a:r>
            <a:r>
              <a:rPr sz="1200" dirty="0">
                <a:latin typeface="Times New Roman"/>
                <a:cs typeface="Times New Roman"/>
              </a:rPr>
              <a:t>Auction</a:t>
            </a:r>
            <a:r>
              <a:rPr sz="1200" spc="315" dirty="0">
                <a:latin typeface="Times New Roman"/>
                <a:cs typeface="Times New Roman"/>
              </a:rPr>
              <a:t> </a:t>
            </a:r>
            <a:r>
              <a:rPr sz="1200" dirty="0">
                <a:latin typeface="Times New Roman"/>
                <a:cs typeface="Times New Roman"/>
              </a:rPr>
              <a:t>Abode</a:t>
            </a:r>
            <a:r>
              <a:rPr sz="1200" spc="315" dirty="0">
                <a:latin typeface="Times New Roman"/>
                <a:cs typeface="Times New Roman"/>
              </a:rPr>
              <a:t> </a:t>
            </a:r>
            <a:r>
              <a:rPr sz="1200" dirty="0">
                <a:latin typeface="Times New Roman"/>
                <a:cs typeface="Times New Roman"/>
              </a:rPr>
              <a:t>proved</a:t>
            </a:r>
            <a:r>
              <a:rPr sz="1200" spc="315" dirty="0">
                <a:latin typeface="Times New Roman"/>
                <a:cs typeface="Times New Roman"/>
              </a:rPr>
              <a:t> </a:t>
            </a:r>
            <a:r>
              <a:rPr sz="1200" dirty="0">
                <a:latin typeface="Times New Roman"/>
                <a:cs typeface="Times New Roman"/>
              </a:rPr>
              <a:t>successful.</a:t>
            </a:r>
            <a:r>
              <a:rPr sz="1200" spc="320" dirty="0">
                <a:latin typeface="Times New Roman"/>
                <a:cs typeface="Times New Roman"/>
              </a:rPr>
              <a:t> </a:t>
            </a:r>
            <a:r>
              <a:rPr sz="1200" spc="-25" dirty="0">
                <a:latin typeface="Times New Roman"/>
                <a:cs typeface="Times New Roman"/>
              </a:rPr>
              <a:t>The </a:t>
            </a:r>
            <a:r>
              <a:rPr sz="1200" dirty="0">
                <a:latin typeface="Times New Roman"/>
                <a:cs typeface="Times New Roman"/>
              </a:rPr>
              <a:t>platform</a:t>
            </a:r>
            <a:r>
              <a:rPr sz="1200" spc="-5" dirty="0">
                <a:latin typeface="Times New Roman"/>
                <a:cs typeface="Times New Roman"/>
              </a:rPr>
              <a:t> </a:t>
            </a:r>
            <a:r>
              <a:rPr sz="1200" dirty="0">
                <a:latin typeface="Times New Roman"/>
                <a:cs typeface="Times New Roman"/>
              </a:rPr>
              <a:t>passed</a:t>
            </a:r>
            <a:r>
              <a:rPr sz="1200" spc="10" dirty="0">
                <a:latin typeface="Times New Roman"/>
                <a:cs typeface="Times New Roman"/>
              </a:rPr>
              <a:t> </a:t>
            </a:r>
            <a:r>
              <a:rPr sz="1200" dirty="0">
                <a:latin typeface="Times New Roman"/>
                <a:cs typeface="Times New Roman"/>
              </a:rPr>
              <a:t>all</a:t>
            </a:r>
            <a:r>
              <a:rPr sz="1200" spc="5" dirty="0">
                <a:latin typeface="Times New Roman"/>
                <a:cs typeface="Times New Roman"/>
              </a:rPr>
              <a:t> </a:t>
            </a:r>
            <a:r>
              <a:rPr sz="1200" dirty="0">
                <a:latin typeface="Times New Roman"/>
                <a:cs typeface="Times New Roman"/>
              </a:rPr>
              <a:t>functional and non-functional</a:t>
            </a:r>
            <a:r>
              <a:rPr sz="1200" spc="10" dirty="0">
                <a:latin typeface="Times New Roman"/>
                <a:cs typeface="Times New Roman"/>
              </a:rPr>
              <a:t> </a:t>
            </a:r>
            <a:r>
              <a:rPr sz="1200" dirty="0">
                <a:latin typeface="Times New Roman"/>
                <a:cs typeface="Times New Roman"/>
              </a:rPr>
              <a:t>tests</a:t>
            </a:r>
            <a:r>
              <a:rPr sz="1200" spc="5" dirty="0">
                <a:latin typeface="Times New Roman"/>
                <a:cs typeface="Times New Roman"/>
              </a:rPr>
              <a:t> </a:t>
            </a:r>
            <a:r>
              <a:rPr sz="1200" dirty="0">
                <a:latin typeface="Times New Roman"/>
                <a:cs typeface="Times New Roman"/>
              </a:rPr>
              <a:t>with</a:t>
            </a:r>
            <a:r>
              <a:rPr sz="1200" spc="5" dirty="0">
                <a:latin typeface="Times New Roman"/>
                <a:cs typeface="Times New Roman"/>
              </a:rPr>
              <a:t> </a:t>
            </a:r>
            <a:r>
              <a:rPr sz="1200" dirty="0">
                <a:latin typeface="Times New Roman"/>
                <a:cs typeface="Times New Roman"/>
              </a:rPr>
              <a:t>high</a:t>
            </a:r>
            <a:r>
              <a:rPr sz="1200" spc="15" dirty="0">
                <a:latin typeface="Times New Roman"/>
                <a:cs typeface="Times New Roman"/>
              </a:rPr>
              <a:t> </a:t>
            </a:r>
            <a:r>
              <a:rPr sz="1200" dirty="0">
                <a:latin typeface="Times New Roman"/>
                <a:cs typeface="Times New Roman"/>
              </a:rPr>
              <a:t>reliability and</a:t>
            </a:r>
            <a:r>
              <a:rPr sz="1200" spc="10" dirty="0">
                <a:latin typeface="Times New Roman"/>
                <a:cs typeface="Times New Roman"/>
              </a:rPr>
              <a:t> </a:t>
            </a:r>
            <a:r>
              <a:rPr sz="1200" spc="-10" dirty="0">
                <a:latin typeface="Times New Roman"/>
                <a:cs typeface="Times New Roman"/>
              </a:rPr>
              <a:t>consistency.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AI</a:t>
            </a:r>
            <a:r>
              <a:rPr sz="1200" spc="100" dirty="0">
                <a:latin typeface="Times New Roman"/>
                <a:cs typeface="Times New Roman"/>
              </a:rPr>
              <a:t> </a:t>
            </a:r>
            <a:r>
              <a:rPr sz="1200" dirty="0">
                <a:latin typeface="Times New Roman"/>
                <a:cs typeface="Times New Roman"/>
              </a:rPr>
              <a:t>modules,</a:t>
            </a:r>
            <a:r>
              <a:rPr sz="1200" spc="13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10" dirty="0">
                <a:latin typeface="Times New Roman"/>
                <a:cs typeface="Times New Roman"/>
              </a:rPr>
              <a:t> </a:t>
            </a:r>
            <a:r>
              <a:rPr sz="1200" dirty="0">
                <a:latin typeface="Times New Roman"/>
                <a:cs typeface="Times New Roman"/>
              </a:rPr>
              <a:t>features,</a:t>
            </a:r>
            <a:r>
              <a:rPr sz="1200" spc="114" dirty="0">
                <a:latin typeface="Times New Roman"/>
                <a:cs typeface="Times New Roman"/>
              </a:rPr>
              <a:t> </a:t>
            </a:r>
            <a:r>
              <a:rPr sz="1200" dirty="0">
                <a:latin typeface="Times New Roman"/>
                <a:cs typeface="Times New Roman"/>
              </a:rPr>
              <a:t>and</a:t>
            </a:r>
            <a:r>
              <a:rPr sz="1200" spc="125" dirty="0">
                <a:latin typeface="Times New Roman"/>
                <a:cs typeface="Times New Roman"/>
              </a:rPr>
              <a:t> </a:t>
            </a:r>
            <a:r>
              <a:rPr sz="1200" dirty="0">
                <a:latin typeface="Times New Roman"/>
                <a:cs typeface="Times New Roman"/>
              </a:rPr>
              <a:t>backend</a:t>
            </a:r>
            <a:r>
              <a:rPr sz="1200" spc="114" dirty="0">
                <a:latin typeface="Times New Roman"/>
                <a:cs typeface="Times New Roman"/>
              </a:rPr>
              <a:t> </a:t>
            </a:r>
            <a:r>
              <a:rPr sz="1200" dirty="0">
                <a:latin typeface="Times New Roman"/>
                <a:cs typeface="Times New Roman"/>
              </a:rPr>
              <a:t>services</a:t>
            </a:r>
            <a:r>
              <a:rPr sz="1200" spc="114" dirty="0">
                <a:latin typeface="Times New Roman"/>
                <a:cs typeface="Times New Roman"/>
              </a:rPr>
              <a:t> </a:t>
            </a:r>
            <a:r>
              <a:rPr sz="1200" dirty="0">
                <a:latin typeface="Times New Roman"/>
                <a:cs typeface="Times New Roman"/>
              </a:rPr>
              <a:t>demonstrated</a:t>
            </a:r>
            <a:r>
              <a:rPr sz="1200" spc="125" dirty="0">
                <a:latin typeface="Times New Roman"/>
                <a:cs typeface="Times New Roman"/>
              </a:rPr>
              <a:t> </a:t>
            </a:r>
            <a:r>
              <a:rPr sz="1200" dirty="0">
                <a:latin typeface="Times New Roman"/>
                <a:cs typeface="Times New Roman"/>
              </a:rPr>
              <a:t>high</a:t>
            </a:r>
            <a:r>
              <a:rPr sz="1200" spc="120" dirty="0">
                <a:latin typeface="Times New Roman"/>
                <a:cs typeface="Times New Roman"/>
              </a:rPr>
              <a:t> </a:t>
            </a:r>
            <a:r>
              <a:rPr sz="1200" spc="-10" dirty="0">
                <a:latin typeface="Times New Roman"/>
                <a:cs typeface="Times New Roman"/>
              </a:rPr>
              <a:t>performance </a:t>
            </a:r>
            <a:r>
              <a:rPr sz="1200" dirty="0">
                <a:latin typeface="Times New Roman"/>
                <a:cs typeface="Times New Roman"/>
              </a:rPr>
              <a:t>under</a:t>
            </a:r>
            <a:r>
              <a:rPr sz="1200" spc="-35" dirty="0">
                <a:latin typeface="Times New Roman"/>
                <a:cs typeface="Times New Roman"/>
              </a:rPr>
              <a:t> </a:t>
            </a:r>
            <a:r>
              <a:rPr sz="1200" spc="-10" dirty="0">
                <a:latin typeface="Times New Roman"/>
                <a:cs typeface="Times New Roman"/>
              </a:rPr>
              <a:t>stress.</a:t>
            </a:r>
            <a:endParaRPr sz="1200">
              <a:latin typeface="Times New Roman"/>
              <a:cs typeface="Times New Roman"/>
            </a:endParaRPr>
          </a:p>
          <a:p>
            <a:pPr marL="469265" indent="-228600">
              <a:lnSpc>
                <a:spcPts val="1410"/>
              </a:lnSpc>
              <a:spcBef>
                <a:spcPts val="1335"/>
              </a:spcBef>
              <a:buSzPct val="83333"/>
              <a:buFont typeface="Symbol"/>
              <a:buChar char=""/>
              <a:tabLst>
                <a:tab pos="469265" algn="l"/>
              </a:tabLst>
            </a:pPr>
            <a:r>
              <a:rPr sz="1200" spc="-10" dirty="0">
                <a:latin typeface="Times New Roman"/>
                <a:cs typeface="Times New Roman"/>
              </a:rPr>
              <a:t>Functionality:</a:t>
            </a:r>
            <a:r>
              <a:rPr sz="1200" spc="-25" dirty="0">
                <a:latin typeface="Times New Roman"/>
                <a:cs typeface="Times New Roman"/>
              </a:rPr>
              <a:t> </a:t>
            </a:r>
            <a:r>
              <a:rPr sz="1200" dirty="0">
                <a:latin typeface="Times New Roman"/>
                <a:cs typeface="Times New Roman"/>
              </a:rPr>
              <a:t>Fully</a:t>
            </a:r>
            <a:r>
              <a:rPr sz="1200" spc="-25" dirty="0">
                <a:latin typeface="Times New Roman"/>
                <a:cs typeface="Times New Roman"/>
              </a:rPr>
              <a:t> </a:t>
            </a:r>
            <a:r>
              <a:rPr sz="1200" dirty="0">
                <a:latin typeface="Times New Roman"/>
                <a:cs typeface="Times New Roman"/>
              </a:rPr>
              <a:t>operational</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minimal</a:t>
            </a:r>
            <a:r>
              <a:rPr sz="1200" spc="-25" dirty="0">
                <a:latin typeface="Times New Roman"/>
                <a:cs typeface="Times New Roman"/>
              </a:rPr>
              <a:t> </a:t>
            </a:r>
            <a:r>
              <a:rPr sz="1200" spc="-20" dirty="0">
                <a:latin typeface="Times New Roman"/>
                <a:cs typeface="Times New Roman"/>
              </a:rPr>
              <a:t>bugs</a:t>
            </a:r>
            <a:endParaRPr sz="1200">
              <a:latin typeface="Times New Roman"/>
              <a:cs typeface="Times New Roman"/>
            </a:endParaRPr>
          </a:p>
          <a:p>
            <a:pPr marL="469265" indent="-228600">
              <a:lnSpc>
                <a:spcPts val="1380"/>
              </a:lnSpc>
              <a:buSzPct val="83333"/>
              <a:buFont typeface="Symbol"/>
              <a:buChar char=""/>
              <a:tabLst>
                <a:tab pos="469265" algn="l"/>
              </a:tabLst>
            </a:pPr>
            <a:r>
              <a:rPr sz="1200" spc="-10" dirty="0">
                <a:latin typeface="Times New Roman"/>
                <a:cs typeface="Times New Roman"/>
              </a:rPr>
              <a:t>Performance:</a:t>
            </a:r>
            <a:r>
              <a:rPr sz="1200" dirty="0">
                <a:latin typeface="Times New Roman"/>
                <a:cs typeface="Times New Roman"/>
              </a:rPr>
              <a:t> Maintained</a:t>
            </a:r>
            <a:r>
              <a:rPr sz="1200" spc="5" dirty="0">
                <a:latin typeface="Times New Roman"/>
                <a:cs typeface="Times New Roman"/>
              </a:rPr>
              <a:t> </a:t>
            </a:r>
            <a:r>
              <a:rPr sz="1200" spc="-10" dirty="0">
                <a:latin typeface="Times New Roman"/>
                <a:cs typeface="Times New Roman"/>
              </a:rPr>
              <a:t>performance</a:t>
            </a:r>
            <a:r>
              <a:rPr sz="1200" spc="-5" dirty="0">
                <a:latin typeface="Times New Roman"/>
                <a:cs typeface="Times New Roman"/>
              </a:rPr>
              <a:t> </a:t>
            </a:r>
            <a:r>
              <a:rPr sz="1200" dirty="0">
                <a:latin typeface="Times New Roman"/>
                <a:cs typeface="Times New Roman"/>
              </a:rPr>
              <a:t>under </a:t>
            </a:r>
            <a:r>
              <a:rPr sz="1200" spc="-20" dirty="0">
                <a:latin typeface="Times New Roman"/>
                <a:cs typeface="Times New Roman"/>
              </a:rPr>
              <a:t>load</a:t>
            </a:r>
            <a:endParaRPr sz="1200">
              <a:latin typeface="Times New Roman"/>
              <a:cs typeface="Times New Roman"/>
            </a:endParaRPr>
          </a:p>
          <a:p>
            <a:pPr marL="469265" indent="-228600">
              <a:lnSpc>
                <a:spcPts val="1380"/>
              </a:lnSpc>
              <a:buSzPct val="83333"/>
              <a:buFont typeface="Symbol"/>
              <a:buChar char=""/>
              <a:tabLst>
                <a:tab pos="469265" algn="l"/>
              </a:tabLst>
            </a:pPr>
            <a:r>
              <a:rPr sz="1200" dirty="0">
                <a:latin typeface="Times New Roman"/>
                <a:cs typeface="Times New Roman"/>
              </a:rPr>
              <a:t>Security:</a:t>
            </a:r>
            <a:r>
              <a:rPr sz="1200" spc="-35" dirty="0">
                <a:latin typeface="Times New Roman"/>
                <a:cs typeface="Times New Roman"/>
              </a:rPr>
              <a:t> </a:t>
            </a:r>
            <a:r>
              <a:rPr sz="1200" dirty="0">
                <a:latin typeface="Times New Roman"/>
                <a:cs typeface="Times New Roman"/>
              </a:rPr>
              <a:t>Free</a:t>
            </a:r>
            <a:r>
              <a:rPr sz="1200" spc="-35" dirty="0">
                <a:latin typeface="Times New Roman"/>
                <a:cs typeface="Times New Roman"/>
              </a:rPr>
              <a:t> </a:t>
            </a:r>
            <a:r>
              <a:rPr sz="1200" dirty="0">
                <a:latin typeface="Times New Roman"/>
                <a:cs typeface="Times New Roman"/>
              </a:rPr>
              <a:t>from</a:t>
            </a:r>
            <a:r>
              <a:rPr sz="1200" spc="-35" dirty="0">
                <a:latin typeface="Times New Roman"/>
                <a:cs typeface="Times New Roman"/>
              </a:rPr>
              <a:t> </a:t>
            </a:r>
            <a:r>
              <a:rPr sz="1200" dirty="0">
                <a:latin typeface="Times New Roman"/>
                <a:cs typeface="Times New Roman"/>
              </a:rPr>
              <a:t>major</a:t>
            </a:r>
            <a:r>
              <a:rPr sz="1200" spc="-30" dirty="0">
                <a:latin typeface="Times New Roman"/>
                <a:cs typeface="Times New Roman"/>
              </a:rPr>
              <a:t> </a:t>
            </a:r>
            <a:r>
              <a:rPr sz="1200" spc="-10" dirty="0">
                <a:latin typeface="Times New Roman"/>
                <a:cs typeface="Times New Roman"/>
              </a:rPr>
              <a:t>vulnerabilities</a:t>
            </a:r>
            <a:endParaRPr sz="1200">
              <a:latin typeface="Times New Roman"/>
              <a:cs typeface="Times New Roman"/>
            </a:endParaRPr>
          </a:p>
          <a:p>
            <a:pPr marL="469265" indent="-228600">
              <a:lnSpc>
                <a:spcPts val="1410"/>
              </a:lnSpc>
              <a:buSzPct val="83333"/>
              <a:buFont typeface="Symbol"/>
              <a:buChar char=""/>
              <a:tabLst>
                <a:tab pos="469265" algn="l"/>
              </a:tabLst>
            </a:pPr>
            <a:r>
              <a:rPr sz="1200" dirty="0">
                <a:latin typeface="Times New Roman"/>
                <a:cs typeface="Times New Roman"/>
              </a:rPr>
              <a:t>Usability</a:t>
            </a:r>
            <a:r>
              <a:rPr sz="1200" b="1" dirty="0">
                <a:latin typeface="Times New Roman"/>
                <a:cs typeface="Times New Roman"/>
              </a:rPr>
              <a:t>:</a:t>
            </a:r>
            <a:r>
              <a:rPr sz="1200" b="1" spc="-35" dirty="0">
                <a:latin typeface="Times New Roman"/>
                <a:cs typeface="Times New Roman"/>
              </a:rPr>
              <a:t> </a:t>
            </a:r>
            <a:r>
              <a:rPr sz="1200" dirty="0">
                <a:latin typeface="Times New Roman"/>
                <a:cs typeface="Times New Roman"/>
              </a:rPr>
              <a:t>Rated</a:t>
            </a:r>
            <a:r>
              <a:rPr sz="1200" spc="-25" dirty="0">
                <a:latin typeface="Times New Roman"/>
                <a:cs typeface="Times New Roman"/>
              </a:rPr>
              <a:t> </a:t>
            </a:r>
            <a:r>
              <a:rPr sz="1200" dirty="0">
                <a:latin typeface="Times New Roman"/>
                <a:cs typeface="Times New Roman"/>
              </a:rPr>
              <a:t>highly</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real</a:t>
            </a:r>
            <a:r>
              <a:rPr sz="1200" spc="-25" dirty="0">
                <a:latin typeface="Times New Roman"/>
                <a:cs typeface="Times New Roman"/>
              </a:rPr>
              <a:t> </a:t>
            </a:r>
            <a:r>
              <a:rPr sz="1200" spc="-10" dirty="0">
                <a:latin typeface="Times New Roman"/>
                <a:cs typeface="Times New Roman"/>
              </a:rPr>
              <a:t>users</a:t>
            </a:r>
            <a:endParaRPr sz="1200">
              <a:latin typeface="Times New Roman"/>
              <a:cs typeface="Times New Roman"/>
            </a:endParaRPr>
          </a:p>
          <a:p>
            <a:pPr>
              <a:lnSpc>
                <a:spcPct val="100000"/>
              </a:lnSpc>
              <a:spcBef>
                <a:spcPts val="60"/>
              </a:spcBef>
            </a:pPr>
            <a:endParaRPr sz="1200">
              <a:latin typeface="Times New Roman"/>
              <a:cs typeface="Times New Roman"/>
            </a:endParaRPr>
          </a:p>
          <a:p>
            <a:pPr marL="12700" marR="6985" algn="just">
              <a:lnSpc>
                <a:spcPts val="1380"/>
              </a:lnSpc>
            </a:pPr>
            <a:r>
              <a:rPr sz="1200" dirty="0">
                <a:latin typeface="Times New Roman"/>
                <a:cs typeface="Times New Roman"/>
              </a:rPr>
              <a:t>Only</a:t>
            </a:r>
            <a:r>
              <a:rPr sz="1200" spc="60" dirty="0">
                <a:latin typeface="Times New Roman"/>
                <a:cs typeface="Times New Roman"/>
              </a:rPr>
              <a:t> </a:t>
            </a:r>
            <a:r>
              <a:rPr sz="1200" dirty="0">
                <a:latin typeface="Times New Roman"/>
                <a:cs typeface="Times New Roman"/>
              </a:rPr>
              <a:t>minor</a:t>
            </a:r>
            <a:r>
              <a:rPr sz="1200" spc="65" dirty="0">
                <a:latin typeface="Times New Roman"/>
                <a:cs typeface="Times New Roman"/>
              </a:rPr>
              <a:t> </a:t>
            </a:r>
            <a:r>
              <a:rPr sz="1200" dirty="0">
                <a:latin typeface="Times New Roman"/>
                <a:cs typeface="Times New Roman"/>
              </a:rPr>
              <a:t>UI</a:t>
            </a:r>
            <a:r>
              <a:rPr sz="1200" spc="60" dirty="0">
                <a:latin typeface="Times New Roman"/>
                <a:cs typeface="Times New Roman"/>
              </a:rPr>
              <a:t> </a:t>
            </a:r>
            <a:r>
              <a:rPr sz="1200" dirty="0">
                <a:latin typeface="Times New Roman"/>
                <a:cs typeface="Times New Roman"/>
              </a:rPr>
              <a:t>refinements</a:t>
            </a:r>
            <a:r>
              <a:rPr sz="1200" spc="65" dirty="0">
                <a:latin typeface="Times New Roman"/>
                <a:cs typeface="Times New Roman"/>
              </a:rPr>
              <a:t> </a:t>
            </a:r>
            <a:r>
              <a:rPr sz="1200" dirty="0">
                <a:latin typeface="Times New Roman"/>
                <a:cs typeface="Times New Roman"/>
              </a:rPr>
              <a:t>were</a:t>
            </a:r>
            <a:r>
              <a:rPr sz="1200" spc="60" dirty="0">
                <a:latin typeface="Times New Roman"/>
                <a:cs typeface="Times New Roman"/>
              </a:rPr>
              <a:t> </a:t>
            </a:r>
            <a:r>
              <a:rPr sz="1200" dirty="0">
                <a:latin typeface="Times New Roman"/>
                <a:cs typeface="Times New Roman"/>
              </a:rPr>
              <a:t>recommended,</a:t>
            </a:r>
            <a:r>
              <a:rPr sz="1200" spc="75" dirty="0">
                <a:latin typeface="Times New Roman"/>
                <a:cs typeface="Times New Roman"/>
              </a:rPr>
              <a:t> </a:t>
            </a:r>
            <a:r>
              <a:rPr sz="1200" dirty="0">
                <a:latin typeface="Times New Roman"/>
                <a:cs typeface="Times New Roman"/>
              </a:rPr>
              <a:t>which</a:t>
            </a:r>
            <a:r>
              <a:rPr sz="1200" spc="65" dirty="0">
                <a:latin typeface="Times New Roman"/>
                <a:cs typeface="Times New Roman"/>
              </a:rPr>
              <a:t> </a:t>
            </a:r>
            <a:r>
              <a:rPr sz="1200" dirty="0">
                <a:latin typeface="Times New Roman"/>
                <a:cs typeface="Times New Roman"/>
              </a:rPr>
              <a:t>have</a:t>
            </a:r>
            <a:r>
              <a:rPr sz="1200" spc="65" dirty="0">
                <a:latin typeface="Times New Roman"/>
                <a:cs typeface="Times New Roman"/>
              </a:rPr>
              <a:t> </a:t>
            </a:r>
            <a:r>
              <a:rPr sz="1200" dirty="0">
                <a:latin typeface="Times New Roman"/>
                <a:cs typeface="Times New Roman"/>
              </a:rPr>
              <a:t>been</a:t>
            </a:r>
            <a:r>
              <a:rPr sz="1200" spc="60" dirty="0">
                <a:latin typeface="Times New Roman"/>
                <a:cs typeface="Times New Roman"/>
              </a:rPr>
              <a:t> </a:t>
            </a:r>
            <a:r>
              <a:rPr sz="1200" dirty="0">
                <a:latin typeface="Times New Roman"/>
                <a:cs typeface="Times New Roman"/>
              </a:rPr>
              <a:t>documented</a:t>
            </a:r>
            <a:r>
              <a:rPr sz="1200" spc="65" dirty="0">
                <a:latin typeface="Times New Roman"/>
                <a:cs typeface="Times New Roman"/>
              </a:rPr>
              <a:t> </a:t>
            </a:r>
            <a:r>
              <a:rPr sz="1200" dirty="0">
                <a:latin typeface="Times New Roman"/>
                <a:cs typeface="Times New Roman"/>
              </a:rPr>
              <a:t>for</a:t>
            </a:r>
            <a:r>
              <a:rPr sz="1200" spc="60"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spc="-20" dirty="0">
                <a:latin typeface="Times New Roman"/>
                <a:cs typeface="Times New Roman"/>
              </a:rPr>
              <a:t>next </a:t>
            </a:r>
            <a:r>
              <a:rPr sz="1200" spc="-10" dirty="0">
                <a:latin typeface="Times New Roman"/>
                <a:cs typeface="Times New Roman"/>
              </a:rPr>
              <a:t>development</a:t>
            </a:r>
            <a:r>
              <a:rPr sz="1200" spc="30" dirty="0">
                <a:latin typeface="Times New Roman"/>
                <a:cs typeface="Times New Roman"/>
              </a:rPr>
              <a:t> </a:t>
            </a:r>
            <a:r>
              <a:rPr sz="1200" spc="-10" dirty="0">
                <a:latin typeface="Times New Roman"/>
                <a:cs typeface="Times New Roman"/>
              </a:rPr>
              <a:t>sprint.</a:t>
            </a:r>
            <a:endParaRPr sz="1200">
              <a:latin typeface="Times New Roman"/>
              <a:cs typeface="Times New Roman"/>
            </a:endParaRPr>
          </a:p>
        </p:txBody>
      </p:sp>
      <p:sp>
        <p:nvSpPr>
          <p:cNvPr id="6" name="object 6"/>
          <p:cNvSpPr txBox="1"/>
          <p:nvPr/>
        </p:nvSpPr>
        <p:spPr>
          <a:xfrm>
            <a:off x="1176324" y="7733538"/>
            <a:ext cx="5694680" cy="1287780"/>
          </a:xfrm>
          <a:prstGeom prst="rect">
            <a:avLst/>
          </a:prstGeom>
        </p:spPr>
        <p:txBody>
          <a:bodyPr vert="horz" wrap="square" lIns="0" tIns="13335" rIns="0" bIns="0" rtlCol="0">
            <a:spAutoFit/>
          </a:bodyPr>
          <a:lstStyle/>
          <a:p>
            <a:pPr marL="12700">
              <a:lnSpc>
                <a:spcPct val="100000"/>
              </a:lnSpc>
              <a:spcBef>
                <a:spcPts val="105"/>
              </a:spcBef>
            </a:pPr>
            <a:r>
              <a:rPr sz="1350" b="1" dirty="0">
                <a:latin typeface="Times New Roman"/>
                <a:cs typeface="Times New Roman"/>
              </a:rPr>
              <a:t>6.11</a:t>
            </a:r>
            <a:r>
              <a:rPr sz="1350" b="1" spc="-25" dirty="0">
                <a:latin typeface="Times New Roman"/>
                <a:cs typeface="Times New Roman"/>
              </a:rPr>
              <a:t> </a:t>
            </a:r>
            <a:r>
              <a:rPr sz="1350" b="1" dirty="0">
                <a:latin typeface="Times New Roman"/>
                <a:cs typeface="Times New Roman"/>
              </a:rPr>
              <a:t>Limitations</a:t>
            </a:r>
            <a:r>
              <a:rPr sz="1350" b="1" spc="-25" dirty="0">
                <a:latin typeface="Times New Roman"/>
                <a:cs typeface="Times New Roman"/>
              </a:rPr>
              <a:t> </a:t>
            </a:r>
            <a:r>
              <a:rPr sz="1350" b="1" dirty="0">
                <a:latin typeface="Times New Roman"/>
                <a:cs typeface="Times New Roman"/>
              </a:rPr>
              <a:t>and</a:t>
            </a:r>
            <a:r>
              <a:rPr sz="1350" b="1" spc="-40" dirty="0">
                <a:latin typeface="Times New Roman"/>
                <a:cs typeface="Times New Roman"/>
              </a:rPr>
              <a:t> </a:t>
            </a:r>
            <a:r>
              <a:rPr sz="1350" b="1" dirty="0">
                <a:latin typeface="Times New Roman"/>
                <a:cs typeface="Times New Roman"/>
              </a:rPr>
              <a:t>Future</a:t>
            </a:r>
            <a:r>
              <a:rPr sz="1350" b="1" spc="-30" dirty="0">
                <a:latin typeface="Times New Roman"/>
                <a:cs typeface="Times New Roman"/>
              </a:rPr>
              <a:t> </a:t>
            </a:r>
            <a:r>
              <a:rPr sz="1350" b="1" spc="-10" dirty="0">
                <a:latin typeface="Times New Roman"/>
                <a:cs typeface="Times New Roman"/>
              </a:rPr>
              <a:t>Improvements</a:t>
            </a:r>
            <a:endParaRPr sz="1350">
              <a:latin typeface="Times New Roman"/>
              <a:cs typeface="Times New Roman"/>
            </a:endParaRPr>
          </a:p>
          <a:p>
            <a:pPr marL="12700" marR="5715">
              <a:lnSpc>
                <a:spcPts val="1380"/>
              </a:lnSpc>
              <a:spcBef>
                <a:spcPts val="1420"/>
              </a:spcBef>
            </a:pPr>
            <a:r>
              <a:rPr sz="1200" dirty="0">
                <a:latin typeface="Times New Roman"/>
                <a:cs typeface="Times New Roman"/>
              </a:rPr>
              <a:t>While</a:t>
            </a:r>
            <a:r>
              <a:rPr sz="1200" spc="114"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testing</a:t>
            </a:r>
            <a:r>
              <a:rPr sz="1200" spc="120" dirty="0">
                <a:latin typeface="Times New Roman"/>
                <a:cs typeface="Times New Roman"/>
              </a:rPr>
              <a:t> </a:t>
            </a:r>
            <a:r>
              <a:rPr sz="1200" dirty="0">
                <a:latin typeface="Times New Roman"/>
                <a:cs typeface="Times New Roman"/>
              </a:rPr>
              <a:t>outcomes</a:t>
            </a:r>
            <a:r>
              <a:rPr sz="1200" spc="120" dirty="0">
                <a:latin typeface="Times New Roman"/>
                <a:cs typeface="Times New Roman"/>
              </a:rPr>
              <a:t> </a:t>
            </a:r>
            <a:r>
              <a:rPr sz="1200" dirty="0">
                <a:latin typeface="Times New Roman"/>
                <a:cs typeface="Times New Roman"/>
              </a:rPr>
              <a:t>were</a:t>
            </a:r>
            <a:r>
              <a:rPr sz="1200" spc="120" dirty="0">
                <a:latin typeface="Times New Roman"/>
                <a:cs typeface="Times New Roman"/>
              </a:rPr>
              <a:t> </a:t>
            </a:r>
            <a:r>
              <a:rPr sz="1200" dirty="0">
                <a:latin typeface="Times New Roman"/>
                <a:cs typeface="Times New Roman"/>
              </a:rPr>
              <a:t>overwhelmingly</a:t>
            </a:r>
            <a:r>
              <a:rPr sz="1200" spc="120" dirty="0">
                <a:latin typeface="Times New Roman"/>
                <a:cs typeface="Times New Roman"/>
              </a:rPr>
              <a:t> </a:t>
            </a:r>
            <a:r>
              <a:rPr sz="1200" dirty="0">
                <a:latin typeface="Times New Roman"/>
                <a:cs typeface="Times New Roman"/>
              </a:rPr>
              <a:t>positive,</a:t>
            </a:r>
            <a:r>
              <a:rPr sz="1200" spc="114" dirty="0">
                <a:latin typeface="Times New Roman"/>
                <a:cs typeface="Times New Roman"/>
              </a:rPr>
              <a:t> </a:t>
            </a:r>
            <a:r>
              <a:rPr sz="1200" dirty="0">
                <a:latin typeface="Times New Roman"/>
                <a:cs typeface="Times New Roman"/>
              </a:rPr>
              <a:t>a</a:t>
            </a:r>
            <a:r>
              <a:rPr sz="1200" spc="145" dirty="0">
                <a:latin typeface="Times New Roman"/>
                <a:cs typeface="Times New Roman"/>
              </a:rPr>
              <a:t> </a:t>
            </a:r>
            <a:r>
              <a:rPr sz="1200" dirty="0">
                <a:latin typeface="Times New Roman"/>
                <a:cs typeface="Times New Roman"/>
              </a:rPr>
              <a:t>few</a:t>
            </a:r>
            <a:r>
              <a:rPr sz="1200" spc="120" dirty="0">
                <a:latin typeface="Times New Roman"/>
                <a:cs typeface="Times New Roman"/>
              </a:rPr>
              <a:t> </a:t>
            </a:r>
            <a:r>
              <a:rPr sz="1200" dirty="0">
                <a:latin typeface="Times New Roman"/>
                <a:cs typeface="Times New Roman"/>
              </a:rPr>
              <a:t>limitations</a:t>
            </a:r>
            <a:r>
              <a:rPr sz="1200" spc="120" dirty="0">
                <a:latin typeface="Times New Roman"/>
                <a:cs typeface="Times New Roman"/>
              </a:rPr>
              <a:t> </a:t>
            </a:r>
            <a:r>
              <a:rPr sz="1200" dirty="0">
                <a:latin typeface="Times New Roman"/>
                <a:cs typeface="Times New Roman"/>
              </a:rPr>
              <a:t>and</a:t>
            </a:r>
            <a:r>
              <a:rPr sz="1200" spc="120" dirty="0">
                <a:latin typeface="Times New Roman"/>
                <a:cs typeface="Times New Roman"/>
              </a:rPr>
              <a:t> </a:t>
            </a:r>
            <a:r>
              <a:rPr sz="1200" dirty="0">
                <a:latin typeface="Times New Roman"/>
                <a:cs typeface="Times New Roman"/>
              </a:rPr>
              <a:t>areas</a:t>
            </a:r>
            <a:r>
              <a:rPr sz="1200" spc="120" dirty="0">
                <a:latin typeface="Times New Roman"/>
                <a:cs typeface="Times New Roman"/>
              </a:rPr>
              <a:t> </a:t>
            </a:r>
            <a:r>
              <a:rPr sz="1200" spc="-25" dirty="0">
                <a:latin typeface="Times New Roman"/>
                <a:cs typeface="Times New Roman"/>
              </a:rPr>
              <a:t>of </a:t>
            </a:r>
            <a:r>
              <a:rPr sz="1200" dirty="0">
                <a:latin typeface="Times New Roman"/>
                <a:cs typeface="Times New Roman"/>
              </a:rPr>
              <a:t>future</a:t>
            </a:r>
            <a:r>
              <a:rPr sz="1200" spc="-45" dirty="0">
                <a:latin typeface="Times New Roman"/>
                <a:cs typeface="Times New Roman"/>
              </a:rPr>
              <a:t> </a:t>
            </a:r>
            <a:r>
              <a:rPr sz="1200" dirty="0">
                <a:latin typeface="Times New Roman"/>
                <a:cs typeface="Times New Roman"/>
              </a:rPr>
              <a:t>enhancement</a:t>
            </a:r>
            <a:r>
              <a:rPr sz="1200" spc="-40" dirty="0">
                <a:latin typeface="Times New Roman"/>
                <a:cs typeface="Times New Roman"/>
              </a:rPr>
              <a:t> </a:t>
            </a:r>
            <a:r>
              <a:rPr sz="1200" dirty="0">
                <a:latin typeface="Times New Roman"/>
                <a:cs typeface="Times New Roman"/>
              </a:rPr>
              <a:t>were</a:t>
            </a:r>
            <a:r>
              <a:rPr sz="1200" spc="-30" dirty="0">
                <a:latin typeface="Times New Roman"/>
                <a:cs typeface="Times New Roman"/>
              </a:rPr>
              <a:t> </a:t>
            </a:r>
            <a:r>
              <a:rPr sz="1200" spc="-10" dirty="0">
                <a:latin typeface="Times New Roman"/>
                <a:cs typeface="Times New Roman"/>
              </a:rPr>
              <a:t>noted:</a:t>
            </a:r>
            <a:endParaRPr sz="1200">
              <a:latin typeface="Times New Roman"/>
              <a:cs typeface="Times New Roman"/>
            </a:endParaRPr>
          </a:p>
          <a:p>
            <a:pPr>
              <a:lnSpc>
                <a:spcPct val="100000"/>
              </a:lnSpc>
              <a:spcBef>
                <a:spcPts val="25"/>
              </a:spcBef>
            </a:pPr>
            <a:endParaRPr sz="1200">
              <a:latin typeface="Times New Roman"/>
              <a:cs typeface="Times New Roman"/>
            </a:endParaRPr>
          </a:p>
          <a:p>
            <a:pPr marL="469265" marR="5080" indent="-228600">
              <a:lnSpc>
                <a:spcPts val="1380"/>
              </a:lnSpc>
            </a:pPr>
            <a:r>
              <a:rPr sz="1200" dirty="0">
                <a:latin typeface="Times New Roman"/>
                <a:cs typeface="Times New Roman"/>
              </a:rPr>
              <a:t>1.</a:t>
            </a:r>
            <a:r>
              <a:rPr sz="1200" spc="114" dirty="0">
                <a:latin typeface="Times New Roman"/>
                <a:cs typeface="Times New Roman"/>
              </a:rPr>
              <a:t>  </a:t>
            </a:r>
            <a:r>
              <a:rPr sz="1200" dirty="0">
                <a:latin typeface="Times New Roman"/>
                <a:cs typeface="Times New Roman"/>
              </a:rPr>
              <a:t>AI</a:t>
            </a:r>
            <a:r>
              <a:rPr sz="1200" spc="-45" dirty="0">
                <a:latin typeface="Times New Roman"/>
                <a:cs typeface="Times New Roman"/>
              </a:rPr>
              <a:t> </a:t>
            </a:r>
            <a:r>
              <a:rPr sz="1200" dirty="0">
                <a:latin typeface="Times New Roman"/>
                <a:cs typeface="Times New Roman"/>
              </a:rPr>
              <a:t>Model</a:t>
            </a:r>
            <a:r>
              <a:rPr sz="1200" spc="-20" dirty="0">
                <a:latin typeface="Times New Roman"/>
                <a:cs typeface="Times New Roman"/>
              </a:rPr>
              <a:t> </a:t>
            </a:r>
            <a:r>
              <a:rPr sz="1200" dirty="0">
                <a:latin typeface="Times New Roman"/>
                <a:cs typeface="Times New Roman"/>
              </a:rPr>
              <a:t>Training:</a:t>
            </a:r>
            <a:r>
              <a:rPr sz="1200" spc="-25"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AI</a:t>
            </a:r>
            <a:r>
              <a:rPr sz="1200" spc="-40" dirty="0">
                <a:latin typeface="Times New Roman"/>
                <a:cs typeface="Times New Roman"/>
              </a:rPr>
              <a:t> </a:t>
            </a:r>
            <a:r>
              <a:rPr sz="1200" dirty="0">
                <a:latin typeface="Times New Roman"/>
                <a:cs typeface="Times New Roman"/>
              </a:rPr>
              <a:t>models,</a:t>
            </a:r>
            <a:r>
              <a:rPr sz="1200" spc="-25" dirty="0">
                <a:latin typeface="Times New Roman"/>
                <a:cs typeface="Times New Roman"/>
              </a:rPr>
              <a:t> </a:t>
            </a:r>
            <a:r>
              <a:rPr sz="1200" dirty="0">
                <a:latin typeface="Times New Roman"/>
                <a:cs typeface="Times New Roman"/>
              </a:rPr>
              <a:t>though</a:t>
            </a:r>
            <a:r>
              <a:rPr sz="1200" spc="-20" dirty="0">
                <a:latin typeface="Times New Roman"/>
                <a:cs typeface="Times New Roman"/>
              </a:rPr>
              <a:t> </a:t>
            </a:r>
            <a:r>
              <a:rPr sz="1200" dirty="0">
                <a:latin typeface="Times New Roman"/>
                <a:cs typeface="Times New Roman"/>
              </a:rPr>
              <a:t>reasonably</a:t>
            </a:r>
            <a:r>
              <a:rPr sz="1200" spc="-25" dirty="0">
                <a:latin typeface="Times New Roman"/>
                <a:cs typeface="Times New Roman"/>
              </a:rPr>
              <a:t> </a:t>
            </a:r>
            <a:r>
              <a:rPr sz="1200" dirty="0">
                <a:latin typeface="Times New Roman"/>
                <a:cs typeface="Times New Roman"/>
              </a:rPr>
              <a:t>accurate,</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spc="-10" dirty="0">
                <a:latin typeface="Times New Roman"/>
                <a:cs typeface="Times New Roman"/>
              </a:rPr>
              <a:t>improved </a:t>
            </a:r>
            <a:r>
              <a:rPr sz="1200" dirty="0">
                <a:latin typeface="Times New Roman"/>
                <a:cs typeface="Times New Roman"/>
              </a:rPr>
              <a:t>by </a:t>
            </a:r>
            <a:r>
              <a:rPr sz="1200" spc="-10" dirty="0">
                <a:latin typeface="Times New Roman"/>
                <a:cs typeface="Times New Roman"/>
              </a:rPr>
              <a:t>incorporating</a:t>
            </a:r>
            <a:r>
              <a:rPr sz="1200" dirty="0">
                <a:latin typeface="Times New Roman"/>
                <a:cs typeface="Times New Roman"/>
              </a:rPr>
              <a:t> more </a:t>
            </a:r>
            <a:r>
              <a:rPr sz="1200" spc="-10" dirty="0">
                <a:latin typeface="Times New Roman"/>
                <a:cs typeface="Times New Roman"/>
              </a:rPr>
              <a:t>real-</a:t>
            </a:r>
            <a:r>
              <a:rPr sz="1200" dirty="0">
                <a:latin typeface="Times New Roman"/>
                <a:cs typeface="Times New Roman"/>
              </a:rPr>
              <a:t>time and </a:t>
            </a:r>
            <a:r>
              <a:rPr sz="1200" spc="-10" dirty="0">
                <a:latin typeface="Times New Roman"/>
                <a:cs typeface="Times New Roman"/>
              </a:rPr>
              <a:t>region-</a:t>
            </a:r>
            <a:r>
              <a:rPr sz="1200" dirty="0">
                <a:latin typeface="Times New Roman"/>
                <a:cs typeface="Times New Roman"/>
              </a:rPr>
              <a:t>specific </a:t>
            </a:r>
            <a:r>
              <a:rPr sz="1200" spc="-10" dirty="0">
                <a:latin typeface="Times New Roman"/>
                <a:cs typeface="Times New Roman"/>
              </a:rPr>
              <a:t>data.</a:t>
            </a:r>
            <a:endParaRPr sz="1200">
              <a:latin typeface="Times New Roman"/>
              <a:cs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51</a:t>
            </a:r>
          </a:p>
        </p:txBody>
      </p:sp>
      <p:sp>
        <p:nvSpPr>
          <p:cNvPr id="2" name="object 2"/>
          <p:cNvSpPr txBox="1"/>
          <p:nvPr/>
        </p:nvSpPr>
        <p:spPr>
          <a:xfrm>
            <a:off x="1404874" y="891285"/>
            <a:ext cx="5466715" cy="1610360"/>
          </a:xfrm>
          <a:prstGeom prst="rect">
            <a:avLst/>
          </a:prstGeom>
        </p:spPr>
        <p:txBody>
          <a:bodyPr vert="horz" wrap="square" lIns="0" tIns="24765" rIns="0" bIns="0" rtlCol="0">
            <a:spAutoFit/>
          </a:bodyPr>
          <a:lstStyle/>
          <a:p>
            <a:pPr marL="241300" marR="5080" indent="-228600" algn="just">
              <a:lnSpc>
                <a:spcPts val="1380"/>
              </a:lnSpc>
              <a:spcBef>
                <a:spcPts val="195"/>
              </a:spcBef>
              <a:buAutoNum type="arabicPeriod" startAt="2"/>
              <a:tabLst>
                <a:tab pos="241300" algn="l"/>
              </a:tabLst>
            </a:pPr>
            <a:r>
              <a:rPr sz="1200" dirty="0">
                <a:latin typeface="Times New Roman"/>
                <a:cs typeface="Times New Roman"/>
              </a:rPr>
              <a:t>Mobile</a:t>
            </a:r>
            <a:r>
              <a:rPr sz="1200" spc="45" dirty="0">
                <a:latin typeface="Times New Roman"/>
                <a:cs typeface="Times New Roman"/>
              </a:rPr>
              <a:t> </a:t>
            </a:r>
            <a:r>
              <a:rPr sz="1200" dirty="0">
                <a:latin typeface="Times New Roman"/>
                <a:cs typeface="Times New Roman"/>
              </a:rPr>
              <a:t>Accessibility:</a:t>
            </a:r>
            <a:r>
              <a:rPr sz="1200" spc="5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platform</a:t>
            </a:r>
            <a:r>
              <a:rPr sz="1200" spc="60" dirty="0">
                <a:latin typeface="Times New Roman"/>
                <a:cs typeface="Times New Roman"/>
              </a:rPr>
              <a:t> </a:t>
            </a:r>
            <a:r>
              <a:rPr sz="1200" dirty="0">
                <a:latin typeface="Times New Roman"/>
                <a:cs typeface="Times New Roman"/>
              </a:rPr>
              <a:t>currently</a:t>
            </a:r>
            <a:r>
              <a:rPr sz="1200" spc="45" dirty="0">
                <a:latin typeface="Times New Roman"/>
                <a:cs typeface="Times New Roman"/>
              </a:rPr>
              <a:t> </a:t>
            </a:r>
            <a:r>
              <a:rPr sz="1200" dirty="0">
                <a:latin typeface="Times New Roman"/>
                <a:cs typeface="Times New Roman"/>
              </a:rPr>
              <a:t>lacks</a:t>
            </a:r>
            <a:r>
              <a:rPr sz="1200" spc="50"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dedicated</a:t>
            </a:r>
            <a:r>
              <a:rPr sz="1200" spc="60" dirty="0">
                <a:latin typeface="Times New Roman"/>
                <a:cs typeface="Times New Roman"/>
              </a:rPr>
              <a:t> </a:t>
            </a:r>
            <a:r>
              <a:rPr sz="1200" dirty="0">
                <a:latin typeface="Times New Roman"/>
                <a:cs typeface="Times New Roman"/>
              </a:rPr>
              <a:t>mobile</a:t>
            </a:r>
            <a:r>
              <a:rPr sz="1200" spc="50" dirty="0">
                <a:latin typeface="Times New Roman"/>
                <a:cs typeface="Times New Roman"/>
              </a:rPr>
              <a:t> </a:t>
            </a:r>
            <a:r>
              <a:rPr sz="1200" dirty="0">
                <a:latin typeface="Times New Roman"/>
                <a:cs typeface="Times New Roman"/>
              </a:rPr>
              <a:t>app,</a:t>
            </a:r>
            <a:r>
              <a:rPr sz="1200" spc="50" dirty="0">
                <a:latin typeface="Times New Roman"/>
                <a:cs typeface="Times New Roman"/>
              </a:rPr>
              <a:t> </a:t>
            </a:r>
            <a:r>
              <a:rPr sz="1200" spc="-10" dirty="0">
                <a:latin typeface="Times New Roman"/>
                <a:cs typeface="Times New Roman"/>
              </a:rPr>
              <a:t>limiting accessibility</a:t>
            </a:r>
            <a:r>
              <a:rPr sz="1200" spc="-3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mobile-</a:t>
            </a:r>
            <a:r>
              <a:rPr sz="1200" dirty="0">
                <a:latin typeface="Times New Roman"/>
                <a:cs typeface="Times New Roman"/>
              </a:rPr>
              <a:t>first</a:t>
            </a:r>
            <a:r>
              <a:rPr sz="1200" spc="-3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cross-</a:t>
            </a:r>
            <a:r>
              <a:rPr sz="1200" dirty="0">
                <a:latin typeface="Times New Roman"/>
                <a:cs typeface="Times New Roman"/>
              </a:rPr>
              <a:t>platform</a:t>
            </a:r>
            <a:r>
              <a:rPr sz="1200" spc="-30" dirty="0">
                <a:latin typeface="Times New Roman"/>
                <a:cs typeface="Times New Roman"/>
              </a:rPr>
              <a:t> </a:t>
            </a:r>
            <a:r>
              <a:rPr sz="1200" dirty="0">
                <a:latin typeface="Times New Roman"/>
                <a:cs typeface="Times New Roman"/>
              </a:rPr>
              <a:t>Flutter</a:t>
            </a:r>
            <a:r>
              <a:rPr sz="1200" spc="-35" dirty="0">
                <a:latin typeface="Times New Roman"/>
                <a:cs typeface="Times New Roman"/>
              </a:rPr>
              <a:t> </a:t>
            </a:r>
            <a:r>
              <a:rPr sz="1200" dirty="0">
                <a:latin typeface="Times New Roman"/>
                <a:cs typeface="Times New Roman"/>
              </a:rPr>
              <a:t>app</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proposed</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future development.</a:t>
            </a:r>
            <a:endParaRPr sz="1200">
              <a:latin typeface="Times New Roman"/>
              <a:cs typeface="Times New Roman"/>
            </a:endParaRPr>
          </a:p>
          <a:p>
            <a:pPr marL="241300" marR="8890" indent="-228600" algn="just">
              <a:lnSpc>
                <a:spcPts val="1380"/>
              </a:lnSpc>
              <a:buAutoNum type="arabicPeriod" startAt="2"/>
              <a:tabLst>
                <a:tab pos="241300" algn="l"/>
              </a:tabLst>
            </a:pPr>
            <a:r>
              <a:rPr sz="1200" dirty="0">
                <a:latin typeface="Times New Roman"/>
                <a:cs typeface="Times New Roman"/>
              </a:rPr>
              <a:t>Offline</a:t>
            </a:r>
            <a:r>
              <a:rPr sz="1200" spc="155" dirty="0">
                <a:latin typeface="Times New Roman"/>
                <a:cs typeface="Times New Roman"/>
              </a:rPr>
              <a:t> </a:t>
            </a:r>
            <a:r>
              <a:rPr sz="1200" dirty="0">
                <a:latin typeface="Times New Roman"/>
                <a:cs typeface="Times New Roman"/>
              </a:rPr>
              <a:t>Payment</a:t>
            </a:r>
            <a:r>
              <a:rPr sz="1200" spc="165" dirty="0">
                <a:latin typeface="Times New Roman"/>
                <a:cs typeface="Times New Roman"/>
              </a:rPr>
              <a:t> </a:t>
            </a:r>
            <a:r>
              <a:rPr sz="1200" dirty="0">
                <a:latin typeface="Times New Roman"/>
                <a:cs typeface="Times New Roman"/>
              </a:rPr>
              <a:t>Verification:</a:t>
            </a:r>
            <a:r>
              <a:rPr sz="1200" spc="165" dirty="0">
                <a:latin typeface="Times New Roman"/>
                <a:cs typeface="Times New Roman"/>
              </a:rPr>
              <a:t> </a:t>
            </a:r>
            <a:r>
              <a:rPr sz="1200" dirty="0">
                <a:latin typeface="Times New Roman"/>
                <a:cs typeface="Times New Roman"/>
              </a:rPr>
              <a:t>Currently</a:t>
            </a:r>
            <a:r>
              <a:rPr sz="1200" spc="165" dirty="0">
                <a:latin typeface="Times New Roman"/>
                <a:cs typeface="Times New Roman"/>
              </a:rPr>
              <a:t> </a:t>
            </a:r>
            <a:r>
              <a:rPr sz="1200" dirty="0">
                <a:latin typeface="Times New Roman"/>
                <a:cs typeface="Times New Roman"/>
              </a:rPr>
              <a:t>handled</a:t>
            </a:r>
            <a:r>
              <a:rPr sz="1200" spc="170" dirty="0">
                <a:latin typeface="Times New Roman"/>
                <a:cs typeface="Times New Roman"/>
              </a:rPr>
              <a:t> </a:t>
            </a:r>
            <a:r>
              <a:rPr sz="1200" dirty="0">
                <a:latin typeface="Times New Roman"/>
                <a:cs typeface="Times New Roman"/>
              </a:rPr>
              <a:t>manually,</a:t>
            </a:r>
            <a:r>
              <a:rPr sz="1200" spc="165" dirty="0">
                <a:latin typeface="Times New Roman"/>
                <a:cs typeface="Times New Roman"/>
              </a:rPr>
              <a:t> </a:t>
            </a:r>
            <a:r>
              <a:rPr sz="1200" dirty="0">
                <a:latin typeface="Times New Roman"/>
                <a:cs typeface="Times New Roman"/>
              </a:rPr>
              <a:t>this</a:t>
            </a:r>
            <a:r>
              <a:rPr sz="1200" spc="160" dirty="0">
                <a:latin typeface="Times New Roman"/>
                <a:cs typeface="Times New Roman"/>
              </a:rPr>
              <a:t> </a:t>
            </a:r>
            <a:r>
              <a:rPr sz="1200" dirty="0">
                <a:latin typeface="Times New Roman"/>
                <a:cs typeface="Times New Roman"/>
              </a:rPr>
              <a:t>can</a:t>
            </a:r>
            <a:r>
              <a:rPr sz="1200" spc="165" dirty="0">
                <a:latin typeface="Times New Roman"/>
                <a:cs typeface="Times New Roman"/>
              </a:rPr>
              <a:t> </a:t>
            </a:r>
            <a:r>
              <a:rPr sz="1200" dirty="0">
                <a:latin typeface="Times New Roman"/>
                <a:cs typeface="Times New Roman"/>
              </a:rPr>
              <a:t>be</a:t>
            </a:r>
            <a:r>
              <a:rPr sz="1200" spc="180" dirty="0">
                <a:latin typeface="Times New Roman"/>
                <a:cs typeface="Times New Roman"/>
              </a:rPr>
              <a:t> </a:t>
            </a:r>
            <a:r>
              <a:rPr sz="1200" spc="-10" dirty="0">
                <a:latin typeface="Times New Roman"/>
                <a:cs typeface="Times New Roman"/>
              </a:rPr>
              <a:t>automated </a:t>
            </a:r>
            <a:r>
              <a:rPr sz="1200" dirty="0">
                <a:latin typeface="Times New Roman"/>
                <a:cs typeface="Times New Roman"/>
              </a:rPr>
              <a:t>using</a:t>
            </a:r>
            <a:r>
              <a:rPr sz="1200" spc="-5" dirty="0">
                <a:latin typeface="Times New Roman"/>
                <a:cs typeface="Times New Roman"/>
              </a:rPr>
              <a:t> </a:t>
            </a:r>
            <a:r>
              <a:rPr sz="1200" dirty="0">
                <a:latin typeface="Times New Roman"/>
                <a:cs typeface="Times New Roman"/>
              </a:rPr>
              <a:t>QR</a:t>
            </a:r>
            <a:r>
              <a:rPr sz="1200" spc="-5" dirty="0">
                <a:latin typeface="Times New Roman"/>
                <a:cs typeface="Times New Roman"/>
              </a:rPr>
              <a:t> </a:t>
            </a:r>
            <a:r>
              <a:rPr sz="1200" dirty="0">
                <a:latin typeface="Times New Roman"/>
                <a:cs typeface="Times New Roman"/>
              </a:rPr>
              <a:t>codes,</a:t>
            </a:r>
            <a:r>
              <a:rPr sz="1200" spc="-5" dirty="0">
                <a:latin typeface="Times New Roman"/>
                <a:cs typeface="Times New Roman"/>
              </a:rPr>
              <a:t> </a:t>
            </a:r>
            <a:r>
              <a:rPr sz="1200" dirty="0">
                <a:latin typeface="Times New Roman"/>
                <a:cs typeface="Times New Roman"/>
              </a:rPr>
              <a:t>SMS-based</a:t>
            </a:r>
            <a:r>
              <a:rPr sz="1200" spc="-5" dirty="0">
                <a:latin typeface="Times New Roman"/>
                <a:cs typeface="Times New Roman"/>
              </a:rPr>
              <a:t> </a:t>
            </a:r>
            <a:r>
              <a:rPr sz="1200" spc="-10" dirty="0">
                <a:latin typeface="Times New Roman"/>
                <a:cs typeface="Times New Roman"/>
              </a:rPr>
              <a:t>confirmations,</a:t>
            </a:r>
            <a:r>
              <a:rPr sz="1200" spc="-5"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payment</a:t>
            </a:r>
            <a:r>
              <a:rPr sz="1200" spc="-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spc="-10" dirty="0">
                <a:latin typeface="Times New Roman"/>
                <a:cs typeface="Times New Roman"/>
              </a:rPr>
              <a:t>integrations.</a:t>
            </a:r>
            <a:endParaRPr sz="1200">
              <a:latin typeface="Times New Roman"/>
              <a:cs typeface="Times New Roman"/>
            </a:endParaRPr>
          </a:p>
          <a:p>
            <a:pPr marL="241300" marR="8255" indent="-228600" algn="just">
              <a:lnSpc>
                <a:spcPts val="1380"/>
              </a:lnSpc>
              <a:buAutoNum type="arabicPeriod" startAt="2"/>
              <a:tabLst>
                <a:tab pos="241300" algn="l"/>
              </a:tabLst>
            </a:pPr>
            <a:r>
              <a:rPr sz="1200" dirty="0">
                <a:latin typeface="Times New Roman"/>
                <a:cs typeface="Times New Roman"/>
              </a:rPr>
              <a:t>Land</a:t>
            </a:r>
            <a:r>
              <a:rPr sz="1200" spc="114" dirty="0">
                <a:latin typeface="Times New Roman"/>
                <a:cs typeface="Times New Roman"/>
              </a:rPr>
              <a:t> </a:t>
            </a:r>
            <a:r>
              <a:rPr sz="1200" dirty="0">
                <a:latin typeface="Times New Roman"/>
                <a:cs typeface="Times New Roman"/>
              </a:rPr>
              <a:t>Records</a:t>
            </a:r>
            <a:r>
              <a:rPr sz="1200" spc="125" dirty="0">
                <a:latin typeface="Times New Roman"/>
                <a:cs typeface="Times New Roman"/>
              </a:rPr>
              <a:t> </a:t>
            </a:r>
            <a:r>
              <a:rPr sz="1200" dirty="0">
                <a:latin typeface="Times New Roman"/>
                <a:cs typeface="Times New Roman"/>
              </a:rPr>
              <a:t>Integration:</a:t>
            </a:r>
            <a:r>
              <a:rPr sz="1200" spc="120" dirty="0">
                <a:latin typeface="Times New Roman"/>
                <a:cs typeface="Times New Roman"/>
              </a:rPr>
              <a:t> </a:t>
            </a:r>
            <a:r>
              <a:rPr sz="1200" dirty="0">
                <a:latin typeface="Times New Roman"/>
                <a:cs typeface="Times New Roman"/>
              </a:rPr>
              <a:t>To</a:t>
            </a:r>
            <a:r>
              <a:rPr sz="1200" spc="114" dirty="0">
                <a:latin typeface="Times New Roman"/>
                <a:cs typeface="Times New Roman"/>
              </a:rPr>
              <a:t> </a:t>
            </a:r>
            <a:r>
              <a:rPr sz="1200" dirty="0">
                <a:latin typeface="Times New Roman"/>
                <a:cs typeface="Times New Roman"/>
              </a:rPr>
              <a:t>enhance</a:t>
            </a:r>
            <a:r>
              <a:rPr sz="1200" spc="114"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trustworthiness</a:t>
            </a:r>
            <a:r>
              <a:rPr sz="1200" spc="120" dirty="0">
                <a:latin typeface="Times New Roman"/>
                <a:cs typeface="Times New Roman"/>
              </a:rPr>
              <a:t> </a:t>
            </a:r>
            <a:r>
              <a:rPr sz="1200" dirty="0">
                <a:latin typeface="Times New Roman"/>
                <a:cs typeface="Times New Roman"/>
              </a:rPr>
              <a:t>of</a:t>
            </a:r>
            <a:r>
              <a:rPr sz="1200" spc="114" dirty="0">
                <a:latin typeface="Times New Roman"/>
                <a:cs typeface="Times New Roman"/>
              </a:rPr>
              <a:t> </a:t>
            </a:r>
            <a:r>
              <a:rPr sz="1200" dirty="0">
                <a:latin typeface="Times New Roman"/>
                <a:cs typeface="Times New Roman"/>
              </a:rPr>
              <a:t>property</a:t>
            </a:r>
            <a:r>
              <a:rPr sz="1200" spc="120" dirty="0">
                <a:latin typeface="Times New Roman"/>
                <a:cs typeface="Times New Roman"/>
              </a:rPr>
              <a:t> </a:t>
            </a:r>
            <a:r>
              <a:rPr sz="1200" spc="-10" dirty="0">
                <a:latin typeface="Times New Roman"/>
                <a:cs typeface="Times New Roman"/>
              </a:rPr>
              <a:t>verification, </a:t>
            </a:r>
            <a:r>
              <a:rPr sz="1200" dirty="0">
                <a:latin typeface="Times New Roman"/>
                <a:cs typeface="Times New Roman"/>
              </a:rPr>
              <a:t>integration</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national</a:t>
            </a:r>
            <a:r>
              <a:rPr sz="1200" spc="-35" dirty="0">
                <a:latin typeface="Times New Roman"/>
                <a:cs typeface="Times New Roman"/>
              </a:rPr>
              <a:t> </a:t>
            </a:r>
            <a:r>
              <a:rPr sz="1200" dirty="0">
                <a:latin typeface="Times New Roman"/>
                <a:cs typeface="Times New Roman"/>
              </a:rPr>
              <a:t>land</a:t>
            </a:r>
            <a:r>
              <a:rPr sz="1200" spc="-30" dirty="0">
                <a:latin typeface="Times New Roman"/>
                <a:cs typeface="Times New Roman"/>
              </a:rPr>
              <a:t> </a:t>
            </a:r>
            <a:r>
              <a:rPr sz="1200" dirty="0">
                <a:latin typeface="Times New Roman"/>
                <a:cs typeface="Times New Roman"/>
              </a:rPr>
              <a:t>record</a:t>
            </a:r>
            <a:r>
              <a:rPr sz="1200" spc="-35" dirty="0">
                <a:latin typeface="Times New Roman"/>
                <a:cs typeface="Times New Roman"/>
              </a:rPr>
              <a:t> </a:t>
            </a:r>
            <a:r>
              <a:rPr sz="1200" dirty="0">
                <a:latin typeface="Times New Roman"/>
                <a:cs typeface="Times New Roman"/>
              </a:rPr>
              <a:t>databases</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recommended.</a:t>
            </a:r>
            <a:endParaRPr sz="1200">
              <a:latin typeface="Times New Roman"/>
              <a:cs typeface="Times New Roman"/>
            </a:endParaRPr>
          </a:p>
          <a:p>
            <a:pPr marL="241300" marR="5715" indent="-228600" algn="just">
              <a:lnSpc>
                <a:spcPts val="1380"/>
              </a:lnSpc>
              <a:buAutoNum type="arabicPeriod" startAt="2"/>
              <a:tabLst>
                <a:tab pos="241300" algn="l"/>
              </a:tabLst>
            </a:pPr>
            <a:r>
              <a:rPr sz="1200" dirty="0">
                <a:latin typeface="Times New Roman"/>
                <a:cs typeface="Times New Roman"/>
              </a:rPr>
              <a:t>User</a:t>
            </a:r>
            <a:r>
              <a:rPr sz="1200" spc="114" dirty="0">
                <a:latin typeface="Times New Roman"/>
                <a:cs typeface="Times New Roman"/>
              </a:rPr>
              <a:t> </a:t>
            </a:r>
            <a:r>
              <a:rPr sz="1200" dirty="0">
                <a:latin typeface="Times New Roman"/>
                <a:cs typeface="Times New Roman"/>
              </a:rPr>
              <a:t>Onboarding:</a:t>
            </a:r>
            <a:r>
              <a:rPr sz="1200" spc="125" dirty="0">
                <a:latin typeface="Times New Roman"/>
                <a:cs typeface="Times New Roman"/>
              </a:rPr>
              <a:t> </a:t>
            </a:r>
            <a:r>
              <a:rPr sz="1200" dirty="0">
                <a:latin typeface="Times New Roman"/>
                <a:cs typeface="Times New Roman"/>
              </a:rPr>
              <a:t>A</a:t>
            </a:r>
            <a:r>
              <a:rPr sz="1200" spc="120" dirty="0">
                <a:latin typeface="Times New Roman"/>
                <a:cs typeface="Times New Roman"/>
              </a:rPr>
              <a:t> </a:t>
            </a:r>
            <a:r>
              <a:rPr sz="1200" spc="-10" dirty="0">
                <a:latin typeface="Times New Roman"/>
                <a:cs typeface="Times New Roman"/>
              </a:rPr>
              <a:t>step-by-</a:t>
            </a:r>
            <a:r>
              <a:rPr sz="1200" dirty="0">
                <a:latin typeface="Times New Roman"/>
                <a:cs typeface="Times New Roman"/>
              </a:rPr>
              <a:t>step</a:t>
            </a:r>
            <a:r>
              <a:rPr sz="1200" spc="125" dirty="0">
                <a:latin typeface="Times New Roman"/>
                <a:cs typeface="Times New Roman"/>
              </a:rPr>
              <a:t> </a:t>
            </a:r>
            <a:r>
              <a:rPr sz="1200" dirty="0">
                <a:latin typeface="Times New Roman"/>
                <a:cs typeface="Times New Roman"/>
              </a:rPr>
              <a:t>tutorial</a:t>
            </a:r>
            <a:r>
              <a:rPr sz="1200" spc="125" dirty="0">
                <a:latin typeface="Times New Roman"/>
                <a:cs typeface="Times New Roman"/>
              </a:rPr>
              <a:t> </a:t>
            </a:r>
            <a:r>
              <a:rPr sz="1200" dirty="0">
                <a:latin typeface="Times New Roman"/>
                <a:cs typeface="Times New Roman"/>
              </a:rPr>
              <a:t>or</a:t>
            </a:r>
            <a:r>
              <a:rPr sz="1200" spc="135" dirty="0">
                <a:latin typeface="Times New Roman"/>
                <a:cs typeface="Times New Roman"/>
              </a:rPr>
              <a:t> </a:t>
            </a:r>
            <a:r>
              <a:rPr sz="1200" dirty="0">
                <a:latin typeface="Times New Roman"/>
                <a:cs typeface="Times New Roman"/>
              </a:rPr>
              <a:t>guided</a:t>
            </a:r>
            <a:r>
              <a:rPr sz="1200" spc="120" dirty="0">
                <a:latin typeface="Times New Roman"/>
                <a:cs typeface="Times New Roman"/>
              </a:rPr>
              <a:t> </a:t>
            </a:r>
            <a:r>
              <a:rPr sz="1200" dirty="0">
                <a:latin typeface="Times New Roman"/>
                <a:cs typeface="Times New Roman"/>
              </a:rPr>
              <a:t>demo</a:t>
            </a:r>
            <a:r>
              <a:rPr sz="1200" spc="130" dirty="0">
                <a:latin typeface="Times New Roman"/>
                <a:cs typeface="Times New Roman"/>
              </a:rPr>
              <a:t> </a:t>
            </a:r>
            <a:r>
              <a:rPr sz="1200" dirty="0">
                <a:latin typeface="Times New Roman"/>
                <a:cs typeface="Times New Roman"/>
              </a:rPr>
              <a:t>can</a:t>
            </a:r>
            <a:r>
              <a:rPr sz="1200" spc="120" dirty="0">
                <a:latin typeface="Times New Roman"/>
                <a:cs typeface="Times New Roman"/>
              </a:rPr>
              <a:t> </a:t>
            </a:r>
            <a:r>
              <a:rPr sz="1200" dirty="0">
                <a:latin typeface="Times New Roman"/>
                <a:cs typeface="Times New Roman"/>
              </a:rPr>
              <a:t>help</a:t>
            </a:r>
            <a:r>
              <a:rPr sz="1200" spc="140" dirty="0">
                <a:latin typeface="Times New Roman"/>
                <a:cs typeface="Times New Roman"/>
              </a:rPr>
              <a:t> </a:t>
            </a:r>
            <a:r>
              <a:rPr sz="1200" dirty="0">
                <a:latin typeface="Times New Roman"/>
                <a:cs typeface="Times New Roman"/>
              </a:rPr>
              <a:t>first-time</a:t>
            </a:r>
            <a:r>
              <a:rPr sz="1200" spc="120" dirty="0">
                <a:latin typeface="Times New Roman"/>
                <a:cs typeface="Times New Roman"/>
              </a:rPr>
              <a:t> </a:t>
            </a:r>
            <a:r>
              <a:rPr sz="1200" spc="-10" dirty="0">
                <a:latin typeface="Times New Roman"/>
                <a:cs typeface="Times New Roman"/>
              </a:rPr>
              <a:t>users </a:t>
            </a:r>
            <a:r>
              <a:rPr sz="1200" dirty="0">
                <a:latin typeface="Times New Roman"/>
                <a:cs typeface="Times New Roman"/>
              </a:rPr>
              <a:t>navigate</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platform</a:t>
            </a:r>
            <a:r>
              <a:rPr sz="1200" spc="-35" dirty="0">
                <a:latin typeface="Times New Roman"/>
                <a:cs typeface="Times New Roman"/>
              </a:rPr>
              <a:t> </a:t>
            </a:r>
            <a:r>
              <a:rPr sz="1200" dirty="0">
                <a:latin typeface="Times New Roman"/>
                <a:cs typeface="Times New Roman"/>
              </a:rPr>
              <a:t>more</a:t>
            </a:r>
            <a:r>
              <a:rPr sz="1200" spc="-4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67310">
              <a:lnSpc>
                <a:spcPts val="1410"/>
              </a:lnSpc>
            </a:pPr>
            <a:r>
              <a:rPr spc="-25" dirty="0"/>
              <a:t>52</a:t>
            </a:r>
          </a:p>
        </p:txBody>
      </p:sp>
      <p:sp>
        <p:nvSpPr>
          <p:cNvPr id="2" name="object 2"/>
          <p:cNvSpPr txBox="1"/>
          <p:nvPr/>
        </p:nvSpPr>
        <p:spPr>
          <a:xfrm>
            <a:off x="1176324" y="888238"/>
            <a:ext cx="5696585" cy="7177405"/>
          </a:xfrm>
          <a:prstGeom prst="rect">
            <a:avLst/>
          </a:prstGeom>
        </p:spPr>
        <p:txBody>
          <a:bodyPr vert="horz" wrap="square" lIns="0" tIns="12065" rIns="0" bIns="0" rtlCol="0">
            <a:spAutoFit/>
          </a:bodyPr>
          <a:lstStyle/>
          <a:p>
            <a:pPr algn="ctr">
              <a:lnSpc>
                <a:spcPct val="100000"/>
              </a:lnSpc>
              <a:spcBef>
                <a:spcPts val="95"/>
              </a:spcBef>
            </a:pPr>
            <a:r>
              <a:rPr sz="1600" b="1" dirty="0">
                <a:latin typeface="Times New Roman"/>
                <a:cs typeface="Times New Roman"/>
              </a:rPr>
              <a:t>Chapter</a:t>
            </a:r>
            <a:r>
              <a:rPr sz="1600" b="1" spc="-45" dirty="0">
                <a:latin typeface="Times New Roman"/>
                <a:cs typeface="Times New Roman"/>
              </a:rPr>
              <a:t> </a:t>
            </a:r>
            <a:r>
              <a:rPr sz="1600" b="1" dirty="0">
                <a:latin typeface="Times New Roman"/>
                <a:cs typeface="Times New Roman"/>
              </a:rPr>
              <a:t>7:</a:t>
            </a:r>
            <a:r>
              <a:rPr sz="1600" b="1" spc="-30" dirty="0">
                <a:latin typeface="Times New Roman"/>
                <a:cs typeface="Times New Roman"/>
              </a:rPr>
              <a:t> </a:t>
            </a:r>
            <a:r>
              <a:rPr sz="1600" b="1" dirty="0">
                <a:latin typeface="Times New Roman"/>
                <a:cs typeface="Times New Roman"/>
              </a:rPr>
              <a:t>Conclusion</a:t>
            </a:r>
            <a:r>
              <a:rPr sz="1600" b="1" spc="-35" dirty="0">
                <a:latin typeface="Times New Roman"/>
                <a:cs typeface="Times New Roman"/>
              </a:rPr>
              <a:t> </a:t>
            </a:r>
            <a:r>
              <a:rPr sz="1600" b="1" dirty="0">
                <a:latin typeface="Times New Roman"/>
                <a:cs typeface="Times New Roman"/>
              </a:rPr>
              <a:t>and</a:t>
            </a:r>
            <a:r>
              <a:rPr sz="1600" b="1" spc="-35" dirty="0">
                <a:latin typeface="Times New Roman"/>
                <a:cs typeface="Times New Roman"/>
              </a:rPr>
              <a:t> </a:t>
            </a:r>
            <a:r>
              <a:rPr sz="1600" b="1" dirty="0">
                <a:latin typeface="Times New Roman"/>
                <a:cs typeface="Times New Roman"/>
              </a:rPr>
              <a:t>Future</a:t>
            </a:r>
            <a:r>
              <a:rPr sz="1600" b="1" spc="-30" dirty="0">
                <a:latin typeface="Times New Roman"/>
                <a:cs typeface="Times New Roman"/>
              </a:rPr>
              <a:t> </a:t>
            </a:r>
            <a:r>
              <a:rPr sz="1600" b="1" spc="-20" dirty="0">
                <a:latin typeface="Times New Roman"/>
                <a:cs typeface="Times New Roman"/>
              </a:rPr>
              <a:t>Work</a:t>
            </a:r>
            <a:endParaRPr sz="1600">
              <a:latin typeface="Times New Roman"/>
              <a:cs typeface="Times New Roman"/>
            </a:endParaRPr>
          </a:p>
          <a:p>
            <a:pPr marL="241300" lvl="1" indent="-228600" algn="just">
              <a:lnSpc>
                <a:spcPct val="100000"/>
              </a:lnSpc>
              <a:spcBef>
                <a:spcPts val="1470"/>
              </a:spcBef>
              <a:buAutoNum type="arabicPeriod"/>
              <a:tabLst>
                <a:tab pos="241300" algn="l"/>
              </a:tabLst>
            </a:pPr>
            <a:r>
              <a:rPr sz="1200" b="1" spc="-10" dirty="0">
                <a:latin typeface="Times New Roman"/>
                <a:cs typeface="Times New Roman"/>
              </a:rPr>
              <a:t>Conclusion</a:t>
            </a:r>
            <a:endParaRPr sz="1200">
              <a:latin typeface="Times New Roman"/>
              <a:cs typeface="Times New Roman"/>
            </a:endParaRPr>
          </a:p>
          <a:p>
            <a:pPr marL="12700" marR="5080" algn="just">
              <a:lnSpc>
                <a:spcPct val="143700"/>
              </a:lnSpc>
              <a:spcBef>
                <a:spcPts val="590"/>
              </a:spcBef>
            </a:pPr>
            <a:r>
              <a:rPr sz="1200" dirty="0">
                <a:latin typeface="Times New Roman"/>
                <a:cs typeface="Times New Roman"/>
              </a:rPr>
              <a:t>The</a:t>
            </a:r>
            <a:r>
              <a:rPr sz="1200" spc="400" dirty="0">
                <a:latin typeface="Times New Roman"/>
                <a:cs typeface="Times New Roman"/>
              </a:rPr>
              <a:t> </a:t>
            </a:r>
            <a:r>
              <a:rPr sz="1200" dirty="0">
                <a:latin typeface="Times New Roman"/>
                <a:cs typeface="Times New Roman"/>
              </a:rPr>
              <a:t>“Auction</a:t>
            </a:r>
            <a:r>
              <a:rPr sz="1200" spc="405" dirty="0">
                <a:latin typeface="Times New Roman"/>
                <a:cs typeface="Times New Roman"/>
              </a:rPr>
              <a:t> </a:t>
            </a:r>
            <a:r>
              <a:rPr sz="1200" dirty="0">
                <a:latin typeface="Times New Roman"/>
                <a:cs typeface="Times New Roman"/>
              </a:rPr>
              <a:t>Abode:</a:t>
            </a:r>
            <a:r>
              <a:rPr sz="1200" spc="409"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405" dirty="0">
                <a:latin typeface="Times New Roman"/>
                <a:cs typeface="Times New Roman"/>
              </a:rPr>
              <a:t> </a:t>
            </a:r>
            <a:r>
              <a:rPr sz="1200" dirty="0">
                <a:latin typeface="Times New Roman"/>
                <a:cs typeface="Times New Roman"/>
              </a:rPr>
              <a:t>Real</a:t>
            </a:r>
            <a:r>
              <a:rPr sz="1200" spc="409" dirty="0">
                <a:latin typeface="Times New Roman"/>
                <a:cs typeface="Times New Roman"/>
              </a:rPr>
              <a:t> </a:t>
            </a:r>
            <a:r>
              <a:rPr sz="1200" dirty="0">
                <a:latin typeface="Times New Roman"/>
                <a:cs typeface="Times New Roman"/>
              </a:rPr>
              <a:t>Estate</a:t>
            </a:r>
            <a:r>
              <a:rPr sz="1200" spc="400" dirty="0">
                <a:latin typeface="Times New Roman"/>
                <a:cs typeface="Times New Roman"/>
              </a:rPr>
              <a:t> </a:t>
            </a:r>
            <a:r>
              <a:rPr sz="1200" dirty="0">
                <a:latin typeface="Times New Roman"/>
                <a:cs typeface="Times New Roman"/>
              </a:rPr>
              <a:t>Bidding</a:t>
            </a:r>
            <a:r>
              <a:rPr sz="1200" spc="395" dirty="0">
                <a:latin typeface="Times New Roman"/>
                <a:cs typeface="Times New Roman"/>
              </a:rPr>
              <a:t> </a:t>
            </a:r>
            <a:r>
              <a:rPr sz="1200" dirty="0">
                <a:latin typeface="Times New Roman"/>
                <a:cs typeface="Times New Roman"/>
              </a:rPr>
              <a:t>Platform”</a:t>
            </a:r>
            <a:r>
              <a:rPr sz="1200" spc="405" dirty="0">
                <a:latin typeface="Times New Roman"/>
                <a:cs typeface="Times New Roman"/>
              </a:rPr>
              <a:t> </a:t>
            </a:r>
            <a:r>
              <a:rPr sz="1200" dirty="0">
                <a:latin typeface="Times New Roman"/>
                <a:cs typeface="Times New Roman"/>
              </a:rPr>
              <a:t>was</a:t>
            </a:r>
            <a:r>
              <a:rPr sz="1200" spc="405" dirty="0">
                <a:latin typeface="Times New Roman"/>
                <a:cs typeface="Times New Roman"/>
              </a:rPr>
              <a:t> </a:t>
            </a:r>
            <a:r>
              <a:rPr sz="1200" dirty="0">
                <a:latin typeface="Times New Roman"/>
                <a:cs typeface="Times New Roman"/>
              </a:rPr>
              <a:t>designed</a:t>
            </a:r>
            <a:r>
              <a:rPr sz="1200" spc="405" dirty="0">
                <a:latin typeface="Times New Roman"/>
                <a:cs typeface="Times New Roman"/>
              </a:rPr>
              <a:t> </a:t>
            </a:r>
            <a:r>
              <a:rPr sz="1200" spc="-25" dirty="0">
                <a:latin typeface="Times New Roman"/>
                <a:cs typeface="Times New Roman"/>
              </a:rPr>
              <a:t>and </a:t>
            </a:r>
            <a:r>
              <a:rPr sz="1200" dirty="0">
                <a:latin typeface="Times New Roman"/>
                <a:cs typeface="Times New Roman"/>
              </a:rPr>
              <a:t>implemented</a:t>
            </a:r>
            <a:r>
              <a:rPr sz="1200" spc="105" dirty="0">
                <a:latin typeface="Times New Roman"/>
                <a:cs typeface="Times New Roman"/>
              </a:rPr>
              <a:t> </a:t>
            </a:r>
            <a:r>
              <a:rPr sz="1200" dirty="0">
                <a:latin typeface="Times New Roman"/>
                <a:cs typeface="Times New Roman"/>
              </a:rPr>
              <a:t>to</a:t>
            </a:r>
            <a:r>
              <a:rPr sz="1200" spc="114" dirty="0">
                <a:latin typeface="Times New Roman"/>
                <a:cs typeface="Times New Roman"/>
              </a:rPr>
              <a:t> </a:t>
            </a:r>
            <a:r>
              <a:rPr sz="1200" dirty="0">
                <a:latin typeface="Times New Roman"/>
                <a:cs typeface="Times New Roman"/>
              </a:rPr>
              <a:t>address</a:t>
            </a:r>
            <a:r>
              <a:rPr sz="1200" spc="105" dirty="0">
                <a:latin typeface="Times New Roman"/>
                <a:cs typeface="Times New Roman"/>
              </a:rPr>
              <a:t> </a:t>
            </a:r>
            <a:r>
              <a:rPr sz="1200" dirty="0">
                <a:latin typeface="Times New Roman"/>
                <a:cs typeface="Times New Roman"/>
              </a:rPr>
              <a:t>core</a:t>
            </a:r>
            <a:r>
              <a:rPr sz="1200" spc="105" dirty="0">
                <a:latin typeface="Times New Roman"/>
                <a:cs typeface="Times New Roman"/>
              </a:rPr>
              <a:t> </a:t>
            </a:r>
            <a:r>
              <a:rPr sz="1200" dirty="0">
                <a:latin typeface="Times New Roman"/>
                <a:cs typeface="Times New Roman"/>
              </a:rPr>
              <a:t>challenges</a:t>
            </a:r>
            <a:r>
              <a:rPr sz="1200" spc="114" dirty="0">
                <a:latin typeface="Times New Roman"/>
                <a:cs typeface="Times New Roman"/>
              </a:rPr>
              <a:t> </a:t>
            </a:r>
            <a:r>
              <a:rPr sz="1200" dirty="0">
                <a:latin typeface="Times New Roman"/>
                <a:cs typeface="Times New Roman"/>
              </a:rPr>
              <a:t>in</a:t>
            </a:r>
            <a:r>
              <a:rPr sz="1200" spc="114" dirty="0">
                <a:latin typeface="Times New Roman"/>
                <a:cs typeface="Times New Roman"/>
              </a:rPr>
              <a:t> </a:t>
            </a:r>
            <a:r>
              <a:rPr sz="1200" dirty="0">
                <a:latin typeface="Times New Roman"/>
                <a:cs typeface="Times New Roman"/>
              </a:rPr>
              <a:t>traditional</a:t>
            </a:r>
            <a:r>
              <a:rPr sz="1200" spc="114" dirty="0">
                <a:latin typeface="Times New Roman"/>
                <a:cs typeface="Times New Roman"/>
              </a:rPr>
              <a:t> </a:t>
            </a:r>
            <a:r>
              <a:rPr sz="1200" dirty="0">
                <a:latin typeface="Times New Roman"/>
                <a:cs typeface="Times New Roman"/>
              </a:rPr>
              <a:t>property</a:t>
            </a:r>
            <a:r>
              <a:rPr sz="1200" spc="110" dirty="0">
                <a:latin typeface="Times New Roman"/>
                <a:cs typeface="Times New Roman"/>
              </a:rPr>
              <a:t> </a:t>
            </a:r>
            <a:r>
              <a:rPr sz="1200" dirty="0">
                <a:latin typeface="Times New Roman"/>
                <a:cs typeface="Times New Roman"/>
              </a:rPr>
              <a:t>auctions,</a:t>
            </a:r>
            <a:r>
              <a:rPr sz="1200" spc="140" dirty="0">
                <a:latin typeface="Times New Roman"/>
                <a:cs typeface="Times New Roman"/>
              </a:rPr>
              <a:t> </a:t>
            </a:r>
            <a:r>
              <a:rPr sz="1200" dirty="0">
                <a:latin typeface="Times New Roman"/>
                <a:cs typeface="Times New Roman"/>
              </a:rPr>
              <a:t>including</a:t>
            </a:r>
            <a:r>
              <a:rPr sz="1200" spc="114" dirty="0">
                <a:latin typeface="Times New Roman"/>
                <a:cs typeface="Times New Roman"/>
              </a:rPr>
              <a:t> </a:t>
            </a:r>
            <a:r>
              <a:rPr sz="1200" dirty="0">
                <a:latin typeface="Times New Roman"/>
                <a:cs typeface="Times New Roman"/>
              </a:rPr>
              <a:t>lack</a:t>
            </a:r>
            <a:r>
              <a:rPr sz="1200" spc="110" dirty="0">
                <a:latin typeface="Times New Roman"/>
                <a:cs typeface="Times New Roman"/>
              </a:rPr>
              <a:t> </a:t>
            </a:r>
            <a:r>
              <a:rPr sz="1200" spc="-25" dirty="0">
                <a:latin typeface="Times New Roman"/>
                <a:cs typeface="Times New Roman"/>
              </a:rPr>
              <a:t>of </a:t>
            </a:r>
            <a:r>
              <a:rPr sz="1200" dirty="0">
                <a:latin typeface="Times New Roman"/>
                <a:cs typeface="Times New Roman"/>
              </a:rPr>
              <a:t>transparency,</a:t>
            </a:r>
            <a:r>
              <a:rPr sz="1200" spc="130" dirty="0">
                <a:latin typeface="Times New Roman"/>
                <a:cs typeface="Times New Roman"/>
              </a:rPr>
              <a:t> </a:t>
            </a:r>
            <a:r>
              <a:rPr sz="1200" dirty="0">
                <a:latin typeface="Times New Roman"/>
                <a:cs typeface="Times New Roman"/>
              </a:rPr>
              <a:t>delayed</a:t>
            </a:r>
            <a:r>
              <a:rPr sz="1200" spc="130" dirty="0">
                <a:latin typeface="Times New Roman"/>
                <a:cs typeface="Times New Roman"/>
              </a:rPr>
              <a:t> </a:t>
            </a:r>
            <a:r>
              <a:rPr sz="1200" dirty="0">
                <a:latin typeface="Times New Roman"/>
                <a:cs typeface="Times New Roman"/>
              </a:rPr>
              <a:t>bid</a:t>
            </a:r>
            <a:r>
              <a:rPr sz="1200" spc="135" dirty="0">
                <a:latin typeface="Times New Roman"/>
                <a:cs typeface="Times New Roman"/>
              </a:rPr>
              <a:t> </a:t>
            </a:r>
            <a:r>
              <a:rPr sz="1200" dirty="0">
                <a:latin typeface="Times New Roman"/>
                <a:cs typeface="Times New Roman"/>
              </a:rPr>
              <a:t>updates,</a:t>
            </a:r>
            <a:r>
              <a:rPr sz="1200" spc="130" dirty="0">
                <a:latin typeface="Times New Roman"/>
                <a:cs typeface="Times New Roman"/>
              </a:rPr>
              <a:t> </a:t>
            </a:r>
            <a:r>
              <a:rPr sz="1200" dirty="0">
                <a:latin typeface="Times New Roman"/>
                <a:cs typeface="Times New Roman"/>
              </a:rPr>
              <a:t>and</a:t>
            </a:r>
            <a:r>
              <a:rPr sz="1200" spc="130" dirty="0">
                <a:latin typeface="Times New Roman"/>
                <a:cs typeface="Times New Roman"/>
              </a:rPr>
              <a:t> </a:t>
            </a:r>
            <a:r>
              <a:rPr sz="1200" dirty="0">
                <a:latin typeface="Times New Roman"/>
                <a:cs typeface="Times New Roman"/>
              </a:rPr>
              <a:t>fraudulent</a:t>
            </a:r>
            <a:r>
              <a:rPr sz="1200" spc="135" dirty="0">
                <a:latin typeface="Times New Roman"/>
                <a:cs typeface="Times New Roman"/>
              </a:rPr>
              <a:t> </a:t>
            </a:r>
            <a:r>
              <a:rPr sz="1200" dirty="0">
                <a:latin typeface="Times New Roman"/>
                <a:cs typeface="Times New Roman"/>
              </a:rPr>
              <a:t>listings.</a:t>
            </a:r>
            <a:r>
              <a:rPr sz="1200" spc="135" dirty="0">
                <a:latin typeface="Times New Roman"/>
                <a:cs typeface="Times New Roman"/>
              </a:rPr>
              <a:t> </a:t>
            </a:r>
            <a:r>
              <a:rPr sz="1200" dirty="0">
                <a:latin typeface="Times New Roman"/>
                <a:cs typeface="Times New Roman"/>
              </a:rPr>
              <a:t>Through</a:t>
            </a:r>
            <a:r>
              <a:rPr sz="1200" spc="130"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integration</a:t>
            </a:r>
            <a:r>
              <a:rPr sz="1200" spc="135"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spc="-25" dirty="0">
                <a:latin typeface="Times New Roman"/>
                <a:cs typeface="Times New Roman"/>
              </a:rPr>
              <a:t>AI- </a:t>
            </a:r>
            <a:r>
              <a:rPr sz="1200" dirty="0">
                <a:latin typeface="Times New Roman"/>
                <a:cs typeface="Times New Roman"/>
              </a:rPr>
              <a:t>driven</a:t>
            </a:r>
            <a:r>
              <a:rPr sz="1200" spc="395" dirty="0">
                <a:latin typeface="Times New Roman"/>
                <a:cs typeface="Times New Roman"/>
              </a:rPr>
              <a:t> </a:t>
            </a:r>
            <a:r>
              <a:rPr sz="1200" dirty="0">
                <a:latin typeface="Times New Roman"/>
                <a:cs typeface="Times New Roman"/>
              </a:rPr>
              <a:t>price</a:t>
            </a:r>
            <a:r>
              <a:rPr sz="1200" spc="395" dirty="0">
                <a:latin typeface="Times New Roman"/>
                <a:cs typeface="Times New Roman"/>
              </a:rPr>
              <a:t> </a:t>
            </a:r>
            <a:r>
              <a:rPr sz="1200" dirty="0">
                <a:latin typeface="Times New Roman"/>
                <a:cs typeface="Times New Roman"/>
              </a:rPr>
              <a:t>prediction,</a:t>
            </a:r>
            <a:r>
              <a:rPr sz="1200" spc="40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395" dirty="0">
                <a:latin typeface="Times New Roman"/>
                <a:cs typeface="Times New Roman"/>
              </a:rPr>
              <a:t> </a:t>
            </a:r>
            <a:r>
              <a:rPr sz="1200" dirty="0">
                <a:latin typeface="Times New Roman"/>
                <a:cs typeface="Times New Roman"/>
              </a:rPr>
              <a:t>bid</a:t>
            </a:r>
            <a:r>
              <a:rPr sz="1200" spc="409" dirty="0">
                <a:latin typeface="Times New Roman"/>
                <a:cs typeface="Times New Roman"/>
              </a:rPr>
              <a:t> </a:t>
            </a:r>
            <a:r>
              <a:rPr sz="1200" dirty="0">
                <a:latin typeface="Times New Roman"/>
                <a:cs typeface="Times New Roman"/>
              </a:rPr>
              <a:t>synchronization</a:t>
            </a:r>
            <a:r>
              <a:rPr sz="1200" spc="400" dirty="0">
                <a:latin typeface="Times New Roman"/>
                <a:cs typeface="Times New Roman"/>
              </a:rPr>
              <a:t> </a:t>
            </a:r>
            <a:r>
              <a:rPr sz="1200" dirty="0">
                <a:latin typeface="Times New Roman"/>
                <a:cs typeface="Times New Roman"/>
              </a:rPr>
              <a:t>using</a:t>
            </a:r>
            <a:r>
              <a:rPr sz="1200" spc="400" dirty="0">
                <a:latin typeface="Times New Roman"/>
                <a:cs typeface="Times New Roman"/>
              </a:rPr>
              <a:t> </a:t>
            </a:r>
            <a:r>
              <a:rPr sz="1200" dirty="0">
                <a:latin typeface="Times New Roman"/>
                <a:cs typeface="Times New Roman"/>
              </a:rPr>
              <a:t>Socket.io,</a:t>
            </a:r>
            <a:r>
              <a:rPr sz="1200" spc="400"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spc="-10" dirty="0">
                <a:latin typeface="Times New Roman"/>
                <a:cs typeface="Times New Roman"/>
              </a:rPr>
              <a:t>document </a:t>
            </a:r>
            <a:r>
              <a:rPr sz="1200" dirty="0">
                <a:latin typeface="Times New Roman"/>
                <a:cs typeface="Times New Roman"/>
              </a:rPr>
              <a:t>verification</a:t>
            </a:r>
            <a:r>
              <a:rPr sz="1200" spc="305" dirty="0">
                <a:latin typeface="Times New Roman"/>
                <a:cs typeface="Times New Roman"/>
              </a:rPr>
              <a:t> </a:t>
            </a:r>
            <a:r>
              <a:rPr sz="1200" dirty="0">
                <a:latin typeface="Times New Roman"/>
                <a:cs typeface="Times New Roman"/>
              </a:rPr>
              <a:t>via</a:t>
            </a:r>
            <a:r>
              <a:rPr sz="1200" spc="305" dirty="0">
                <a:latin typeface="Times New Roman"/>
                <a:cs typeface="Times New Roman"/>
              </a:rPr>
              <a:t> </a:t>
            </a:r>
            <a:r>
              <a:rPr sz="1200" dirty="0">
                <a:latin typeface="Times New Roman"/>
                <a:cs typeface="Times New Roman"/>
              </a:rPr>
              <a:t>NLP,</a:t>
            </a:r>
            <a:r>
              <a:rPr sz="1200" spc="310" dirty="0">
                <a:latin typeface="Times New Roman"/>
                <a:cs typeface="Times New Roman"/>
              </a:rPr>
              <a:t> </a:t>
            </a:r>
            <a:r>
              <a:rPr sz="1200" dirty="0">
                <a:latin typeface="Times New Roman"/>
                <a:cs typeface="Times New Roman"/>
              </a:rPr>
              <a:t>the</a:t>
            </a:r>
            <a:r>
              <a:rPr sz="1200" spc="305" dirty="0">
                <a:latin typeface="Times New Roman"/>
                <a:cs typeface="Times New Roman"/>
              </a:rPr>
              <a:t> </a:t>
            </a:r>
            <a:r>
              <a:rPr sz="1200" dirty="0">
                <a:latin typeface="Times New Roman"/>
                <a:cs typeface="Times New Roman"/>
              </a:rPr>
              <a:t>platform</a:t>
            </a:r>
            <a:r>
              <a:rPr sz="1200" spc="305" dirty="0">
                <a:latin typeface="Times New Roman"/>
                <a:cs typeface="Times New Roman"/>
              </a:rPr>
              <a:t> </a:t>
            </a:r>
            <a:r>
              <a:rPr sz="1200" dirty="0">
                <a:latin typeface="Times New Roman"/>
                <a:cs typeface="Times New Roman"/>
              </a:rPr>
              <a:t>ensures</a:t>
            </a:r>
            <a:r>
              <a:rPr sz="1200" spc="315" dirty="0">
                <a:latin typeface="Times New Roman"/>
                <a:cs typeface="Times New Roman"/>
              </a:rPr>
              <a:t> </a:t>
            </a:r>
            <a:r>
              <a:rPr sz="1200" dirty="0">
                <a:latin typeface="Times New Roman"/>
                <a:cs typeface="Times New Roman"/>
              </a:rPr>
              <a:t>fair,</a:t>
            </a:r>
            <a:r>
              <a:rPr sz="1200" spc="305" dirty="0">
                <a:latin typeface="Times New Roman"/>
                <a:cs typeface="Times New Roman"/>
              </a:rPr>
              <a:t> </a:t>
            </a:r>
            <a:r>
              <a:rPr sz="1200" dirty="0">
                <a:latin typeface="Times New Roman"/>
                <a:cs typeface="Times New Roman"/>
              </a:rPr>
              <a:t>fast,</a:t>
            </a:r>
            <a:r>
              <a:rPr sz="1200" spc="315" dirty="0">
                <a:latin typeface="Times New Roman"/>
                <a:cs typeface="Times New Roman"/>
              </a:rPr>
              <a:t> </a:t>
            </a:r>
            <a:r>
              <a:rPr sz="1200" dirty="0">
                <a:latin typeface="Times New Roman"/>
                <a:cs typeface="Times New Roman"/>
              </a:rPr>
              <a:t>and</a:t>
            </a:r>
            <a:r>
              <a:rPr sz="1200" spc="305" dirty="0">
                <a:latin typeface="Times New Roman"/>
                <a:cs typeface="Times New Roman"/>
              </a:rPr>
              <a:t> </a:t>
            </a:r>
            <a:r>
              <a:rPr sz="1200" dirty="0">
                <a:latin typeface="Times New Roman"/>
                <a:cs typeface="Times New Roman"/>
              </a:rPr>
              <a:t>secure</a:t>
            </a:r>
            <a:r>
              <a:rPr sz="1200" spc="300" dirty="0">
                <a:latin typeface="Times New Roman"/>
                <a:cs typeface="Times New Roman"/>
              </a:rPr>
              <a:t> </a:t>
            </a:r>
            <a:r>
              <a:rPr sz="1200" dirty="0">
                <a:latin typeface="Times New Roman"/>
                <a:cs typeface="Times New Roman"/>
              </a:rPr>
              <a:t>property</a:t>
            </a:r>
            <a:r>
              <a:rPr sz="1200" spc="310" dirty="0">
                <a:latin typeface="Times New Roman"/>
                <a:cs typeface="Times New Roman"/>
              </a:rPr>
              <a:t> </a:t>
            </a:r>
            <a:r>
              <a:rPr sz="1200" spc="-10" dirty="0">
                <a:latin typeface="Times New Roman"/>
                <a:cs typeface="Times New Roman"/>
              </a:rPr>
              <a:t>transactions.</a:t>
            </a:r>
            <a:endParaRPr sz="1200">
              <a:latin typeface="Times New Roman"/>
              <a:cs typeface="Times New Roman"/>
            </a:endParaRPr>
          </a:p>
          <a:p>
            <a:pPr>
              <a:lnSpc>
                <a:spcPct val="100000"/>
              </a:lnSpc>
              <a:spcBef>
                <a:spcPts val="695"/>
              </a:spcBef>
            </a:pPr>
            <a:endParaRPr sz="1200">
              <a:latin typeface="Times New Roman"/>
              <a:cs typeface="Times New Roman"/>
            </a:endParaRPr>
          </a:p>
          <a:p>
            <a:pPr marL="12700" marR="5080" algn="just">
              <a:lnSpc>
                <a:spcPct val="143800"/>
              </a:lnSpc>
            </a:pP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system’s</a:t>
            </a:r>
            <a:r>
              <a:rPr sz="1200" spc="80" dirty="0">
                <a:latin typeface="Times New Roman"/>
                <a:cs typeface="Times New Roman"/>
              </a:rPr>
              <a:t> </a:t>
            </a:r>
            <a:r>
              <a:rPr sz="1200" spc="-10" dirty="0">
                <a:latin typeface="Times New Roman"/>
                <a:cs typeface="Times New Roman"/>
              </a:rPr>
              <a:t>three-</a:t>
            </a:r>
            <a:r>
              <a:rPr sz="1200" dirty="0">
                <a:latin typeface="Times New Roman"/>
                <a:cs typeface="Times New Roman"/>
              </a:rPr>
              <a:t>tier</a:t>
            </a:r>
            <a:r>
              <a:rPr sz="1200" spc="80" dirty="0">
                <a:latin typeface="Times New Roman"/>
                <a:cs typeface="Times New Roman"/>
              </a:rPr>
              <a:t> </a:t>
            </a:r>
            <a:r>
              <a:rPr sz="1200" dirty="0">
                <a:latin typeface="Times New Roman"/>
                <a:cs typeface="Times New Roman"/>
              </a:rPr>
              <a:t>architecture</a:t>
            </a:r>
            <a:r>
              <a:rPr sz="1200" spc="75" dirty="0">
                <a:latin typeface="Times New Roman"/>
                <a:cs typeface="Times New Roman"/>
              </a:rPr>
              <a:t> </a:t>
            </a:r>
            <a:r>
              <a:rPr sz="1200" dirty="0">
                <a:latin typeface="Times New Roman"/>
                <a:cs typeface="Times New Roman"/>
              </a:rPr>
              <a:t>and</a:t>
            </a:r>
            <a:r>
              <a:rPr sz="1200" spc="75" dirty="0">
                <a:latin typeface="Times New Roman"/>
                <a:cs typeface="Times New Roman"/>
              </a:rPr>
              <a:t> </a:t>
            </a:r>
            <a:r>
              <a:rPr sz="1200" dirty="0">
                <a:latin typeface="Times New Roman"/>
                <a:cs typeface="Times New Roman"/>
              </a:rPr>
              <a:t>use</a:t>
            </a:r>
            <a:r>
              <a:rPr sz="1200" spc="75" dirty="0">
                <a:latin typeface="Times New Roman"/>
                <a:cs typeface="Times New Roman"/>
              </a:rPr>
              <a:t> </a:t>
            </a:r>
            <a:r>
              <a:rPr sz="1200" dirty="0">
                <a:latin typeface="Times New Roman"/>
                <a:cs typeface="Times New Roman"/>
              </a:rPr>
              <a:t>of</a:t>
            </a:r>
            <a:r>
              <a:rPr sz="1200" spc="80" dirty="0">
                <a:latin typeface="Times New Roman"/>
                <a:cs typeface="Times New Roman"/>
              </a:rPr>
              <a:t> </a:t>
            </a:r>
            <a:r>
              <a:rPr sz="1200" dirty="0">
                <a:latin typeface="Times New Roman"/>
                <a:cs typeface="Times New Roman"/>
              </a:rPr>
              <a:t>modern</a:t>
            </a:r>
            <a:r>
              <a:rPr sz="1200" spc="80" dirty="0">
                <a:latin typeface="Times New Roman"/>
                <a:cs typeface="Times New Roman"/>
              </a:rPr>
              <a:t> </a:t>
            </a:r>
            <a:r>
              <a:rPr sz="1200" dirty="0">
                <a:latin typeface="Times New Roman"/>
                <a:cs typeface="Times New Roman"/>
              </a:rPr>
              <a:t>technologies</a:t>
            </a:r>
            <a:r>
              <a:rPr sz="1200" spc="80" dirty="0">
                <a:latin typeface="Times New Roman"/>
                <a:cs typeface="Times New Roman"/>
              </a:rPr>
              <a:t> </a:t>
            </a:r>
            <a:r>
              <a:rPr sz="1200" dirty="0">
                <a:latin typeface="Times New Roman"/>
                <a:cs typeface="Times New Roman"/>
              </a:rPr>
              <a:t>like</a:t>
            </a:r>
            <a:r>
              <a:rPr sz="1200" spc="80" dirty="0">
                <a:latin typeface="Times New Roman"/>
                <a:cs typeface="Times New Roman"/>
              </a:rPr>
              <a:t> </a:t>
            </a:r>
            <a:r>
              <a:rPr sz="1200" dirty="0">
                <a:latin typeface="Times New Roman"/>
                <a:cs typeface="Times New Roman"/>
              </a:rPr>
              <a:t>React.js,</a:t>
            </a:r>
            <a:r>
              <a:rPr sz="1200" spc="80" dirty="0">
                <a:latin typeface="Times New Roman"/>
                <a:cs typeface="Times New Roman"/>
              </a:rPr>
              <a:t> </a:t>
            </a:r>
            <a:r>
              <a:rPr sz="1200" spc="-10" dirty="0">
                <a:latin typeface="Times New Roman"/>
                <a:cs typeface="Times New Roman"/>
              </a:rPr>
              <a:t>Node.js, </a:t>
            </a:r>
            <a:r>
              <a:rPr sz="1200" dirty="0">
                <a:latin typeface="Times New Roman"/>
                <a:cs typeface="Times New Roman"/>
              </a:rPr>
              <a:t>MongoDB,</a:t>
            </a:r>
            <a:r>
              <a:rPr sz="1200" spc="220" dirty="0">
                <a:latin typeface="Times New Roman"/>
                <a:cs typeface="Times New Roman"/>
              </a:rPr>
              <a:t> </a:t>
            </a:r>
            <a:r>
              <a:rPr sz="1200" dirty="0">
                <a:latin typeface="Times New Roman"/>
                <a:cs typeface="Times New Roman"/>
              </a:rPr>
              <a:t>and</a:t>
            </a:r>
            <a:r>
              <a:rPr sz="1200" spc="220" dirty="0">
                <a:latin typeface="Times New Roman"/>
                <a:cs typeface="Times New Roman"/>
              </a:rPr>
              <a:t> </a:t>
            </a:r>
            <a:r>
              <a:rPr sz="1200" spc="-10" dirty="0">
                <a:latin typeface="Times New Roman"/>
                <a:cs typeface="Times New Roman"/>
              </a:rPr>
              <a:t>Python-</a:t>
            </a:r>
            <a:r>
              <a:rPr sz="1200" dirty="0">
                <a:latin typeface="Times New Roman"/>
                <a:cs typeface="Times New Roman"/>
              </a:rPr>
              <a:t>based</a:t>
            </a:r>
            <a:r>
              <a:rPr sz="1200" spc="220" dirty="0">
                <a:latin typeface="Times New Roman"/>
                <a:cs typeface="Times New Roman"/>
              </a:rPr>
              <a:t> </a:t>
            </a:r>
            <a:r>
              <a:rPr sz="1200" dirty="0">
                <a:latin typeface="Times New Roman"/>
                <a:cs typeface="Times New Roman"/>
              </a:rPr>
              <a:t>AI</a:t>
            </a:r>
            <a:r>
              <a:rPr sz="1200" spc="204" dirty="0">
                <a:latin typeface="Times New Roman"/>
                <a:cs typeface="Times New Roman"/>
              </a:rPr>
              <a:t> </a:t>
            </a:r>
            <a:r>
              <a:rPr sz="1200" dirty="0">
                <a:latin typeface="Times New Roman"/>
                <a:cs typeface="Times New Roman"/>
              </a:rPr>
              <a:t>modules</a:t>
            </a:r>
            <a:r>
              <a:rPr sz="1200" spc="225" dirty="0">
                <a:latin typeface="Times New Roman"/>
                <a:cs typeface="Times New Roman"/>
              </a:rPr>
              <a:t> </a:t>
            </a:r>
            <a:r>
              <a:rPr sz="1200" dirty="0">
                <a:latin typeface="Times New Roman"/>
                <a:cs typeface="Times New Roman"/>
              </a:rPr>
              <a:t>contributed</a:t>
            </a:r>
            <a:r>
              <a:rPr sz="1200" spc="220" dirty="0">
                <a:latin typeface="Times New Roman"/>
                <a:cs typeface="Times New Roman"/>
              </a:rPr>
              <a:t> </a:t>
            </a:r>
            <a:r>
              <a:rPr sz="1200" dirty="0">
                <a:latin typeface="Times New Roman"/>
                <a:cs typeface="Times New Roman"/>
              </a:rPr>
              <a:t>to</a:t>
            </a:r>
            <a:r>
              <a:rPr sz="1200" spc="225" dirty="0">
                <a:latin typeface="Times New Roman"/>
                <a:cs typeface="Times New Roman"/>
              </a:rPr>
              <a:t> </a:t>
            </a:r>
            <a:r>
              <a:rPr sz="1200" dirty="0">
                <a:latin typeface="Times New Roman"/>
                <a:cs typeface="Times New Roman"/>
              </a:rPr>
              <a:t>a</a:t>
            </a:r>
            <a:r>
              <a:rPr sz="1200" spc="215" dirty="0">
                <a:latin typeface="Times New Roman"/>
                <a:cs typeface="Times New Roman"/>
              </a:rPr>
              <a:t> </a:t>
            </a:r>
            <a:r>
              <a:rPr sz="1200" dirty="0">
                <a:latin typeface="Times New Roman"/>
                <a:cs typeface="Times New Roman"/>
              </a:rPr>
              <a:t>robust</a:t>
            </a:r>
            <a:r>
              <a:rPr sz="1200" spc="215" dirty="0">
                <a:latin typeface="Times New Roman"/>
                <a:cs typeface="Times New Roman"/>
              </a:rPr>
              <a:t> </a:t>
            </a:r>
            <a:r>
              <a:rPr sz="1200" dirty="0">
                <a:latin typeface="Times New Roman"/>
                <a:cs typeface="Times New Roman"/>
              </a:rPr>
              <a:t>and</a:t>
            </a:r>
            <a:r>
              <a:rPr sz="1200" spc="220" dirty="0">
                <a:latin typeface="Times New Roman"/>
                <a:cs typeface="Times New Roman"/>
              </a:rPr>
              <a:t> </a:t>
            </a:r>
            <a:r>
              <a:rPr sz="1200" dirty="0">
                <a:latin typeface="Times New Roman"/>
                <a:cs typeface="Times New Roman"/>
              </a:rPr>
              <a:t>scalable</a:t>
            </a:r>
            <a:r>
              <a:rPr sz="1200" spc="215" dirty="0">
                <a:latin typeface="Times New Roman"/>
                <a:cs typeface="Times New Roman"/>
              </a:rPr>
              <a:t> </a:t>
            </a:r>
            <a:r>
              <a:rPr sz="1200" spc="-10" dirty="0">
                <a:latin typeface="Times New Roman"/>
                <a:cs typeface="Times New Roman"/>
              </a:rPr>
              <a:t>solution. </a:t>
            </a:r>
            <a:r>
              <a:rPr sz="1200" dirty="0">
                <a:latin typeface="Times New Roman"/>
                <a:cs typeface="Times New Roman"/>
              </a:rPr>
              <a:t>Rigorous</a:t>
            </a:r>
            <a:r>
              <a:rPr sz="1200" spc="-40" dirty="0">
                <a:latin typeface="Times New Roman"/>
                <a:cs typeface="Times New Roman"/>
              </a:rPr>
              <a:t> </a:t>
            </a:r>
            <a:r>
              <a:rPr sz="1200" dirty="0">
                <a:latin typeface="Times New Roman"/>
                <a:cs typeface="Times New Roman"/>
              </a:rPr>
              <a:t>testing</a:t>
            </a:r>
            <a:r>
              <a:rPr sz="1200" spc="-30" dirty="0">
                <a:latin typeface="Times New Roman"/>
                <a:cs typeface="Times New Roman"/>
              </a:rPr>
              <a:t> </a:t>
            </a:r>
            <a:r>
              <a:rPr sz="1200" dirty="0">
                <a:latin typeface="Times New Roman"/>
                <a:cs typeface="Times New Roman"/>
              </a:rPr>
              <a:t>validated</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platform’s</a:t>
            </a:r>
            <a:r>
              <a:rPr sz="1200" spc="-40" dirty="0">
                <a:latin typeface="Times New Roman"/>
                <a:cs typeface="Times New Roman"/>
              </a:rPr>
              <a:t> </a:t>
            </a:r>
            <a:r>
              <a:rPr sz="1200" dirty="0">
                <a:latin typeface="Times New Roman"/>
                <a:cs typeface="Times New Roman"/>
              </a:rPr>
              <a:t>performance,</a:t>
            </a:r>
            <a:r>
              <a:rPr sz="1200" spc="-30" dirty="0">
                <a:latin typeface="Times New Roman"/>
                <a:cs typeface="Times New Roman"/>
              </a:rPr>
              <a:t> </a:t>
            </a:r>
            <a:r>
              <a:rPr sz="1200" dirty="0">
                <a:latin typeface="Times New Roman"/>
                <a:cs typeface="Times New Roman"/>
              </a:rPr>
              <a:t>security,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usability,</a:t>
            </a:r>
            <a:r>
              <a:rPr sz="1200" spc="-3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high</a:t>
            </a:r>
            <a:r>
              <a:rPr sz="1200" spc="-35" dirty="0">
                <a:latin typeface="Times New Roman"/>
                <a:cs typeface="Times New Roman"/>
              </a:rPr>
              <a:t> </a:t>
            </a:r>
            <a:r>
              <a:rPr sz="1200" spc="-20" dirty="0">
                <a:latin typeface="Times New Roman"/>
                <a:cs typeface="Times New Roman"/>
              </a:rPr>
              <a:t>user </a:t>
            </a:r>
            <a:r>
              <a:rPr sz="1200" dirty="0">
                <a:latin typeface="Times New Roman"/>
                <a:cs typeface="Times New Roman"/>
              </a:rPr>
              <a:t>satisfaction</a:t>
            </a:r>
            <a:r>
              <a:rPr sz="1200" spc="365" dirty="0">
                <a:latin typeface="Times New Roman"/>
                <a:cs typeface="Times New Roman"/>
              </a:rPr>
              <a:t> </a:t>
            </a:r>
            <a:r>
              <a:rPr sz="1200" dirty="0">
                <a:latin typeface="Times New Roman"/>
                <a:cs typeface="Times New Roman"/>
              </a:rPr>
              <a:t>rates.</a:t>
            </a:r>
            <a:r>
              <a:rPr sz="1200" spc="370" dirty="0">
                <a:latin typeface="Times New Roman"/>
                <a:cs typeface="Times New Roman"/>
              </a:rPr>
              <a:t> </a:t>
            </a:r>
            <a:r>
              <a:rPr sz="1200" dirty="0">
                <a:latin typeface="Times New Roman"/>
                <a:cs typeface="Times New Roman"/>
              </a:rPr>
              <a:t>Ultimately,</a:t>
            </a:r>
            <a:r>
              <a:rPr sz="1200" spc="375" dirty="0">
                <a:latin typeface="Times New Roman"/>
                <a:cs typeface="Times New Roman"/>
              </a:rPr>
              <a:t> </a:t>
            </a:r>
            <a:r>
              <a:rPr sz="1200" dirty="0">
                <a:latin typeface="Times New Roman"/>
                <a:cs typeface="Times New Roman"/>
              </a:rPr>
              <a:t>Auction</a:t>
            </a:r>
            <a:r>
              <a:rPr sz="1200" spc="365" dirty="0">
                <a:latin typeface="Times New Roman"/>
                <a:cs typeface="Times New Roman"/>
              </a:rPr>
              <a:t> </a:t>
            </a:r>
            <a:r>
              <a:rPr sz="1200" dirty="0">
                <a:latin typeface="Times New Roman"/>
                <a:cs typeface="Times New Roman"/>
              </a:rPr>
              <a:t>Abode</a:t>
            </a:r>
            <a:r>
              <a:rPr sz="1200" spc="365" dirty="0">
                <a:latin typeface="Times New Roman"/>
                <a:cs typeface="Times New Roman"/>
              </a:rPr>
              <a:t> </a:t>
            </a:r>
            <a:r>
              <a:rPr sz="1200" dirty="0">
                <a:latin typeface="Times New Roman"/>
                <a:cs typeface="Times New Roman"/>
              </a:rPr>
              <a:t>demonstrates</a:t>
            </a:r>
            <a:r>
              <a:rPr sz="1200" spc="370" dirty="0">
                <a:latin typeface="Times New Roman"/>
                <a:cs typeface="Times New Roman"/>
              </a:rPr>
              <a:t> </a:t>
            </a:r>
            <a:r>
              <a:rPr sz="1200" dirty="0">
                <a:latin typeface="Times New Roman"/>
                <a:cs typeface="Times New Roman"/>
              </a:rPr>
              <a:t>a</a:t>
            </a:r>
            <a:r>
              <a:rPr sz="1200" spc="365" dirty="0">
                <a:latin typeface="Times New Roman"/>
                <a:cs typeface="Times New Roman"/>
              </a:rPr>
              <a:t> </a:t>
            </a:r>
            <a:r>
              <a:rPr sz="1200" dirty="0">
                <a:latin typeface="Times New Roman"/>
                <a:cs typeface="Times New Roman"/>
              </a:rPr>
              <a:t>significant</a:t>
            </a:r>
            <a:r>
              <a:rPr sz="1200" spc="370" dirty="0">
                <a:latin typeface="Times New Roman"/>
                <a:cs typeface="Times New Roman"/>
              </a:rPr>
              <a:t> </a:t>
            </a:r>
            <a:r>
              <a:rPr sz="1200" spc="-10" dirty="0">
                <a:latin typeface="Times New Roman"/>
                <a:cs typeface="Times New Roman"/>
              </a:rPr>
              <a:t>technological </a:t>
            </a:r>
            <a:r>
              <a:rPr sz="1200" dirty="0">
                <a:latin typeface="Times New Roman"/>
                <a:cs typeface="Times New Roman"/>
              </a:rPr>
              <a:t>advancement</a:t>
            </a:r>
            <a:r>
              <a:rPr sz="1200" spc="4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digital</a:t>
            </a:r>
            <a:r>
              <a:rPr sz="1200" spc="50" dirty="0">
                <a:latin typeface="Times New Roman"/>
                <a:cs typeface="Times New Roman"/>
              </a:rPr>
              <a:t> </a:t>
            </a:r>
            <a:r>
              <a:rPr sz="1200" dirty="0">
                <a:latin typeface="Times New Roman"/>
                <a:cs typeface="Times New Roman"/>
              </a:rPr>
              <a:t>property</a:t>
            </a:r>
            <a:r>
              <a:rPr sz="1200" spc="45" dirty="0">
                <a:latin typeface="Times New Roman"/>
                <a:cs typeface="Times New Roman"/>
              </a:rPr>
              <a:t> </a:t>
            </a:r>
            <a:r>
              <a:rPr sz="1200" dirty="0">
                <a:latin typeface="Times New Roman"/>
                <a:cs typeface="Times New Roman"/>
              </a:rPr>
              <a:t>auctions</a:t>
            </a:r>
            <a:r>
              <a:rPr sz="1200" spc="5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providing</a:t>
            </a:r>
            <a:r>
              <a:rPr sz="1200" spc="4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transparent</a:t>
            </a:r>
            <a:r>
              <a:rPr sz="1200" spc="5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intelligent</a:t>
            </a:r>
            <a:r>
              <a:rPr sz="1200" spc="50" dirty="0">
                <a:latin typeface="Times New Roman"/>
                <a:cs typeface="Times New Roman"/>
              </a:rPr>
              <a:t> </a:t>
            </a:r>
            <a:r>
              <a:rPr sz="1200" spc="-10" dirty="0">
                <a:latin typeface="Times New Roman"/>
                <a:cs typeface="Times New Roman"/>
              </a:rPr>
              <a:t>bidding </a:t>
            </a:r>
            <a:r>
              <a:rPr sz="1200" dirty="0">
                <a:latin typeface="Times New Roman"/>
                <a:cs typeface="Times New Roman"/>
              </a:rPr>
              <a:t>environment</a:t>
            </a:r>
            <a:r>
              <a:rPr sz="1200" spc="-3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promotes</a:t>
            </a:r>
            <a:r>
              <a:rPr sz="1200" spc="-35" dirty="0">
                <a:latin typeface="Times New Roman"/>
                <a:cs typeface="Times New Roman"/>
              </a:rPr>
              <a:t> </a:t>
            </a:r>
            <a:r>
              <a:rPr sz="1200" dirty="0">
                <a:latin typeface="Times New Roman"/>
                <a:cs typeface="Times New Roman"/>
              </a:rPr>
              <a:t>trust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efficiency</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buyers,</a:t>
            </a:r>
            <a:r>
              <a:rPr sz="1200" spc="-35" dirty="0">
                <a:latin typeface="Times New Roman"/>
                <a:cs typeface="Times New Roman"/>
              </a:rPr>
              <a:t> </a:t>
            </a:r>
            <a:r>
              <a:rPr sz="1200" dirty="0">
                <a:latin typeface="Times New Roman"/>
                <a:cs typeface="Times New Roman"/>
              </a:rPr>
              <a:t>sellers,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administrators.</a:t>
            </a:r>
            <a:endParaRPr sz="1200">
              <a:latin typeface="Times New Roman"/>
              <a:cs typeface="Times New Roman"/>
            </a:endParaRPr>
          </a:p>
          <a:p>
            <a:pPr marL="241300" lvl="1" indent="-228600" algn="just">
              <a:lnSpc>
                <a:spcPct val="100000"/>
              </a:lnSpc>
              <a:spcBef>
                <a:spcPts val="1225"/>
              </a:spcBef>
              <a:buAutoNum type="arabicPeriod" startAt="2"/>
              <a:tabLst>
                <a:tab pos="241300" algn="l"/>
              </a:tabLst>
            </a:pPr>
            <a:r>
              <a:rPr sz="1200" b="1" dirty="0">
                <a:latin typeface="Times New Roman"/>
                <a:cs typeface="Times New Roman"/>
              </a:rPr>
              <a:t>Future</a:t>
            </a:r>
            <a:r>
              <a:rPr sz="1200" b="1" spc="-35" dirty="0">
                <a:latin typeface="Times New Roman"/>
                <a:cs typeface="Times New Roman"/>
              </a:rPr>
              <a:t> </a:t>
            </a:r>
            <a:r>
              <a:rPr sz="1200" b="1" spc="-20" dirty="0">
                <a:latin typeface="Times New Roman"/>
                <a:cs typeface="Times New Roman"/>
              </a:rPr>
              <a:t>Work</a:t>
            </a:r>
            <a:endParaRPr sz="1200">
              <a:latin typeface="Times New Roman"/>
              <a:cs typeface="Times New Roman"/>
            </a:endParaRPr>
          </a:p>
          <a:p>
            <a:pPr marL="12700" marR="5080" algn="just">
              <a:lnSpc>
                <a:spcPct val="143800"/>
              </a:lnSpc>
              <a:spcBef>
                <a:spcPts val="605"/>
              </a:spcBef>
            </a:pPr>
            <a:r>
              <a:rPr sz="1200" dirty="0">
                <a:latin typeface="Times New Roman"/>
                <a:cs typeface="Times New Roman"/>
              </a:rPr>
              <a:t>While</a:t>
            </a:r>
            <a:r>
              <a:rPr sz="1200" spc="105"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dirty="0">
                <a:latin typeface="Times New Roman"/>
                <a:cs typeface="Times New Roman"/>
              </a:rPr>
              <a:t>current</a:t>
            </a:r>
            <a:r>
              <a:rPr sz="1200" spc="110" dirty="0">
                <a:latin typeface="Times New Roman"/>
                <a:cs typeface="Times New Roman"/>
              </a:rPr>
              <a:t>  </a:t>
            </a:r>
            <a:r>
              <a:rPr sz="1200" dirty="0">
                <a:latin typeface="Times New Roman"/>
                <a:cs typeface="Times New Roman"/>
              </a:rPr>
              <a:t>implementation</a:t>
            </a:r>
            <a:r>
              <a:rPr sz="1200" spc="114" dirty="0">
                <a:latin typeface="Times New Roman"/>
                <a:cs typeface="Times New Roman"/>
              </a:rPr>
              <a:t>  </a:t>
            </a:r>
            <a:r>
              <a:rPr sz="1200" dirty="0">
                <a:latin typeface="Times New Roman"/>
                <a:cs typeface="Times New Roman"/>
              </a:rPr>
              <a:t>effectively</a:t>
            </a:r>
            <a:r>
              <a:rPr sz="1200" spc="110" dirty="0">
                <a:latin typeface="Times New Roman"/>
                <a:cs typeface="Times New Roman"/>
              </a:rPr>
              <a:t>  </a:t>
            </a:r>
            <a:r>
              <a:rPr sz="1200" dirty="0">
                <a:latin typeface="Times New Roman"/>
                <a:cs typeface="Times New Roman"/>
              </a:rPr>
              <a:t>meets</a:t>
            </a:r>
            <a:r>
              <a:rPr sz="1200" spc="110"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dirty="0">
                <a:latin typeface="Times New Roman"/>
                <a:cs typeface="Times New Roman"/>
              </a:rPr>
              <a:t>defined</a:t>
            </a:r>
            <a:r>
              <a:rPr sz="1200" spc="110" dirty="0">
                <a:latin typeface="Times New Roman"/>
                <a:cs typeface="Times New Roman"/>
              </a:rPr>
              <a:t>  </a:t>
            </a:r>
            <a:r>
              <a:rPr sz="1200" dirty="0">
                <a:latin typeface="Times New Roman"/>
                <a:cs typeface="Times New Roman"/>
              </a:rPr>
              <a:t>objectives,</a:t>
            </a:r>
            <a:r>
              <a:rPr sz="1200" spc="110" dirty="0">
                <a:latin typeface="Times New Roman"/>
                <a:cs typeface="Times New Roman"/>
              </a:rPr>
              <a:t>  </a:t>
            </a:r>
            <a:r>
              <a:rPr sz="1200" spc="-10" dirty="0">
                <a:latin typeface="Times New Roman"/>
                <a:cs typeface="Times New Roman"/>
              </a:rPr>
              <a:t>several </a:t>
            </a:r>
            <a:r>
              <a:rPr sz="1200" dirty="0">
                <a:latin typeface="Times New Roman"/>
                <a:cs typeface="Times New Roman"/>
              </a:rPr>
              <a:t>enhancements</a:t>
            </a:r>
            <a:r>
              <a:rPr sz="1200" spc="325" dirty="0">
                <a:latin typeface="Times New Roman"/>
                <a:cs typeface="Times New Roman"/>
              </a:rPr>
              <a:t> </a:t>
            </a:r>
            <a:r>
              <a:rPr sz="1200" dirty="0">
                <a:latin typeface="Times New Roman"/>
                <a:cs typeface="Times New Roman"/>
              </a:rPr>
              <a:t>are</a:t>
            </a:r>
            <a:r>
              <a:rPr sz="1200" spc="325" dirty="0">
                <a:latin typeface="Times New Roman"/>
                <a:cs typeface="Times New Roman"/>
              </a:rPr>
              <a:t> </a:t>
            </a:r>
            <a:r>
              <a:rPr sz="1200" dirty="0">
                <a:latin typeface="Times New Roman"/>
                <a:cs typeface="Times New Roman"/>
              </a:rPr>
              <a:t>proposed</a:t>
            </a:r>
            <a:r>
              <a:rPr sz="1200" spc="330" dirty="0">
                <a:latin typeface="Times New Roman"/>
                <a:cs typeface="Times New Roman"/>
              </a:rPr>
              <a:t> </a:t>
            </a:r>
            <a:r>
              <a:rPr sz="1200" dirty="0">
                <a:latin typeface="Times New Roman"/>
                <a:cs typeface="Times New Roman"/>
              </a:rPr>
              <a:t>to</a:t>
            </a:r>
            <a:r>
              <a:rPr sz="1200" spc="325" dirty="0">
                <a:latin typeface="Times New Roman"/>
                <a:cs typeface="Times New Roman"/>
              </a:rPr>
              <a:t> </a:t>
            </a:r>
            <a:r>
              <a:rPr sz="1200" dirty="0">
                <a:latin typeface="Times New Roman"/>
                <a:cs typeface="Times New Roman"/>
              </a:rPr>
              <a:t>further</a:t>
            </a:r>
            <a:r>
              <a:rPr sz="1200" spc="325" dirty="0">
                <a:latin typeface="Times New Roman"/>
                <a:cs typeface="Times New Roman"/>
              </a:rPr>
              <a:t> </a:t>
            </a:r>
            <a:r>
              <a:rPr sz="1200" dirty="0">
                <a:latin typeface="Times New Roman"/>
                <a:cs typeface="Times New Roman"/>
              </a:rPr>
              <a:t>elevate</a:t>
            </a:r>
            <a:r>
              <a:rPr sz="1200" spc="335" dirty="0">
                <a:latin typeface="Times New Roman"/>
                <a:cs typeface="Times New Roman"/>
              </a:rPr>
              <a:t> </a:t>
            </a:r>
            <a:r>
              <a:rPr sz="1200" dirty="0">
                <a:latin typeface="Times New Roman"/>
                <a:cs typeface="Times New Roman"/>
              </a:rPr>
              <a:t>system</a:t>
            </a:r>
            <a:r>
              <a:rPr sz="1200" spc="325" dirty="0">
                <a:latin typeface="Times New Roman"/>
                <a:cs typeface="Times New Roman"/>
              </a:rPr>
              <a:t> </a:t>
            </a:r>
            <a:r>
              <a:rPr sz="1200" dirty="0">
                <a:latin typeface="Times New Roman"/>
                <a:cs typeface="Times New Roman"/>
              </a:rPr>
              <a:t>functionality.</a:t>
            </a:r>
            <a:r>
              <a:rPr sz="1200" spc="345" dirty="0">
                <a:latin typeface="Times New Roman"/>
                <a:cs typeface="Times New Roman"/>
              </a:rPr>
              <a:t> </a:t>
            </a:r>
            <a:r>
              <a:rPr sz="1200" dirty="0">
                <a:latin typeface="Times New Roman"/>
                <a:cs typeface="Times New Roman"/>
              </a:rPr>
              <a:t>These</a:t>
            </a:r>
            <a:r>
              <a:rPr sz="1200" spc="325" dirty="0">
                <a:latin typeface="Times New Roman"/>
                <a:cs typeface="Times New Roman"/>
              </a:rPr>
              <a:t> </a:t>
            </a:r>
            <a:r>
              <a:rPr sz="1200" dirty="0">
                <a:latin typeface="Times New Roman"/>
                <a:cs typeface="Times New Roman"/>
              </a:rPr>
              <a:t>include</a:t>
            </a:r>
            <a:r>
              <a:rPr sz="1200" spc="330" dirty="0">
                <a:latin typeface="Times New Roman"/>
                <a:cs typeface="Times New Roman"/>
              </a:rPr>
              <a:t> </a:t>
            </a:r>
            <a:r>
              <a:rPr sz="1200" spc="-25" dirty="0">
                <a:latin typeface="Times New Roman"/>
                <a:cs typeface="Times New Roman"/>
              </a:rPr>
              <a:t>the </a:t>
            </a:r>
            <a:r>
              <a:rPr sz="1200" dirty="0">
                <a:latin typeface="Times New Roman"/>
                <a:cs typeface="Times New Roman"/>
              </a:rPr>
              <a:t>development of</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mobile</a:t>
            </a:r>
            <a:r>
              <a:rPr sz="1200" spc="5" dirty="0">
                <a:latin typeface="Times New Roman"/>
                <a:cs typeface="Times New Roman"/>
              </a:rPr>
              <a:t> </a:t>
            </a:r>
            <a:r>
              <a:rPr sz="1200" dirty="0">
                <a:latin typeface="Times New Roman"/>
                <a:cs typeface="Times New Roman"/>
              </a:rPr>
              <a:t>application for</a:t>
            </a:r>
            <a:r>
              <a:rPr sz="1200" spc="-5" dirty="0">
                <a:latin typeface="Times New Roman"/>
                <a:cs typeface="Times New Roman"/>
              </a:rPr>
              <a:t> </a:t>
            </a:r>
            <a:r>
              <a:rPr sz="1200" dirty="0">
                <a:latin typeface="Times New Roman"/>
                <a:cs typeface="Times New Roman"/>
              </a:rPr>
              <a:t>Android</a:t>
            </a:r>
            <a:r>
              <a:rPr sz="1200" spc="10" dirty="0">
                <a:latin typeface="Times New Roman"/>
                <a:cs typeface="Times New Roman"/>
              </a:rPr>
              <a:t> </a:t>
            </a:r>
            <a:r>
              <a:rPr sz="1200" dirty="0">
                <a:latin typeface="Times New Roman"/>
                <a:cs typeface="Times New Roman"/>
              </a:rPr>
              <a:t>and iOS</a:t>
            </a:r>
            <a:r>
              <a:rPr sz="1200" spc="5" dirty="0">
                <a:latin typeface="Times New Roman"/>
                <a:cs typeface="Times New Roman"/>
              </a:rPr>
              <a:t> </a:t>
            </a:r>
            <a:r>
              <a:rPr sz="1200" dirty="0">
                <a:latin typeface="Times New Roman"/>
                <a:cs typeface="Times New Roman"/>
              </a:rPr>
              <a:t>to enable </a:t>
            </a:r>
            <a:r>
              <a:rPr sz="1200" spc="-10" dirty="0">
                <a:latin typeface="Times New Roman"/>
                <a:cs typeface="Times New Roman"/>
              </a:rPr>
              <a:t>real-</a:t>
            </a:r>
            <a:r>
              <a:rPr sz="1200" dirty="0">
                <a:latin typeface="Times New Roman"/>
                <a:cs typeface="Times New Roman"/>
              </a:rPr>
              <a:t>time bidding on </a:t>
            </a:r>
            <a:r>
              <a:rPr sz="1200" spc="-25" dirty="0">
                <a:latin typeface="Times New Roman"/>
                <a:cs typeface="Times New Roman"/>
              </a:rPr>
              <a:t>the </a:t>
            </a:r>
            <a:r>
              <a:rPr sz="1200" dirty="0">
                <a:latin typeface="Times New Roman"/>
                <a:cs typeface="Times New Roman"/>
              </a:rPr>
              <a:t>go,</a:t>
            </a:r>
            <a:r>
              <a:rPr sz="1200" spc="290" dirty="0">
                <a:latin typeface="Times New Roman"/>
                <a:cs typeface="Times New Roman"/>
              </a:rPr>
              <a:t> </a:t>
            </a:r>
            <a:r>
              <a:rPr sz="1200" dirty="0">
                <a:latin typeface="Times New Roman"/>
                <a:cs typeface="Times New Roman"/>
              </a:rPr>
              <a:t>and</a:t>
            </a:r>
            <a:r>
              <a:rPr sz="1200" spc="290" dirty="0">
                <a:latin typeface="Times New Roman"/>
                <a:cs typeface="Times New Roman"/>
              </a:rPr>
              <a:t> </a:t>
            </a:r>
            <a:r>
              <a:rPr sz="1200" dirty="0">
                <a:latin typeface="Times New Roman"/>
                <a:cs typeface="Times New Roman"/>
              </a:rPr>
              <a:t>integration</a:t>
            </a:r>
            <a:r>
              <a:rPr sz="1200" spc="290" dirty="0">
                <a:latin typeface="Times New Roman"/>
                <a:cs typeface="Times New Roman"/>
              </a:rPr>
              <a:t> </a:t>
            </a:r>
            <a:r>
              <a:rPr sz="1200" dirty="0">
                <a:latin typeface="Times New Roman"/>
                <a:cs typeface="Times New Roman"/>
              </a:rPr>
              <a:t>with</a:t>
            </a:r>
            <a:r>
              <a:rPr sz="1200" spc="295" dirty="0">
                <a:latin typeface="Times New Roman"/>
                <a:cs typeface="Times New Roman"/>
              </a:rPr>
              <a:t> </a:t>
            </a:r>
            <a:r>
              <a:rPr sz="1200" dirty="0">
                <a:latin typeface="Times New Roman"/>
                <a:cs typeface="Times New Roman"/>
              </a:rPr>
              <a:t>government</a:t>
            </a:r>
            <a:r>
              <a:rPr sz="1200" spc="295" dirty="0">
                <a:latin typeface="Times New Roman"/>
                <a:cs typeface="Times New Roman"/>
              </a:rPr>
              <a:t> </a:t>
            </a:r>
            <a:r>
              <a:rPr sz="1200" dirty="0">
                <a:latin typeface="Times New Roman"/>
                <a:cs typeface="Times New Roman"/>
              </a:rPr>
              <a:t>land</a:t>
            </a:r>
            <a:r>
              <a:rPr sz="1200" spc="290" dirty="0">
                <a:latin typeface="Times New Roman"/>
                <a:cs typeface="Times New Roman"/>
              </a:rPr>
              <a:t> </a:t>
            </a:r>
            <a:r>
              <a:rPr sz="1200" dirty="0">
                <a:latin typeface="Times New Roman"/>
                <a:cs typeface="Times New Roman"/>
              </a:rPr>
              <a:t>record</a:t>
            </a:r>
            <a:r>
              <a:rPr sz="1200" spc="285" dirty="0">
                <a:latin typeface="Times New Roman"/>
                <a:cs typeface="Times New Roman"/>
              </a:rPr>
              <a:t> </a:t>
            </a:r>
            <a:r>
              <a:rPr sz="1200" dirty="0">
                <a:latin typeface="Times New Roman"/>
                <a:cs typeface="Times New Roman"/>
              </a:rPr>
              <a:t>systems</a:t>
            </a:r>
            <a:r>
              <a:rPr sz="1200" spc="295" dirty="0">
                <a:latin typeface="Times New Roman"/>
                <a:cs typeface="Times New Roman"/>
              </a:rPr>
              <a:t> </a:t>
            </a:r>
            <a:r>
              <a:rPr sz="1200" dirty="0">
                <a:latin typeface="Times New Roman"/>
                <a:cs typeface="Times New Roman"/>
              </a:rPr>
              <a:t>to</a:t>
            </a:r>
            <a:r>
              <a:rPr sz="1200" spc="295" dirty="0">
                <a:latin typeface="Times New Roman"/>
                <a:cs typeface="Times New Roman"/>
              </a:rPr>
              <a:t> </a:t>
            </a:r>
            <a:r>
              <a:rPr sz="1200" dirty="0">
                <a:latin typeface="Times New Roman"/>
                <a:cs typeface="Times New Roman"/>
              </a:rPr>
              <a:t>verify</a:t>
            </a:r>
            <a:r>
              <a:rPr sz="1200" spc="295" dirty="0">
                <a:latin typeface="Times New Roman"/>
                <a:cs typeface="Times New Roman"/>
              </a:rPr>
              <a:t> </a:t>
            </a:r>
            <a:r>
              <a:rPr sz="1200" dirty="0">
                <a:latin typeface="Times New Roman"/>
                <a:cs typeface="Times New Roman"/>
              </a:rPr>
              <a:t>property</a:t>
            </a:r>
            <a:r>
              <a:rPr sz="1200" spc="290" dirty="0">
                <a:latin typeface="Times New Roman"/>
                <a:cs typeface="Times New Roman"/>
              </a:rPr>
              <a:t> </a:t>
            </a:r>
            <a:r>
              <a:rPr sz="1200" dirty="0">
                <a:latin typeface="Times New Roman"/>
                <a:cs typeface="Times New Roman"/>
              </a:rPr>
              <a:t>titles</a:t>
            </a:r>
            <a:r>
              <a:rPr sz="1200" spc="290" dirty="0">
                <a:latin typeface="Times New Roman"/>
                <a:cs typeface="Times New Roman"/>
              </a:rPr>
              <a:t> </a:t>
            </a:r>
            <a:r>
              <a:rPr sz="1200" spc="-25" dirty="0">
                <a:latin typeface="Times New Roman"/>
                <a:cs typeface="Times New Roman"/>
              </a:rPr>
              <a:t>and </a:t>
            </a:r>
            <a:r>
              <a:rPr sz="1200" dirty="0">
                <a:latin typeface="Times New Roman"/>
                <a:cs typeface="Times New Roman"/>
              </a:rPr>
              <a:t>ownership</a:t>
            </a:r>
            <a:r>
              <a:rPr sz="1200" spc="150" dirty="0">
                <a:latin typeface="Times New Roman"/>
                <a:cs typeface="Times New Roman"/>
              </a:rPr>
              <a:t> </a:t>
            </a:r>
            <a:r>
              <a:rPr sz="1200" dirty="0">
                <a:latin typeface="Times New Roman"/>
                <a:cs typeface="Times New Roman"/>
              </a:rPr>
              <a:t>with</a:t>
            </a:r>
            <a:r>
              <a:rPr sz="1200" spc="155" dirty="0">
                <a:latin typeface="Times New Roman"/>
                <a:cs typeface="Times New Roman"/>
              </a:rPr>
              <a:t> </a:t>
            </a:r>
            <a:r>
              <a:rPr sz="1200" dirty="0">
                <a:latin typeface="Times New Roman"/>
                <a:cs typeface="Times New Roman"/>
              </a:rPr>
              <a:t>greater</a:t>
            </a:r>
            <a:r>
              <a:rPr sz="1200" spc="155" dirty="0">
                <a:latin typeface="Times New Roman"/>
                <a:cs typeface="Times New Roman"/>
              </a:rPr>
              <a:t> </a:t>
            </a:r>
            <a:r>
              <a:rPr sz="1200" dirty="0">
                <a:latin typeface="Times New Roman"/>
                <a:cs typeface="Times New Roman"/>
              </a:rPr>
              <a:t>accuracy.</a:t>
            </a:r>
            <a:r>
              <a:rPr sz="1200" spc="155" dirty="0">
                <a:latin typeface="Times New Roman"/>
                <a:cs typeface="Times New Roman"/>
              </a:rPr>
              <a:t> </a:t>
            </a:r>
            <a:r>
              <a:rPr sz="1200" dirty="0">
                <a:latin typeface="Times New Roman"/>
                <a:cs typeface="Times New Roman"/>
              </a:rPr>
              <a:t>An</a:t>
            </a:r>
            <a:r>
              <a:rPr sz="1200" spc="145" dirty="0">
                <a:latin typeface="Times New Roman"/>
                <a:cs typeface="Times New Roman"/>
              </a:rPr>
              <a:t> </a:t>
            </a:r>
            <a:r>
              <a:rPr sz="1200" dirty="0">
                <a:latin typeface="Times New Roman"/>
                <a:cs typeface="Times New Roman"/>
              </a:rPr>
              <a:t>advanced</a:t>
            </a:r>
            <a:r>
              <a:rPr sz="1200" spc="165" dirty="0">
                <a:latin typeface="Times New Roman"/>
                <a:cs typeface="Times New Roman"/>
              </a:rPr>
              <a:t> </a:t>
            </a:r>
            <a:r>
              <a:rPr sz="1200" dirty="0">
                <a:latin typeface="Times New Roman"/>
                <a:cs typeface="Times New Roman"/>
              </a:rPr>
              <a:t>analytics</a:t>
            </a:r>
            <a:r>
              <a:rPr sz="1200" spc="145" dirty="0">
                <a:latin typeface="Times New Roman"/>
                <a:cs typeface="Times New Roman"/>
              </a:rPr>
              <a:t> </a:t>
            </a:r>
            <a:r>
              <a:rPr sz="1200" dirty="0">
                <a:latin typeface="Times New Roman"/>
                <a:cs typeface="Times New Roman"/>
              </a:rPr>
              <a:t>dashboard</a:t>
            </a:r>
            <a:r>
              <a:rPr sz="1200" spc="150" dirty="0">
                <a:latin typeface="Times New Roman"/>
                <a:cs typeface="Times New Roman"/>
              </a:rPr>
              <a:t> </a:t>
            </a:r>
            <a:r>
              <a:rPr sz="1200" dirty="0">
                <a:latin typeface="Times New Roman"/>
                <a:cs typeface="Times New Roman"/>
              </a:rPr>
              <a:t>will</a:t>
            </a:r>
            <a:r>
              <a:rPr sz="1200" spc="155" dirty="0">
                <a:latin typeface="Times New Roman"/>
                <a:cs typeface="Times New Roman"/>
              </a:rPr>
              <a:t> </a:t>
            </a:r>
            <a:r>
              <a:rPr sz="1200" dirty="0">
                <a:latin typeface="Times New Roman"/>
                <a:cs typeface="Times New Roman"/>
              </a:rPr>
              <a:t>be</a:t>
            </a:r>
            <a:r>
              <a:rPr sz="1200" spc="145" dirty="0">
                <a:latin typeface="Times New Roman"/>
                <a:cs typeface="Times New Roman"/>
              </a:rPr>
              <a:t> </a:t>
            </a:r>
            <a:r>
              <a:rPr sz="1200" dirty="0">
                <a:latin typeface="Times New Roman"/>
                <a:cs typeface="Times New Roman"/>
              </a:rPr>
              <a:t>introduced</a:t>
            </a:r>
            <a:r>
              <a:rPr sz="1200" spc="155" dirty="0">
                <a:latin typeface="Times New Roman"/>
                <a:cs typeface="Times New Roman"/>
              </a:rPr>
              <a:t> </a:t>
            </a:r>
            <a:r>
              <a:rPr sz="1200" spc="-25" dirty="0">
                <a:latin typeface="Times New Roman"/>
                <a:cs typeface="Times New Roman"/>
              </a:rPr>
              <a:t>to </a:t>
            </a:r>
            <a:r>
              <a:rPr sz="1200" dirty="0">
                <a:latin typeface="Times New Roman"/>
                <a:cs typeface="Times New Roman"/>
              </a:rPr>
              <a:t>provide</a:t>
            </a:r>
            <a:r>
              <a:rPr sz="1200" spc="200" dirty="0">
                <a:latin typeface="Times New Roman"/>
                <a:cs typeface="Times New Roman"/>
              </a:rPr>
              <a:t> </a:t>
            </a:r>
            <a:r>
              <a:rPr sz="1200" dirty="0">
                <a:latin typeface="Times New Roman"/>
                <a:cs typeface="Times New Roman"/>
              </a:rPr>
              <a:t>buyers</a:t>
            </a:r>
            <a:r>
              <a:rPr sz="1200" spc="200" dirty="0">
                <a:latin typeface="Times New Roman"/>
                <a:cs typeface="Times New Roman"/>
              </a:rPr>
              <a:t> </a:t>
            </a:r>
            <a:r>
              <a:rPr sz="1200" dirty="0">
                <a:latin typeface="Times New Roman"/>
                <a:cs typeface="Times New Roman"/>
              </a:rPr>
              <a:t>and</a:t>
            </a:r>
            <a:r>
              <a:rPr sz="1200" spc="204" dirty="0">
                <a:latin typeface="Times New Roman"/>
                <a:cs typeface="Times New Roman"/>
              </a:rPr>
              <a:t> </a:t>
            </a:r>
            <a:r>
              <a:rPr sz="1200" dirty="0">
                <a:latin typeface="Times New Roman"/>
                <a:cs typeface="Times New Roman"/>
              </a:rPr>
              <a:t>sellers</a:t>
            </a:r>
            <a:r>
              <a:rPr sz="1200" spc="204" dirty="0">
                <a:latin typeface="Times New Roman"/>
                <a:cs typeface="Times New Roman"/>
              </a:rPr>
              <a:t> </a:t>
            </a:r>
            <a:r>
              <a:rPr sz="1200" dirty="0">
                <a:latin typeface="Times New Roman"/>
                <a:cs typeface="Times New Roman"/>
              </a:rPr>
              <a:t>with</a:t>
            </a:r>
            <a:r>
              <a:rPr sz="1200" spc="204"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00" dirty="0">
                <a:latin typeface="Times New Roman"/>
                <a:cs typeface="Times New Roman"/>
              </a:rPr>
              <a:t> </a:t>
            </a:r>
            <a:r>
              <a:rPr sz="1200" dirty="0">
                <a:latin typeface="Times New Roman"/>
                <a:cs typeface="Times New Roman"/>
              </a:rPr>
              <a:t>visual</a:t>
            </a:r>
            <a:r>
              <a:rPr sz="1200" spc="204" dirty="0">
                <a:latin typeface="Times New Roman"/>
                <a:cs typeface="Times New Roman"/>
              </a:rPr>
              <a:t> </a:t>
            </a:r>
            <a:r>
              <a:rPr sz="1200" dirty="0">
                <a:latin typeface="Times New Roman"/>
                <a:cs typeface="Times New Roman"/>
              </a:rPr>
              <a:t>insights</a:t>
            </a:r>
            <a:r>
              <a:rPr sz="1200" spc="215" dirty="0">
                <a:latin typeface="Times New Roman"/>
                <a:cs typeface="Times New Roman"/>
              </a:rPr>
              <a:t> </a:t>
            </a:r>
            <a:r>
              <a:rPr sz="1200" dirty="0">
                <a:latin typeface="Times New Roman"/>
                <a:cs typeface="Times New Roman"/>
              </a:rPr>
              <a:t>into</a:t>
            </a:r>
            <a:r>
              <a:rPr sz="1200" spc="204" dirty="0">
                <a:latin typeface="Times New Roman"/>
                <a:cs typeface="Times New Roman"/>
              </a:rPr>
              <a:t> </a:t>
            </a:r>
            <a:r>
              <a:rPr sz="1200" dirty="0">
                <a:latin typeface="Times New Roman"/>
                <a:cs typeface="Times New Roman"/>
              </a:rPr>
              <a:t>market</a:t>
            </a:r>
            <a:r>
              <a:rPr sz="1200" spc="204" dirty="0">
                <a:latin typeface="Times New Roman"/>
                <a:cs typeface="Times New Roman"/>
              </a:rPr>
              <a:t> </a:t>
            </a:r>
            <a:r>
              <a:rPr sz="1200" dirty="0">
                <a:latin typeface="Times New Roman"/>
                <a:cs typeface="Times New Roman"/>
              </a:rPr>
              <a:t>trends</a:t>
            </a:r>
            <a:r>
              <a:rPr sz="1200" spc="204"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spc="-10" dirty="0">
                <a:latin typeface="Times New Roman"/>
                <a:cs typeface="Times New Roman"/>
              </a:rPr>
              <a:t>bidding </a:t>
            </a:r>
            <a:r>
              <a:rPr sz="1200" dirty="0">
                <a:latin typeface="Times New Roman"/>
                <a:cs typeface="Times New Roman"/>
              </a:rPr>
              <a:t>history.</a:t>
            </a:r>
            <a:r>
              <a:rPr sz="1200" spc="420" dirty="0">
                <a:latin typeface="Times New Roman"/>
                <a:cs typeface="Times New Roman"/>
              </a:rPr>
              <a:t> </a:t>
            </a:r>
            <a:r>
              <a:rPr sz="1200" dirty="0">
                <a:latin typeface="Times New Roman"/>
                <a:cs typeface="Times New Roman"/>
              </a:rPr>
              <a:t>Additionally,</a:t>
            </a:r>
            <a:r>
              <a:rPr sz="1200" spc="409" dirty="0">
                <a:latin typeface="Times New Roman"/>
                <a:cs typeface="Times New Roman"/>
              </a:rPr>
              <a:t> </a:t>
            </a:r>
            <a:r>
              <a:rPr sz="1200" dirty="0">
                <a:latin typeface="Times New Roman"/>
                <a:cs typeface="Times New Roman"/>
              </a:rPr>
              <a:t>APIs</a:t>
            </a:r>
            <a:r>
              <a:rPr sz="1200" spc="425" dirty="0">
                <a:latin typeface="Times New Roman"/>
                <a:cs typeface="Times New Roman"/>
              </a:rPr>
              <a:t> </a:t>
            </a:r>
            <a:r>
              <a:rPr sz="1200" dirty="0">
                <a:latin typeface="Times New Roman"/>
                <a:cs typeface="Times New Roman"/>
              </a:rPr>
              <a:t>or</a:t>
            </a:r>
            <a:r>
              <a:rPr sz="1200" spc="420" dirty="0">
                <a:latin typeface="Times New Roman"/>
                <a:cs typeface="Times New Roman"/>
              </a:rPr>
              <a:t> </a:t>
            </a:r>
            <a:r>
              <a:rPr sz="1200" dirty="0">
                <a:latin typeface="Times New Roman"/>
                <a:cs typeface="Times New Roman"/>
              </a:rPr>
              <a:t>OCR-based</a:t>
            </a:r>
            <a:r>
              <a:rPr sz="1200" spc="425" dirty="0">
                <a:latin typeface="Times New Roman"/>
                <a:cs typeface="Times New Roman"/>
              </a:rPr>
              <a:t> </a:t>
            </a:r>
            <a:r>
              <a:rPr sz="1200" dirty="0">
                <a:latin typeface="Times New Roman"/>
                <a:cs typeface="Times New Roman"/>
              </a:rPr>
              <a:t>systems</a:t>
            </a:r>
            <a:r>
              <a:rPr sz="1200" spc="425" dirty="0">
                <a:latin typeface="Times New Roman"/>
                <a:cs typeface="Times New Roman"/>
              </a:rPr>
              <a:t> </a:t>
            </a:r>
            <a:r>
              <a:rPr sz="1200" dirty="0">
                <a:latin typeface="Times New Roman"/>
                <a:cs typeface="Times New Roman"/>
              </a:rPr>
              <a:t>will</a:t>
            </a:r>
            <a:r>
              <a:rPr sz="1200" spc="425" dirty="0">
                <a:latin typeface="Times New Roman"/>
                <a:cs typeface="Times New Roman"/>
              </a:rPr>
              <a:t> </a:t>
            </a:r>
            <a:r>
              <a:rPr sz="1200" dirty="0">
                <a:latin typeface="Times New Roman"/>
                <a:cs typeface="Times New Roman"/>
              </a:rPr>
              <a:t>be</a:t>
            </a:r>
            <a:r>
              <a:rPr sz="1200" spc="420" dirty="0">
                <a:latin typeface="Times New Roman"/>
                <a:cs typeface="Times New Roman"/>
              </a:rPr>
              <a:t> </a:t>
            </a:r>
            <a:r>
              <a:rPr sz="1200" dirty="0">
                <a:latin typeface="Times New Roman"/>
                <a:cs typeface="Times New Roman"/>
              </a:rPr>
              <a:t>developed</a:t>
            </a:r>
            <a:r>
              <a:rPr sz="1200" spc="420" dirty="0">
                <a:latin typeface="Times New Roman"/>
                <a:cs typeface="Times New Roman"/>
              </a:rPr>
              <a:t> </a:t>
            </a:r>
            <a:r>
              <a:rPr sz="1200" dirty="0">
                <a:latin typeface="Times New Roman"/>
                <a:cs typeface="Times New Roman"/>
              </a:rPr>
              <a:t>for</a:t>
            </a:r>
            <a:r>
              <a:rPr sz="1200" spc="420" dirty="0">
                <a:latin typeface="Times New Roman"/>
                <a:cs typeface="Times New Roman"/>
              </a:rPr>
              <a:t> </a:t>
            </a:r>
            <a:r>
              <a:rPr sz="1200" spc="-10" dirty="0">
                <a:latin typeface="Times New Roman"/>
                <a:cs typeface="Times New Roman"/>
              </a:rPr>
              <a:t>automated </a:t>
            </a:r>
            <a:r>
              <a:rPr sz="1200" dirty="0">
                <a:latin typeface="Times New Roman"/>
                <a:cs typeface="Times New Roman"/>
              </a:rPr>
              <a:t>reconciliation</a:t>
            </a:r>
            <a:r>
              <a:rPr sz="1200" spc="240" dirty="0">
                <a:latin typeface="Times New Roman"/>
                <a:cs typeface="Times New Roman"/>
              </a:rPr>
              <a:t> </a:t>
            </a:r>
            <a:r>
              <a:rPr sz="1200" dirty="0">
                <a:latin typeface="Times New Roman"/>
                <a:cs typeface="Times New Roman"/>
              </a:rPr>
              <a:t>of</a:t>
            </a:r>
            <a:r>
              <a:rPr sz="1200" spc="235" dirty="0">
                <a:latin typeface="Times New Roman"/>
                <a:cs typeface="Times New Roman"/>
              </a:rPr>
              <a:t> </a:t>
            </a:r>
            <a:r>
              <a:rPr sz="1200" dirty="0">
                <a:latin typeface="Times New Roman"/>
                <a:cs typeface="Times New Roman"/>
              </a:rPr>
              <a:t>offline</a:t>
            </a:r>
            <a:r>
              <a:rPr sz="1200" spc="245" dirty="0">
                <a:latin typeface="Times New Roman"/>
                <a:cs typeface="Times New Roman"/>
              </a:rPr>
              <a:t> </a:t>
            </a:r>
            <a:r>
              <a:rPr sz="1200" dirty="0">
                <a:latin typeface="Times New Roman"/>
                <a:cs typeface="Times New Roman"/>
              </a:rPr>
              <a:t>payments.</a:t>
            </a:r>
            <a:r>
              <a:rPr sz="1200" spc="240" dirty="0">
                <a:latin typeface="Times New Roman"/>
                <a:cs typeface="Times New Roman"/>
              </a:rPr>
              <a:t> </a:t>
            </a:r>
            <a:r>
              <a:rPr sz="1200" dirty="0">
                <a:latin typeface="Times New Roman"/>
                <a:cs typeface="Times New Roman"/>
              </a:rPr>
              <a:t>Enhancements</a:t>
            </a:r>
            <a:r>
              <a:rPr sz="1200" spc="24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dirty="0">
                <a:latin typeface="Times New Roman"/>
                <a:cs typeface="Times New Roman"/>
              </a:rPr>
              <a:t>the</a:t>
            </a:r>
            <a:r>
              <a:rPr sz="1200" spc="240" dirty="0">
                <a:latin typeface="Times New Roman"/>
                <a:cs typeface="Times New Roman"/>
              </a:rPr>
              <a:t> </a:t>
            </a:r>
            <a:r>
              <a:rPr sz="1200" dirty="0">
                <a:latin typeface="Times New Roman"/>
                <a:cs typeface="Times New Roman"/>
              </a:rPr>
              <a:t>AI</a:t>
            </a:r>
            <a:r>
              <a:rPr sz="1200" spc="220" dirty="0">
                <a:latin typeface="Times New Roman"/>
                <a:cs typeface="Times New Roman"/>
              </a:rPr>
              <a:t> </a:t>
            </a:r>
            <a:r>
              <a:rPr sz="1200" dirty="0">
                <a:latin typeface="Times New Roman"/>
                <a:cs typeface="Times New Roman"/>
              </a:rPr>
              <a:t>model</a:t>
            </a:r>
            <a:r>
              <a:rPr sz="1200" spc="235" dirty="0">
                <a:latin typeface="Times New Roman"/>
                <a:cs typeface="Times New Roman"/>
              </a:rPr>
              <a:t> </a:t>
            </a:r>
            <a:r>
              <a:rPr sz="1200" dirty="0">
                <a:latin typeface="Times New Roman"/>
                <a:cs typeface="Times New Roman"/>
              </a:rPr>
              <a:t>are</a:t>
            </a:r>
            <a:r>
              <a:rPr sz="1200" spc="240" dirty="0">
                <a:latin typeface="Times New Roman"/>
                <a:cs typeface="Times New Roman"/>
              </a:rPr>
              <a:t> </a:t>
            </a:r>
            <a:r>
              <a:rPr sz="1200" dirty="0">
                <a:latin typeface="Times New Roman"/>
                <a:cs typeface="Times New Roman"/>
              </a:rPr>
              <a:t>also</a:t>
            </a:r>
            <a:r>
              <a:rPr sz="1200" spc="240" dirty="0">
                <a:latin typeface="Times New Roman"/>
                <a:cs typeface="Times New Roman"/>
              </a:rPr>
              <a:t> </a:t>
            </a:r>
            <a:r>
              <a:rPr sz="1200" dirty="0">
                <a:latin typeface="Times New Roman"/>
                <a:cs typeface="Times New Roman"/>
              </a:rPr>
              <a:t>planned</a:t>
            </a:r>
            <a:r>
              <a:rPr sz="1200" spc="240" dirty="0">
                <a:latin typeface="Times New Roman"/>
                <a:cs typeface="Times New Roman"/>
              </a:rPr>
              <a:t> </a:t>
            </a:r>
            <a:r>
              <a:rPr sz="1200" spc="-25" dirty="0">
                <a:latin typeface="Times New Roman"/>
                <a:cs typeface="Times New Roman"/>
              </a:rPr>
              <a:t>by </a:t>
            </a:r>
            <a:r>
              <a:rPr sz="1200" dirty="0">
                <a:latin typeface="Times New Roman"/>
                <a:cs typeface="Times New Roman"/>
              </a:rPr>
              <a:t>expanding</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training</a:t>
            </a:r>
            <a:r>
              <a:rPr sz="1200" spc="-15" dirty="0">
                <a:latin typeface="Times New Roman"/>
                <a:cs typeface="Times New Roman"/>
              </a:rPr>
              <a:t> </a:t>
            </a:r>
            <a:r>
              <a:rPr sz="1200" dirty="0">
                <a:latin typeface="Times New Roman"/>
                <a:cs typeface="Times New Roman"/>
              </a:rPr>
              <a:t>dataset and</a:t>
            </a:r>
            <a:r>
              <a:rPr sz="1200" spc="-10" dirty="0">
                <a:latin typeface="Times New Roman"/>
                <a:cs typeface="Times New Roman"/>
              </a:rPr>
              <a:t> </a:t>
            </a:r>
            <a:r>
              <a:rPr sz="1200" dirty="0">
                <a:latin typeface="Times New Roman"/>
                <a:cs typeface="Times New Roman"/>
              </a:rPr>
              <a:t>incorporating</a:t>
            </a:r>
            <a:r>
              <a:rPr sz="1200" spc="-10" dirty="0">
                <a:latin typeface="Times New Roman"/>
                <a:cs typeface="Times New Roman"/>
              </a:rPr>
              <a:t> </a:t>
            </a:r>
            <a:r>
              <a:rPr sz="1200" dirty="0">
                <a:latin typeface="Times New Roman"/>
                <a:cs typeface="Times New Roman"/>
              </a:rPr>
              <a:t>live</a:t>
            </a:r>
            <a:r>
              <a:rPr sz="1200" spc="-15" dirty="0">
                <a:latin typeface="Times New Roman"/>
                <a:cs typeface="Times New Roman"/>
              </a:rPr>
              <a:t> </a:t>
            </a:r>
            <a:r>
              <a:rPr sz="1200" dirty="0">
                <a:latin typeface="Times New Roman"/>
                <a:cs typeface="Times New Roman"/>
              </a:rPr>
              <a:t>market</a:t>
            </a:r>
            <a:r>
              <a:rPr sz="1200" spc="-5" dirty="0">
                <a:latin typeface="Times New Roman"/>
                <a:cs typeface="Times New Roman"/>
              </a:rPr>
              <a:t> </a:t>
            </a:r>
            <a:r>
              <a:rPr sz="1200" dirty="0">
                <a:latin typeface="Times New Roman"/>
                <a:cs typeface="Times New Roman"/>
              </a:rPr>
              <a:t>data</a:t>
            </a:r>
            <a:r>
              <a:rPr sz="1200" spc="-5" dirty="0">
                <a:latin typeface="Times New Roman"/>
                <a:cs typeface="Times New Roman"/>
              </a:rPr>
              <a:t> </a:t>
            </a:r>
            <a:r>
              <a:rPr sz="1200" dirty="0">
                <a:latin typeface="Times New Roman"/>
                <a:cs typeface="Times New Roman"/>
              </a:rPr>
              <a:t>feeds.</a:t>
            </a:r>
            <a:r>
              <a:rPr sz="1200" spc="-10" dirty="0">
                <a:latin typeface="Times New Roman"/>
                <a:cs typeface="Times New Roman"/>
              </a:rPr>
              <a:t> </a:t>
            </a: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upgrades</a:t>
            </a:r>
            <a:r>
              <a:rPr sz="1200" spc="-5" dirty="0">
                <a:latin typeface="Times New Roman"/>
                <a:cs typeface="Times New Roman"/>
              </a:rPr>
              <a:t> </a:t>
            </a:r>
            <a:r>
              <a:rPr sz="1200" spc="-25" dirty="0">
                <a:latin typeface="Times New Roman"/>
                <a:cs typeface="Times New Roman"/>
              </a:rPr>
              <a:t>aim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make</a:t>
            </a:r>
            <a:r>
              <a:rPr sz="1200" spc="15" dirty="0">
                <a:latin typeface="Times New Roman"/>
                <a:cs typeface="Times New Roman"/>
              </a:rPr>
              <a:t> </a:t>
            </a:r>
            <a:r>
              <a:rPr sz="1200" dirty="0">
                <a:latin typeface="Times New Roman"/>
                <a:cs typeface="Times New Roman"/>
              </a:rPr>
              <a:t>Auction</a:t>
            </a:r>
            <a:r>
              <a:rPr sz="1200" spc="25" dirty="0">
                <a:latin typeface="Times New Roman"/>
                <a:cs typeface="Times New Roman"/>
              </a:rPr>
              <a:t> </a:t>
            </a:r>
            <a:r>
              <a:rPr sz="1200" dirty="0">
                <a:latin typeface="Times New Roman"/>
                <a:cs typeface="Times New Roman"/>
              </a:rPr>
              <a:t>Abode</a:t>
            </a:r>
            <a:r>
              <a:rPr sz="1200" spc="30"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dirty="0">
                <a:latin typeface="Times New Roman"/>
                <a:cs typeface="Times New Roman"/>
              </a:rPr>
              <a:t>reliable,</a:t>
            </a:r>
            <a:r>
              <a:rPr sz="1200" spc="20" dirty="0">
                <a:latin typeface="Times New Roman"/>
                <a:cs typeface="Times New Roman"/>
              </a:rPr>
              <a:t> </a:t>
            </a:r>
            <a:r>
              <a:rPr sz="1200" spc="-10" dirty="0">
                <a:latin typeface="Times New Roman"/>
                <a:cs typeface="Times New Roman"/>
              </a:rPr>
              <a:t>user-</a:t>
            </a:r>
            <a:r>
              <a:rPr sz="1200" dirty="0">
                <a:latin typeface="Times New Roman"/>
                <a:cs typeface="Times New Roman"/>
              </a:rPr>
              <a:t>friendly,</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scalable,</a:t>
            </a:r>
            <a:r>
              <a:rPr sz="1200" spc="25" dirty="0">
                <a:latin typeface="Times New Roman"/>
                <a:cs typeface="Times New Roman"/>
              </a:rPr>
              <a:t> </a:t>
            </a:r>
            <a:r>
              <a:rPr sz="1200" dirty="0">
                <a:latin typeface="Times New Roman"/>
                <a:cs typeface="Times New Roman"/>
              </a:rPr>
              <a:t>setting</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20" dirty="0">
                <a:latin typeface="Times New Roman"/>
                <a:cs typeface="Times New Roman"/>
              </a:rPr>
              <a:t> </a:t>
            </a:r>
            <a:r>
              <a:rPr sz="1200" spc="-10" dirty="0">
                <a:latin typeface="Times New Roman"/>
                <a:cs typeface="Times New Roman"/>
              </a:rPr>
              <a:t>benchmark </a:t>
            </a:r>
            <a:r>
              <a:rPr sz="1200" dirty="0">
                <a:latin typeface="Times New Roman"/>
                <a:cs typeface="Times New Roman"/>
              </a:rPr>
              <a:t>in</a:t>
            </a:r>
            <a:r>
              <a:rPr sz="1200" spc="-30" dirty="0">
                <a:latin typeface="Times New Roman"/>
                <a:cs typeface="Times New Roman"/>
              </a:rPr>
              <a:t> </a:t>
            </a:r>
            <a:r>
              <a:rPr sz="1200" spc="-10" dirty="0">
                <a:latin typeface="Times New Roman"/>
                <a:cs typeface="Times New Roman"/>
              </a:rPr>
              <a:t>AI-</a:t>
            </a:r>
            <a:r>
              <a:rPr sz="1200" dirty="0">
                <a:latin typeface="Times New Roman"/>
                <a:cs typeface="Times New Roman"/>
              </a:rPr>
              <a:t>powered</a:t>
            </a:r>
            <a:r>
              <a:rPr sz="1200" spc="-25" dirty="0">
                <a:latin typeface="Times New Roman"/>
                <a:cs typeface="Times New Roman"/>
              </a:rPr>
              <a:t> </a:t>
            </a:r>
            <a:r>
              <a:rPr sz="1200" dirty="0">
                <a:latin typeface="Times New Roman"/>
                <a:cs typeface="Times New Roman"/>
              </a:rPr>
              <a:t>real</a:t>
            </a:r>
            <a:r>
              <a:rPr sz="1200" spc="-25" dirty="0">
                <a:latin typeface="Times New Roman"/>
                <a:cs typeface="Times New Roman"/>
              </a:rPr>
              <a:t> </a:t>
            </a:r>
            <a:r>
              <a:rPr sz="1200" dirty="0">
                <a:latin typeface="Times New Roman"/>
                <a:cs typeface="Times New Roman"/>
              </a:rPr>
              <a:t>estate</a:t>
            </a:r>
            <a:r>
              <a:rPr sz="1200" spc="-25" dirty="0">
                <a:latin typeface="Times New Roman"/>
                <a:cs typeface="Times New Roman"/>
              </a:rPr>
              <a:t> </a:t>
            </a:r>
            <a:r>
              <a:rPr sz="1200" dirty="0">
                <a:latin typeface="Times New Roman"/>
                <a:cs typeface="Times New Roman"/>
              </a:rPr>
              <a:t>bidding</a:t>
            </a:r>
            <a:r>
              <a:rPr sz="1200" spc="-25" dirty="0">
                <a:latin typeface="Times New Roman"/>
                <a:cs typeface="Times New Roman"/>
              </a:rPr>
              <a:t> </a:t>
            </a:r>
            <a:r>
              <a:rPr sz="1200" dirty="0">
                <a:latin typeface="Times New Roman"/>
                <a:cs typeface="Times New Roman"/>
              </a:rPr>
              <a:t>platforms</a:t>
            </a:r>
            <a:r>
              <a:rPr sz="1200" spc="-25" dirty="0">
                <a:latin typeface="Times New Roman"/>
                <a:cs typeface="Times New Roman"/>
              </a:rPr>
              <a:t> </a:t>
            </a:r>
            <a:r>
              <a:rPr sz="1200" spc="-10" dirty="0">
                <a:latin typeface="Times New Roman"/>
                <a:cs typeface="Times New Roman"/>
              </a:rPr>
              <a:t>worldwide.</a:t>
            </a:r>
            <a:endParaRPr sz="1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2117</TotalTime>
  <Words>10205</Words>
  <Application>Microsoft Office PowerPoint</Application>
  <PresentationFormat>Custom</PresentationFormat>
  <Paragraphs>916</Paragraphs>
  <Slides>61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3.3.2 Actors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MEHBOOB</dc:creator>
  <cp:lastModifiedBy>Malik Hasnain</cp:lastModifiedBy>
  <cp:revision>11</cp:revision>
  <dcterms:created xsi:type="dcterms:W3CDTF">2025-11-09T19:01:49Z</dcterms:created>
  <dcterms:modified xsi:type="dcterms:W3CDTF">2025-12-09T12:55:57Z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2025-06-30T00:00:00Z</vt:filetime>
  </property>
  <property fmtid="{D5CDD505-2E9C-101B-9397-08002B2CF9AE}" pid="3" name="Creator">
    <vt:lpwstr>Microsoft® Word LTSC</vt:lpwstr>
  </property>
  <property fmtid="{D5CDD505-2E9C-101B-9397-08002B2CF9AE}" pid="4" name="LastSaved">
    <vt:filetime>2025-11-09T00:00:00Z</vt:filetime>
  </property>
  <property fmtid="{D5CDD505-2E9C-101B-9397-08002B2CF9AE}" pid="5" name="Producer">
    <vt:lpwstr>Microsoft® Word LTSC</vt:lpwstr>
  </property>
</Properties>
</file>