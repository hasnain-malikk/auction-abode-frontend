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3" autoAdjust="0"/>
    <p:restoredTop sz="94660"/>
  </p:normalViewPr>
  <p:slideViewPr>
    <p:cSldViewPr>
      <p:cViewPr>
        <p:scale>
          <a:sx n="50" d="100"/>
          <a:sy n="50" d="100"/>
        </p:scale>
        <p:origin x="2031" y="-27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880484" y="9420690"/>
            <a:ext cx="288289" cy="1943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3.xml"/><Relationship Id="rId5" Type="http://schemas.openxmlformats.org/officeDocument/2006/relationships/slide" Target="slide13.xml"/><Relationship Id="rId4" Type="http://schemas.openxmlformats.org/officeDocument/2006/relationships/slide" Target="slide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3" Type="http://schemas.openxmlformats.org/officeDocument/2006/relationships/slide" Target="slide31.xml"/><Relationship Id="rId7" Type="http://schemas.openxmlformats.org/officeDocument/2006/relationships/slide" Target="slide35.xml"/><Relationship Id="rId12" Type="http://schemas.openxmlformats.org/officeDocument/2006/relationships/slide" Target="slide41.xml"/><Relationship Id="rId2" Type="http://schemas.openxmlformats.org/officeDocument/2006/relationships/slide" Target="slide3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11" Type="http://schemas.openxmlformats.org/officeDocument/2006/relationships/slide" Target="slide40.xml"/><Relationship Id="rId5" Type="http://schemas.openxmlformats.org/officeDocument/2006/relationships/slide" Target="slide33.xml"/><Relationship Id="rId10" Type="http://schemas.openxmlformats.org/officeDocument/2006/relationships/slide" Target="slide39.xml"/><Relationship Id="rId4" Type="http://schemas.openxmlformats.org/officeDocument/2006/relationships/slide" Target="slide32.xml"/><Relationship Id="rId9" Type="http://schemas.openxmlformats.org/officeDocument/2006/relationships/slide" Target="slide3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3" Type="http://schemas.openxmlformats.org/officeDocument/2006/relationships/slide" Target="slide33.xml"/><Relationship Id="rId7" Type="http://schemas.openxmlformats.org/officeDocument/2006/relationships/slide" Target="slide38.xml"/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7.xml"/><Relationship Id="rId5" Type="http://schemas.openxmlformats.org/officeDocument/2006/relationships/slide" Target="slide35.xml"/><Relationship Id="rId4" Type="http://schemas.openxmlformats.org/officeDocument/2006/relationships/slide" Target="slide3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6200" y="2339022"/>
            <a:ext cx="7772399" cy="8079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>
                <a:latin typeface="Times New Roman"/>
                <a:cs typeface="Times New Roman"/>
              </a:rPr>
              <a:t>Department of Computer Science and IT,</a:t>
            </a: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>
                <a:latin typeface="Times New Roman"/>
                <a:cs typeface="Times New Roman"/>
              </a:rPr>
              <a:t>Barani Institute of Management Sciences,</a:t>
            </a: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>
                <a:latin typeface="Times New Roman"/>
                <a:cs typeface="Times New Roman"/>
              </a:rPr>
              <a:t>Rawalpindi Pakistan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138165" y="2735326"/>
            <a:ext cx="762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latin typeface="Times New Roman"/>
                <a:cs typeface="Times New Roman"/>
              </a:rPr>
              <a:t>`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" y="4831710"/>
            <a:ext cx="77724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00"/>
              </a:spcBef>
            </a:pPr>
            <a:r>
              <a:rPr sz="1200" b="1" i="1" spc="-25" dirty="0">
                <a:latin typeface="Times New Roman"/>
                <a:cs typeface="Times New Roman"/>
              </a:rPr>
              <a:t>By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61667" y="7215107"/>
            <a:ext cx="3449065" cy="548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i="1" spc="-10" dirty="0">
                <a:latin typeface="Times New Roman"/>
                <a:cs typeface="Times New Roman"/>
              </a:rPr>
              <a:t>Supervisor</a:t>
            </a:r>
            <a:endParaRPr sz="12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1235"/>
              </a:spcBef>
            </a:pPr>
            <a:r>
              <a:rPr lang="en-US" sz="1200" b="1" dirty="0">
                <a:latin typeface="Times New Roman"/>
                <a:cs typeface="Times New Roman"/>
              </a:rPr>
              <a:t>Ms.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Fakhar Un Nisa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6AEB8B-F9AC-9487-D427-E42A349A642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 flipH="1" flipV="1">
            <a:off x="3186679" y="460968"/>
            <a:ext cx="1465584" cy="1386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27BA250-E808-CC06-3DC5-3ACAE132DBF8}"/>
              </a:ext>
            </a:extLst>
          </p:cNvPr>
          <p:cNvGrpSpPr/>
          <p:nvPr/>
        </p:nvGrpSpPr>
        <p:grpSpPr>
          <a:xfrm>
            <a:off x="2497766" y="5255231"/>
            <a:ext cx="3030860" cy="197587"/>
            <a:chOff x="2370771" y="3253042"/>
            <a:chExt cx="3030860" cy="197587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50E15A7-2466-FD95-0539-244E2BF430FA}"/>
                </a:ext>
              </a:extLst>
            </p:cNvPr>
            <p:cNvSpPr txBox="1"/>
            <p:nvPr/>
          </p:nvSpPr>
          <p:spPr>
            <a:xfrm>
              <a:off x="2370771" y="3253139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Hasnain </a:t>
              </a:r>
              <a:r>
                <a:rPr lang="en-US" sz="1200" b="1" dirty="0" err="1">
                  <a:latin typeface="Times New Roman"/>
                  <a:cs typeface="Times New Roman"/>
                </a:rPr>
                <a:t>Mahvia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  <p:sp>
          <p:nvSpPr>
            <p:cNvPr id="11" name="object 5">
              <a:extLst>
                <a:ext uri="{FF2B5EF4-FFF2-40B4-BE49-F238E27FC236}">
                  <a16:creationId xmlns:a16="http://schemas.microsoft.com/office/drawing/2014/main" id="{EEC48DC5-022E-1267-0305-486F144FCAFA}"/>
                </a:ext>
              </a:extLst>
            </p:cNvPr>
            <p:cNvSpPr txBox="1"/>
            <p:nvPr/>
          </p:nvSpPr>
          <p:spPr>
            <a:xfrm>
              <a:off x="4030031" y="3253042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22-ARID-487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984D038-0246-02E8-C551-945CE74BFD54}"/>
              </a:ext>
            </a:extLst>
          </p:cNvPr>
          <p:cNvGrpSpPr/>
          <p:nvPr/>
        </p:nvGrpSpPr>
        <p:grpSpPr>
          <a:xfrm>
            <a:off x="2485066" y="5647091"/>
            <a:ext cx="3030860" cy="197587"/>
            <a:chOff x="2370771" y="3253042"/>
            <a:chExt cx="3030860" cy="197587"/>
          </a:xfrm>
        </p:grpSpPr>
        <p:sp>
          <p:nvSpPr>
            <p:cNvPr id="19" name="object 5">
              <a:extLst>
                <a:ext uri="{FF2B5EF4-FFF2-40B4-BE49-F238E27FC236}">
                  <a16:creationId xmlns:a16="http://schemas.microsoft.com/office/drawing/2014/main" id="{34CC8B3C-17A6-0DF1-4549-C9D89C053193}"/>
                </a:ext>
              </a:extLst>
            </p:cNvPr>
            <p:cNvSpPr txBox="1"/>
            <p:nvPr/>
          </p:nvSpPr>
          <p:spPr>
            <a:xfrm>
              <a:off x="2370771" y="3253139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Hafsa Saeed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  <p:sp>
          <p:nvSpPr>
            <p:cNvPr id="20" name="object 5">
              <a:extLst>
                <a:ext uri="{FF2B5EF4-FFF2-40B4-BE49-F238E27FC236}">
                  <a16:creationId xmlns:a16="http://schemas.microsoft.com/office/drawing/2014/main" id="{DCE0537B-7167-BFFD-180C-2E8209880483}"/>
                </a:ext>
              </a:extLst>
            </p:cNvPr>
            <p:cNvSpPr txBox="1"/>
            <p:nvPr/>
          </p:nvSpPr>
          <p:spPr>
            <a:xfrm>
              <a:off x="4030031" y="3253042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22-ARID-483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63C96A3-98EE-E90C-8C39-0B1660C48A51}"/>
              </a:ext>
            </a:extLst>
          </p:cNvPr>
          <p:cNvGrpSpPr/>
          <p:nvPr/>
        </p:nvGrpSpPr>
        <p:grpSpPr>
          <a:xfrm>
            <a:off x="2497766" y="6034859"/>
            <a:ext cx="3030860" cy="197587"/>
            <a:chOff x="2370771" y="3253042"/>
            <a:chExt cx="3030860" cy="197587"/>
          </a:xfrm>
        </p:grpSpPr>
        <p:sp>
          <p:nvSpPr>
            <p:cNvPr id="22" name="object 5">
              <a:extLst>
                <a:ext uri="{FF2B5EF4-FFF2-40B4-BE49-F238E27FC236}">
                  <a16:creationId xmlns:a16="http://schemas.microsoft.com/office/drawing/2014/main" id="{C280DFC4-996B-9857-30FD-799BDB143FA8}"/>
                </a:ext>
              </a:extLst>
            </p:cNvPr>
            <p:cNvSpPr txBox="1"/>
            <p:nvPr/>
          </p:nvSpPr>
          <p:spPr>
            <a:xfrm>
              <a:off x="2370771" y="3253139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Ali Mahmood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  <p:sp>
          <p:nvSpPr>
            <p:cNvPr id="23" name="object 5">
              <a:extLst>
                <a:ext uri="{FF2B5EF4-FFF2-40B4-BE49-F238E27FC236}">
                  <a16:creationId xmlns:a16="http://schemas.microsoft.com/office/drawing/2014/main" id="{977CF331-B393-AC1E-534C-BADCBDDE2F52}"/>
                </a:ext>
              </a:extLst>
            </p:cNvPr>
            <p:cNvSpPr txBox="1"/>
            <p:nvPr/>
          </p:nvSpPr>
          <p:spPr>
            <a:xfrm>
              <a:off x="4030031" y="3253042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22-ARID-497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88CDA4E-9CFE-FFEA-9A98-B63730B75F7A}"/>
              </a:ext>
            </a:extLst>
          </p:cNvPr>
          <p:cNvGrpSpPr/>
          <p:nvPr/>
        </p:nvGrpSpPr>
        <p:grpSpPr>
          <a:xfrm>
            <a:off x="2491416" y="6393927"/>
            <a:ext cx="3030860" cy="197587"/>
            <a:chOff x="2370771" y="3253042"/>
            <a:chExt cx="3030860" cy="197587"/>
          </a:xfrm>
        </p:grpSpPr>
        <p:sp>
          <p:nvSpPr>
            <p:cNvPr id="25" name="object 5">
              <a:extLst>
                <a:ext uri="{FF2B5EF4-FFF2-40B4-BE49-F238E27FC236}">
                  <a16:creationId xmlns:a16="http://schemas.microsoft.com/office/drawing/2014/main" id="{40B3C951-907C-3B22-2E1D-6C20E98ED0BF}"/>
                </a:ext>
              </a:extLst>
            </p:cNvPr>
            <p:cNvSpPr txBox="1"/>
            <p:nvPr/>
          </p:nvSpPr>
          <p:spPr>
            <a:xfrm>
              <a:off x="2370771" y="3253139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Zakria Aftab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  <p:sp>
          <p:nvSpPr>
            <p:cNvPr id="26" name="object 5">
              <a:extLst>
                <a:ext uri="{FF2B5EF4-FFF2-40B4-BE49-F238E27FC236}">
                  <a16:creationId xmlns:a16="http://schemas.microsoft.com/office/drawing/2014/main" id="{B9ACF658-C716-A91F-1FB1-798C726421D3}"/>
                </a:ext>
              </a:extLst>
            </p:cNvPr>
            <p:cNvSpPr txBox="1"/>
            <p:nvPr/>
          </p:nvSpPr>
          <p:spPr>
            <a:xfrm>
              <a:off x="4030031" y="3253042"/>
              <a:ext cx="1371600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dirty="0">
                  <a:latin typeface="Times New Roman"/>
                  <a:cs typeface="Times New Roman"/>
                </a:rPr>
                <a:t>22-ARID-533</a:t>
              </a:r>
              <a:endParaRPr sz="1200" b="1" dirty="0">
                <a:latin typeface="Times New Roman"/>
                <a:cs typeface="Times New Roman"/>
              </a:endParaRPr>
            </a:p>
          </p:txBody>
        </p:sp>
      </p:grpSp>
      <p:sp>
        <p:nvSpPr>
          <p:cNvPr id="30" name="object 2">
            <a:extLst>
              <a:ext uri="{FF2B5EF4-FFF2-40B4-BE49-F238E27FC236}">
                <a16:creationId xmlns:a16="http://schemas.microsoft.com/office/drawing/2014/main" id="{1EC05A95-17AE-FA83-CE25-84A4FB81C4CE}"/>
              </a:ext>
            </a:extLst>
          </p:cNvPr>
          <p:cNvSpPr txBox="1"/>
          <p:nvPr/>
        </p:nvSpPr>
        <p:spPr>
          <a:xfrm>
            <a:off x="-1" y="3658684"/>
            <a:ext cx="7772399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latin typeface="Times New Roman"/>
                <a:cs typeface="Times New Roman"/>
              </a:rPr>
              <a:t>Auction Abode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31" name="object 2"/>
          <p:cNvSpPr txBox="1"/>
          <p:nvPr/>
        </p:nvSpPr>
        <p:spPr>
          <a:xfrm>
            <a:off x="-29534" y="8254961"/>
            <a:ext cx="77724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200" b="1" i="1" dirty="0">
                <a:latin typeface="Times New Roman"/>
                <a:cs typeface="Times New Roman"/>
              </a:rPr>
              <a:t>Bachelor</a:t>
            </a:r>
            <a:r>
              <a:rPr sz="1200" b="1" i="1" spc="-20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of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Science</a:t>
            </a:r>
            <a:r>
              <a:rPr sz="1200" b="1" i="1" spc="-2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in</a:t>
            </a:r>
            <a:r>
              <a:rPr sz="1200" b="1" i="1" spc="-10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Computer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Science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spc="-10" dirty="0">
                <a:latin typeface="Times New Roman"/>
                <a:cs typeface="Times New Roman"/>
              </a:rPr>
              <a:t>(202</a:t>
            </a:r>
            <a:r>
              <a:rPr lang="en-US" sz="1200" b="1" i="1" spc="-10" dirty="0">
                <a:latin typeface="Times New Roman"/>
                <a:cs typeface="Times New Roman"/>
              </a:rPr>
              <a:t>2</a:t>
            </a:r>
            <a:r>
              <a:rPr sz="1200" b="1" i="1" spc="-10" dirty="0">
                <a:latin typeface="Times New Roman"/>
                <a:cs typeface="Times New Roman"/>
              </a:rPr>
              <a:t>-202</a:t>
            </a:r>
            <a:r>
              <a:rPr lang="en-US" sz="1200" b="1" i="1" spc="-10" dirty="0">
                <a:latin typeface="Times New Roman"/>
                <a:cs typeface="Times New Roman"/>
              </a:rPr>
              <a:t>6</a:t>
            </a:r>
            <a:r>
              <a:rPr sz="1200" b="1" i="1" spc="-10" dirty="0">
                <a:latin typeface="Times New Roman"/>
                <a:cs typeface="Times New Roman"/>
              </a:rPr>
              <a:t>)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295966" y="2351718"/>
            <a:ext cx="11690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DECLARATION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76324" y="3276600"/>
            <a:ext cx="5695315" cy="18656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hereby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declare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neither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whole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copied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source.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declared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documentation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accompanied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entirely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personal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efforts.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is </a:t>
            </a:r>
            <a:r>
              <a:rPr sz="1200" dirty="0">
                <a:latin typeface="Times New Roman"/>
                <a:cs typeface="Times New Roman"/>
              </a:rPr>
              <a:t>proved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be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copied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 source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be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reproduction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some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other. We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will </a:t>
            </a:r>
            <a:r>
              <a:rPr sz="1200" dirty="0">
                <a:latin typeface="Times New Roman"/>
                <a:cs typeface="Times New Roman"/>
              </a:rPr>
              <a:t>stand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consequences.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Portion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presented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submitted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any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other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degree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qualification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 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 other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university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institute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spc="-10" dirty="0">
                <a:latin typeface="Times New Roman"/>
                <a:cs typeface="Times New Roman"/>
              </a:rPr>
              <a:t>learning.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810082" y="6255871"/>
            <a:ext cx="1368425" cy="0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10081" y="7170271"/>
            <a:ext cx="1368425" cy="0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05045" y="7170271"/>
            <a:ext cx="1367155" cy="0"/>
          </a:xfrm>
          <a:custGeom>
            <a:avLst/>
            <a:gdLst/>
            <a:ahLst/>
            <a:cxnLst/>
            <a:rect l="l" t="t" r="r" b="b"/>
            <a:pathLst>
              <a:path w="1367154">
                <a:moveTo>
                  <a:pt x="0" y="0"/>
                </a:moveTo>
                <a:lnTo>
                  <a:pt x="1366603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958481" y="6380893"/>
            <a:ext cx="1071626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Hasnain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lang="en-US" sz="1200" spc="-10" dirty="0" err="1">
                <a:latin typeface="Times New Roman"/>
                <a:cs typeface="Times New Roman"/>
              </a:rPr>
              <a:t>Mahiva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2</a:t>
            </a:fld>
            <a:endParaRPr spc="-20" dirty="0"/>
          </a:p>
        </p:txBody>
      </p:sp>
      <p:sp>
        <p:nvSpPr>
          <p:cNvPr id="10" name="object 10"/>
          <p:cNvSpPr txBox="1"/>
          <p:nvPr/>
        </p:nvSpPr>
        <p:spPr>
          <a:xfrm>
            <a:off x="5000320" y="6361085"/>
            <a:ext cx="96011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Hafsa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Saeed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056143" y="7309806"/>
            <a:ext cx="8763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Ali</a:t>
            </a:r>
            <a:r>
              <a:rPr lang="en-US" sz="1200" spc="-50" dirty="0">
                <a:latin typeface="Times New Roman"/>
                <a:cs typeface="Times New Roman"/>
              </a:rPr>
              <a:t> Mahmood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3ECE6DA2-AA16-5DD0-7DF4-D3350D5C0370}"/>
              </a:ext>
            </a:extLst>
          </p:cNvPr>
          <p:cNvSpPr/>
          <p:nvPr/>
        </p:nvSpPr>
        <p:spPr>
          <a:xfrm>
            <a:off x="4754900" y="6255871"/>
            <a:ext cx="1368425" cy="0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B9B335-2CF5-1B40-C914-ABF17B52068D}"/>
              </a:ext>
            </a:extLst>
          </p:cNvPr>
          <p:cNvSpPr txBox="1"/>
          <p:nvPr/>
        </p:nvSpPr>
        <p:spPr>
          <a:xfrm>
            <a:off x="4985079" y="7223885"/>
            <a:ext cx="99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Zakria</a:t>
            </a:r>
            <a:r>
              <a:rPr lang="en-US" sz="1800" spc="-50" dirty="0">
                <a:latin typeface="Times New Roman"/>
                <a:cs typeface="Times New Roman"/>
              </a:rPr>
              <a:t> </a:t>
            </a:r>
            <a:r>
              <a:rPr lang="en-US" sz="1200" spc="-50" dirty="0">
                <a:latin typeface="Times New Roman"/>
                <a:cs typeface="Times New Roman"/>
              </a:rPr>
              <a:t>Aftab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3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1755393"/>
            <a:ext cx="5696585" cy="1930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CERTIFICATE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APPROVAL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5080" algn="ctr">
              <a:lnSpc>
                <a:spcPct val="144000"/>
              </a:lnSpc>
            </a:pP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certify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final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year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(CS)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“Auction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Abode”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Hasnain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lang="en-US" sz="1200" b="1" dirty="0" err="1">
                <a:latin typeface="Times New Roman"/>
                <a:cs typeface="Times New Roman"/>
              </a:rPr>
              <a:t>Mahvia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lang="en-US" sz="1200" b="1" spc="-10" dirty="0">
                <a:latin typeface="Times New Roman"/>
                <a:cs typeface="Times New Roman"/>
              </a:rPr>
              <a:t>487</a:t>
            </a:r>
            <a:r>
              <a:rPr sz="1200" b="1" dirty="0">
                <a:latin typeface="Times New Roman"/>
                <a:cs typeface="Times New Roman"/>
              </a:rPr>
              <a:t>”,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Hafsa</a:t>
            </a:r>
            <a:r>
              <a:rPr lang="en-US" sz="1200" b="1" spc="135" dirty="0">
                <a:latin typeface="Times New Roman"/>
                <a:cs typeface="Times New Roman"/>
              </a:rPr>
              <a:t> </a:t>
            </a:r>
            <a:r>
              <a:rPr lang="en-US" sz="1200" b="1" dirty="0">
                <a:latin typeface="Times New Roman"/>
                <a:cs typeface="Times New Roman"/>
              </a:rPr>
              <a:t>Saeed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sz="1200" b="1" dirty="0">
                <a:latin typeface="Times New Roman"/>
                <a:cs typeface="Times New Roman"/>
              </a:rPr>
              <a:t>4</a:t>
            </a:r>
            <a:r>
              <a:rPr lang="en-US" sz="1200" b="1" dirty="0">
                <a:latin typeface="Times New Roman"/>
                <a:cs typeface="Times New Roman"/>
              </a:rPr>
              <a:t>83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Ali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lang="en-US" sz="1200" b="1" spc="130" dirty="0">
                <a:latin typeface="Times New Roman"/>
                <a:cs typeface="Times New Roman"/>
              </a:rPr>
              <a:t>Mahmood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2</a:t>
            </a:r>
            <a:r>
              <a:rPr lang="en-US" sz="1200" b="1" spc="-25" dirty="0">
                <a:latin typeface="Times New Roman"/>
                <a:cs typeface="Times New Roman"/>
              </a:rPr>
              <a:t>2</a:t>
            </a:r>
            <a:r>
              <a:rPr sz="1200" b="1" spc="-25" dirty="0">
                <a:latin typeface="Times New Roman"/>
                <a:cs typeface="Times New Roman"/>
              </a:rPr>
              <a:t>- </a:t>
            </a:r>
            <a:r>
              <a:rPr sz="1200" b="1" spc="-10" dirty="0">
                <a:latin typeface="Times New Roman"/>
                <a:cs typeface="Times New Roman"/>
              </a:rPr>
              <a:t>Arid-</a:t>
            </a:r>
            <a:r>
              <a:rPr sz="1200" b="1" dirty="0">
                <a:latin typeface="Times New Roman"/>
                <a:cs typeface="Times New Roman"/>
              </a:rPr>
              <a:t>4</a:t>
            </a:r>
            <a:r>
              <a:rPr lang="en-US" sz="1200" b="1" dirty="0">
                <a:latin typeface="Times New Roman"/>
                <a:cs typeface="Times New Roman"/>
              </a:rPr>
              <a:t>97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lang="en-US" sz="1200" b="1" dirty="0">
                <a:latin typeface="Times New Roman"/>
                <a:cs typeface="Times New Roman"/>
              </a:rPr>
              <a:t>,</a:t>
            </a:r>
            <a:r>
              <a:rPr lang="en-US" sz="1200" b="1" spc="125" dirty="0">
                <a:latin typeface="Times New Roman"/>
                <a:cs typeface="Times New Roman"/>
              </a:rPr>
              <a:t> </a:t>
            </a:r>
            <a:r>
              <a:rPr lang="en-US"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Zakria</a:t>
            </a:r>
            <a:r>
              <a:rPr lang="en-US" sz="1200" b="1" spc="135" dirty="0">
                <a:latin typeface="Times New Roman"/>
                <a:cs typeface="Times New Roman"/>
              </a:rPr>
              <a:t> </a:t>
            </a:r>
            <a:r>
              <a:rPr lang="en-US" sz="1200" b="1" dirty="0">
                <a:latin typeface="Times New Roman"/>
                <a:cs typeface="Times New Roman"/>
              </a:rPr>
              <a:t>Aftab,</a:t>
            </a:r>
            <a:r>
              <a:rPr lang="en-US" sz="1200" b="1" spc="125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22-Arid-533</a:t>
            </a:r>
            <a:r>
              <a:rPr lang="en-US" sz="1200" dirty="0">
                <a:latin typeface="Times New Roman"/>
                <a:cs typeface="Times New Roman"/>
              </a:rPr>
              <a:t>”.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supervision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Ms.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lang="en-US" sz="1200" b="1" dirty="0">
                <a:latin typeface="Times New Roman"/>
                <a:cs typeface="Times New Roman"/>
              </a:rPr>
              <a:t>Fakhar Un Nisa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opinion;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fully </a:t>
            </a:r>
            <a:r>
              <a:rPr sz="1200" dirty="0">
                <a:latin typeface="Times New Roman"/>
                <a:cs typeface="Times New Roman"/>
              </a:rPr>
              <a:t>adequate,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scope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quality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degree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Bachelors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Science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Computer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Science.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879089" y="4953000"/>
            <a:ext cx="2002789" cy="8570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</a:t>
            </a:r>
            <a:r>
              <a:rPr sz="1200" b="1" spc="-50" dirty="0">
                <a:latin typeface="Times New Roman"/>
                <a:cs typeface="Times New Roman"/>
              </a:rPr>
              <a:t>-</a:t>
            </a:r>
            <a:endParaRPr sz="1200" dirty="0">
              <a:latin typeface="Times New Roman"/>
              <a:cs typeface="Times New Roman"/>
            </a:endParaRPr>
          </a:p>
          <a:p>
            <a:pPr marL="646430" marR="208915" indent="-509270" algn="ctr">
              <a:lnSpc>
                <a:spcPct val="185000"/>
              </a:lnSpc>
              <a:spcBef>
                <a:spcPts val="95"/>
              </a:spcBef>
            </a:pPr>
            <a:r>
              <a:rPr sz="1200" b="1" dirty="0">
                <a:latin typeface="Times New Roman"/>
                <a:cs typeface="Times New Roman"/>
              </a:rPr>
              <a:t>(M</a:t>
            </a:r>
            <a:r>
              <a:rPr lang="en-US" sz="1200" b="1" dirty="0">
                <a:latin typeface="Times New Roman"/>
                <a:cs typeface="Times New Roman"/>
              </a:rPr>
              <a:t>s</a:t>
            </a:r>
            <a:r>
              <a:rPr sz="1200" b="1" dirty="0">
                <a:latin typeface="Times New Roman"/>
                <a:cs typeface="Times New Roman"/>
              </a:rPr>
              <a:t>.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Fakhar Un Nisa</a:t>
            </a:r>
            <a:r>
              <a:rPr sz="1200" b="1" spc="-10" dirty="0">
                <a:latin typeface="Times New Roman"/>
                <a:cs typeface="Times New Roman"/>
              </a:rPr>
              <a:t>)</a:t>
            </a:r>
            <a:endParaRPr lang="en-US" sz="1200" b="1" spc="-10" dirty="0">
              <a:latin typeface="Times New Roman"/>
              <a:cs typeface="Times New Roman"/>
            </a:endParaRPr>
          </a:p>
          <a:p>
            <a:pPr marL="646430" marR="208915" indent="-509270" algn="ctr">
              <a:lnSpc>
                <a:spcPct val="185000"/>
              </a:lnSpc>
              <a:spcBef>
                <a:spcPts val="95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Supervisor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4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6585" cy="7228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Executive</a:t>
            </a:r>
            <a:r>
              <a:rPr sz="1200" b="1" spc="-6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Summary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Platform"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innovative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solution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redefines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measures.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trustworthy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Socket.io</a:t>
            </a:r>
            <a:r>
              <a:rPr sz="1200" b="1" spc="-10" dirty="0">
                <a:latin typeface="Times New Roman"/>
                <a:cs typeface="Times New Roman"/>
              </a:rPr>
              <a:t>,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participants.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engine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leverages historical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optimal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making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decisions.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employs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natural </a:t>
            </a:r>
            <a:r>
              <a:rPr sz="1200" dirty="0">
                <a:latin typeface="Times New Roman"/>
                <a:cs typeface="Times New Roman"/>
              </a:rPr>
              <a:t>language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platform’s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Node.js,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MongoDB,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peak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activity.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Geo-</a:t>
            </a:r>
            <a:r>
              <a:rPr sz="1200" dirty="0">
                <a:latin typeface="Times New Roman"/>
                <a:cs typeface="Times New Roman"/>
              </a:rPr>
              <a:t>fenced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personalized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subscriptions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enhance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location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preferences.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 authentication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(JSON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Tokens)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encryption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further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strengthens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security.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spc="-1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focus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inclusivity,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democratizes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investments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eliminating </a:t>
            </a:r>
            <a:r>
              <a:rPr sz="1200" dirty="0">
                <a:latin typeface="Times New Roman"/>
                <a:cs typeface="Times New Roman"/>
              </a:rPr>
              <a:t>geographical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barriers,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enabling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diverse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backgrounds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 </a:t>
            </a:r>
            <a:r>
              <a:rPr sz="1200" dirty="0">
                <a:latin typeface="Times New Roman"/>
                <a:cs typeface="Times New Roman"/>
              </a:rPr>
              <a:t>effortlessly.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 compliance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 auction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regulations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 transparency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reliability,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infrastructure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guarantees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combining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 responsiveness,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 insights,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 </a:t>
            </a:r>
            <a:r>
              <a:rPr sz="1200" spc="-10" dirty="0">
                <a:latin typeface="Times New Roman"/>
                <a:cs typeface="Times New Roman"/>
              </a:rPr>
              <a:t>Abode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revolutionize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landscape,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all.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-5716" y="955103"/>
            <a:ext cx="77724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Times New Roman"/>
                <a:cs typeface="Times New Roman"/>
              </a:rPr>
              <a:t>Acknowledgement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926082"/>
            <a:ext cx="5695950" cy="2697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442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praise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Almighty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Allah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bestowed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minute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boundless </a:t>
            </a:r>
            <a:r>
              <a:rPr sz="1200" dirty="0">
                <a:latin typeface="Times New Roman"/>
                <a:cs typeface="Times New Roman"/>
              </a:rPr>
              <a:t>knowledge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virtue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accomplish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challenging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task.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</a:pP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greatly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indebted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supervisor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dirty="0">
                <a:latin typeface="Times New Roman"/>
                <a:cs typeface="Times New Roman"/>
              </a:rPr>
              <a:t>Ms.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lang="en-US" sz="1200" dirty="0">
                <a:latin typeface="Times New Roman"/>
                <a:cs typeface="Times New Roman"/>
              </a:rPr>
              <a:t>Fakhar Un Nisa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personal supervision,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advice,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valuable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guidance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deeply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indebted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him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encouragement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0" dirty="0">
                <a:latin typeface="Times New Roman"/>
                <a:cs typeface="Times New Roman"/>
              </a:rPr>
              <a:t> work.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1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10160" algn="just">
              <a:lnSpc>
                <a:spcPct val="1433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thankful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parents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family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who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constant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source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spc="-10" dirty="0">
                <a:latin typeface="Times New Roman"/>
                <a:cs typeface="Times New Roman"/>
              </a:rPr>
              <a:t>encouragement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brought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honesty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&amp;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hard</a:t>
            </a:r>
            <a:r>
              <a:rPr sz="1200" spc="-10" dirty="0">
                <a:latin typeface="Times New Roman"/>
                <a:cs typeface="Times New Roman"/>
              </a:rPr>
              <a:t> work.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159002" y="5334000"/>
            <a:ext cx="1369060" cy="0"/>
          </a:xfrm>
          <a:custGeom>
            <a:avLst/>
            <a:gdLst/>
            <a:ahLst/>
            <a:cxnLst/>
            <a:rect l="l" t="t" r="r" b="b"/>
            <a:pathLst>
              <a:path w="1369060">
                <a:moveTo>
                  <a:pt x="0" y="0"/>
                </a:moveTo>
                <a:lnTo>
                  <a:pt x="136904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 flipV="1">
            <a:off x="4727575" y="5320549"/>
            <a:ext cx="1368425" cy="45719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160907" y="6449948"/>
            <a:ext cx="1367155" cy="0"/>
          </a:xfrm>
          <a:custGeom>
            <a:avLst/>
            <a:gdLst/>
            <a:ahLst/>
            <a:cxnLst/>
            <a:rect l="l" t="t" r="r" b="b"/>
            <a:pathLst>
              <a:path w="1367154">
                <a:moveTo>
                  <a:pt x="0" y="0"/>
                </a:moveTo>
                <a:lnTo>
                  <a:pt x="1366603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269619" y="5486400"/>
            <a:ext cx="1147826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Hasnain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lang="en-US" sz="1200" spc="-10" dirty="0" err="1">
                <a:latin typeface="Times New Roman"/>
                <a:cs typeface="Times New Roman"/>
              </a:rPr>
              <a:t>Mahvia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5</a:t>
            </a:fld>
            <a:endParaRPr spc="-20" dirty="0"/>
          </a:p>
        </p:txBody>
      </p:sp>
      <p:sp>
        <p:nvSpPr>
          <p:cNvPr id="8" name="object 8"/>
          <p:cNvSpPr txBox="1"/>
          <p:nvPr/>
        </p:nvSpPr>
        <p:spPr>
          <a:xfrm>
            <a:off x="4992170" y="5585145"/>
            <a:ext cx="96011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Hafsa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Saeed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405382" y="6615047"/>
            <a:ext cx="8763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Ali</a:t>
            </a:r>
            <a:r>
              <a:rPr lang="en-US" sz="1200" spc="-5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Mahmood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F6A79E18-BCD2-9781-C04E-AAE36D367711}"/>
              </a:ext>
            </a:extLst>
          </p:cNvPr>
          <p:cNvSpPr/>
          <p:nvPr/>
        </p:nvSpPr>
        <p:spPr>
          <a:xfrm>
            <a:off x="4712399" y="6449948"/>
            <a:ext cx="1367155" cy="0"/>
          </a:xfrm>
          <a:custGeom>
            <a:avLst/>
            <a:gdLst/>
            <a:ahLst/>
            <a:cxnLst/>
            <a:rect l="l" t="t" r="r" b="b"/>
            <a:pathLst>
              <a:path w="1367154">
                <a:moveTo>
                  <a:pt x="0" y="0"/>
                </a:moveTo>
                <a:lnTo>
                  <a:pt x="1366603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6B1771-5F56-4A7F-D83F-DC96694E17E5}"/>
              </a:ext>
            </a:extLst>
          </p:cNvPr>
          <p:cNvSpPr txBox="1"/>
          <p:nvPr/>
        </p:nvSpPr>
        <p:spPr>
          <a:xfrm>
            <a:off x="4893055" y="6615047"/>
            <a:ext cx="10374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Zakria</a:t>
            </a:r>
            <a:r>
              <a:rPr lang="en-US" sz="1200" spc="-5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Aftab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6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034731" y="1066800"/>
            <a:ext cx="5691505" cy="7081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Table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of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Contents</a:t>
            </a:r>
            <a:endParaRPr sz="16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470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1: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Introduction</a:t>
            </a:r>
            <a:r>
              <a:rPr sz="1200" b="1" spc="-17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......................................................................................................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11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0"/>
              </a:spcBef>
              <a:buSzPct val="91666"/>
              <a:buAutoNum type="arabicPeriod"/>
              <a:tabLst>
                <a:tab pos="242570" algn="l"/>
                <a:tab pos="727075" algn="l"/>
              </a:tabLst>
            </a:pP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Brief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	.............................................................................................................................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 11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40"/>
              </a:spcBef>
              <a:buSzPct val="91666"/>
              <a:buAutoNum type="arabicPeriod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Relevance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to Course</a:t>
            </a:r>
            <a:r>
              <a:rPr sz="1200" spc="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Modules</a:t>
            </a:r>
            <a:r>
              <a:rPr sz="1200" spc="-12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50" dirty="0">
                <a:latin typeface="Times New Roman"/>
                <a:cs typeface="Times New Roman"/>
                <a:hlinkClick r:id="rId3" action="ppaction://hlinksldjump"/>
              </a:rPr>
              <a:t>4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5"/>
              </a:spcBef>
              <a:buSzPct val="91666"/>
              <a:buAutoNum type="arabicPeriod" startAt="4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Literature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Review</a:t>
            </a:r>
            <a:r>
              <a:rPr sz="1200" spc="-7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50" dirty="0">
                <a:latin typeface="Times New Roman"/>
                <a:cs typeface="Times New Roman"/>
                <a:hlinkClick r:id="rId4" action="ppaction://hlinksldjump"/>
              </a:rPr>
              <a:t>3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35"/>
              </a:spcBef>
              <a:buSzPct val="91666"/>
              <a:buAutoNum type="arabicPeriod" startAt="4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Analysis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from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Literature</a:t>
            </a:r>
            <a:r>
              <a:rPr sz="1200" spc="-4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Review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spc="-50" dirty="0">
                <a:latin typeface="Times New Roman"/>
                <a:cs typeface="Times New Roman"/>
                <a:hlinkClick r:id="rId5" action="ppaction://hlinksldjump"/>
              </a:rPr>
              <a:t>6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5"/>
              </a:spcBef>
              <a:buSzPct val="91666"/>
              <a:buAutoNum type="arabicPeriod" startAt="4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Methodology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Lifecycle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0" dirty="0">
                <a:latin typeface="Times New Roman"/>
                <a:cs typeface="Times New Roman"/>
              </a:rPr>
              <a:t> Project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7</a:t>
            </a:r>
            <a:endParaRPr sz="1200" dirty="0">
              <a:latin typeface="Times New Roman"/>
              <a:cs typeface="Times New Roman"/>
            </a:endParaRPr>
          </a:p>
          <a:p>
            <a:pPr marL="356870" lvl="2" indent="-342900">
              <a:lnSpc>
                <a:spcPct val="100000"/>
              </a:lnSpc>
              <a:spcBef>
                <a:spcPts val="1235"/>
              </a:spcBef>
              <a:buSzPct val="91666"/>
              <a:buAutoNum type="arabicPeriod"/>
              <a:tabLst>
                <a:tab pos="356870" algn="l"/>
              </a:tabLst>
            </a:pPr>
            <a:r>
              <a:rPr sz="1200" dirty="0">
                <a:latin typeface="Times New Roman"/>
                <a:cs typeface="Times New Roman"/>
              </a:rPr>
              <a:t>Rationale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behind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Methodology</a:t>
            </a:r>
            <a:r>
              <a:rPr sz="1200" spc="-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9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2:</a:t>
            </a:r>
            <a:r>
              <a:rPr sz="1200" b="1" spc="2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Problem </a:t>
            </a:r>
            <a:r>
              <a:rPr sz="1200" b="1" spc="-10" dirty="0">
                <a:latin typeface="Times New Roman"/>
                <a:cs typeface="Times New Roman"/>
              </a:rPr>
              <a:t>Definition</a:t>
            </a:r>
            <a:r>
              <a:rPr sz="1200" b="1" spc="-18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..........................................................................................</a:t>
            </a:r>
            <a:r>
              <a:rPr sz="1200" b="1" spc="-25" dirty="0">
                <a:latin typeface="Times New Roman"/>
                <a:cs typeface="Times New Roman"/>
              </a:rPr>
              <a:t> 10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35"/>
              </a:spcBef>
              <a:buSzPct val="91666"/>
              <a:buAutoNum type="arabicPeriod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Statement...........................................................................................................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11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5"/>
              </a:spcBef>
              <a:buSzPct val="91666"/>
              <a:buAutoNum type="arabicPeriod"/>
              <a:tabLst>
                <a:tab pos="242570" algn="l"/>
              </a:tabLst>
            </a:pPr>
            <a:r>
              <a:rPr sz="1200" spc="-10" dirty="0">
                <a:latin typeface="Times New Roman"/>
                <a:cs typeface="Times New Roman"/>
              </a:rPr>
              <a:t>Deliverables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11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3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3:</a:t>
            </a:r>
            <a:r>
              <a:rPr sz="1200" b="1" dirty="0">
                <a:latin typeface="Times New Roman"/>
                <a:cs typeface="Times New Roman"/>
                <a:hlinkClick r:id="rId6" action="ppaction://hlinksldjump"/>
              </a:rPr>
              <a:t>Requirement</a:t>
            </a:r>
            <a:r>
              <a:rPr sz="1200" b="1" spc="-1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6" action="ppaction://hlinksldjump"/>
              </a:rPr>
              <a:t>Analysis.......................................................................................</a:t>
            </a:r>
            <a:r>
              <a:rPr sz="1200" b="1" spc="-40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6" action="ppaction://hlinksldjump"/>
              </a:rPr>
              <a:t>13</a:t>
            </a:r>
            <a:endParaRPr sz="1200" dirty="0">
              <a:latin typeface="Times New Roman"/>
              <a:cs typeface="Times New Roman"/>
            </a:endParaRPr>
          </a:p>
          <a:p>
            <a:pPr marL="319405" lvl="1" indent="-304165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319405" algn="l"/>
              </a:tabLst>
            </a:pP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Requirments.................................................................................................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14</a:t>
            </a:r>
            <a:endParaRPr sz="1200" dirty="0">
              <a:latin typeface="Times New Roman"/>
              <a:cs typeface="Times New Roman"/>
            </a:endParaRPr>
          </a:p>
          <a:p>
            <a:pPr marL="321310" lvl="1" indent="-3041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321310" algn="l"/>
              </a:tabLst>
            </a:pPr>
            <a:r>
              <a:rPr sz="1200" dirty="0">
                <a:latin typeface="Times New Roman"/>
                <a:cs typeface="Times New Roman"/>
              </a:rPr>
              <a:t>Non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Requirments......................................................................................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</a:rPr>
              <a:t> 16</a:t>
            </a:r>
            <a:endParaRPr sz="1200" dirty="0">
              <a:latin typeface="Times New Roman"/>
              <a:cs typeface="Times New Roman"/>
            </a:endParaRPr>
          </a:p>
          <a:p>
            <a:pPr marL="393065" lvl="2" indent="-380365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393065" algn="l"/>
              </a:tabLst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08305" lvl="2" indent="-3803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408305" algn="l"/>
              </a:tabLst>
            </a:pP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35609" lvl="2" indent="-418465">
              <a:lnSpc>
                <a:spcPct val="100000"/>
              </a:lnSpc>
              <a:spcBef>
                <a:spcPts val="1230"/>
              </a:spcBef>
              <a:buAutoNum type="arabicPeriod"/>
              <a:tabLst>
                <a:tab pos="435609" algn="l"/>
              </a:tabLst>
            </a:pPr>
            <a:r>
              <a:rPr sz="1200" dirty="0">
                <a:latin typeface="Times New Roman"/>
                <a:cs typeface="Times New Roman"/>
              </a:rPr>
              <a:t>Performance................................................................................................................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08305" lvl="2" indent="-3803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408305" algn="l"/>
              </a:tabLst>
            </a:pPr>
            <a:r>
              <a:rPr sz="1200" dirty="0">
                <a:latin typeface="Times New Roman"/>
                <a:cs typeface="Times New Roman"/>
              </a:rPr>
              <a:t>Supportability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243840" lvl="1" indent="-228600">
              <a:lnSpc>
                <a:spcPct val="100000"/>
              </a:lnSpc>
              <a:spcBef>
                <a:spcPts val="1225"/>
              </a:spcBef>
              <a:buAutoNum type="arabicPeriod" startAt="3"/>
              <a:tabLst>
                <a:tab pos="243840" algn="l"/>
              </a:tabLst>
            </a:pP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Model................................................................................................................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06400" lvl="2" indent="-3803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406400" algn="l"/>
              </a:tabLst>
            </a:pP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Diagarm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18</a:t>
            </a:r>
            <a:endParaRPr sz="1200" dirty="0">
              <a:latin typeface="Times New Roman"/>
              <a:cs typeface="Times New Roman"/>
            </a:endParaRPr>
          </a:p>
          <a:p>
            <a:pPr marL="387985" lvl="2" indent="-37084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387985" algn="l"/>
              </a:tabLst>
            </a:pP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Discription........................................................................................................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18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7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7848" y="891285"/>
            <a:ext cx="5691505" cy="80079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3.3.3.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18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Design and 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Architecture</a:t>
            </a:r>
            <a:r>
              <a:rPr sz="1200" b="1" spc="-16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</a:t>
            </a:r>
            <a:r>
              <a:rPr sz="1200" b="1" spc="-3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19</a:t>
            </a:r>
            <a:endParaRPr sz="1200" dirty="0">
              <a:latin typeface="Times New Roman"/>
              <a:cs typeface="Times New Roman"/>
            </a:endParaRPr>
          </a:p>
          <a:p>
            <a:pPr marL="280035" lvl="1" indent="-2660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280035" algn="l"/>
              </a:tabLst>
            </a:pP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System</a:t>
            </a:r>
            <a:r>
              <a:rPr sz="1200" spc="-3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Architecture</a:t>
            </a:r>
            <a:r>
              <a:rPr sz="1200" spc="-3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19</a:t>
            </a:r>
            <a:endParaRPr sz="1200" dirty="0">
              <a:latin typeface="Times New Roman"/>
              <a:cs typeface="Times New Roman"/>
            </a:endParaRPr>
          </a:p>
          <a:p>
            <a:pPr marL="274320" lvl="1" indent="-260350">
              <a:lnSpc>
                <a:spcPct val="100000"/>
              </a:lnSpc>
              <a:spcBef>
                <a:spcPts val="1220"/>
              </a:spcBef>
              <a:buAutoNum type="arabicPeriod"/>
              <a:tabLst>
                <a:tab pos="274320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System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Design</a:t>
            </a:r>
            <a:r>
              <a:rPr sz="1200" spc="-6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20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40"/>
              </a:spcBef>
              <a:buAutoNum type="arabicPeriod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UML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Behavioral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Diagrams</a:t>
            </a:r>
            <a:r>
              <a:rPr sz="1200" spc="-6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20</a:t>
            </a:r>
            <a:endParaRPr sz="1200" dirty="0">
              <a:latin typeface="Times New Roman"/>
              <a:cs typeface="Times New Roman"/>
            </a:endParaRPr>
          </a:p>
          <a:p>
            <a:pPr marL="471170" lvl="3" indent="-45720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4711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Component</a:t>
            </a:r>
            <a:r>
              <a:rPr sz="1200" spc="-4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Diagram:</a:t>
            </a:r>
            <a:r>
              <a:rPr sz="1200" spc="-4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20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 startAt="2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System</a:t>
            </a:r>
            <a:r>
              <a:rPr sz="1200" spc="-3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Component</a:t>
            </a:r>
            <a:r>
              <a:rPr sz="1200" spc="-3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Diagram:...................................................................................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21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25"/>
              </a:spcBef>
              <a:buAutoNum type="arabicPeriod" startAt="2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Package Diagram:.....................................................................................................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5" action="ppaction://hlinksldjump"/>
              </a:rPr>
              <a:t>21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 startAt="2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Deployment</a:t>
            </a:r>
            <a:r>
              <a:rPr sz="1200" spc="-20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6" action="ppaction://hlinksldjump"/>
              </a:rPr>
              <a:t>Diagram:</a:t>
            </a:r>
            <a:r>
              <a:rPr sz="1200" spc="-5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6" action="ppaction://hlinksldjump"/>
              </a:rPr>
              <a:t>21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Activity</a:t>
            </a:r>
            <a:r>
              <a:rPr sz="1200" spc="-4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Diagrams:</a:t>
            </a:r>
            <a:r>
              <a:rPr sz="1200" spc="-5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22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8" action="ppaction://hlinksldjump"/>
              </a:rPr>
              <a:t>State</a:t>
            </a:r>
            <a:r>
              <a:rPr sz="1200" spc="-4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8" action="ppaction://hlinksldjump"/>
              </a:rPr>
              <a:t>Machine</a:t>
            </a:r>
            <a:r>
              <a:rPr sz="1200" spc="-3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8" action="ppaction://hlinksldjump"/>
              </a:rPr>
              <a:t>Diagrams:..........................................................................................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8" action="ppaction://hlinksldjump"/>
              </a:rPr>
              <a:t>23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25"/>
              </a:spcBef>
              <a:buAutoNum type="arabicPeriod" startAt="3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UML</a:t>
            </a:r>
            <a:r>
              <a:rPr sz="1200" spc="4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9" action="ppaction://hlinksldjump"/>
              </a:rPr>
              <a:t>Interaction-diagrams</a:t>
            </a:r>
            <a:r>
              <a:rPr sz="1200" spc="-12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..........................................................................................</a:t>
            </a:r>
            <a:r>
              <a:rPr sz="1200" spc="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24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Sequence</a:t>
            </a:r>
            <a:r>
              <a:rPr sz="1200" spc="-3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Diagrams</a:t>
            </a:r>
            <a:r>
              <a:rPr sz="1200" spc="-6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25</a:t>
            </a:r>
            <a:endParaRPr sz="1200" dirty="0">
              <a:latin typeface="Times New Roman"/>
              <a:cs typeface="Times New Roman"/>
            </a:endParaRPr>
          </a:p>
          <a:p>
            <a:pPr marL="622935" lvl="4" indent="-608965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622935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Registration</a:t>
            </a:r>
            <a:r>
              <a:rPr sz="1200" spc="-3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sequence</a:t>
            </a:r>
            <a:r>
              <a:rPr sz="1200" spc="-3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9" action="ppaction://hlinksldjump"/>
              </a:rPr>
              <a:t>Diagram</a:t>
            </a:r>
            <a:r>
              <a:rPr sz="1200" spc="-13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</a:t>
            </a:r>
            <a:r>
              <a:rPr sz="1200" spc="-4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26</a:t>
            </a:r>
            <a:endParaRPr sz="1200" dirty="0">
              <a:latin typeface="Times New Roman"/>
              <a:cs typeface="Times New Roman"/>
            </a:endParaRPr>
          </a:p>
          <a:p>
            <a:pPr marL="661670" lvl="4" indent="-647700">
              <a:lnSpc>
                <a:spcPct val="100000"/>
              </a:lnSpc>
              <a:spcBef>
                <a:spcPts val="1240"/>
              </a:spcBef>
              <a:buAutoNum type="arabicPeriod"/>
              <a:tabLst>
                <a:tab pos="661670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Login</a:t>
            </a:r>
            <a:r>
              <a:rPr sz="1200" spc="-2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Sequence</a:t>
            </a:r>
            <a:r>
              <a:rPr sz="1200" spc="-2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9" action="ppaction://hlinksldjump"/>
              </a:rPr>
              <a:t>Diagram</a:t>
            </a:r>
            <a:r>
              <a:rPr sz="1200" spc="-4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.....................................................................................</a:t>
            </a:r>
            <a:r>
              <a:rPr sz="1200" spc="-4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27</a:t>
            </a:r>
            <a:endParaRPr sz="1200" dirty="0">
              <a:latin typeface="Times New Roman"/>
              <a:cs typeface="Times New Roman"/>
            </a:endParaRPr>
          </a:p>
          <a:p>
            <a:pPr marL="623570" lvl="4" indent="-60960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623570" algn="l"/>
              </a:tabLst>
            </a:pP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User</a:t>
            </a:r>
            <a:r>
              <a:rPr sz="1200" spc="-30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Activity</a:t>
            </a:r>
            <a:r>
              <a:rPr sz="1200" spc="-15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Sequence</a:t>
            </a:r>
            <a:r>
              <a:rPr sz="1200" spc="-25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10" action="ppaction://hlinksldjump"/>
              </a:rPr>
              <a:t>Diagram</a:t>
            </a:r>
            <a:r>
              <a:rPr sz="1200" spc="-65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..........................................................................</a:t>
            </a:r>
            <a:r>
              <a:rPr sz="1200" spc="-40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10" action="ppaction://hlinksldjump"/>
              </a:rPr>
              <a:t>29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35"/>
              </a:spcBef>
              <a:buAutoNum type="arabicPeriod" startAt="3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11" action="ppaction://hlinksldjump"/>
              </a:rPr>
              <a:t>Node</a:t>
            </a:r>
            <a:r>
              <a:rPr sz="1200" spc="-5" dirty="0">
                <a:latin typeface="Times New Roman"/>
                <a:cs typeface="Times New Roman"/>
                <a:hlinkClick r:id="rId11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11" action="ppaction://hlinksldjump"/>
              </a:rPr>
              <a:t>Structure</a:t>
            </a:r>
            <a:r>
              <a:rPr sz="1200" spc="-165" dirty="0">
                <a:latin typeface="Times New Roman"/>
                <a:cs typeface="Times New Roman"/>
                <a:hlinkClick r:id="rId11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1" action="ppaction://hlinksldjump"/>
              </a:rPr>
              <a:t>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11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11" action="ppaction://hlinksldjump"/>
              </a:rPr>
              <a:t>30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25"/>
              </a:spcBef>
              <a:buAutoNum type="arabicPeriod" startAt="3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12" action="ppaction://hlinksldjump"/>
              </a:rPr>
              <a:t>Communication</a:t>
            </a:r>
            <a:r>
              <a:rPr sz="1200" spc="-45" dirty="0">
                <a:latin typeface="Times New Roman"/>
                <a:cs typeface="Times New Roman"/>
                <a:hlinkClick r:id="rId1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2" action="ppaction://hlinksldjump"/>
              </a:rPr>
              <a:t>Design</a:t>
            </a:r>
            <a:r>
              <a:rPr sz="1200" spc="-40" dirty="0">
                <a:latin typeface="Times New Roman"/>
                <a:cs typeface="Times New Roman"/>
                <a:hlinkClick r:id="rId1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2" action="ppaction://hlinksldjump"/>
              </a:rPr>
              <a:t>Protocol.................................................................................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1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12" action="ppaction://hlinksldjump"/>
              </a:rPr>
              <a:t>31</a:t>
            </a:r>
            <a:endParaRPr sz="1200" dirty="0">
              <a:latin typeface="Times New Roman"/>
              <a:cs typeface="Times New Roman"/>
            </a:endParaRPr>
          </a:p>
          <a:p>
            <a:pPr marL="393700" lvl="2" indent="-381000">
              <a:lnSpc>
                <a:spcPct val="100000"/>
              </a:lnSpc>
              <a:spcBef>
                <a:spcPts val="1235"/>
              </a:spcBef>
              <a:buAutoNum type="arabicPeriod" startAt="3"/>
              <a:tabLst>
                <a:tab pos="393700" algn="l"/>
              </a:tabLst>
            </a:pPr>
            <a:r>
              <a:rPr sz="1200" dirty="0">
                <a:latin typeface="Times New Roman"/>
                <a:cs typeface="Times New Roman"/>
              </a:rPr>
              <a:t>Class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Diagram………………………………………………………………………...32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5: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Implementation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................................................................................................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280035" lvl="1" indent="-2660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280035" algn="l"/>
              </a:tabLst>
            </a:pP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Introduction</a:t>
            </a:r>
            <a:r>
              <a:rPr sz="1200" spc="-1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to</a:t>
            </a:r>
            <a:r>
              <a:rPr sz="1200" spc="-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Implementation</a:t>
            </a:r>
            <a:r>
              <a:rPr sz="1200" spc="-13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274320" lvl="1" indent="-26035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274320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System</a:t>
            </a:r>
            <a:r>
              <a:rPr sz="1200" spc="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Development</a:t>
            </a:r>
            <a:r>
              <a:rPr sz="1200" spc="1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Environment</a:t>
            </a:r>
            <a:r>
              <a:rPr sz="1200" spc="-7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280035" lvl="1" indent="-2660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280035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Backend</a:t>
            </a:r>
            <a:r>
              <a:rPr sz="1200" spc="1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Implementation</a:t>
            </a:r>
            <a:r>
              <a:rPr sz="1200" spc="-17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5.4 Frontend</a:t>
            </a:r>
            <a:r>
              <a:rPr sz="1200" spc="1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Implementation:</a:t>
            </a:r>
            <a:r>
              <a:rPr sz="1200" spc="-5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34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8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4680" cy="73298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5.5.</a:t>
            </a:r>
            <a:r>
              <a:rPr sz="1200" spc="-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Real-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Time Bidding</a:t>
            </a:r>
            <a:r>
              <a:rPr sz="1200" spc="-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System:</a:t>
            </a:r>
            <a:r>
              <a:rPr sz="1200" spc="-6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34</a:t>
            </a:r>
            <a:endParaRPr sz="1200">
              <a:latin typeface="Times New Roman"/>
              <a:cs typeface="Times New Roman"/>
            </a:endParaRPr>
          </a:p>
          <a:p>
            <a:pPr marL="243204" lvl="1" indent="-227965">
              <a:lnSpc>
                <a:spcPct val="100000"/>
              </a:lnSpc>
              <a:spcBef>
                <a:spcPts val="1225"/>
              </a:spcBef>
              <a:buAutoNum type="arabicPeriod" startAt="6"/>
              <a:tabLst>
                <a:tab pos="243204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AI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Modules</a:t>
            </a:r>
            <a:r>
              <a:rPr sz="1200" spc="-12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...................................................................................................................... 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34</a:t>
            </a:r>
            <a:endParaRPr sz="1200">
              <a:latin typeface="Times New Roman"/>
              <a:cs typeface="Times New Roman"/>
            </a:endParaRPr>
          </a:p>
          <a:p>
            <a:pPr marL="357505" lvl="2" indent="-3422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357505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Price</a:t>
            </a:r>
            <a:r>
              <a:rPr sz="1200" spc="-1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Suggestion</a:t>
            </a:r>
            <a:r>
              <a:rPr sz="1200" spc="-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Model................................................................................................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3</a:t>
            </a:r>
            <a:r>
              <a:rPr sz="1200" spc="-25" dirty="0">
                <a:latin typeface="Times New Roman"/>
                <a:cs typeface="Times New Roman"/>
              </a:rPr>
              <a:t>4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0"/>
              </a:spcBef>
            </a:pP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5.6.2.</a:t>
            </a:r>
            <a:r>
              <a:rPr sz="1200" spc="-1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Property</a:t>
            </a:r>
            <a:r>
              <a:rPr sz="1200" spc="-10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Document</a:t>
            </a:r>
            <a:r>
              <a:rPr sz="1200" spc="-10" dirty="0">
                <a:latin typeface="Times New Roman"/>
                <a:cs typeface="Times New Roman"/>
                <a:hlinkClick r:id="rId5" action="ppaction://hlinksldjump"/>
              </a:rPr>
              <a:t> Verification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5" action="ppaction://hlinksldjump"/>
              </a:rPr>
              <a:t>34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5.7.</a:t>
            </a:r>
            <a:r>
              <a:rPr sz="1200" spc="-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Data</a:t>
            </a:r>
            <a:r>
              <a:rPr sz="1200" spc="-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Base </a:t>
            </a:r>
            <a:r>
              <a:rPr sz="1200" spc="-10" dirty="0">
                <a:latin typeface="Times New Roman"/>
                <a:cs typeface="Times New Roman"/>
                <a:hlinkClick r:id="rId6" action="ppaction://hlinksldjump"/>
              </a:rPr>
              <a:t>Integration</a:t>
            </a:r>
            <a:r>
              <a:rPr sz="1200" spc="-4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.....................................................................................................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6" action="ppaction://hlinksldjump"/>
              </a:rPr>
              <a:t>35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5.8</a:t>
            </a:r>
            <a:r>
              <a:rPr sz="1200" spc="-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Security</a:t>
            </a:r>
            <a:r>
              <a:rPr sz="1200" spc="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and </a:t>
            </a:r>
            <a:r>
              <a:rPr sz="1200" spc="-10" dirty="0">
                <a:latin typeface="Times New Roman"/>
                <a:cs typeface="Times New Roman"/>
                <a:hlinkClick r:id="rId7" action="ppaction://hlinksldjump"/>
              </a:rPr>
              <a:t>Authentication</a:t>
            </a:r>
            <a:r>
              <a:rPr sz="1200" spc="-3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 36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5.9.</a:t>
            </a:r>
            <a:r>
              <a:rPr sz="1200" spc="1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7" action="ppaction://hlinksldjump"/>
              </a:rPr>
              <a:t>Deployement</a:t>
            </a:r>
            <a:r>
              <a:rPr sz="1200" spc="2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7" action="ppaction://hlinksldjump"/>
              </a:rPr>
              <a:t>Overview</a:t>
            </a:r>
            <a:r>
              <a:rPr sz="1200" spc="-16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..................................................................................................</a:t>
            </a:r>
            <a:r>
              <a:rPr sz="1200" spc="-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36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5.10</a:t>
            </a:r>
            <a:r>
              <a:rPr sz="1200" spc="-3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User</a:t>
            </a:r>
            <a:r>
              <a:rPr sz="1200" spc="-1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Interface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Screenshots</a:t>
            </a:r>
            <a:r>
              <a:rPr sz="1200" spc="-6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</a:t>
            </a:r>
            <a:r>
              <a:rPr sz="1200" spc="-4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36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3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6: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Testing</a:t>
            </a:r>
            <a:r>
              <a:rPr sz="1200" b="1" spc="-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And</a:t>
            </a:r>
            <a:r>
              <a:rPr sz="1200" b="1" spc="-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Evaluation</a:t>
            </a:r>
            <a:r>
              <a:rPr sz="1200" b="1" spc="-160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....................................................................................</a:t>
            </a:r>
            <a:r>
              <a:rPr sz="1200" b="1" spc="-30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8" action="ppaction://hlinksldjump"/>
              </a:rPr>
              <a:t>43</a:t>
            </a:r>
            <a:endParaRPr sz="1200">
              <a:latin typeface="Times New Roman"/>
              <a:cs typeface="Times New Roman"/>
            </a:endParaRPr>
          </a:p>
          <a:p>
            <a:pPr marL="321310" lvl="1" indent="-304165">
              <a:lnSpc>
                <a:spcPct val="100000"/>
              </a:lnSpc>
              <a:spcBef>
                <a:spcPts val="1225"/>
              </a:spcBef>
              <a:buSzPct val="95833"/>
              <a:buAutoNum type="arabicPeriod"/>
              <a:tabLst>
                <a:tab pos="321310" algn="l"/>
              </a:tabLst>
            </a:pPr>
            <a:r>
              <a:rPr sz="1200" dirty="0">
                <a:latin typeface="Times New Roman"/>
                <a:cs typeface="Times New Roman"/>
              </a:rPr>
              <a:t>Introduction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testing....................................................................................................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43</a:t>
            </a:r>
            <a:endParaRPr sz="1200">
              <a:latin typeface="Times New Roman"/>
              <a:cs typeface="Times New Roman"/>
            </a:endParaRPr>
          </a:p>
          <a:p>
            <a:pPr marL="240665" lvl="1" indent="-231775">
              <a:lnSpc>
                <a:spcPct val="100000"/>
              </a:lnSpc>
              <a:spcBef>
                <a:spcPts val="1235"/>
              </a:spcBef>
              <a:buSzPct val="95833"/>
              <a:buAutoNum type="arabicPeriod"/>
              <a:tabLst>
                <a:tab pos="240665" algn="l"/>
              </a:tabLst>
            </a:pPr>
            <a:r>
              <a:rPr sz="1200" spc="-10" dirty="0">
                <a:latin typeface="Times New Roman"/>
                <a:cs typeface="Times New Roman"/>
              </a:rPr>
              <a:t>.Functional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Testing...........................................................................................................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43</a:t>
            </a:r>
            <a:endParaRPr sz="1200">
              <a:latin typeface="Times New Roman"/>
              <a:cs typeface="Times New Roman"/>
            </a:endParaRPr>
          </a:p>
          <a:p>
            <a:pPr marL="278765" lvl="1" indent="-266065">
              <a:lnSpc>
                <a:spcPct val="100000"/>
              </a:lnSpc>
              <a:spcBef>
                <a:spcPts val="1225"/>
              </a:spcBef>
              <a:buSzPct val="95833"/>
              <a:buAutoNum type="arabicPeriod"/>
              <a:tabLst>
                <a:tab pos="278765" algn="l"/>
              </a:tabLst>
            </a:pP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44</a:t>
            </a:r>
            <a:endParaRPr sz="1200">
              <a:latin typeface="Times New Roman"/>
              <a:cs typeface="Times New Roman"/>
            </a:endParaRPr>
          </a:p>
          <a:p>
            <a:pPr marL="288925" lvl="1" indent="-266065">
              <a:lnSpc>
                <a:spcPct val="100000"/>
              </a:lnSpc>
              <a:spcBef>
                <a:spcPts val="1235"/>
              </a:spcBef>
              <a:buSzPct val="95833"/>
              <a:buAutoNum type="arabicPeriod"/>
              <a:tabLst>
                <a:tab pos="288925" algn="l"/>
              </a:tabLst>
            </a:pPr>
            <a:r>
              <a:rPr sz="1200" spc="-10" dirty="0">
                <a:latin typeface="Times New Roman"/>
                <a:cs typeface="Times New Roman"/>
              </a:rPr>
              <a:t>Integration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Testing..........................................................................................................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45</a:t>
            </a:r>
            <a:endParaRPr sz="1200">
              <a:latin typeface="Times New Roman"/>
              <a:cs typeface="Times New Roman"/>
            </a:endParaRPr>
          </a:p>
          <a:p>
            <a:pPr marL="284480" lvl="1" indent="-266065">
              <a:lnSpc>
                <a:spcPct val="100000"/>
              </a:lnSpc>
              <a:spcBef>
                <a:spcPts val="1225"/>
              </a:spcBef>
              <a:buSzPct val="95833"/>
              <a:buAutoNum type="arabicPeriod"/>
              <a:tabLst>
                <a:tab pos="284480" algn="l"/>
              </a:tabLst>
            </a:pP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</a:rPr>
              <a:t> 45</a:t>
            </a:r>
            <a:endParaRPr sz="1200">
              <a:latin typeface="Times New Roman"/>
              <a:cs typeface="Times New Roman"/>
            </a:endParaRPr>
          </a:p>
          <a:p>
            <a:pPr marL="44450">
              <a:lnSpc>
                <a:spcPct val="1000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</a:rPr>
              <a:t>6.6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Testing........................................................................................................46</a:t>
            </a:r>
            <a:endParaRPr sz="1200">
              <a:latin typeface="Times New Roman"/>
              <a:cs typeface="Times New Roman"/>
            </a:endParaRPr>
          </a:p>
          <a:p>
            <a:pPr marL="255904" lvl="1" indent="-227965">
              <a:lnSpc>
                <a:spcPct val="100000"/>
              </a:lnSpc>
              <a:spcBef>
                <a:spcPts val="1225"/>
              </a:spcBef>
              <a:buSzPct val="91666"/>
              <a:buAutoNum type="arabicPeriod" startAt="7"/>
              <a:tabLst>
                <a:tab pos="255904" algn="l"/>
              </a:tabLst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47</a:t>
            </a:r>
            <a:endParaRPr sz="1200">
              <a:latin typeface="Times New Roman"/>
              <a:cs typeface="Times New Roman"/>
            </a:endParaRPr>
          </a:p>
          <a:p>
            <a:pPr marL="292100" lvl="1" indent="-266065">
              <a:lnSpc>
                <a:spcPct val="100000"/>
              </a:lnSpc>
              <a:spcBef>
                <a:spcPts val="1235"/>
              </a:spcBef>
              <a:buSzPct val="91666"/>
              <a:buAutoNum type="arabicPeriod" startAt="7"/>
              <a:tabLst>
                <a:tab pos="292100" algn="l"/>
              </a:tabLst>
            </a:pPr>
            <a:r>
              <a:rPr sz="1200" dirty="0">
                <a:latin typeface="Times New Roman"/>
                <a:cs typeface="Times New Roman"/>
              </a:rPr>
              <a:t>Useability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Testing...........................................................................................................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47</a:t>
            </a:r>
            <a:endParaRPr sz="1200">
              <a:latin typeface="Times New Roman"/>
              <a:cs typeface="Times New Roman"/>
            </a:endParaRPr>
          </a:p>
          <a:p>
            <a:pPr marL="24765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6.9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.Evaluation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metrics.......................................................................................................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</a:t>
            </a:r>
            <a:r>
              <a:rPr sz="1200" spc="-25" dirty="0">
                <a:latin typeface="Times New Roman"/>
                <a:cs typeface="Times New Roman"/>
              </a:rPr>
              <a:t> 48</a:t>
            </a:r>
            <a:endParaRPr sz="1200">
              <a:latin typeface="Times New Roman"/>
              <a:cs typeface="Times New Roman"/>
            </a:endParaRPr>
          </a:p>
          <a:p>
            <a:pPr marL="35560">
              <a:lnSpc>
                <a:spcPct val="100000"/>
              </a:lnSpc>
              <a:spcBef>
                <a:spcPts val="1235"/>
              </a:spcBef>
            </a:pPr>
            <a:r>
              <a:rPr sz="1200" spc="-10" dirty="0">
                <a:latin typeface="Times New Roman"/>
                <a:cs typeface="Times New Roman"/>
              </a:rPr>
              <a:t>6.11.Limitations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Improvements..........................................................................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48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7:</a:t>
            </a:r>
            <a:r>
              <a:rPr sz="1200" b="1" spc="2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Conclusion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Future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Work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.......................................................................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49</a:t>
            </a:r>
            <a:endParaRPr sz="1200">
              <a:latin typeface="Times New Roman"/>
              <a:cs typeface="Times New Roman"/>
            </a:endParaRPr>
          </a:p>
          <a:p>
            <a:pPr marL="251460" lvl="1" indent="-228600">
              <a:lnSpc>
                <a:spcPct val="100000"/>
              </a:lnSpc>
              <a:spcBef>
                <a:spcPts val="1235"/>
              </a:spcBef>
              <a:buSzPct val="91666"/>
              <a:buAutoNum type="arabicPeriod"/>
              <a:tabLst>
                <a:tab pos="251460" algn="l"/>
              </a:tabLst>
            </a:pPr>
            <a:r>
              <a:rPr sz="1200" dirty="0">
                <a:latin typeface="Times New Roman"/>
                <a:cs typeface="Times New Roman"/>
              </a:rPr>
              <a:t>Conclusion………………..………….............................................................................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</a:rPr>
              <a:t> 49</a:t>
            </a:r>
            <a:endParaRPr sz="1200">
              <a:latin typeface="Times New Roman"/>
              <a:cs typeface="Times New Roman"/>
            </a:endParaRPr>
          </a:p>
          <a:p>
            <a:pPr marL="250825" lvl="1" indent="-226060">
              <a:lnSpc>
                <a:spcPct val="100000"/>
              </a:lnSpc>
              <a:spcBef>
                <a:spcPts val="1225"/>
              </a:spcBef>
              <a:buSzPct val="91666"/>
              <a:buAutoNum type="arabicPeriod"/>
              <a:tabLst>
                <a:tab pos="250825" algn="l"/>
              </a:tabLst>
            </a:pP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Work………………………..…...........................................................................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49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9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0235" cy="8166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75"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List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of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Figures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3.1: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diagram.....................................................................................................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15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</a:t>
            </a:r>
            <a:r>
              <a:rPr sz="1200" spc="-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4.2: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4.3: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4.4: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Package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Diagram......................................................................................................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4.5: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21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4.6: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Diagram......................................................................................................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22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4.7: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24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4.8: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25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4.9: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diagram...........................................................................................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26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4.10: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10" dirty="0">
                <a:latin typeface="Times New Roman"/>
                <a:cs typeface="Times New Roman"/>
              </a:rPr>
              <a:t> Diagram</a:t>
            </a:r>
            <a:r>
              <a:rPr sz="1200" spc="-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27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4.11: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4.12: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Protocol</a:t>
            </a:r>
            <a:r>
              <a:rPr sz="1200" spc="-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5.1: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37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4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5.2: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Abouts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37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5.3: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Diagram...........................................................................................................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38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5.4: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Diagram......................................................................................................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39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5.6: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40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5.7: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40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5.8: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41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5.9: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0" dirty="0">
                <a:latin typeface="Times New Roman"/>
                <a:cs typeface="Times New Roman"/>
              </a:rPr>
              <a:t> Diagram</a:t>
            </a:r>
            <a:r>
              <a:rPr sz="1200" spc="-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42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4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5.10: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42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10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2258314"/>
            <a:ext cx="5696585" cy="67976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6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1: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Introduction</a:t>
            </a:r>
            <a:endParaRPr sz="16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8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introduces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Abode,"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transform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landscape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bidding, artificial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intelligence,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mechanisms.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critical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including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limited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leveraging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cutting-</a:t>
            </a: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prediction,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alike.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updates,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safeguard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dirty="0">
                <a:latin typeface="Times New Roman"/>
                <a:cs typeface="Times New Roman"/>
              </a:rPr>
              <a:t>deceptive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practices.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1200">
              <a:latin typeface="Times New Roman"/>
              <a:cs typeface="Times New Roman"/>
            </a:endParaRPr>
          </a:p>
          <a:p>
            <a:pPr marL="70485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1.1.</a:t>
            </a:r>
            <a:r>
              <a:rPr sz="1600" b="1" spc="31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Brief</a:t>
            </a:r>
            <a:endParaRPr sz="16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  <a:spcBef>
                <a:spcPts val="835"/>
              </a:spcBef>
            </a:pPr>
            <a:r>
              <a:rPr sz="1200" spc="-10" dirty="0">
                <a:latin typeface="Times New Roman"/>
                <a:cs typeface="Times New Roman"/>
              </a:rPr>
              <a:t>Studies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 analyses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consistently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highlight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transformative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potential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revolutionizing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scalability </a:t>
            </a:r>
            <a:r>
              <a:rPr sz="1200" dirty="0">
                <a:latin typeface="Times New Roman"/>
                <a:cs typeface="Times New Roman"/>
              </a:rPr>
              <a:t>limitations,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inefficient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experiences.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leverages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AI-powered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enhance </a:t>
            </a:r>
            <a:r>
              <a:rPr sz="1200" dirty="0">
                <a:latin typeface="Times New Roman"/>
                <a:cs typeface="Times New Roman"/>
              </a:rPr>
              <a:t>fairness,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889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analyzes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recommendations,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informed </a:t>
            </a:r>
            <a:r>
              <a:rPr sz="1200" dirty="0">
                <a:latin typeface="Times New Roman"/>
                <a:cs typeface="Times New Roman"/>
              </a:rPr>
              <a:t>decisions.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NLP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pattern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5315" cy="804925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spc="-10" dirty="0">
                <a:latin typeface="Times New Roman"/>
                <a:cs typeface="Times New Roman"/>
              </a:rPr>
              <a:t>recognition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algorithms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mitigating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misinformation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fraudulent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advancements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remains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data-driven.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growing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incorporates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WebSocket’s,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all </a:t>
            </a:r>
            <a:r>
              <a:rPr sz="1200" spc="-10" dirty="0">
                <a:latin typeface="Times New Roman"/>
                <a:cs typeface="Times New Roman"/>
              </a:rPr>
              <a:t>participants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delays.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platform’s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infrastructure </a:t>
            </a:r>
            <a:r>
              <a:rPr sz="1200" dirty="0">
                <a:latin typeface="Times New Roman"/>
                <a:cs typeface="Times New Roman"/>
              </a:rPr>
              <a:t>supports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accommodating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 </a:t>
            </a:r>
            <a:r>
              <a:rPr sz="1200" dirty="0">
                <a:latin typeface="Times New Roman"/>
                <a:cs typeface="Times New Roman"/>
              </a:rPr>
              <a:t>degradation.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Geofencing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subscription-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dirty="0">
                <a:latin typeface="Times New Roman"/>
                <a:cs typeface="Times New Roman"/>
              </a:rPr>
              <a:t>engagement,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preferences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location.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adaptive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adopts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methodology,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refinements,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improvements.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dynamically,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needs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regulatory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frameworks,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positioning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itself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pioneering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industry.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1200">
              <a:latin typeface="Times New Roman"/>
              <a:cs typeface="Times New Roman"/>
            </a:endParaRPr>
          </a:p>
          <a:p>
            <a:pPr marL="70485" algn="just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1.2.</a:t>
            </a:r>
            <a:r>
              <a:rPr sz="1600" b="1" spc="28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Relevance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to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Course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Modules</a:t>
            </a:r>
            <a:endParaRPr sz="1600">
              <a:latin typeface="Times New Roman"/>
              <a:cs typeface="Times New Roman"/>
            </a:endParaRPr>
          </a:p>
          <a:p>
            <a:pPr marL="12700" marR="6985" indent="129539" algn="just">
              <a:lnSpc>
                <a:spcPct val="143700"/>
              </a:lnSpc>
              <a:spcBef>
                <a:spcPts val="840"/>
              </a:spcBef>
              <a:buAutoNum type="romanLcPeriod"/>
              <a:tabLst>
                <a:tab pos="142240" algn="l"/>
              </a:tabLst>
            </a:pP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platform,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intuitive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experience.</a:t>
            </a:r>
            <a:endParaRPr sz="1200">
              <a:latin typeface="Times New Roman"/>
              <a:cs typeface="Times New Roman"/>
            </a:endParaRPr>
          </a:p>
          <a:p>
            <a:pPr marL="12700" marR="6350" indent="160655" algn="just">
              <a:lnSpc>
                <a:spcPct val="143700"/>
              </a:lnSpc>
              <a:spcBef>
                <a:spcPts val="610"/>
              </a:spcBef>
              <a:buAutoNum type="romanLcPeriod"/>
              <a:tabLst>
                <a:tab pos="173355" algn="l"/>
              </a:tabLst>
            </a:pPr>
            <a:r>
              <a:rPr sz="1200" spc="-10" dirty="0">
                <a:latin typeface="Times New Roman"/>
                <a:cs typeface="Times New Roman"/>
              </a:rPr>
              <a:t>Object-</a:t>
            </a:r>
            <a:r>
              <a:rPr sz="1200" dirty="0">
                <a:latin typeface="Times New Roman"/>
                <a:cs typeface="Times New Roman"/>
              </a:rPr>
              <a:t>Oriented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equipped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skills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workflows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activity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 </a:t>
            </a:r>
            <a:r>
              <a:rPr sz="1200" dirty="0">
                <a:latin typeface="Times New Roman"/>
                <a:cs typeface="Times New Roman"/>
              </a:rPr>
              <a:t>modeling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functionalities.</a:t>
            </a:r>
            <a:endParaRPr sz="1200">
              <a:latin typeface="Times New Roman"/>
              <a:cs typeface="Times New Roman"/>
            </a:endParaRPr>
          </a:p>
          <a:p>
            <a:pPr marL="12700" marR="5715" indent="238125" algn="just">
              <a:lnSpc>
                <a:spcPct val="143700"/>
              </a:lnSpc>
              <a:spcBef>
                <a:spcPts val="595"/>
              </a:spcBef>
              <a:buAutoNum type="romanLcPeriod"/>
              <a:tabLst>
                <a:tab pos="250825" algn="l"/>
              </a:tabLst>
            </a:pP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Administration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database, securely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histories,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profiles,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records,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retrieval.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6585" cy="8134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dirty="0">
                <a:latin typeface="Times New Roman"/>
                <a:cs typeface="Times New Roman"/>
              </a:rPr>
              <a:t>iv.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course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laid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accuracy,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overall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2320798"/>
            <a:ext cx="5696585" cy="6354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0485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1.3.</a:t>
            </a:r>
            <a:r>
              <a:rPr sz="1600" b="1" spc="27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Project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Background</a:t>
            </a:r>
            <a:endParaRPr sz="16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Platform"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addresses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critical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industry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suffer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limited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</a:t>
            </a:r>
            <a:r>
              <a:rPr sz="1200" dirty="0">
                <a:latin typeface="Times New Roman"/>
                <a:cs typeface="Times New Roman"/>
              </a:rPr>
              <a:t>risks,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sellers.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bridges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gaps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pricing models.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receive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delays.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employing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predictive</a:t>
            </a:r>
            <a:r>
              <a:rPr sz="1200" spc="-10" dirty="0">
                <a:latin typeface="Times New Roman"/>
                <a:cs typeface="Times New Roman"/>
              </a:rPr>
              <a:t> analytics,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make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decisions.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Furthermore,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incorporating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natural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language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spc="-10" dirty="0">
                <a:latin typeface="Times New Roman"/>
                <a:cs typeface="Times New Roman"/>
              </a:rPr>
              <a:t>powered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safeguard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against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deceptive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tampered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data.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900"/>
              </a:lnSpc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strength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interdisciplinary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bringing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together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expertise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professionals,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scientists,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developers.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ensures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technically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practically </a:t>
            </a:r>
            <a:r>
              <a:rPr sz="1200" dirty="0">
                <a:latin typeface="Times New Roman"/>
                <a:cs typeface="Times New Roman"/>
              </a:rPr>
              <a:t>relevant.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adheres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strict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standards,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JWT </a:t>
            </a:r>
            <a:r>
              <a:rPr sz="1200" spc="-10" dirty="0">
                <a:latin typeface="Times New Roman"/>
                <a:cs typeface="Times New Roman"/>
              </a:rPr>
              <a:t>authentication,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encryption,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compliance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regulations,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 </a:t>
            </a:r>
            <a:r>
              <a:rPr sz="1200" dirty="0">
                <a:latin typeface="Times New Roman"/>
                <a:cs typeface="Times New Roman"/>
              </a:rPr>
              <a:t>safe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trustworthy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environment.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7220" cy="81495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6985" algn="just">
              <a:lnSpc>
                <a:spcPct val="143700"/>
              </a:lnSpc>
              <a:spcBef>
                <a:spcPts val="95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summary,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groundbreaking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advancement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industry,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offering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transparent,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driven,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highly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alternative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systems.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combining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responsiveness,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AI-powered </a:t>
            </a:r>
            <a:r>
              <a:rPr sz="1200" dirty="0">
                <a:latin typeface="Times New Roman"/>
                <a:cs typeface="Times New Roman"/>
              </a:rPr>
              <a:t>insights,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measures,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empowering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diverse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range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across </a:t>
            </a:r>
            <a:r>
              <a:rPr sz="1200" dirty="0">
                <a:latin typeface="Times New Roman"/>
                <a:cs typeface="Times New Roman"/>
              </a:rPr>
              <a:t>global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1200">
              <a:latin typeface="Times New Roman"/>
              <a:cs typeface="Times New Roman"/>
            </a:endParaRPr>
          </a:p>
          <a:p>
            <a:pPr marL="70485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1.4.</a:t>
            </a:r>
            <a:r>
              <a:rPr sz="1600" b="1" spc="254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Literature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Review</a:t>
            </a:r>
            <a:endParaRPr sz="16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600">
              <a:latin typeface="Times New Roman"/>
              <a:cs typeface="Times New Roman"/>
            </a:endParaRPr>
          </a:p>
          <a:p>
            <a:pPr marL="12700" marR="8255" indent="208279">
              <a:lnSpc>
                <a:spcPts val="1380"/>
              </a:lnSpc>
              <a:spcBef>
                <a:spcPts val="5"/>
              </a:spcBef>
              <a:buFont typeface="Times New Roman"/>
              <a:buAutoNum type="arabicPeriod"/>
              <a:tabLst>
                <a:tab pos="220979" algn="l"/>
              </a:tabLst>
            </a:pPr>
            <a:r>
              <a:rPr sz="1200" b="1" dirty="0">
                <a:latin typeface="Times New Roman"/>
                <a:cs typeface="Times New Roman"/>
              </a:rPr>
              <a:t>Integration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Artificial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Intelligence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434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409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Technologies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Property 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(AI)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revolutionized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conducted.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innovations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introduced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levels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enabling </a:t>
            </a:r>
            <a:r>
              <a:rPr sz="1200" dirty="0">
                <a:latin typeface="Times New Roman"/>
                <a:cs typeface="Times New Roman"/>
              </a:rPr>
              <a:t>smarter,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faster,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fairer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Below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 an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overview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 studies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demonstrate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field:</a:t>
            </a:r>
            <a:endParaRPr sz="12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1310"/>
              </a:spcBef>
              <a:buAutoNum type="arabicPeriod" startAt="2"/>
              <a:tabLst>
                <a:tab pos="2406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Powered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Price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Prediction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Real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Estate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12700" marR="9525" algn="just">
              <a:lnSpc>
                <a:spcPts val="138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explored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regression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deep </a:t>
            </a:r>
            <a:r>
              <a:rPr sz="1200" dirty="0">
                <a:latin typeface="Times New Roman"/>
                <a:cs typeface="Times New Roman"/>
              </a:rPr>
              <a:t>neural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datasets.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research </a:t>
            </a:r>
            <a:r>
              <a:rPr sz="1200" dirty="0">
                <a:latin typeface="Times New Roman"/>
                <a:cs typeface="Times New Roman"/>
              </a:rPr>
              <a:t>concluded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 expectations,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promote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valuations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minimizing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human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appraisals.</a:t>
            </a:r>
            <a:endParaRPr sz="12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1305"/>
              </a:spcBef>
              <a:buFont typeface="Times New Roman"/>
              <a:buAutoNum type="arabicPeriod" startAt="3"/>
              <a:tabLst>
                <a:tab pos="2406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Systems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Using</a:t>
            </a:r>
            <a:r>
              <a:rPr sz="1200" b="1" spc="-10" dirty="0">
                <a:latin typeface="Times New Roman"/>
                <a:cs typeface="Times New Roman"/>
              </a:rPr>
              <a:t> WebSockets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240665" marR="38735">
              <a:lnSpc>
                <a:spcPct val="959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investigated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reduced</a:t>
            </a:r>
            <a:r>
              <a:rPr sz="1200" spc="5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latency,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last-</a:t>
            </a:r>
            <a:r>
              <a:rPr sz="1200" dirty="0">
                <a:latin typeface="Times New Roman"/>
                <a:cs typeface="Times New Roman"/>
              </a:rPr>
              <a:t>minute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demonstrated</a:t>
            </a:r>
            <a:r>
              <a:rPr sz="1200" spc="-25" dirty="0">
                <a:latin typeface="Times New Roman"/>
                <a:cs typeface="Times New Roman"/>
              </a:rPr>
              <a:t> the </a:t>
            </a: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responsiveness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large-</a:t>
            </a:r>
            <a:r>
              <a:rPr sz="1200" dirty="0">
                <a:latin typeface="Times New Roman"/>
                <a:cs typeface="Times New Roman"/>
              </a:rPr>
              <a:t>scale,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high-traffic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 marL="164465" indent="-151765">
              <a:lnSpc>
                <a:spcPct val="100000"/>
              </a:lnSpc>
              <a:spcBef>
                <a:spcPts val="1330"/>
              </a:spcBef>
              <a:buAutoNum type="arabicPeriod" startAt="4"/>
              <a:tabLst>
                <a:tab pos="1644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Driven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Fraud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Detection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Online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Marketplaces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79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Focusing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 employed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Language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anomaly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fake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forged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suspicious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behaviors.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trust,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reduce </a:t>
            </a:r>
            <a:r>
              <a:rPr sz="1200" dirty="0">
                <a:latin typeface="Times New Roman"/>
                <a:cs typeface="Times New Roman"/>
              </a:rPr>
              <a:t>financial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950" cy="780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indent="-151765">
              <a:lnSpc>
                <a:spcPct val="100000"/>
              </a:lnSpc>
              <a:spcBef>
                <a:spcPts val="100"/>
              </a:spcBef>
              <a:buAutoNum type="arabicPeriod" startAt="5"/>
              <a:tabLst>
                <a:tab pos="1644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Cloud-</a:t>
            </a:r>
            <a:r>
              <a:rPr sz="1200" b="1" dirty="0">
                <a:latin typeface="Times New Roman"/>
                <a:cs typeface="Times New Roman"/>
              </a:rPr>
              <a:t>Based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Platforms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Scalability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0" dirty="0">
                <a:latin typeface="Times New Roman"/>
                <a:cs typeface="Times New Roman"/>
              </a:rPr>
              <a:t> Accessibility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5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highlighted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benefits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cloud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computing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platforms, including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of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large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volumes,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 </a:t>
            </a:r>
            <a:r>
              <a:rPr sz="1200" dirty="0">
                <a:latin typeface="Times New Roman"/>
                <a:cs typeface="Times New Roman"/>
              </a:rPr>
              <a:t>speeds,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regions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globalization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inclusivity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offering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scalable infrastructure.</a:t>
            </a:r>
            <a:endParaRPr sz="1200">
              <a:latin typeface="Times New Roman"/>
              <a:cs typeface="Times New Roman"/>
            </a:endParaRPr>
          </a:p>
          <a:p>
            <a:pPr marL="164465" indent="-151765">
              <a:lnSpc>
                <a:spcPct val="100000"/>
              </a:lnSpc>
              <a:spcBef>
                <a:spcPts val="1295"/>
              </a:spcBef>
              <a:buAutoNum type="arabicPeriod" startAt="6"/>
              <a:tabLst>
                <a:tab pos="164465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Experience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UI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Digital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959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emphasized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importance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(UI)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(UX)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enhancing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bidder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frameworks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like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showed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novice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expert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friction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boosts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participation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rates.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Good </a:t>
            </a:r>
            <a:r>
              <a:rPr sz="1200" dirty="0">
                <a:latin typeface="Times New Roman"/>
                <a:cs typeface="Times New Roman"/>
              </a:rPr>
              <a:t>UI/UX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ease-of-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environments.</a:t>
            </a:r>
            <a:endParaRPr sz="1200">
              <a:latin typeface="Times New Roman"/>
              <a:cs typeface="Times New Roman"/>
            </a:endParaRPr>
          </a:p>
          <a:p>
            <a:pPr marL="164465" indent="-151765">
              <a:lnSpc>
                <a:spcPct val="100000"/>
              </a:lnSpc>
              <a:spcBef>
                <a:spcPts val="1340"/>
              </a:spcBef>
              <a:buAutoNum type="arabicPeriod" startAt="7"/>
              <a:tabLst>
                <a:tab pos="164465" algn="l"/>
              </a:tabLst>
            </a:pPr>
            <a:r>
              <a:rPr sz="1200" b="1" dirty="0">
                <a:latin typeface="Times New Roman"/>
                <a:cs typeface="Times New Roman"/>
              </a:rPr>
              <a:t>Comparing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Traditional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vs.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Enhanced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spc="-1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comparative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conventional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against AI-powered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digital </a:t>
            </a:r>
            <a:r>
              <a:rPr sz="1200" dirty="0">
                <a:latin typeface="Times New Roman"/>
                <a:cs typeface="Times New Roman"/>
              </a:rPr>
              <a:t>platforms.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included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incidents,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higher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valuation,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increased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bidder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turnout.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compliance,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thereby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expediting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minimizing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human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error.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894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latin typeface="Times New Roman"/>
                <a:cs typeface="Times New Roman"/>
              </a:rPr>
              <a:t>1.5.</a:t>
            </a:r>
            <a:r>
              <a:rPr sz="1600" b="1" spc="-10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Analysis</a:t>
            </a:r>
            <a:r>
              <a:rPr sz="1600" b="1" spc="-7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from</a:t>
            </a:r>
            <a:r>
              <a:rPr sz="1600" b="1" spc="-6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Literature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Review</a:t>
            </a:r>
            <a:endParaRPr sz="16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8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reveals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strong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alignment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regarding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transformative </a:t>
            </a: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auctions.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literature </a:t>
            </a:r>
            <a:r>
              <a:rPr sz="1200" dirty="0">
                <a:latin typeface="Times New Roman"/>
                <a:cs typeface="Times New Roman"/>
              </a:rPr>
              <a:t>underscores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effectiveness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 models 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WebSocket’s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synchronization,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AI-driven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enhancing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Similarly,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reinforces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importance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estimation,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measures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among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highlights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echoing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Furthermore,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extends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incorporating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6585" cy="2746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 algn="just">
              <a:lnSpc>
                <a:spcPct val="143300"/>
              </a:lnSpc>
              <a:spcBef>
                <a:spcPts val="100"/>
              </a:spcBef>
            </a:pP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</a:t>
            </a:r>
            <a:r>
              <a:rPr sz="1200" dirty="0">
                <a:latin typeface="Times New Roman"/>
                <a:cs typeface="Times New Roman"/>
              </a:rPr>
              <a:t>detection,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contributes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novel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data-</a:t>
            </a:r>
            <a:r>
              <a:rPr sz="1200" dirty="0">
                <a:latin typeface="Times New Roman"/>
                <a:cs typeface="Times New Roman"/>
              </a:rPr>
              <a:t>driven,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system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tailored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specifically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for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large-scale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approach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only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improves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but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addresses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prevention,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fairness.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building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advancements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gaps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identified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establishes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itself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 </a:t>
            </a:r>
            <a:r>
              <a:rPr sz="1200" dirty="0">
                <a:latin typeface="Times New Roman"/>
                <a:cs typeface="Times New Roman"/>
              </a:rPr>
              <a:t>innovative,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poised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revolutionize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Table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1.1: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Literature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Review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189024" y="3813682"/>
          <a:ext cx="5664833" cy="46221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7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8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9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pPr marL="67945">
                        <a:lnSpc>
                          <a:spcPts val="139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Title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>
                        <a:lnSpc>
                          <a:spcPts val="1380"/>
                        </a:lnSpc>
                        <a:tabLst>
                          <a:tab pos="786765" algn="l"/>
                          <a:tab pos="1540510" algn="l"/>
                        </a:tabLst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Learning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Methods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 Findings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90"/>
                        </a:lnSpc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Shortcomings</a:t>
                      </a:r>
                      <a:r>
                        <a:rPr sz="1200" b="1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Pitfalls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AI-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Powered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Price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</a:t>
                      </a:r>
                      <a:r>
                        <a:rPr sz="1200" spc="48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48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Real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Estate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Regression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models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neural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networks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analyzed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historical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data,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achieving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high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accuracy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price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estimation.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Struggled</a:t>
                      </a:r>
                      <a:r>
                        <a:rPr sz="1200" spc="33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sz="1200" spc="34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market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volatility,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requiring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frequent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retraining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remain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relevant.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7390"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ct val="95900"/>
                        </a:lnSpc>
                        <a:tabLst>
                          <a:tab pos="113347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Real-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Time</a:t>
                      </a:r>
                      <a:r>
                        <a:rPr sz="1200" spc="44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Bidding Systems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Using WebSockets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WebSocket</a:t>
                      </a:r>
                      <a:r>
                        <a:rPr sz="1200" spc="3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technology</a:t>
                      </a:r>
                      <a:r>
                        <a:rPr sz="1200" spc="3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ensured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instant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updates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prevented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delayed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transactions</a:t>
                      </a:r>
                      <a:r>
                        <a:rPr sz="1200" spc="11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11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digital auctions.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350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High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server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load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during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peak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bidding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events</a:t>
                      </a:r>
                      <a:r>
                        <a:rPr sz="1200" spc="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led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latency issues.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2865" algn="just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14046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AI-Driven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Fraud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Detection</a:t>
                      </a:r>
                      <a:r>
                        <a:rPr sz="1200" spc="27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Online Marketplaces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NLP</a:t>
                      </a:r>
                      <a:r>
                        <a:rPr sz="1200" spc="27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27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anomaly</a:t>
                      </a:r>
                      <a:r>
                        <a:rPr sz="1200" spc="27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detection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identified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fraudulent</a:t>
                      </a:r>
                      <a:r>
                        <a:rPr sz="1200" spc="29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property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listings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suspicious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bidding behaviors.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False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positives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were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challenge,</a:t>
                      </a:r>
                      <a:r>
                        <a:rPr sz="1200" spc="45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leading</a:t>
                      </a:r>
                      <a:r>
                        <a:rPr sz="1200" spc="459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to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legitimate</a:t>
                      </a:r>
                      <a:r>
                        <a:rPr sz="1200" spc="4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listings</a:t>
                      </a:r>
                      <a:r>
                        <a:rPr sz="1200" spc="45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being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flagged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incorrectly.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223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005205" algn="l"/>
                          <a:tab pos="131889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Cloud-Based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 Platforms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for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2865">
                        <a:lnSpc>
                          <a:spcPts val="1380"/>
                        </a:lnSpc>
                        <a:tabLst>
                          <a:tab pos="127635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Scalability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Accessibility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Cloud</a:t>
                      </a:r>
                      <a:r>
                        <a:rPr sz="1200" spc="39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computing</a:t>
                      </a:r>
                      <a:r>
                        <a:rPr sz="1200" spc="39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enabled seamless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transactions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bidder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participation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from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any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location.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Security</a:t>
                      </a:r>
                      <a:r>
                        <a:rPr sz="1200" spc="22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vulnerabilities</a:t>
                      </a:r>
                      <a:r>
                        <a:rPr sz="1200" spc="22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cloud</a:t>
                      </a:r>
                      <a:r>
                        <a:rPr sz="1200" spc="33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storage</a:t>
                      </a:r>
                      <a:r>
                        <a:rPr sz="1200" spc="34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required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stronger</a:t>
                      </a:r>
                      <a:r>
                        <a:rPr sz="1200" spc="48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encryption</a:t>
                      </a:r>
                      <a:r>
                        <a:rPr sz="1200" spc="48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access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controls.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7390">
                <a:tc>
                  <a:txBody>
                    <a:bodyPr/>
                    <a:lstStyle/>
                    <a:p>
                      <a:pPr marL="67945" marR="6350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13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Experience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UI</a:t>
                      </a:r>
                      <a:r>
                        <a:rPr sz="1200" spc="4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Design</a:t>
                      </a:r>
                      <a:r>
                        <a:rPr sz="1200" spc="4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459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Digital 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Intuitive</a:t>
                      </a:r>
                      <a:r>
                        <a:rPr sz="1200" spc="320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UI/UX</a:t>
                      </a:r>
                      <a:r>
                        <a:rPr sz="1200" spc="320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designs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improved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engagement</a:t>
                      </a:r>
                      <a:r>
                        <a:rPr sz="1200" spc="3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participation.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algn="just">
                        <a:lnSpc>
                          <a:spcPct val="95900"/>
                        </a:lnSpc>
                        <a:tabLst>
                          <a:tab pos="132905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Some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platforms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lacked accessibility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features,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limiting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usability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4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non-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tech-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savvy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users.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1594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Continuous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Learning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in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AI-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Enhanced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Feedback</a:t>
                      </a:r>
                      <a:r>
                        <a:rPr sz="1200" spc="33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loops</a:t>
                      </a:r>
                      <a:r>
                        <a:rPr sz="1200" spc="33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enabled</a:t>
                      </a:r>
                      <a:r>
                        <a:rPr sz="1200" spc="33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AI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models</a:t>
                      </a:r>
                      <a:r>
                        <a:rPr sz="1200" spc="29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refine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pricing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predictions</a:t>
                      </a:r>
                      <a:r>
                        <a:rPr sz="1200" spc="1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1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detect</a:t>
                      </a:r>
                      <a:r>
                        <a:rPr sz="1200" spc="2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emerging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fraud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trends.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Data</a:t>
                      </a:r>
                      <a:r>
                        <a:rPr sz="1200" spc="114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privacy</a:t>
                      </a:r>
                      <a:r>
                        <a:rPr sz="1200" spc="1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concerns</a:t>
                      </a:r>
                      <a:r>
                        <a:rPr sz="1200" spc="1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arose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using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bidder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behavior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data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continuous</a:t>
                      </a:r>
                      <a:r>
                        <a:rPr sz="1200" spc="42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model training.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9762"/>
            <a:ext cx="5695315" cy="79394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1.6.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Methodology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Software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Lifecycle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This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Project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600"/>
              </a:lnSpc>
            </a:pP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adopting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methodology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Abode.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project's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improvements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feedback.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through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incremental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4000"/>
              </a:lnSpc>
            </a:pPr>
            <a:r>
              <a:rPr sz="1200" spc="-10" dirty="0">
                <a:latin typeface="Times New Roman"/>
                <a:cs typeface="Times New Roman"/>
              </a:rPr>
              <a:t>Face-to-</a:t>
            </a:r>
            <a:r>
              <a:rPr sz="1200" dirty="0">
                <a:latin typeface="Times New Roman"/>
                <a:cs typeface="Times New Roman"/>
              </a:rPr>
              <a:t>face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ongoing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dirty="0">
                <a:latin typeface="Times New Roman"/>
                <a:cs typeface="Times New Roman"/>
              </a:rPr>
              <a:t>methodology,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collaboration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adaptability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every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stage.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promotes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sustainable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respond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efficiently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evolving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requirements.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50800" algn="just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Process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Abode: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715" indent="-228600">
              <a:lnSpc>
                <a:spcPct val="1442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Requirements</a:t>
            </a:r>
            <a:r>
              <a:rPr sz="1200" b="1" spc="1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Elicitation:</a:t>
            </a:r>
            <a:r>
              <a:rPr sz="1200" b="1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define </a:t>
            </a:r>
            <a:r>
              <a:rPr sz="1200" dirty="0">
                <a:latin typeface="Times New Roman"/>
                <a:cs typeface="Times New Roman"/>
              </a:rPr>
              <a:t>clear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goals.</a:t>
            </a:r>
            <a:endParaRPr sz="1200">
              <a:latin typeface="Times New Roman"/>
              <a:cs typeface="Times New Roman"/>
            </a:endParaRPr>
          </a:p>
          <a:p>
            <a:pPr marL="469265" marR="7620" indent="-228600">
              <a:lnSpc>
                <a:spcPts val="2070"/>
              </a:lnSpc>
              <a:spcBef>
                <a:spcPts val="17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1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Requirements:</a:t>
            </a:r>
            <a:r>
              <a:rPr sz="1200" b="1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Converting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specifications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models.</a:t>
            </a:r>
            <a:endParaRPr sz="1200">
              <a:latin typeface="Times New Roman"/>
              <a:cs typeface="Times New Roman"/>
            </a:endParaRPr>
          </a:p>
          <a:p>
            <a:pPr marL="469265" marR="6350" indent="-228600">
              <a:lnSpc>
                <a:spcPts val="206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Construction/Iteration:</a:t>
            </a:r>
            <a:r>
              <a:rPr sz="1200" b="1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with </a:t>
            </a:r>
            <a:r>
              <a:rPr sz="1200" dirty="0">
                <a:latin typeface="Times New Roman"/>
                <a:cs typeface="Times New Roman"/>
              </a:rPr>
              <a:t>frequent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cycles.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>
              <a:lnSpc>
                <a:spcPts val="2060"/>
              </a:lnSpc>
              <a:spcBef>
                <a:spcPts val="2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Testing/Quality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Assurance: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meets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rigorous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</a:t>
            </a:r>
            <a:endParaRPr sz="1200">
              <a:latin typeface="Times New Roman"/>
              <a:cs typeface="Times New Roman"/>
            </a:endParaRPr>
          </a:p>
          <a:p>
            <a:pPr marL="469265" marR="7620" indent="-228600">
              <a:lnSpc>
                <a:spcPts val="2060"/>
              </a:lnSpc>
              <a:spcBef>
                <a:spcPts val="2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Deployment:</a:t>
            </a:r>
            <a:r>
              <a:rPr sz="1200" b="1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Delivering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usable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increments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stakeholders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regular intervals.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4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Feedback: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Collecting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Key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Ideas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Guidelines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Methodology</a:t>
            </a:r>
            <a:endParaRPr sz="1200">
              <a:latin typeface="Times New Roman"/>
              <a:cs typeface="Times New Roman"/>
            </a:endParaRPr>
          </a:p>
          <a:p>
            <a:pPr marL="240665">
              <a:lnSpc>
                <a:spcPct val="100000"/>
              </a:lnSpc>
              <a:spcBef>
                <a:spcPts val="1340"/>
              </a:spcBef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Iterative</a:t>
            </a:r>
            <a:r>
              <a:rPr sz="1200" b="1" spc="-10" dirty="0">
                <a:latin typeface="Times New Roman"/>
                <a:cs typeface="Times New Roman"/>
              </a:rPr>
              <a:t> Development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divides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manageable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iterations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called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typically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lasting </a:t>
            </a:r>
            <a:r>
              <a:rPr sz="1200" dirty="0">
                <a:latin typeface="Times New Roman"/>
                <a:cs typeface="Times New Roman"/>
              </a:rPr>
              <a:t>two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four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weeks.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continuous </a:t>
            </a:r>
            <a:r>
              <a:rPr sz="1200" dirty="0">
                <a:latin typeface="Times New Roman"/>
                <a:cs typeface="Times New Roman"/>
              </a:rPr>
              <a:t>progress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feedback.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315" cy="812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228600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 startAt="2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Cross-</a:t>
            </a:r>
            <a:r>
              <a:rPr sz="1200" b="1" dirty="0">
                <a:latin typeface="Times New Roman"/>
                <a:cs typeface="Times New Roman"/>
              </a:rPr>
              <a:t>Functional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Team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469265" marR="571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composed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skilled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professionals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development, database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encourages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collaboration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adapt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quickly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changing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requirements.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295"/>
              </a:spcBef>
              <a:buFont typeface="Times New Roman"/>
              <a:buAutoNum type="arabicPeriod" startAt="3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Product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Backlog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469265" marR="6985" algn="just">
              <a:lnSpc>
                <a:spcPct val="959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product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backlog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prioritized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stories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maintained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product owner. It serves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 the central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source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 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team.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340"/>
              </a:spcBef>
              <a:buFont typeface="Times New Roman"/>
              <a:buAutoNum type="arabicPeriod" startAt="4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Stories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4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Times New Roman"/>
              <a:buAutoNum type="arabicPeriod" startAt="4"/>
            </a:pPr>
            <a:endParaRPr sz="1200">
              <a:latin typeface="Times New Roman"/>
              <a:cs typeface="Times New Roman"/>
            </a:endParaRPr>
          </a:p>
          <a:p>
            <a:pPr marL="469265" marR="698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stories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short,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focused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functionality.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They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help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stay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aligned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remains value-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310"/>
              </a:spcBef>
              <a:buFont typeface="Times New Roman"/>
              <a:buAutoNum type="arabicPeriod" startAt="5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Continuous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Integration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Delivery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5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Times New Roman"/>
              <a:buAutoNum type="arabicPeriod" startAt="5"/>
            </a:pPr>
            <a:endParaRPr sz="1200">
              <a:latin typeface="Times New Roman"/>
              <a:cs typeface="Times New Roman"/>
            </a:endParaRPr>
          </a:p>
          <a:p>
            <a:pPr marL="469265" marR="1016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frequently,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issues.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practice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process,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accelerates </a:t>
            </a:r>
            <a:r>
              <a:rPr sz="1200" dirty="0">
                <a:latin typeface="Times New Roman"/>
                <a:cs typeface="Times New Roman"/>
              </a:rPr>
              <a:t>product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delivery.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305"/>
              </a:spcBef>
              <a:buFont typeface="Times New Roman"/>
              <a:buAutoNum type="arabicPeriod" startAt="6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Retrospectives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469265" marR="698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sprint,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conducts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retrospectives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their performance,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areas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improvement,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necessary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changes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next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sprint.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Roles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Development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6985" lvl="1" indent="-228600">
              <a:lnSpc>
                <a:spcPct val="1433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Product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Owner: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Defines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prioritizes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based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needs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trends.</a:t>
            </a:r>
            <a:endParaRPr sz="1200">
              <a:latin typeface="Times New Roman"/>
              <a:cs typeface="Times New Roman"/>
            </a:endParaRPr>
          </a:p>
          <a:p>
            <a:pPr marL="469265" marR="10160" lvl="1" indent="-228600">
              <a:lnSpc>
                <a:spcPct val="143300"/>
              </a:lnSpc>
              <a:spcBef>
                <a:spcPts val="1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Master: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adherence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principles,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facilitates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resolves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challenges.</a:t>
            </a: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ct val="14330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  <a:tab pos="1473200" algn="l"/>
                <a:tab pos="2047239" algn="l"/>
                <a:tab pos="2306320" algn="l"/>
                <a:tab pos="3436620" algn="l"/>
                <a:tab pos="3881754" algn="l"/>
                <a:tab pos="4724400" algn="l"/>
                <a:tab pos="505142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Development</a:t>
            </a:r>
            <a:r>
              <a:rPr sz="1200" b="1" dirty="0">
                <a:latin typeface="Times New Roman"/>
                <a:cs typeface="Times New Roman"/>
              </a:rPr>
              <a:t>	</a:t>
            </a:r>
            <a:r>
              <a:rPr sz="1200" b="1" spc="-20" dirty="0">
                <a:latin typeface="Times New Roman"/>
                <a:cs typeface="Times New Roman"/>
              </a:rPr>
              <a:t>Team:</a:t>
            </a:r>
            <a:r>
              <a:rPr sz="1200" b="1" dirty="0">
                <a:latin typeface="Times New Roman"/>
                <a:cs typeface="Times New Roman"/>
              </a:rPr>
              <a:t>	</a:t>
            </a:r>
            <a:r>
              <a:rPr sz="1200" spc="-50" dirty="0">
                <a:latin typeface="Times New Roman"/>
                <a:cs typeface="Times New Roman"/>
              </a:rPr>
              <a:t>A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cross-functional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20" dirty="0">
                <a:latin typeface="Times New Roman"/>
                <a:cs typeface="Times New Roman"/>
              </a:rPr>
              <a:t>team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responsible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25" dirty="0">
                <a:latin typeface="Times New Roman"/>
                <a:cs typeface="Times New Roman"/>
              </a:rPr>
              <a:t>for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designing, </a:t>
            </a:r>
            <a:r>
              <a:rPr sz="1200" dirty="0">
                <a:latin typeface="Times New Roman"/>
                <a:cs typeface="Times New Roman"/>
              </a:rPr>
              <a:t>implementing,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quality,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9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4680" cy="57245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flexibility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iterative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choice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complex,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focused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alignment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 expectations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every</a:t>
            </a:r>
            <a:r>
              <a:rPr sz="1200" spc="-10" dirty="0">
                <a:latin typeface="Times New Roman"/>
                <a:cs typeface="Times New Roman"/>
              </a:rPr>
              <a:t> stage.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0"/>
              </a:spcBef>
            </a:pPr>
            <a:endParaRPr sz="1200">
              <a:latin typeface="Times New Roman"/>
              <a:cs typeface="Times New Roman"/>
            </a:endParaRPr>
          </a:p>
          <a:p>
            <a:pPr marL="449580" lvl="2" indent="-436880">
              <a:lnSpc>
                <a:spcPct val="100000"/>
              </a:lnSpc>
              <a:buSzPct val="116666"/>
              <a:buAutoNum type="arabicPeriod"/>
              <a:tabLst>
                <a:tab pos="449580" algn="l"/>
              </a:tabLst>
            </a:pPr>
            <a:r>
              <a:rPr sz="1200" b="1" dirty="0">
                <a:latin typeface="Times New Roman"/>
                <a:cs typeface="Times New Roman"/>
              </a:rPr>
              <a:t>Rationale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behind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Selected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Methodology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844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10160" algn="just">
              <a:lnSpc>
                <a:spcPts val="138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methodology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following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reasons: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320040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Easily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Quickly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Adapt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Change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accommodate </a:t>
            </a:r>
            <a:r>
              <a:rPr sz="1200" dirty="0">
                <a:latin typeface="Times New Roman"/>
                <a:cs typeface="Times New Roman"/>
              </a:rPr>
              <a:t>changing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efficiently.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flexibility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is </a:t>
            </a:r>
            <a:r>
              <a:rPr sz="1200" dirty="0">
                <a:latin typeface="Times New Roman"/>
                <a:cs typeface="Times New Roman"/>
              </a:rPr>
              <a:t>crucial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user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rapidly.</a:t>
            </a:r>
            <a:endParaRPr sz="1200">
              <a:latin typeface="Times New Roman"/>
              <a:cs typeface="Times New Roman"/>
            </a:endParaRPr>
          </a:p>
          <a:p>
            <a:pPr marL="469265" marR="100330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User-</a:t>
            </a:r>
            <a:r>
              <a:rPr sz="1200" b="1" dirty="0">
                <a:latin typeface="Times New Roman"/>
                <a:cs typeface="Times New Roman"/>
              </a:rPr>
              <a:t>Focused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Testing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loops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development,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consistently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optimal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 marL="469265" marR="330200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Better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Control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retrospectives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provide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progress.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timely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adjustments,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process.</a:t>
            </a:r>
            <a:endParaRPr sz="1200">
              <a:latin typeface="Times New Roman"/>
              <a:cs typeface="Times New Roman"/>
            </a:endParaRPr>
          </a:p>
          <a:p>
            <a:pPr marL="469265" marR="20955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Creativity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Innovation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encourages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adaptive </a:t>
            </a:r>
            <a:r>
              <a:rPr sz="1200" dirty="0">
                <a:latin typeface="Times New Roman"/>
                <a:cs typeface="Times New Roman"/>
              </a:rPr>
              <a:t>environment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innovative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10" dirty="0">
                <a:latin typeface="Times New Roman"/>
                <a:cs typeface="Times New Roman"/>
              </a:rPr>
              <a:t> detection</a:t>
            </a:r>
            <a:endParaRPr sz="1200">
              <a:latin typeface="Times New Roman"/>
              <a:cs typeface="Times New Roman"/>
            </a:endParaRPr>
          </a:p>
          <a:p>
            <a:pPr marL="469265">
              <a:lnSpc>
                <a:spcPts val="1315"/>
              </a:lnSpc>
            </a:pPr>
            <a:r>
              <a:rPr sz="1200" spc="-10" dirty="0">
                <a:latin typeface="Times New Roman"/>
                <a:cs typeface="Times New Roman"/>
              </a:rPr>
              <a:t>mechanisms.</a:t>
            </a:r>
            <a:endParaRPr sz="1200">
              <a:latin typeface="Times New Roman"/>
              <a:cs typeface="Times New Roman"/>
            </a:endParaRPr>
          </a:p>
          <a:p>
            <a:pPr marL="469265" marR="196850" lvl="3" indent="-228600">
              <a:lnSpc>
                <a:spcPts val="1380"/>
              </a:lnSpc>
              <a:spcBef>
                <a:spcPts val="65"/>
              </a:spcBef>
              <a:buFont typeface="Times New Roman"/>
              <a:buAutoNum type="arabicPeriod" startAt="5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Reduces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Technical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Debt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prompt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fixing,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buildup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unresolved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maintainable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time.</a:t>
            </a:r>
            <a:endParaRPr sz="1200">
              <a:latin typeface="Times New Roman"/>
              <a:cs typeface="Times New Roman"/>
            </a:endParaRPr>
          </a:p>
          <a:p>
            <a:pPr marL="469265" marR="92075" lvl="3" indent="-228600">
              <a:lnSpc>
                <a:spcPts val="1380"/>
              </a:lnSpc>
              <a:buFont typeface="Times New Roman"/>
              <a:buAutoNum type="arabicPeriod" startAt="5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Improved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Quality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Frequent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strong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quality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assurance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practices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result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usability,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10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6585" cy="7235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7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2: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Problem</a:t>
            </a:r>
            <a:r>
              <a:rPr sz="1600" b="1" spc="-5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Definition</a:t>
            </a:r>
            <a:endParaRPr sz="16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600"/>
              </a:lnSpc>
              <a:spcBef>
                <a:spcPts val="1645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 discuss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 "Auction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 AI-</a:t>
            </a:r>
            <a:r>
              <a:rPr sz="1200" spc="-10" dirty="0">
                <a:latin typeface="Times New Roman"/>
                <a:cs typeface="Times New Roman"/>
              </a:rPr>
              <a:t>Powered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Platform,"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address.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primary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lies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limitations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suffer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inefficiencies,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vulnerabilities.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frequently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fail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delays,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manipulation,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unfair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environment.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fraudulent 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AI-driven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validation,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outdated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create </a:t>
            </a:r>
            <a:r>
              <a:rPr sz="1200" dirty="0">
                <a:latin typeface="Times New Roman"/>
                <a:cs typeface="Times New Roman"/>
              </a:rPr>
              <a:t>risks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sellers.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undermine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3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discouraging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broader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participation.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Another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scalability—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struggle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traffic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peak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times,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causing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lags,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crashes. Furthermore,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 engagement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10" dirty="0">
                <a:latin typeface="Times New Roman"/>
                <a:cs typeface="Times New Roman"/>
              </a:rPr>
              <a:t> personalized 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recommendations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geofencing-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notifications,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reducing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participation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efficiency.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focus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developing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synchronization,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</a:t>
            </a:r>
            <a:r>
              <a:rPr sz="1200" dirty="0">
                <a:latin typeface="Times New Roman"/>
                <a:cs typeface="Times New Roman"/>
              </a:rPr>
              <a:t>detection,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recommendations.</a:t>
            </a:r>
            <a:r>
              <a:rPr sz="1200" dirty="0">
                <a:latin typeface="Times New Roman"/>
                <a:cs typeface="Times New Roman"/>
              </a:rPr>
              <a:t> By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gaps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transparency, speed,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empower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 </a:t>
            </a:r>
            <a:r>
              <a:rPr sz="1200" dirty="0">
                <a:latin typeface="Times New Roman"/>
                <a:cs typeface="Times New Roman"/>
              </a:rPr>
              <a:t>trustworthy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ultimately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optimizing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limitations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conventional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lays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 </a:t>
            </a:r>
            <a:r>
              <a:rPr sz="1200" dirty="0">
                <a:latin typeface="Times New Roman"/>
                <a:cs typeface="Times New Roman"/>
              </a:rPr>
              <a:t>exploration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domain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transformative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AI-driven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solutions.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11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9761"/>
            <a:ext cx="5696585" cy="80657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8765" lvl="1" indent="-266065">
              <a:lnSpc>
                <a:spcPct val="100000"/>
              </a:lnSpc>
              <a:spcBef>
                <a:spcPts val="100"/>
              </a:spcBef>
              <a:buSzPct val="85714"/>
              <a:buAutoNum type="arabicPeriod"/>
              <a:tabLst>
                <a:tab pos="278765" algn="l"/>
              </a:tabLst>
            </a:pPr>
            <a:r>
              <a:rPr sz="1400" b="1" dirty="0">
                <a:latin typeface="Times New Roman"/>
                <a:cs typeface="Times New Roman"/>
              </a:rPr>
              <a:t>Problem</a:t>
            </a:r>
            <a:r>
              <a:rPr sz="1400" b="1" spc="-8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Statement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135"/>
              </a:spcBef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8255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competition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transactions.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However,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suffer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manipulation,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delayed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vulnerabilities,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risks,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exacerbated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scalability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outdated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hinder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experiences.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limitations,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primary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goal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real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synchronization,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 prediction,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cutting-</a:t>
            </a: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environment.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overcoming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inefficiencies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conventional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methods,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aims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revolutionize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providing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reliable,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fraud- </a:t>
            </a:r>
            <a:r>
              <a:rPr sz="1200" dirty="0">
                <a:latin typeface="Times New Roman"/>
                <a:cs typeface="Times New Roman"/>
              </a:rPr>
              <a:t>resistant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6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 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streamlined,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technology-</a:t>
            </a:r>
            <a:r>
              <a:rPr sz="1200" dirty="0">
                <a:latin typeface="Times New Roman"/>
                <a:cs typeface="Times New Roman"/>
              </a:rPr>
              <a:t>driven auction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prevents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participation.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implementing</a:t>
            </a:r>
            <a:r>
              <a:rPr sz="1200" spc="-10" dirty="0">
                <a:latin typeface="Times New Roman"/>
                <a:cs typeface="Times New Roman"/>
              </a:rPr>
              <a:t> personalized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0" dirty="0">
                <a:latin typeface="Times New Roman"/>
                <a:cs typeface="Times New Roman"/>
              </a:rPr>
              <a:t> engagement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geofencing-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0" dirty="0">
                <a:latin typeface="Times New Roman"/>
                <a:cs typeface="Times New Roman"/>
              </a:rPr>
              <a:t> notifications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recommendations,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increase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boost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confidence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innovation,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aspires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industry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benchmark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digital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transforming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bought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era.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endParaRPr sz="1200">
              <a:latin typeface="Times New Roman"/>
              <a:cs typeface="Times New Roman"/>
            </a:endParaRPr>
          </a:p>
          <a:p>
            <a:pPr marL="366395" lvl="1" indent="-353695">
              <a:lnSpc>
                <a:spcPct val="100000"/>
              </a:lnSpc>
              <a:buAutoNum type="arabicPeriod" startAt="2"/>
              <a:tabLst>
                <a:tab pos="366395" algn="l"/>
              </a:tabLst>
            </a:pPr>
            <a:r>
              <a:rPr sz="1600" b="1" dirty="0">
                <a:latin typeface="Times New Roman"/>
                <a:cs typeface="Times New Roman"/>
              </a:rPr>
              <a:t>Deliverables</a:t>
            </a:r>
            <a:r>
              <a:rPr sz="1600" b="1" spc="-5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and</a:t>
            </a:r>
            <a:r>
              <a:rPr sz="1600" b="1" spc="-6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Development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Requirements</a:t>
            </a:r>
            <a:endParaRPr sz="1600">
              <a:latin typeface="Times New Roman"/>
              <a:cs typeface="Times New Roman"/>
            </a:endParaRPr>
          </a:p>
          <a:p>
            <a:pPr marL="468630" lvl="2" indent="-227965" algn="just">
              <a:lnSpc>
                <a:spcPct val="100000"/>
              </a:lnSpc>
              <a:spcBef>
                <a:spcPts val="1555"/>
              </a:spcBef>
              <a:buFont typeface="Symbol"/>
              <a:buChar char=""/>
              <a:tabLst>
                <a:tab pos="46863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Deliverables</a:t>
            </a:r>
            <a:endParaRPr sz="1200">
              <a:latin typeface="Times New Roman"/>
              <a:cs typeface="Times New Roman"/>
            </a:endParaRPr>
          </a:p>
          <a:p>
            <a:pPr marL="12700" marR="8255" algn="just">
              <a:lnSpc>
                <a:spcPct val="143600"/>
              </a:lnSpc>
              <a:spcBef>
                <a:spcPts val="715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context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AI-Powered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Platform," </a:t>
            </a:r>
            <a:r>
              <a:rPr sz="1200" dirty="0">
                <a:latin typeface="Times New Roman"/>
                <a:cs typeface="Times New Roman"/>
              </a:rPr>
              <a:t>deliverables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tangible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 </a:t>
            </a:r>
            <a:r>
              <a:rPr sz="1200" dirty="0">
                <a:latin typeface="Times New Roman"/>
                <a:cs typeface="Times New Roman"/>
              </a:rPr>
              <a:t>phases.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deliverables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measurable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indicators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progress,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guiding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 </a:t>
            </a:r>
            <a:r>
              <a:rPr sz="1200" dirty="0">
                <a:latin typeface="Times New Roman"/>
                <a:cs typeface="Times New Roman"/>
              </a:rPr>
              <a:t>toward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objectives.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315" cy="7802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deliverables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ct val="144200"/>
              </a:lnSpc>
              <a:buAutoNum type="arabicPeriod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Real-Time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deploy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real-time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WebSocket-based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ts val="2080"/>
              </a:lnSpc>
              <a:spcBef>
                <a:spcPts val="160"/>
              </a:spcBef>
              <a:buAutoNum type="arabicPeriod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Model: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analyze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recommendations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properties.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445"/>
              </a:spcBef>
              <a:buAutoNum type="arabicPeriod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Mechanism: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AI-based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anomaly</a:t>
            </a:r>
            <a:endParaRPr sz="1200">
              <a:latin typeface="Times New Roman"/>
              <a:cs typeface="Times New Roman"/>
            </a:endParaRPr>
          </a:p>
          <a:p>
            <a:pPr marL="469265">
              <a:lnSpc>
                <a:spcPct val="100000"/>
              </a:lnSpc>
              <a:spcBef>
                <a:spcPts val="635"/>
              </a:spcBef>
            </a:pP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manipulations.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ts val="2080"/>
              </a:lnSpc>
              <a:spcBef>
                <a:spcPts val="160"/>
              </a:spcBef>
              <a:buAutoNum type="arabicPeriod" startAt="4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Platform: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web-based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location.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445"/>
              </a:spcBef>
              <a:buAutoNum type="arabicPeriod" startAt="4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Design: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Create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responsive,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intuitive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tailored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different 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roles,</a:t>
            </a:r>
            <a:endParaRPr sz="1200">
              <a:latin typeface="Times New Roman"/>
              <a:cs typeface="Times New Roman"/>
            </a:endParaRPr>
          </a:p>
          <a:p>
            <a:pPr marL="469265">
              <a:lnSpc>
                <a:spcPct val="100000"/>
              </a:lnSpc>
              <a:spcBef>
                <a:spcPts val="640"/>
              </a:spcBef>
            </a:pP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ct val="143300"/>
              </a:lnSpc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Infrastructure: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MongoDB-based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store property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profiles,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integrity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>
              <a:lnSpc>
                <a:spcPct val="143300"/>
              </a:lnSpc>
              <a:spcBef>
                <a:spcPts val="10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Reports: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performance,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compliance.</a:t>
            </a:r>
            <a:endParaRPr sz="1200">
              <a:latin typeface="Times New Roman"/>
              <a:cs typeface="Times New Roman"/>
            </a:endParaRPr>
          </a:p>
          <a:p>
            <a:pPr marL="469265" marR="5715" indent="-228600">
              <a:lnSpc>
                <a:spcPct val="143500"/>
              </a:lnSpc>
              <a:spcBef>
                <a:spcPts val="10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Resources: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FAQs,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tutorials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12700" marR="8255" algn="just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enhance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efficiency,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7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ct val="100000"/>
              </a:lnSpc>
              <a:buFont typeface="Symbol"/>
              <a:buChar char=""/>
              <a:tabLst>
                <a:tab pos="469265" algn="l"/>
              </a:tabLst>
            </a:pPr>
            <a:r>
              <a:rPr sz="1400" b="1" dirty="0">
                <a:latin typeface="Times New Roman"/>
                <a:cs typeface="Times New Roman"/>
              </a:rPr>
              <a:t>Development</a:t>
            </a:r>
            <a:r>
              <a:rPr sz="1400" b="1" spc="-6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Requirements</a:t>
            </a:r>
            <a:endParaRPr sz="1400">
              <a:latin typeface="Times New Roman"/>
              <a:cs typeface="Times New Roman"/>
            </a:endParaRPr>
          </a:p>
          <a:p>
            <a:pPr marL="12700" marR="7620" algn="just">
              <a:lnSpc>
                <a:spcPct val="143400"/>
              </a:lnSpc>
              <a:spcBef>
                <a:spcPts val="71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specifications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constraints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Abode"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715" indent="-228600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Performance: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instantaneous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speed,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13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5950" cy="5197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marR="8255" indent="-228600" algn="just">
              <a:lnSpc>
                <a:spcPct val="143300"/>
              </a:lnSpc>
              <a:spcBef>
                <a:spcPts val="100"/>
              </a:spcBef>
              <a:buAutoNum type="arabicPeriod" startAt="2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Estimation: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decision-making.</a:t>
            </a:r>
            <a:endParaRPr sz="1200">
              <a:latin typeface="Times New Roman"/>
              <a:cs typeface="Times New Roman"/>
            </a:endParaRPr>
          </a:p>
          <a:p>
            <a:pPr marL="469265" marR="9525" indent="-228600" algn="just">
              <a:lnSpc>
                <a:spcPct val="143700"/>
              </a:lnSpc>
              <a:spcBef>
                <a:spcPts val="5"/>
              </a:spcBef>
              <a:buAutoNum type="arabicPeriod" startAt="2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Reliability: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volumes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concurrent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peak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times.</a:t>
            </a:r>
            <a:endParaRPr sz="1200">
              <a:latin typeface="Times New Roman"/>
              <a:cs typeface="Times New Roman"/>
            </a:endParaRPr>
          </a:p>
          <a:p>
            <a:pPr marL="469265" marR="10795" indent="-228600" algn="just">
              <a:lnSpc>
                <a:spcPts val="2080"/>
              </a:lnSpc>
              <a:spcBef>
                <a:spcPts val="160"/>
              </a:spcBef>
              <a:buAutoNum type="arabicPeriod" startAt="2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Privacy: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Utilize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encryption,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access </a:t>
            </a:r>
            <a:r>
              <a:rPr sz="1200" dirty="0">
                <a:latin typeface="Times New Roman"/>
                <a:cs typeface="Times New Roman"/>
              </a:rPr>
              <a:t>controls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safeguard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against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cyber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threats.</a:t>
            </a:r>
            <a:endParaRPr sz="1200">
              <a:latin typeface="Times New Roman"/>
              <a:cs typeface="Times New Roman"/>
            </a:endParaRPr>
          </a:p>
          <a:p>
            <a:pPr marL="469265" indent="-228600" algn="just">
              <a:lnSpc>
                <a:spcPct val="100000"/>
              </a:lnSpc>
              <a:spcBef>
                <a:spcPts val="445"/>
              </a:spcBef>
              <a:buAutoNum type="arabicPeriod" startAt="2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Prevention: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</a:t>
            </a:r>
            <a:endParaRPr sz="1200">
              <a:latin typeface="Times New Roman"/>
              <a:cs typeface="Times New Roman"/>
            </a:endParaRPr>
          </a:p>
          <a:p>
            <a:pPr marL="469265" marR="8890" algn="just">
              <a:lnSpc>
                <a:spcPct val="143300"/>
              </a:lnSpc>
              <a:spcBef>
                <a:spcPts val="15"/>
              </a:spcBef>
            </a:pPr>
            <a:r>
              <a:rPr sz="1200" dirty="0">
                <a:latin typeface="Times New Roman"/>
                <a:cs typeface="Times New Roman"/>
              </a:rPr>
              <a:t>validate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minimizing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unauthorized transactions.</a:t>
            </a:r>
            <a:endParaRPr sz="1200">
              <a:latin typeface="Times New Roman"/>
              <a:cs typeface="Times New Roman"/>
            </a:endParaRPr>
          </a:p>
          <a:p>
            <a:pPr marL="469265" marR="10795" indent="-228600">
              <a:lnSpc>
                <a:spcPct val="143300"/>
              </a:lnSpc>
              <a:spcBef>
                <a:spcPts val="15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Experience: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UI/UX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simple,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accessible, </a:t>
            </a:r>
            <a:r>
              <a:rPr sz="1200" dirty="0">
                <a:latin typeface="Times New Roman"/>
                <a:cs typeface="Times New Roman"/>
              </a:rPr>
              <a:t>making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ct val="143300"/>
              </a:lnSpc>
              <a:spcBef>
                <a:spcPts val="10"/>
              </a:spcBef>
              <a:buAutoNum type="arabicPeriod" startAt="6"/>
              <a:tabLst>
                <a:tab pos="469265" algn="l"/>
                <a:tab pos="1299845" algn="l"/>
                <a:tab pos="1944370" algn="l"/>
                <a:tab pos="2935605" algn="l"/>
                <a:tab pos="3749040" algn="l"/>
                <a:tab pos="4978400" algn="l"/>
                <a:tab pos="5461000" algn="l"/>
              </a:tabLst>
            </a:pPr>
            <a:r>
              <a:rPr sz="1200" spc="-10" dirty="0">
                <a:latin typeface="Times New Roman"/>
                <a:cs typeface="Times New Roman"/>
              </a:rPr>
              <a:t>Automated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Notifications: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Implement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geofencing-based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alerts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personalized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keeping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ct val="143300"/>
              </a:lnSpc>
              <a:spcBef>
                <a:spcPts val="15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Regulatory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Compliance: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adherence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laws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ethical </a:t>
            </a:r>
            <a:r>
              <a:rPr sz="1200" dirty="0">
                <a:latin typeface="Times New Roman"/>
                <a:cs typeface="Times New Roman"/>
              </a:rPr>
              <a:t>standards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trustworthy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guarantees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secure, scalable,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online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experience,</a:t>
            </a:r>
            <a:r>
              <a:rPr sz="12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transforming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landscape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transparency.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14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7220" cy="7235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3:</a:t>
            </a:r>
            <a:r>
              <a:rPr sz="1600" b="1" spc="-10" dirty="0">
                <a:latin typeface="Times New Roman"/>
                <a:cs typeface="Times New Roman"/>
              </a:rPr>
              <a:t> Requirement</a:t>
            </a:r>
            <a:r>
              <a:rPr sz="1600" b="1" spc="-9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Analysis</a:t>
            </a:r>
            <a:endParaRPr sz="16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chapter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delves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b="1" spc="-10" dirty="0">
                <a:latin typeface="Times New Roman"/>
                <a:cs typeface="Times New Roman"/>
              </a:rPr>
              <a:t>,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"Auction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Platform."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Software Requirements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(SRS)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defining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functionalities,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specifications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platform’s </a:t>
            </a:r>
            <a:r>
              <a:rPr sz="1200" dirty="0">
                <a:latin typeface="Times New Roman"/>
                <a:cs typeface="Times New Roman"/>
              </a:rPr>
              <a:t>successful development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 implementation. By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detailing the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 scope, user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constraints,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SRS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roadmap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subsequent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project.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importance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gathering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shaping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project’s direction.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analysis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engagement,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team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clear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expectations,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demands,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concerns</a:t>
            </a:r>
            <a:r>
              <a:rPr sz="1200" b="1" spc="-10" dirty="0">
                <a:latin typeface="Times New Roman"/>
                <a:cs typeface="Times New Roman"/>
              </a:rPr>
              <a:t>. </a:t>
            </a:r>
            <a:r>
              <a:rPr sz="1200" dirty="0">
                <a:latin typeface="Times New Roman"/>
                <a:cs typeface="Times New Roman"/>
              </a:rPr>
              <a:t>This systematic approach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facilitates the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identification of key use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 form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basis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6350" indent="-228600" algn="just">
              <a:lnSpc>
                <a:spcPct val="1433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Functional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Requirements: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Defining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capabilities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bidding, 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ct val="14370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Non-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Requirements: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including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reliability,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low-latency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10" dirty="0">
                <a:latin typeface="Times New Roman"/>
                <a:cs typeface="Times New Roman"/>
              </a:rPr>
              <a:t> security standards.</a:t>
            </a:r>
            <a:endParaRPr sz="1200">
              <a:latin typeface="Times New Roman"/>
              <a:cs typeface="Times New Roman"/>
            </a:endParaRPr>
          </a:p>
          <a:p>
            <a:pPr marL="469265" marR="6350" indent="-228600" algn="just">
              <a:lnSpc>
                <a:spcPts val="2080"/>
              </a:lnSpc>
              <a:spcBef>
                <a:spcPts val="16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Requirements: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administrators,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accessible,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efficient.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thoroughly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solid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designing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robust,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aligned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with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business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objectives.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9761"/>
            <a:ext cx="5696585" cy="8114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3.1.</a:t>
            </a:r>
            <a:r>
              <a:rPr sz="1400" b="1" spc="-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Functional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Requirements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143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meet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objectives: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Collection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Analysis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6350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Collection</a:t>
            </a:r>
            <a:r>
              <a:rPr sz="1200" spc="-10" dirty="0">
                <a:latin typeface="Times New Roman"/>
                <a:cs typeface="Times New Roman"/>
              </a:rPr>
              <a:t>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histories,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profiles,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trends.</a:t>
            </a:r>
            <a:endParaRPr sz="1200">
              <a:latin typeface="Times New Roman"/>
              <a:cs typeface="Times New Roman"/>
            </a:endParaRPr>
          </a:p>
          <a:p>
            <a:pPr marL="469265" marR="10795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1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Analysis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predict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activities,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strategies.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Listing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10795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User-</a:t>
            </a:r>
            <a:r>
              <a:rPr sz="1200" b="1" dirty="0">
                <a:latin typeface="Times New Roman"/>
                <a:cs typeface="Times New Roman"/>
              </a:rPr>
              <a:t>Friendly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Interface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properties,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activity.</a:t>
            </a:r>
            <a:endParaRPr sz="1200">
              <a:latin typeface="Times New Roman"/>
              <a:cs typeface="Times New Roman"/>
            </a:endParaRPr>
          </a:p>
          <a:p>
            <a:pPr marL="469265" marR="5080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Validation</a:t>
            </a:r>
            <a:r>
              <a:rPr sz="1200" b="1" spc="5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5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Storage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Uploaded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detection.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securely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MongoDB database.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Authentication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 marL="469265" marR="8255" lvl="1" indent="-228600" algn="just">
              <a:lnSpc>
                <a:spcPts val="1380"/>
              </a:lnSpc>
              <a:spcBef>
                <a:spcPts val="7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Authentication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JWT-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two-</a:t>
            </a:r>
            <a:r>
              <a:rPr sz="1200" dirty="0">
                <a:latin typeface="Times New Roman"/>
                <a:cs typeface="Times New Roman"/>
              </a:rPr>
              <a:t>factor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(2FA)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participation.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Interface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(UI)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Features</a:t>
            </a:r>
            <a:r>
              <a:rPr sz="1200" spc="-10" dirty="0">
                <a:latin typeface="Times New Roman"/>
                <a:cs typeface="Times New Roman"/>
              </a:rPr>
              <a:t>: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38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easy-to-</a:t>
            </a:r>
            <a:r>
              <a:rPr sz="1200" dirty="0">
                <a:latin typeface="Times New Roman"/>
                <a:cs typeface="Times New Roman"/>
              </a:rPr>
              <a:t>navigate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used.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41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trends.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Feedback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Information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Input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11430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submit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descriptions,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interactive forms.</a:t>
            </a:r>
            <a:endParaRPr sz="1200">
              <a:latin typeface="Times New Roman"/>
              <a:cs typeface="Times New Roman"/>
            </a:endParaRPr>
          </a:p>
          <a:p>
            <a:pPr marL="469265" marR="10795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suspicious activity.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0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Powered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Pricing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Models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competitive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starting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prices.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irregular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patterns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indicating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Feedback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Interaction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2775" cy="407987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469265" marR="7620" indent="-228600">
              <a:lnSpc>
                <a:spcPts val="1380"/>
              </a:lnSpc>
              <a:spcBef>
                <a:spcPts val="19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share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pricing,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fairness,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usability.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45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predictions.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 startAt="8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Admin </a:t>
            </a:r>
            <a:r>
              <a:rPr sz="1200" b="1" spc="-10" dirty="0">
                <a:latin typeface="Times New Roman"/>
                <a:cs typeface="Times New Roman"/>
              </a:rPr>
              <a:t>Functionality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Times New Roman"/>
              <a:buAutoNum type="arabicPeriod" startAt="8"/>
            </a:pP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approve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security.</a:t>
            </a:r>
            <a:endParaRPr sz="1200">
              <a:latin typeface="Times New Roman"/>
              <a:cs typeface="Times New Roman"/>
            </a:endParaRPr>
          </a:p>
          <a:p>
            <a:pPr marL="469265" marR="7620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modify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rules,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legal compliance.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 startAt="8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Notification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System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sent</a:t>
            </a:r>
            <a:r>
              <a:rPr sz="1200" spc="-20" dirty="0">
                <a:latin typeface="Times New Roman"/>
                <a:cs typeface="Times New Roman"/>
              </a:rPr>
              <a:t> for: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38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categories.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38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changes.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41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warnings.</a:t>
            </a:r>
            <a:endParaRPr sz="1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1335"/>
              </a:spcBef>
              <a:buAutoNum type="arabicPeriod" startAt="8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Progress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Tracking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Reporting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history.</a:t>
            </a:r>
            <a:endParaRPr sz="1200">
              <a:latin typeface="Times New Roman"/>
              <a:cs typeface="Times New Roman"/>
            </a:endParaRPr>
          </a:p>
          <a:p>
            <a:pPr marL="469265" marR="6985" lvl="1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generate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reports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activity,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spc="-10" dirty="0">
                <a:latin typeface="Times New Roman"/>
                <a:cs typeface="Times New Roman"/>
              </a:rPr>
              <a:t>stakeholders.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466969"/>
            <a:ext cx="5695950" cy="35877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latin typeface="Times New Roman"/>
                <a:cs typeface="Times New Roman"/>
              </a:rPr>
              <a:t>3.2.</a:t>
            </a:r>
            <a:r>
              <a:rPr sz="14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Non-</a:t>
            </a:r>
            <a:r>
              <a:rPr sz="1200" b="1" dirty="0">
                <a:latin typeface="Times New Roman"/>
                <a:cs typeface="Times New Roman"/>
              </a:rPr>
              <a:t>Functional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Requirements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795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non-functional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overall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compliance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5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Usability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roles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(buyers,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sellers, admins).</a:t>
            </a:r>
            <a:endParaRPr sz="1200">
              <a:latin typeface="Times New Roman"/>
              <a:cs typeface="Times New Roman"/>
            </a:endParaRPr>
          </a:p>
          <a:p>
            <a:pPr marL="469265" marR="5715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Navigation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clear,</a:t>
            </a:r>
            <a:r>
              <a:rPr sz="1200" spc="4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tooltips,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step-by-</a:t>
            </a:r>
            <a:r>
              <a:rPr sz="1200" dirty="0">
                <a:latin typeface="Times New Roman"/>
                <a:cs typeface="Times New Roman"/>
              </a:rPr>
              <a:t>step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workflows,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guided instructions.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Reliability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availability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downtime.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happen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30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Performance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ct val="10000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large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numbers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concurrent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4045" cy="443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228600">
              <a:lnSpc>
                <a:spcPct val="100000"/>
              </a:lnSpc>
              <a:spcBef>
                <a:spcPts val="10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milliseconds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accuracy.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 startAt="4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Supportability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Built-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recovery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assist 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issues.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resources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FAQs,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tutorials,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should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available.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 startAt="4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Constraints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financial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regulations.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should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upgrades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major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redesign.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35"/>
              </a:spcBef>
              <a:buAutoNum type="arabicPeriod" startAt="4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Licensing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Requirements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4"/>
            </a:pP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third-</a:t>
            </a:r>
            <a:r>
              <a:rPr sz="1200" dirty="0">
                <a:latin typeface="Times New Roman"/>
                <a:cs typeface="Times New Roman"/>
              </a:rPr>
              <a:t>party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cloud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licenses,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properly </a:t>
            </a:r>
            <a:r>
              <a:rPr sz="1200" dirty="0">
                <a:latin typeface="Times New Roman"/>
                <a:cs typeface="Times New Roman"/>
              </a:rPr>
              <a:t>documented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maintained.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5"/>
              </a:spcBef>
              <a:buAutoNum type="arabicPeriod" startAt="4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Privacy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Security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(AES-</a:t>
            </a:r>
            <a:r>
              <a:rPr sz="1200" dirty="0">
                <a:latin typeface="Times New Roman"/>
                <a:cs typeface="Times New Roman"/>
              </a:rPr>
              <a:t>256)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rest.</a:t>
            </a:r>
            <a:endParaRPr sz="1200">
              <a:latin typeface="Times New Roman"/>
              <a:cs typeface="Times New Roman"/>
            </a:endParaRPr>
          </a:p>
          <a:p>
            <a:pPr marL="469265" marR="8255" lvl="1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(RBAC)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unauthorized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sensitive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8255">
              <a:lnSpc>
                <a:spcPts val="138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 building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legally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long-</a:t>
            </a:r>
            <a:r>
              <a:rPr sz="1200" dirty="0">
                <a:latin typeface="Times New Roman"/>
                <a:cs typeface="Times New Roman"/>
              </a:rPr>
              <a:t>term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trust.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828157"/>
            <a:ext cx="5695950" cy="2784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 startAt="3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Model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45"/>
              </a:spcBef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12700" marR="1143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(actors)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It </a:t>
            </a:r>
            <a:r>
              <a:rPr sz="1200" spc="-10" dirty="0">
                <a:latin typeface="Times New Roman"/>
                <a:cs typeface="Times New Roman"/>
              </a:rPr>
              <a:t>includes: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0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(e.g.,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admin)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placement,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0" dirty="0">
                <a:latin typeface="Times New Roman"/>
                <a:cs typeface="Times New Roman"/>
              </a:rPr>
              <a:t> listing,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submission.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1200">
              <a:latin typeface="Times New Roman"/>
              <a:cs typeface="Times New Roman"/>
            </a:endParaRPr>
          </a:p>
          <a:p>
            <a:pPr marL="355600" lvl="2" indent="-342900">
              <a:lnSpc>
                <a:spcPct val="100000"/>
              </a:lnSpc>
              <a:buAutoNum type="arabicPeriod"/>
              <a:tabLst>
                <a:tab pos="355600" algn="l"/>
              </a:tabLst>
            </a:pP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Use</a:t>
            </a:r>
            <a:r>
              <a:rPr sz="1200" spc="-2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Case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(users)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6071996"/>
            <a:ext cx="5696585" cy="2404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365F91"/>
                </a:solidFill>
                <a:latin typeface="Times New Roman"/>
                <a:cs typeface="Times New Roman"/>
              </a:rPr>
              <a:t>Diagram</a:t>
            </a:r>
            <a:r>
              <a:rPr sz="1200" spc="-60" dirty="0">
                <a:solidFill>
                  <a:srgbClr val="365F91"/>
                </a:solidFill>
                <a:latin typeface="Times New Roman"/>
                <a:cs typeface="Times New Roman"/>
              </a:rPr>
              <a:t> </a:t>
            </a:r>
            <a:r>
              <a:rPr sz="1200" spc="-10" dirty="0">
                <a:solidFill>
                  <a:srgbClr val="365F91"/>
                </a:solidFill>
                <a:latin typeface="Times New Roman"/>
                <a:cs typeface="Times New Roman"/>
              </a:rPr>
              <a:t>Explanation: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Actors: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(Buyers,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Admin).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ct val="1433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Cases:</a:t>
            </a:r>
            <a:r>
              <a:rPr sz="1200" b="1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Registration,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Reallocation.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Relationships:</a:t>
            </a:r>
            <a:endParaRPr sz="1200">
              <a:latin typeface="Times New Roman"/>
              <a:cs typeface="Times New Roman"/>
            </a:endParaRPr>
          </a:p>
          <a:p>
            <a:pPr marL="926465" lvl="1" indent="-228600">
              <a:lnSpc>
                <a:spcPct val="100000"/>
              </a:lnSpc>
              <a:spcBef>
                <a:spcPts val="620"/>
              </a:spcBef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b="1" dirty="0">
                <a:latin typeface="Times New Roman"/>
                <a:cs typeface="Times New Roman"/>
              </a:rPr>
              <a:t>Direct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interaction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(solid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lines)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functionalities.</a:t>
            </a:r>
            <a:endParaRPr sz="1200">
              <a:latin typeface="Times New Roman"/>
              <a:cs typeface="Times New Roman"/>
            </a:endParaRPr>
          </a:p>
          <a:p>
            <a:pPr marL="926465" lvl="1" indent="-228600">
              <a:lnSpc>
                <a:spcPct val="100000"/>
              </a:lnSpc>
              <a:spcBef>
                <a:spcPts val="640"/>
              </a:spcBef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actions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(dashed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lines)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3.3.2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Actors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 Description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69280" cy="490537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19</a:t>
            </a:r>
          </a:p>
        </p:txBody>
      </p:sp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189024" y="914399"/>
          <a:ext cx="4227194" cy="19589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6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0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67945">
                        <a:lnSpc>
                          <a:spcPts val="133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Actor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30"/>
                        </a:lnSpc>
                      </a:pP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Role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3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Responsibilities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Buyer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Participates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9560" indent="-221615">
                        <a:lnSpc>
                          <a:spcPts val="1350"/>
                        </a:lnSpc>
                        <a:buChar char="-"/>
                        <a:tabLst>
                          <a:tab pos="289560" algn="l"/>
                          <a:tab pos="1000760" algn="l"/>
                          <a:tab pos="134810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Searches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properties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33679" indent="-165735">
                        <a:lnSpc>
                          <a:spcPts val="1380"/>
                        </a:lnSpc>
                        <a:buChar char="-"/>
                        <a:tabLst>
                          <a:tab pos="233679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Places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bids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real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time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384175" indent="-316230">
                        <a:lnSpc>
                          <a:spcPts val="1380"/>
                        </a:lnSpc>
                        <a:buChar char="-"/>
                        <a:tabLst>
                          <a:tab pos="384175" algn="l"/>
                          <a:tab pos="119761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Receives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notifications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6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Completes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payments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1495">
                <a:tc>
                  <a:txBody>
                    <a:bodyPr/>
                    <a:lstStyle/>
                    <a:p>
                      <a:pPr marL="67945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Seller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Lists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properties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sale.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20040" indent="-252095">
                        <a:lnSpc>
                          <a:spcPts val="1350"/>
                        </a:lnSpc>
                        <a:buChar char="-"/>
                        <a:tabLst>
                          <a:tab pos="320040" algn="l"/>
                          <a:tab pos="842644" algn="l"/>
                          <a:tab pos="1561465" algn="l"/>
                        </a:tabLst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Adds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details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506095" indent="-438150">
                        <a:lnSpc>
                          <a:spcPts val="1380"/>
                        </a:lnSpc>
                        <a:buChar char="-"/>
                        <a:tabLst>
                          <a:tab pos="506095" algn="l"/>
                          <a:tab pos="145224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Monitors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6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Manages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listings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2765">
                <a:tc>
                  <a:txBody>
                    <a:bodyPr/>
                    <a:lstStyle/>
                    <a:p>
                      <a:pPr marL="67945">
                        <a:lnSpc>
                          <a:spcPts val="139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Admin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9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Manages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6240" indent="-328295">
                        <a:lnSpc>
                          <a:spcPts val="1360"/>
                        </a:lnSpc>
                        <a:buChar char="-"/>
                        <a:tabLst>
                          <a:tab pos="396240" algn="l"/>
                          <a:tab pos="123126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Oversees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transactions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8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Verifies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authenticity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6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Handles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disputes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1176324" y="3189858"/>
            <a:ext cx="4466590" cy="650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3.3.3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Use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Case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Description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189024" y="4095622"/>
          <a:ext cx="5662928" cy="4981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4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3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235">
                <a:tc>
                  <a:txBody>
                    <a:bodyPr/>
                    <a:lstStyle/>
                    <a:p>
                      <a:pPr marL="67945" marR="61594">
                        <a:lnSpc>
                          <a:spcPts val="1380"/>
                        </a:lnSpc>
                        <a:tabLst>
                          <a:tab pos="671830" algn="l"/>
                        </a:tabLst>
                      </a:pP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Use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Case Name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Actors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Preconditions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80"/>
                        </a:lnSpc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Flow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Events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Postconditions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2650">
                <a:tc>
                  <a:txBody>
                    <a:bodyPr/>
                    <a:lstStyle/>
                    <a:p>
                      <a:pPr marL="67945" marR="17589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User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Registration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&amp;</a:t>
                      </a:r>
                      <a:r>
                        <a:rPr sz="1200" b="1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Login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20701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Seller, Admin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have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valid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email/credentials.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indent="303530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371475" algn="l"/>
                          <a:tab pos="846455" algn="l"/>
                        </a:tabLst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enters details.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59690" indent="176530">
                        <a:lnSpc>
                          <a:spcPts val="1380"/>
                        </a:lnSpc>
                        <a:buAutoNum type="arabicPeriod"/>
                        <a:tabLst>
                          <a:tab pos="2444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verifies credentials.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20345" indent="-152400">
                        <a:lnSpc>
                          <a:spcPts val="1295"/>
                        </a:lnSpc>
                        <a:buAutoNum type="arabicPeriod"/>
                        <a:tabLst>
                          <a:tab pos="22034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logs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3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can</a:t>
                      </a:r>
                      <a:r>
                        <a:rPr sz="1200" spc="3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access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2015">
                <a:tc>
                  <a:txBody>
                    <a:bodyPr/>
                    <a:lstStyle/>
                    <a:p>
                      <a:pPr marL="67945" marR="39624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Property Listing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Seller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663575" algn="l"/>
                          <a:tab pos="120269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Seller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be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logged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indent="214629" algn="just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82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Seller</a:t>
                      </a:r>
                      <a:r>
                        <a:rPr sz="1200" spc="4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uploads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42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details.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59690" indent="176530" algn="just">
                        <a:lnSpc>
                          <a:spcPts val="1380"/>
                        </a:lnSpc>
                        <a:buAutoNum type="arabicPeriod"/>
                        <a:tabLst>
                          <a:tab pos="2444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1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verifies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saves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the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listing.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1594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1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is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listed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7275">
                <a:tc>
                  <a:txBody>
                    <a:bodyPr/>
                    <a:lstStyle/>
                    <a:p>
                      <a:pPr marL="67945" marR="29337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Real-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Time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Bidding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18161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Seller, System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23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logged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in,</a:t>
                      </a:r>
                      <a:r>
                        <a:rPr sz="1200" spc="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must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active.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indent="184150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5209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Buyer</a:t>
                      </a:r>
                      <a:r>
                        <a:rPr sz="1200" spc="2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places</a:t>
                      </a:r>
                      <a:r>
                        <a:rPr sz="1200" spc="2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bid.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960" indent="188595">
                        <a:lnSpc>
                          <a:spcPts val="1380"/>
                        </a:lnSpc>
                        <a:buAutoNum type="arabicPeriod"/>
                        <a:tabLst>
                          <a:tab pos="256540" algn="l"/>
                          <a:tab pos="901700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updates</a:t>
                      </a:r>
                      <a:r>
                        <a:rPr sz="1200" spc="2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real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time.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325" indent="200660">
                        <a:lnSpc>
                          <a:spcPts val="1380"/>
                        </a:lnSpc>
                        <a:buAutoNum type="arabicPeriod"/>
                        <a:tabLst>
                          <a:tab pos="26860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Highest</a:t>
                      </a:r>
                      <a:r>
                        <a:rPr sz="1200" spc="3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3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displayed.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2865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10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updates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sz="1200" spc="2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2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latest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bid.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7910">
                <a:tc>
                  <a:txBody>
                    <a:bodyPr/>
                    <a:lstStyle/>
                    <a:p>
                      <a:pPr marL="67945">
                        <a:lnSpc>
                          <a:spcPts val="1355"/>
                        </a:lnSpc>
                      </a:pP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AI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>
                        <a:lnSpc>
                          <a:spcPts val="14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Verification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5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documents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uploaded.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indent="238760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30670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17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scans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documents.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2230" indent="205104">
                        <a:lnSpc>
                          <a:spcPts val="1380"/>
                        </a:lnSpc>
                        <a:buAutoNum type="arabicPeriod"/>
                        <a:tabLst>
                          <a:tab pos="273050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AI</a:t>
                      </a:r>
                      <a:r>
                        <a:rPr sz="1200" spc="4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checks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for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fraud.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325" indent="391795">
                        <a:lnSpc>
                          <a:spcPts val="1380"/>
                        </a:lnSpc>
                        <a:buAutoNum type="arabicPeriod"/>
                        <a:tabLst>
                          <a:tab pos="459740" algn="l"/>
                          <a:tab pos="110998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Status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updated.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03060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Property verification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completed.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14986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Notifications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&amp;</a:t>
                      </a:r>
                      <a:r>
                        <a:rPr sz="1200" b="1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Alerts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22034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Seller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42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be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subscribed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indent="193040" algn="just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6098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2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detects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</a:t>
                      </a:r>
                      <a:r>
                        <a:rPr sz="1200" spc="24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event</a:t>
                      </a:r>
                      <a:r>
                        <a:rPr sz="1200" spc="25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(bid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placed,</a:t>
                      </a:r>
                      <a:r>
                        <a:rPr sz="1200" spc="36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algn="just">
                        <a:lnSpc>
                          <a:spcPts val="129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start,</a:t>
                      </a:r>
                      <a:r>
                        <a:rPr sz="1200" spc="315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payment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286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2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receives</a:t>
                      </a:r>
                      <a:r>
                        <a:rPr sz="1200" spc="204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update.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20</a:t>
            </a:r>
          </a:p>
        </p:txBody>
      </p:sp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189024" y="914399"/>
          <a:ext cx="5662928" cy="23202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4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3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14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50"/>
                        </a:lnSpc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due).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960">
                        <a:lnSpc>
                          <a:spcPts val="1380"/>
                        </a:lnSpc>
                        <a:tabLst>
                          <a:tab pos="481330" algn="l"/>
                          <a:tab pos="1143635" algn="l"/>
                        </a:tabLst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2.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Sends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notification.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2015">
                <a:tc>
                  <a:txBody>
                    <a:bodyPr/>
                    <a:lstStyle/>
                    <a:p>
                      <a:pPr marL="67945" marR="28511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Payment Processing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18161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System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096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732155" algn="l"/>
                          <a:tab pos="120459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be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completed.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indent="174625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Buyer</a:t>
                      </a:r>
                      <a:r>
                        <a:rPr sz="1200" spc="1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selects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payment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method.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1594" indent="311150">
                        <a:lnSpc>
                          <a:spcPts val="1380"/>
                        </a:lnSpc>
                        <a:buAutoNum type="arabicPeriod"/>
                        <a:tabLst>
                          <a:tab pos="379095" algn="l"/>
                          <a:tab pos="110934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Payment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processed</a:t>
                      </a:r>
                      <a:r>
                        <a:rPr sz="1200" spc="5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securely.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03124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Transaction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completed.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19">
                <a:tc>
                  <a:txBody>
                    <a:bodyPr/>
                    <a:lstStyle/>
                    <a:p>
                      <a:pPr marL="67945" marR="16700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Bidder Reallocation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14351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System, Buyer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4135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92265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Original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winner withdraws.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indent="200660" algn="just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6860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3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selects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18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next</a:t>
                      </a:r>
                      <a:r>
                        <a:rPr sz="1200" spc="19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highest bidder.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960" indent="412750" algn="just">
                        <a:lnSpc>
                          <a:spcPts val="1380"/>
                        </a:lnSpc>
                        <a:buAutoNum type="arabicPeriod"/>
                        <a:tabLst>
                          <a:tab pos="48069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Sends</a:t>
                      </a:r>
                      <a:r>
                        <a:rPr sz="1200" spc="47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confirmation.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4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reassigned.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21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1455165"/>
            <a:ext cx="5696585" cy="5953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6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4:</a:t>
            </a:r>
            <a:r>
              <a:rPr sz="1600" b="1" spc="-1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Design</a:t>
            </a:r>
            <a:r>
              <a:rPr sz="1600" b="1" spc="-2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and</a:t>
            </a:r>
            <a:r>
              <a:rPr sz="1600" b="1" spc="-9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Architecture</a:t>
            </a:r>
            <a:endParaRPr sz="16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675"/>
              </a:spcBef>
            </a:pPr>
            <a:endParaRPr sz="16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explores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system, emphasizing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principles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decisions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vital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significance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thoughtful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considerations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meeting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objectives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efficiently.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spc="-10" dirty="0">
                <a:latin typeface="Times New Roman"/>
                <a:cs typeface="Times New Roman"/>
              </a:rPr>
              <a:t>conceptualizing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structure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blueprint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translating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project's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deeper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469265" algn="l"/>
              </a:tabLst>
            </a:pPr>
            <a:r>
              <a:rPr sz="1400" b="1" spc="-20" dirty="0">
                <a:latin typeface="Times New Roman"/>
                <a:cs typeface="Times New Roman"/>
              </a:rPr>
              <a:t>4.1.</a:t>
            </a:r>
            <a:r>
              <a:rPr sz="1400" b="1" dirty="0">
                <a:latin typeface="Times New Roman"/>
                <a:cs typeface="Times New Roman"/>
              </a:rPr>
              <a:t>	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Architecture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135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three-</a:t>
            </a:r>
            <a:r>
              <a:rPr sz="1200" dirty="0">
                <a:latin typeface="Times New Roman"/>
                <a:cs typeface="Times New Roman"/>
              </a:rPr>
              <a:t>tier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front-</a:t>
            </a:r>
            <a:r>
              <a:rPr sz="1200" dirty="0">
                <a:latin typeface="Times New Roman"/>
                <a:cs typeface="Times New Roman"/>
              </a:rPr>
              <a:t>end,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back-</a:t>
            </a:r>
            <a:r>
              <a:rPr sz="1200" spc="-20" dirty="0">
                <a:latin typeface="Times New Roman"/>
                <a:cs typeface="Times New Roman"/>
              </a:rPr>
              <a:t>end,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performance.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front- 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(React.js)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 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design, allowing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</a:t>
            </a:r>
            <a:r>
              <a:rPr sz="1200" spc="-10" dirty="0">
                <a:latin typeface="Times New Roman"/>
                <a:cs typeface="Times New Roman"/>
              </a:rPr>
              <a:t>browse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(Socket.io).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Redux </a:t>
            </a:r>
            <a:r>
              <a:rPr sz="1200" dirty="0">
                <a:latin typeface="Times New Roman"/>
                <a:cs typeface="Times New Roman"/>
              </a:rPr>
              <a:t>handles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flow.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back-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(Node.js,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Express.js)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acts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as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gateway,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handling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(JWT),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AI-based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processing.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(MongoDB)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transactions, </a:t>
            </a:r>
            <a:r>
              <a:rPr sz="1200" dirty="0">
                <a:latin typeface="Times New Roman"/>
                <a:cs typeface="Times New Roman"/>
              </a:rPr>
              <a:t>supporting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speed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queries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management.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spc="-10" dirty="0">
                <a:latin typeface="Times New Roman"/>
                <a:cs typeface="Times New Roman"/>
              </a:rPr>
              <a:t>three-</a:t>
            </a:r>
            <a:r>
              <a:rPr sz="1200" dirty="0">
                <a:latin typeface="Times New Roman"/>
                <a:cs typeface="Times New Roman"/>
              </a:rPr>
              <a:t>tier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080130" y="3462654"/>
            <a:ext cx="18872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Architecture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4468495"/>
            <a:ext cx="5696585" cy="34658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latin typeface="Times New Roman"/>
                <a:cs typeface="Times New Roman"/>
              </a:rPr>
              <a:t>4.2.</a:t>
            </a:r>
            <a:r>
              <a:rPr sz="1400" b="1" spc="375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System </a:t>
            </a:r>
            <a:r>
              <a:rPr sz="1200" b="1" spc="-10" dirty="0">
                <a:latin typeface="Times New Roman"/>
                <a:cs typeface="Times New Roman"/>
              </a:rPr>
              <a:t>Design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  <a:spcBef>
                <a:spcPts val="55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seamless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business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logic,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interface,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built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with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interactive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browse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accounts.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Redux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ensures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handling,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(Socket.io)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updates.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Node.js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Express.js,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gateway,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managing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4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(JWT),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transaction </a:t>
            </a:r>
            <a:r>
              <a:rPr sz="1200" dirty="0">
                <a:latin typeface="Times New Roman"/>
                <a:cs typeface="Times New Roman"/>
              </a:rPr>
              <a:t>processing.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external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gateways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(Stripe,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PayPal)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(Email/SMS)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layer,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MongoDB,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efficiently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stores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queries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synchronization.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structured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design </a:t>
            </a:r>
            <a:r>
              <a:rPr sz="1200" dirty="0">
                <a:latin typeface="Times New Roman"/>
                <a:cs typeface="Times New Roman"/>
              </a:rPr>
              <a:t>guarantees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high-performance,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experience.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69280" cy="230441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91285"/>
            <a:ext cx="5694680" cy="2607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065" lvl="2" indent="-380365" algn="just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/>
              <a:tabLst>
                <a:tab pos="393065" algn="l"/>
              </a:tabLst>
            </a:pP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Behavioral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15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UML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(Unified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Language)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behavioral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representation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interactions.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aspects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focusing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operation.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527050" lvl="3" indent="-456565" algn="just">
              <a:lnSpc>
                <a:spcPct val="100000"/>
              </a:lnSpc>
              <a:buFont typeface="Times New Roman"/>
              <a:buAutoNum type="arabicPeriod"/>
              <a:tabLst>
                <a:tab pos="527050" algn="l"/>
              </a:tabLst>
            </a:pP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  <a:spcBef>
                <a:spcPts val="595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offering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visual representation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-10" dirty="0">
                <a:latin typeface="Times New Roman"/>
                <a:cs typeface="Times New Roman"/>
              </a:rPr>
              <a:t> architecture.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showcases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collaborate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0" dirty="0">
                <a:latin typeface="Times New Roman"/>
                <a:cs typeface="Times New Roman"/>
              </a:rPr>
              <a:t> functionality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highlights</a:t>
            </a:r>
            <a:r>
              <a:rPr sz="1200" spc="-10" dirty="0">
                <a:latin typeface="Times New Roman"/>
                <a:cs typeface="Times New Roman"/>
              </a:rPr>
              <a:t> dependencies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10" dirty="0">
                <a:latin typeface="Times New Roman"/>
                <a:cs typeface="Times New Roman"/>
              </a:rPr>
              <a:t> them.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748909"/>
            <a:ext cx="5695950" cy="20059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4.2: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4.2.1.2.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4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visually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represents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level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Abode"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provides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clear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overview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subsystems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organized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interconnected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functionality.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3991355"/>
            <a:ext cx="5669280" cy="127141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4410583"/>
            <a:ext cx="5697220" cy="1903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4.3: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4.2.1.3.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600"/>
              </a:lnSpc>
              <a:spcBef>
                <a:spcPts val="61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</a:t>
            </a:r>
            <a:r>
              <a:rPr sz="1200" b="1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organizes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Abode"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into </a:t>
            </a:r>
            <a:r>
              <a:rPr sz="1200" dirty="0">
                <a:latin typeface="Times New Roman"/>
                <a:cs typeface="Times New Roman"/>
              </a:rPr>
              <a:t>logical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groupings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packages,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 </a:t>
            </a:r>
            <a:r>
              <a:rPr sz="1200" dirty="0">
                <a:latin typeface="Times New Roman"/>
                <a:cs typeface="Times New Roman"/>
              </a:rPr>
              <a:t>overview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dependencies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relationships,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aiding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better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management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complexity.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69280" cy="296989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7276338"/>
            <a:ext cx="5697220" cy="16408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4.4: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4.2.1.4.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9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1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</a:t>
            </a:r>
            <a:r>
              <a:rPr sz="1200" b="1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physical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17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Abode"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hardware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nodes.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system's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distributed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interconnected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infrastructure.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41443" cy="579115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12037"/>
            <a:ext cx="5690235" cy="5499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33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clarity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architecture, facilitating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7501890"/>
            <a:ext cx="5693410" cy="1479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4.5: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4.2.2.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Behavioral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Behavioral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Diagrams</a:t>
            </a:r>
            <a:r>
              <a:rPr sz="1200" b="1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 representation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</a:t>
            </a:r>
            <a:endParaRPr sz="12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620"/>
              </a:spcBef>
            </a:pP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Abode"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illustrate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among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components,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2194560"/>
            <a:ext cx="5622079" cy="4997611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12037"/>
            <a:ext cx="5694045" cy="2425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715">
              <a:lnSpc>
                <a:spcPct val="1433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entities,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showcasing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accomplished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8255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Behavioral diagrams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 functionality, message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passing, 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 </a:t>
            </a:r>
            <a:r>
              <a:rPr sz="1200" spc="-10" dirty="0">
                <a:latin typeface="Times New Roman"/>
                <a:cs typeface="Times New Roman"/>
              </a:rPr>
              <a:t>transitions, </a:t>
            </a:r>
            <a:r>
              <a:rPr sz="1200" dirty="0">
                <a:latin typeface="Times New Roman"/>
                <a:cs typeface="Times New Roman"/>
              </a:rPr>
              <a:t>aiding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4.2.2.1.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Activity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Diagrams: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44400"/>
              </a:lnSpc>
              <a:spcBef>
                <a:spcPts val="58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activities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illustrating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steps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required</a:t>
            </a:r>
            <a:r>
              <a:rPr sz="1200" spc="-25" dirty="0">
                <a:latin typeface="Times New Roman"/>
                <a:cs typeface="Times New Roman"/>
              </a:rPr>
              <a:t> to </a:t>
            </a:r>
            <a:r>
              <a:rPr sz="1200" dirty="0">
                <a:latin typeface="Times New Roman"/>
                <a:cs typeface="Times New Roman"/>
              </a:rPr>
              <a:t>accomplish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behavior.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182239" y="8498585"/>
            <a:ext cx="16840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4.6: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Activity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3729228"/>
            <a:ext cx="4639945" cy="426656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91285"/>
            <a:ext cx="5695950" cy="1072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4.2.2.2.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State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Machine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95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individual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objects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system, depicting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transitions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between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them.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representation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responds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stimuli,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understanding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behavior.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971926" y="8702750"/>
            <a:ext cx="21031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4.7: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State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Machine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2118360"/>
            <a:ext cx="5405120" cy="567219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91285"/>
            <a:ext cx="5697855" cy="2548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065" lvl="2" indent="-380365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 startAt="3"/>
              <a:tabLst>
                <a:tab pos="393065" algn="l"/>
              </a:tabLst>
            </a:pP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Interaction-diagrams</a:t>
            </a:r>
            <a:endParaRPr sz="1200">
              <a:latin typeface="Times New Roman"/>
              <a:cs typeface="Times New Roman"/>
            </a:endParaRPr>
          </a:p>
          <a:p>
            <a:pPr marL="12700" marR="10160">
              <a:lnSpc>
                <a:spcPct val="144200"/>
              </a:lnSpc>
              <a:spcBef>
                <a:spcPts val="585"/>
              </a:spcBef>
            </a:pPr>
            <a:r>
              <a:rPr sz="1200" dirty="0">
                <a:latin typeface="Times New Roman"/>
                <a:cs typeface="Times New Roman"/>
              </a:rPr>
              <a:t>UML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illustrate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behavior,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emphasizing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object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runtime.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chronologically.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5"/>
              </a:spcBef>
            </a:pPr>
            <a:endParaRPr sz="1200">
              <a:latin typeface="Times New Roman"/>
              <a:cs typeface="Times New Roman"/>
            </a:endParaRPr>
          </a:p>
          <a:p>
            <a:pPr marL="565150" lvl="3" indent="-494665">
              <a:lnSpc>
                <a:spcPct val="100000"/>
              </a:lnSpc>
              <a:buFont typeface="Times New Roman"/>
              <a:buAutoNum type="arabicPeriod"/>
              <a:tabLst>
                <a:tab pos="565150" algn="l"/>
              </a:tabLst>
            </a:pP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43300"/>
              </a:lnSpc>
              <a:spcBef>
                <a:spcPts val="615"/>
              </a:spcBef>
            </a:pP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UML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objects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depicting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679450" lvl="4" indent="-608965">
              <a:lnSpc>
                <a:spcPct val="100000"/>
              </a:lnSpc>
              <a:buFont typeface="Times New Roman"/>
              <a:buAutoNum type="arabicPeriod"/>
              <a:tabLst>
                <a:tab pos="679450" algn="l"/>
              </a:tabLst>
            </a:pP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7956042"/>
            <a:ext cx="4025900" cy="775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8148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4.8: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Register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4.2.3.1.2.</a:t>
            </a:r>
            <a:r>
              <a:rPr sz="1200" b="1" spc="2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Login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3931920"/>
            <a:ext cx="3823334" cy="354266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7384542"/>
            <a:ext cx="3921125" cy="775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889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4.9: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Login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4.2.3.1.3.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Activity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1253489"/>
            <a:ext cx="5669279" cy="497014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6236589"/>
            <a:ext cx="5694045" cy="198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4.10: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10" dirty="0">
                <a:latin typeface="Times New Roman"/>
                <a:cs typeface="Times New Roman"/>
              </a:rPr>
              <a:t> 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4.2.4.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 </a:t>
            </a:r>
            <a:r>
              <a:rPr sz="1200" b="1" spc="-10" dirty="0">
                <a:latin typeface="Times New Roman"/>
                <a:cs typeface="Times New Roman"/>
              </a:rPr>
              <a:t>Structure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Node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refers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arrangement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organization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or </a:t>
            </a:r>
            <a:r>
              <a:rPr sz="1200" spc="-10" dirty="0">
                <a:latin typeface="Times New Roman"/>
                <a:cs typeface="Times New Roman"/>
              </a:rPr>
              <a:t>hierarchical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defining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their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relationships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connectivity.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establishes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framework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network.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2792095" cy="518121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4326763"/>
            <a:ext cx="5695315" cy="171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4.11: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Structure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4.2.5.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Communication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Protocol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44200"/>
              </a:lnSpc>
            </a:pP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Protocol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exchanging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information.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defines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protocols, </a:t>
            </a:r>
            <a:r>
              <a:rPr sz="1200" dirty="0">
                <a:latin typeface="Times New Roman"/>
                <a:cs typeface="Times New Roman"/>
              </a:rPr>
              <a:t>formats,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procedures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1297305"/>
            <a:ext cx="5669280" cy="220852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648839" y="7966709"/>
            <a:ext cx="27463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4.12: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Communication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Protocol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6130736" cy="655616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1458214"/>
            <a:ext cx="13677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4.2.6.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Class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27958" y="8817050"/>
            <a:ext cx="15919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4.13: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Class</a:t>
            </a:r>
            <a:r>
              <a:rPr sz="1200" b="1" spc="-10" dirty="0">
                <a:latin typeface="Times New Roman"/>
                <a:cs typeface="Times New Roman"/>
              </a:rPr>
              <a:t> 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29411" y="2192184"/>
            <a:ext cx="3186626" cy="6456357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2821051" y="1325626"/>
            <a:ext cx="240220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5:</a:t>
            </a:r>
            <a:r>
              <a:rPr sz="1600" b="1" spc="-2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Implementation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2432050"/>
            <a:ext cx="5693410" cy="67125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Introduction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Implementation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3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6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implementation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translation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specifications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working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full-</a:t>
            </a:r>
            <a:r>
              <a:rPr sz="1200" dirty="0">
                <a:latin typeface="Times New Roman"/>
                <a:cs typeface="Times New Roman"/>
              </a:rPr>
              <a:t>stack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application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capabilities.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focus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suggestions,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prevention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carried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incrementally,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smoothly.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buAutoNum type="arabicPeriod" startAt="2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Development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Environment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tools: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UI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Node.js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Express.js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Database: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(NoSQL)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Python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Scikit-</a:t>
            </a:r>
            <a:r>
              <a:rPr sz="1200" dirty="0">
                <a:latin typeface="Times New Roman"/>
                <a:cs typeface="Times New Roman"/>
              </a:rPr>
              <a:t>learn,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Tesseract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OCR,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spaCy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Engine: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Socket.io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updates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Bcrypt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hashing,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encryption</a:t>
            </a:r>
            <a:endParaRPr sz="1200">
              <a:latin typeface="Times New Roman"/>
              <a:cs typeface="Times New Roman"/>
            </a:endParaRPr>
          </a:p>
          <a:p>
            <a:pPr marL="469265" marR="5080" lvl="2" indent="-228600">
              <a:lnSpc>
                <a:spcPct val="14330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Tools: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Netlify,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Render,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Atlas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environment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ensured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maintenance,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cycles.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65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buAutoNum type="arabicPeriod" startAt="3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Backend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Implementation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(Node.js,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Express.js)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creation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storage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7220" cy="750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228600">
              <a:lnSpc>
                <a:spcPct val="100000"/>
              </a:lnSpc>
              <a:spcBef>
                <a:spcPts val="10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Integration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checks)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Express.js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management.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Controllers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business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Mongoose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Middleware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JWT </a:t>
            </a:r>
            <a:r>
              <a:rPr sz="1200" dirty="0">
                <a:latin typeface="Times New Roman"/>
                <a:cs typeface="Times New Roman"/>
              </a:rPr>
              <a:t>token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5.4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Frontend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Implementation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(React.js)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5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reusable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routing.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Role-</a:t>
            </a:r>
            <a:r>
              <a:rPr sz="1200" spc="-10" dirty="0">
                <a:latin typeface="Times New Roman"/>
                <a:cs typeface="Times New Roman"/>
              </a:rPr>
              <a:t>based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(admin,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seller)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permitted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pages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interface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suggestion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review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Toast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modals,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feedback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42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Styling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done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Material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CSS.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Router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navigation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views.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5.5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(Socket.io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Integration)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Socket.io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bi-directional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clients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server: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join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room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When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placed,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broadcasts</a:t>
            </a:r>
            <a:r>
              <a:rPr sz="1200" spc="-25" dirty="0">
                <a:latin typeface="Times New Roman"/>
                <a:cs typeface="Times New Roman"/>
              </a:rPr>
              <a:t> it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instantly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42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fairness,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competition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—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4045" cy="7948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 startAt="6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AI </a:t>
            </a:r>
            <a:r>
              <a:rPr sz="1200" b="1" spc="-10" dirty="0">
                <a:latin typeface="Times New Roman"/>
                <a:cs typeface="Times New Roman"/>
              </a:rPr>
              <a:t>Modules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45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Two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10" dirty="0">
                <a:latin typeface="Times New Roman"/>
                <a:cs typeface="Times New Roman"/>
              </a:rPr>
              <a:t> decision-</a:t>
            </a:r>
            <a:r>
              <a:rPr sz="1200" dirty="0">
                <a:latin typeface="Times New Roman"/>
                <a:cs typeface="Times New Roman"/>
              </a:rPr>
              <a:t>making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trust: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355600" lvl="2" indent="-342900">
              <a:lnSpc>
                <a:spcPct val="100000"/>
              </a:lnSpc>
              <a:buAutoNum type="arabicPeriod"/>
              <a:tabLst>
                <a:tab pos="355600" algn="l"/>
              </a:tabLst>
            </a:pPr>
            <a:r>
              <a:rPr sz="1200" b="1" dirty="0">
                <a:latin typeface="Times New Roman"/>
                <a:cs typeface="Times New Roman"/>
              </a:rPr>
              <a:t>Price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Suggestion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Model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35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9525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engine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regression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(location,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area,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rates).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Scikit-</a:t>
            </a:r>
            <a:r>
              <a:rPr sz="1200" dirty="0">
                <a:latin typeface="Times New Roman"/>
                <a:cs typeface="Times New Roman"/>
              </a:rPr>
              <a:t>learn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Python: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Inputs: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location,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size,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type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Output: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starting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</a:t>
            </a:r>
            <a:endParaRPr sz="1200">
              <a:latin typeface="Times New Roman"/>
              <a:cs typeface="Times New Roman"/>
            </a:endParaRPr>
          </a:p>
          <a:p>
            <a:pPr marL="469265" marR="5080" lvl="3" indent="-228600">
              <a:lnSpc>
                <a:spcPts val="2080"/>
              </a:lnSpc>
              <a:spcBef>
                <a:spcPts val="16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consumed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Node.js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better.</a:t>
            </a:r>
            <a:endParaRPr sz="1200">
              <a:latin typeface="Times New Roman"/>
              <a:cs typeface="Times New Roman"/>
            </a:endParaRPr>
          </a:p>
          <a:p>
            <a:pPr lvl="3">
              <a:lnSpc>
                <a:spcPct val="100000"/>
              </a:lnSpc>
              <a:spcBef>
                <a:spcPts val="465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355600" lvl="2" indent="-342900">
              <a:lnSpc>
                <a:spcPct val="100000"/>
              </a:lnSpc>
              <a:buAutoNum type="arabicPeriod" startAt="2"/>
              <a:tabLst>
                <a:tab pos="355600" algn="l"/>
              </a:tabLst>
            </a:pP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Document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Verification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650"/>
              </a:spcBef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fake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uploaded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OCR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(Tesseract)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extracts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text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images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spaCy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parses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fields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(owner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name,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title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number)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Checks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altered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Flags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suspicious</a:t>
            </a:r>
            <a:endParaRPr sz="1200">
              <a:latin typeface="Times New Roman"/>
              <a:cs typeface="Times New Roman"/>
            </a:endParaRPr>
          </a:p>
          <a:p>
            <a:pPr lvl="3">
              <a:lnSpc>
                <a:spcPct val="100000"/>
              </a:lnSpc>
              <a:spcBef>
                <a:spcPts val="66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boosts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filter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buAutoNum type="arabicPeriod" startAt="7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Database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Integration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(MongoDB)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25"/>
              </a:spcBef>
              <a:buFont typeface="Times New Roman"/>
              <a:buAutoNum type="arabicPeriod" startAt="7"/>
            </a:pPr>
            <a:endParaRPr sz="1200">
              <a:latin typeface="Times New Roman"/>
              <a:cs typeface="Times New Roman"/>
            </a:endParaRPr>
          </a:p>
          <a:p>
            <a:pPr marL="12700" marR="5715">
              <a:lnSpc>
                <a:spcPct val="143500"/>
              </a:lnSpc>
            </a:pP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chosen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schema-</a:t>
            </a:r>
            <a:r>
              <a:rPr sz="1200" dirty="0">
                <a:latin typeface="Times New Roman"/>
                <a:cs typeface="Times New Roman"/>
              </a:rPr>
              <a:t>less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ability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complex,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nested documents: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Collections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notifications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Properties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(active/closed),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ID</a:t>
            </a:r>
            <a:endParaRPr sz="1200">
              <a:latin typeface="Times New Roman"/>
              <a:cs typeface="Times New Roman"/>
            </a:endParaRPr>
          </a:p>
          <a:p>
            <a:pPr marL="469265" marR="6985" lvl="3" indent="-228600">
              <a:lnSpc>
                <a:spcPct val="14330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history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timestamps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Indexing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schema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(via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Mongoose)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reliability.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1229614"/>
            <a:ext cx="5695950" cy="7140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 startAt="8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Security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Authentication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(JWT,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SSL)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AutoNum type="arabicPeriod" startAt="8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tokens: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call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hashing: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Bcrypt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safety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leaks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routes: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can’t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pages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authorization</a:t>
            </a:r>
            <a:endParaRPr sz="1200">
              <a:latin typeface="Times New Roman"/>
              <a:cs typeface="Times New Roman"/>
            </a:endParaRPr>
          </a:p>
          <a:p>
            <a:pPr marL="469265" marR="5080" lvl="2" indent="-228600">
              <a:lnSpc>
                <a:spcPts val="2080"/>
              </a:lnSpc>
              <a:spcBef>
                <a:spcPts val="16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encryption: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protection </a:t>
            </a:r>
            <a:r>
              <a:rPr sz="1200" dirty="0">
                <a:latin typeface="Times New Roman"/>
                <a:cs typeface="Times New Roman"/>
              </a:rPr>
              <a:t>against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unauthorized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tampering.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47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spcBef>
                <a:spcPts val="5"/>
              </a:spcBef>
              <a:buAutoNum type="arabicPeriod" startAt="9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-6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Overview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45"/>
              </a:spcBef>
              <a:buAutoNum type="arabicPeriod" startAt="9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using: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Netlify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(React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build)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Render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(Node.js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server)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Services:</a:t>
            </a:r>
            <a:r>
              <a:rPr sz="1200" spc="-10" dirty="0">
                <a:latin typeface="Times New Roman"/>
                <a:cs typeface="Times New Roman"/>
              </a:rPr>
              <a:t> Python-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hosted</a:t>
            </a:r>
            <a:r>
              <a:rPr sz="1200" spc="-10" dirty="0">
                <a:latin typeface="Times New Roman"/>
                <a:cs typeface="Times New Roman"/>
              </a:rPr>
              <a:t> separately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Database: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Atlas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cloud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service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9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12700" marR="6350">
              <a:lnSpc>
                <a:spcPct val="143600"/>
              </a:lnSpc>
            </a:pPr>
            <a:r>
              <a:rPr sz="1100" dirty="0">
                <a:latin typeface="Times New Roman"/>
                <a:cs typeface="Times New Roman"/>
              </a:rPr>
              <a:t>Version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control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was</a:t>
            </a:r>
            <a:r>
              <a:rPr sz="1100" spc="-4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managed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through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GitHub,</a:t>
            </a:r>
            <a:r>
              <a:rPr sz="1100" spc="-4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and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CI/CD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pipelines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were</a:t>
            </a:r>
            <a:r>
              <a:rPr sz="1100" spc="-4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optionally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configured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using </a:t>
            </a:r>
            <a:r>
              <a:rPr sz="1100" dirty="0">
                <a:latin typeface="Times New Roman"/>
                <a:cs typeface="Times New Roman"/>
              </a:rPr>
              <a:t>GitHub</a:t>
            </a:r>
            <a:r>
              <a:rPr sz="1100" spc="-25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Actions.</a:t>
            </a: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90"/>
              </a:spcBef>
            </a:pPr>
            <a:endParaRPr sz="1100">
              <a:latin typeface="Times New Roman"/>
              <a:cs typeface="Times New Roman"/>
            </a:endParaRPr>
          </a:p>
          <a:p>
            <a:pPr marL="368300" lvl="1" indent="-355600">
              <a:lnSpc>
                <a:spcPct val="100000"/>
              </a:lnSpc>
              <a:buAutoNum type="arabicPeriod" startAt="10"/>
              <a:tabLst>
                <a:tab pos="368300" algn="l"/>
              </a:tabLst>
            </a:pPr>
            <a:r>
              <a:rPr sz="1400" b="1" dirty="0">
                <a:latin typeface="Times New Roman"/>
                <a:cs typeface="Times New Roman"/>
              </a:rPr>
              <a:t>User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Interface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Screenshots</a:t>
            </a:r>
            <a:endParaRPr sz="14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42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mind,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targeting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tech-</a:t>
            </a:r>
            <a:r>
              <a:rPr sz="1200" dirty="0">
                <a:latin typeface="Times New Roman"/>
                <a:cs typeface="Times New Roman"/>
              </a:rPr>
              <a:t>savvy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general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users.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screens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spcBef>
                <a:spcPts val="13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Login/Registration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Pages: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login.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Displays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updates.</a:t>
            </a:r>
            <a:endParaRPr sz="1200">
              <a:latin typeface="Times New Roman"/>
              <a:cs typeface="Times New Roman"/>
            </a:endParaRPr>
          </a:p>
          <a:p>
            <a:pPr marL="469265" marR="6350" lvl="2" indent="-228600">
              <a:lnSpc>
                <a:spcPts val="1380"/>
              </a:lnSpc>
              <a:spcBef>
                <a:spcPts val="7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Form: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seller-</a:t>
            </a:r>
            <a:r>
              <a:rPr sz="1200" dirty="0">
                <a:latin typeface="Times New Roman"/>
                <a:cs typeface="Times New Roman"/>
              </a:rPr>
              <a:t>facing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suggests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 </a:t>
            </a:r>
            <a:r>
              <a:rPr sz="1200" spc="-10" dirty="0">
                <a:latin typeface="Times New Roman"/>
                <a:cs typeface="Times New Roman"/>
              </a:rPr>
              <a:t>model.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15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instantly.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Panel: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flagged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reports.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17416" y="4146930"/>
            <a:ext cx="1069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5.1: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Contact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69944" y="8356661"/>
            <a:ext cx="10210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5.2: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Abouts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844" y="762319"/>
            <a:ext cx="5669280" cy="271970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9988" y="5152026"/>
            <a:ext cx="5669280" cy="270738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56633" y="7543800"/>
            <a:ext cx="935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5.3: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Login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844" y="1524000"/>
            <a:ext cx="5669280" cy="53968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32479" y="8526710"/>
            <a:ext cx="1096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5.4: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Register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844" y="751415"/>
            <a:ext cx="5669280" cy="747712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10382" y="3232531"/>
            <a:ext cx="20313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5.5: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949066" y="8091678"/>
            <a:ext cx="17526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5.6: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10" dirty="0">
                <a:latin typeface="Times New Roman"/>
                <a:cs typeface="Times New Roman"/>
              </a:rPr>
              <a:t> Management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9200" y="914400"/>
            <a:ext cx="5669280" cy="180403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19200" y="4667122"/>
            <a:ext cx="5669280" cy="220281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98775" y="4590415"/>
            <a:ext cx="17005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5.7: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Manage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Property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868295" y="8553450"/>
            <a:ext cx="1760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5.8: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Admin </a:t>
            </a:r>
            <a:r>
              <a:rPr sz="1200" b="1" spc="-10" dirty="0">
                <a:latin typeface="Times New Roman"/>
                <a:cs typeface="Times New Roman"/>
              </a:rPr>
              <a:t>Dashboard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3000" y="1620519"/>
            <a:ext cx="5669280" cy="235180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43000" y="5320284"/>
            <a:ext cx="5669280" cy="2725039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44495" y="3765930"/>
            <a:ext cx="14554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5.9: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Add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Property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162681" y="8769807"/>
            <a:ext cx="10210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5.10: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Home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800" y="914400"/>
            <a:ext cx="5669279" cy="233362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6800" y="5200522"/>
            <a:ext cx="5669280" cy="270764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2315082" y="886714"/>
            <a:ext cx="34163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Chapter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6: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Testing</a:t>
            </a:r>
            <a:r>
              <a:rPr sz="1800" b="1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and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Evaluation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770633"/>
            <a:ext cx="5695950" cy="4448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0510" lvl="1" indent="-257810">
              <a:lnSpc>
                <a:spcPct val="100000"/>
              </a:lnSpc>
              <a:spcBef>
                <a:spcPts val="105"/>
              </a:spcBef>
              <a:buAutoNum type="arabicPeriod"/>
              <a:tabLst>
                <a:tab pos="270510" algn="l"/>
              </a:tabLst>
            </a:pPr>
            <a:r>
              <a:rPr sz="1350" b="1" dirty="0">
                <a:latin typeface="Times New Roman"/>
                <a:cs typeface="Times New Roman"/>
              </a:rPr>
              <a:t>Introduction</a:t>
            </a:r>
            <a:r>
              <a:rPr sz="1350" b="1" spc="-4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to</a:t>
            </a:r>
            <a:r>
              <a:rPr sz="1350" b="1" spc="-3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5715" algn="just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vital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aspect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lifecycle,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intended,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satisfies user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critical </a:t>
            </a:r>
            <a:r>
              <a:rPr sz="1200" dirty="0">
                <a:latin typeface="Times New Roman"/>
                <a:cs typeface="Times New Roman"/>
              </a:rPr>
              <a:t>errors or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vulnerabilities.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purposes: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bugs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cycle,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business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compatibility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different </a:t>
            </a:r>
            <a:r>
              <a:rPr sz="1200" dirty="0">
                <a:latin typeface="Times New Roman"/>
                <a:cs typeface="Times New Roman"/>
              </a:rPr>
              <a:t>platforms,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evaluating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loads.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platform—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web-</a:t>
            </a:r>
            <a:r>
              <a:rPr sz="1200" dirty="0">
                <a:latin typeface="Times New Roman"/>
                <a:cs typeface="Times New Roman"/>
              </a:rPr>
              <a:t>based,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system—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bidding,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role-based functionality,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involvement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machine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learning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 </a:t>
            </a:r>
            <a:r>
              <a:rPr sz="1200" dirty="0">
                <a:latin typeface="Times New Roman"/>
                <a:cs typeface="Times New Roman"/>
              </a:rPr>
              <a:t>verification.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discusses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including: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spcBef>
                <a:spcPts val="13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Evaluation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Metrics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combination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strategies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holistic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perspectives.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324" y="6716648"/>
            <a:ext cx="5695315" cy="1991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6.2</a:t>
            </a:r>
            <a:r>
              <a:rPr sz="1350" b="1" spc="-4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Functional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5080" algn="just">
              <a:lnSpc>
                <a:spcPct val="95900"/>
              </a:lnSpc>
              <a:spcBef>
                <a:spcPts val="1385"/>
              </a:spcBef>
            </a:pP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black-</a:t>
            </a:r>
            <a:r>
              <a:rPr sz="1200" dirty="0">
                <a:latin typeface="Times New Roman"/>
                <a:cs typeface="Times New Roman"/>
              </a:rPr>
              <a:t>box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performs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intended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specified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requirements.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was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isolation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combination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completeness.</a:t>
            </a: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134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major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functionalities</a:t>
            </a:r>
            <a:r>
              <a:rPr sz="1200" dirty="0">
                <a:latin typeface="Times New Roman"/>
                <a:cs typeface="Times New Roman"/>
              </a:rPr>
              <a:t> tested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8255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114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114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110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Login:</a:t>
            </a:r>
            <a:r>
              <a:rPr sz="1200" b="1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Separate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workflows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tested.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redirection,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token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issuance </a:t>
            </a:r>
            <a:r>
              <a:rPr sz="1200" dirty="0">
                <a:latin typeface="Times New Roman"/>
                <a:cs typeface="Times New Roman"/>
              </a:rPr>
              <a:t>(JWT),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validated.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6585" cy="301625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469265" marR="5080" indent="-228600" algn="just">
              <a:lnSpc>
                <a:spcPts val="1380"/>
              </a:lnSpc>
              <a:spcBef>
                <a:spcPts val="19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7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Listing</a:t>
            </a:r>
            <a:r>
              <a:rPr sz="1200" b="1" spc="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Management:</a:t>
            </a:r>
            <a:r>
              <a:rPr sz="1200" b="1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could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images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documents.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edit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delete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persistence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validation.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1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Bidding:</a:t>
            </a:r>
            <a:r>
              <a:rPr sz="1200" b="1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able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handled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 in real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 using WebSockets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(Socket.io),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 was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latency,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AI</a:t>
            </a:r>
            <a:r>
              <a:rPr sz="1200" b="1" spc="28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Module</a:t>
            </a:r>
            <a:r>
              <a:rPr sz="1200" b="1" spc="28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Integration:</a:t>
            </a:r>
            <a:r>
              <a:rPr sz="1200" b="1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regression-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model,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while document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NLP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image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techniques.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Both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modules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were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thoroughly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correct outputs.</a:t>
            </a:r>
            <a:endParaRPr sz="1200">
              <a:latin typeface="Times New Roman"/>
              <a:cs typeface="Times New Roman"/>
            </a:endParaRPr>
          </a:p>
          <a:p>
            <a:pPr marL="469265" marR="889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Notification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System: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confirmations,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start/end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messages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delivered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instantly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toast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email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(SendGrid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API</a:t>
            </a:r>
            <a:endParaRPr sz="1200">
              <a:latin typeface="Times New Roman"/>
              <a:cs typeface="Times New Roman"/>
            </a:endParaRPr>
          </a:p>
          <a:p>
            <a:pPr marL="469265" algn="just">
              <a:lnSpc>
                <a:spcPts val="1345"/>
              </a:lnSpc>
            </a:pP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well).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160" algn="just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Outcome: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behaved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scenarios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edge </a:t>
            </a:r>
            <a:r>
              <a:rPr sz="1200" dirty="0">
                <a:latin typeface="Times New Roman"/>
                <a:cs typeface="Times New Roman"/>
              </a:rPr>
              <a:t>cases.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confirmed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full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Specification (SRS).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4402963"/>
            <a:ext cx="5696585" cy="4631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6.3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Unit</a:t>
            </a:r>
            <a:r>
              <a:rPr sz="1350" b="1" spc="-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6985" algn="just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involves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individual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"units"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isolation.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level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developers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catch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bugs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earliest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stage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spc="-10" dirty="0">
                <a:latin typeface="Times New Roman"/>
                <a:cs typeface="Times New Roman"/>
              </a:rPr>
              <a:t>development,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before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begins.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Backend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Testing: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Frameworks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Mocha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(test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runner)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(assertion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library).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Coverage: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CRUD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operations,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 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Flask-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endpoints.</a:t>
            </a:r>
            <a:endParaRPr sz="1200">
              <a:latin typeface="Times New Roman"/>
              <a:cs typeface="Times New Roman"/>
            </a:endParaRPr>
          </a:p>
          <a:p>
            <a:pPr marL="469265" marR="1079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Example: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registration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data,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duplicate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emails,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fields,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mismatches.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Frontend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Testing: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Tool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Jest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Library.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Scope: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rendering,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button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click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changes,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validation.</a:t>
            </a:r>
            <a:endParaRPr sz="1200">
              <a:latin typeface="Times New Roman"/>
              <a:cs typeface="Times New Roman"/>
            </a:endParaRPr>
          </a:p>
          <a:p>
            <a:pPr marL="469265" marR="12065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Example: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 bid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triggered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WebSocket </a:t>
            </a:r>
            <a:r>
              <a:rPr sz="1200" dirty="0">
                <a:latin typeface="Times New Roman"/>
                <a:cs typeface="Times New Roman"/>
              </a:rPr>
              <a:t>emissions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refresh.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AI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Model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Testing: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Tool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PyTest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(Python).</a:t>
            </a:r>
            <a:endParaRPr sz="1200">
              <a:latin typeface="Times New Roman"/>
              <a:cs typeface="Times New Roman"/>
            </a:endParaRPr>
          </a:p>
          <a:p>
            <a:pPr marL="469265" marR="9525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 </a:t>
            </a:r>
            <a:r>
              <a:rPr sz="1200" dirty="0">
                <a:latin typeface="Times New Roman"/>
                <a:cs typeface="Times New Roman"/>
              </a:rPr>
              <a:t>consistency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correctness.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315" cy="196850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469265" marR="8255" indent="-228600">
              <a:lnSpc>
                <a:spcPts val="1380"/>
              </a:lnSpc>
              <a:spcBef>
                <a:spcPts val="19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unrealistic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noisy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graceful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Test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Categories: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Normal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Boundary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extremes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(e.g.,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highest/lowest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bid).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Invalid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formats,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unauthorized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fields.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Result: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90%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coverage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codebase </a:t>
            </a:r>
            <a:r>
              <a:rPr sz="1200" dirty="0">
                <a:latin typeface="Times New Roman"/>
                <a:cs typeface="Times New Roman"/>
              </a:rPr>
              <a:t>throughout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3357498"/>
            <a:ext cx="5694680" cy="46259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6.4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Integration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8890" algn="just">
              <a:lnSpc>
                <a:spcPts val="1380"/>
              </a:lnSpc>
              <a:spcBef>
                <a:spcPts val="1420"/>
              </a:spcBef>
            </a:pP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work </a:t>
            </a:r>
            <a:r>
              <a:rPr sz="1200" dirty="0">
                <a:latin typeface="Times New Roman"/>
                <a:cs typeface="Times New Roman"/>
              </a:rPr>
              <a:t>together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seamlessly.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Auction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Abode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several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715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Frontend-Backend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Interaction: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RESTful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endpoints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they </a:t>
            </a:r>
            <a:r>
              <a:rPr sz="1200" dirty="0">
                <a:latin typeface="Times New Roman"/>
                <a:cs typeface="Times New Roman"/>
              </a:rPr>
              <a:t>return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JSON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HTTP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codes.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through </a:t>
            </a:r>
            <a:r>
              <a:rPr sz="1200" dirty="0">
                <a:latin typeface="Times New Roman"/>
                <a:cs typeface="Times New Roman"/>
              </a:rPr>
              <a:t>Socket.io.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emission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reception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messages,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queuing,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synchronization.</a:t>
            </a:r>
            <a:endParaRPr sz="1200">
              <a:latin typeface="Times New Roman"/>
              <a:cs typeface="Times New Roman"/>
            </a:endParaRPr>
          </a:p>
          <a:p>
            <a:pPr marL="469265" marR="7620" indent="-228600" algn="just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Backend-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Services: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hosted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separate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interacted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Node.js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backend.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estimation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classification/verification.</a:t>
            </a:r>
            <a:endParaRPr sz="1200">
              <a:latin typeface="Times New Roman"/>
              <a:cs typeface="Times New Roman"/>
            </a:endParaRPr>
          </a:p>
          <a:p>
            <a:pPr marL="469265" marR="635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(MongoDB):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Insertions,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retrievals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confirm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consistency.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simultaneous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deletion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during </a:t>
            </a:r>
            <a:r>
              <a:rPr sz="1200" dirty="0">
                <a:latin typeface="Times New Roman"/>
                <a:cs typeface="Times New Roman"/>
              </a:rPr>
              <a:t>active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evaluated.</a:t>
            </a: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1295"/>
              </a:spcBef>
            </a:pPr>
            <a:r>
              <a:rPr sz="1200" b="1" dirty="0">
                <a:latin typeface="Times New Roman"/>
                <a:cs typeface="Times New Roman"/>
              </a:rPr>
              <a:t>Tools </a:t>
            </a:r>
            <a:r>
              <a:rPr sz="1200" b="1" spc="-10" dirty="0">
                <a:latin typeface="Times New Roman"/>
                <a:cs typeface="Times New Roman"/>
              </a:rPr>
              <a:t>Used: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Postman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testing)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Jest/Mocha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end-to-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scripts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Socket.io-</a:t>
            </a:r>
            <a:r>
              <a:rPr sz="1200" dirty="0">
                <a:latin typeface="Times New Roman"/>
                <a:cs typeface="Times New Roman"/>
              </a:rPr>
              <a:t>client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simulating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sessions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Result:</a:t>
            </a:r>
            <a:r>
              <a:rPr sz="1200" b="1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successfully,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mismatches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or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formats.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 architectural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soundness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MERN </a:t>
            </a:r>
            <a:r>
              <a:rPr sz="1200" dirty="0">
                <a:latin typeface="Times New Roman"/>
                <a:cs typeface="Times New Roman"/>
              </a:rPr>
              <a:t>stack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used.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324" y="8478773"/>
            <a:ext cx="1393190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6.5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System</a:t>
            </a:r>
            <a:r>
              <a:rPr sz="1350" b="1" spc="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6585" cy="372491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9525" algn="just">
              <a:lnSpc>
                <a:spcPts val="1380"/>
              </a:lnSpc>
              <a:spcBef>
                <a:spcPts val="195"/>
              </a:spcBef>
            </a:pP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involved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complete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production </a:t>
            </a:r>
            <a:r>
              <a:rPr sz="1200" dirty="0">
                <a:latin typeface="Times New Roman"/>
                <a:cs typeface="Times New Roman"/>
              </a:rPr>
              <a:t>environment.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entire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 on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 staging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tested end-to-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mimic</a:t>
            </a:r>
            <a:r>
              <a:rPr sz="1200" spc="-10" dirty="0">
                <a:latin typeface="Times New Roman"/>
                <a:cs typeface="Times New Roman"/>
              </a:rPr>
              <a:t> real-</a:t>
            </a:r>
            <a:r>
              <a:rPr sz="1200" dirty="0">
                <a:latin typeface="Times New Roman"/>
                <a:cs typeface="Times New Roman"/>
              </a:rPr>
              <a:t>world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scenarios.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Key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Scenarios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Sessions: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scheduled auction.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Bids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quick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succession,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race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conditions,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conflict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resolution.</a:t>
            </a:r>
            <a:endParaRPr sz="1200">
              <a:latin typeface="Times New Roman"/>
              <a:cs typeface="Times New Roman"/>
            </a:endParaRPr>
          </a:p>
          <a:p>
            <a:pPr marL="469265" marR="889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Verification: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uploaded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files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approved/rejected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them </a:t>
            </a:r>
            <a:r>
              <a:rPr sz="1200" dirty="0">
                <a:latin typeface="Times New Roman"/>
                <a:cs typeface="Times New Roman"/>
              </a:rPr>
              <a:t>after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verification.</a:t>
            </a:r>
            <a:endParaRPr sz="1200">
              <a:latin typeface="Times New Roman"/>
              <a:cs typeface="Times New Roman"/>
            </a:endParaRPr>
          </a:p>
          <a:p>
            <a:pPr marL="469265" marR="889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successful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placement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outbid.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 algn="just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Control: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could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features;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could </a:t>
            </a:r>
            <a:r>
              <a:rPr sz="1200" dirty="0">
                <a:latin typeface="Times New Roman"/>
                <a:cs typeface="Times New Roman"/>
              </a:rPr>
              <a:t>not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properties.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b="1" spc="-10" dirty="0">
                <a:latin typeface="Times New Roman"/>
                <a:cs typeface="Times New Roman"/>
              </a:rPr>
              <a:t>Results: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exhibited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workflows.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deadlocks,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incorrect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redirections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observed.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segregation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privileges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perfectly.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111877"/>
            <a:ext cx="5690235" cy="2522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6.6</a:t>
            </a:r>
            <a:r>
              <a:rPr sz="1350" b="1" spc="-4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Performance</a:t>
            </a:r>
            <a:r>
              <a:rPr sz="1350" b="1" spc="-3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(Load)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could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concurrency, </a:t>
            </a:r>
            <a:r>
              <a:rPr sz="1200" dirty="0">
                <a:latin typeface="Times New Roman"/>
                <a:cs typeface="Times New Roman"/>
              </a:rPr>
              <a:t>especially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b="1" dirty="0">
                <a:latin typeface="Times New Roman"/>
                <a:cs typeface="Times New Roman"/>
              </a:rPr>
              <a:t>Tool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Used: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Apache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JMeter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b="1" dirty="0">
                <a:latin typeface="Times New Roman"/>
                <a:cs typeface="Times New Roman"/>
              </a:rPr>
              <a:t>Test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Parameters: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1000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concurrent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Simultaneous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sessions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Stress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services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b="1" dirty="0">
                <a:latin typeface="Times New Roman"/>
                <a:cs typeface="Times New Roman"/>
              </a:rPr>
              <a:t>Metrics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Recorded: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186230" y="7837508"/>
          <a:ext cx="2475864" cy="1232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Metric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Result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API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Response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Time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(avg)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430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ms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WebSocket</a:t>
                      </a:r>
                      <a:r>
                        <a:rPr sz="12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Latency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1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second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AI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Response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600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ms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Server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Crash/Timeouts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None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Uptime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During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Test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100%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49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2140" cy="38354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380"/>
              </a:lnSpc>
              <a:spcBef>
                <a:spcPts val="195"/>
              </a:spcBef>
            </a:pPr>
            <a:r>
              <a:rPr sz="1200" b="1" dirty="0">
                <a:latin typeface="Times New Roman"/>
                <a:cs typeface="Times New Roman"/>
              </a:rPr>
              <a:t>Conclusion: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platform-</a:t>
            </a:r>
            <a:r>
              <a:rPr sz="1200" dirty="0">
                <a:latin typeface="Times New Roman"/>
                <a:cs typeface="Times New Roman"/>
              </a:rPr>
              <a:t>maintained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responsiveness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latency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-10" dirty="0">
                <a:latin typeface="Times New Roman"/>
                <a:cs typeface="Times New Roman"/>
              </a:rPr>
              <a:t> load, </a:t>
            </a:r>
            <a:r>
              <a:rPr sz="1200" dirty="0">
                <a:latin typeface="Times New Roman"/>
                <a:cs typeface="Times New Roman"/>
              </a:rPr>
              <a:t>confirming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readiness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public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deployment.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772157"/>
            <a:ext cx="5697220" cy="3395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6.7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Security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6350">
              <a:lnSpc>
                <a:spcPts val="1380"/>
              </a:lnSpc>
              <a:spcBef>
                <a:spcPts val="1420"/>
              </a:spcBef>
            </a:pP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sensitive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(user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information,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financial </a:t>
            </a:r>
            <a:r>
              <a:rPr sz="1200" dirty="0">
                <a:latin typeface="Times New Roman"/>
                <a:cs typeface="Times New Roman"/>
              </a:rPr>
              <a:t>transactions),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essential.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Security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Measures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Evaluated: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20" dirty="0">
                <a:latin typeface="Times New Roman"/>
                <a:cs typeface="Times New Roman"/>
              </a:rPr>
              <a:t>JWT-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0" dirty="0">
                <a:latin typeface="Times New Roman"/>
                <a:cs typeface="Times New Roman"/>
              </a:rPr>
              <a:t> Authentication: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protected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via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tokens.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15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Hashing: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Bcrypt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salt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passwords.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XSS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NoSQL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Injection: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Simulated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attempts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malicious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scripts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NoSQL </a:t>
            </a:r>
            <a:r>
              <a:rPr sz="1200" dirty="0">
                <a:latin typeface="Times New Roman"/>
                <a:cs typeface="Times New Roman"/>
              </a:rPr>
              <a:t>queries;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mitigated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schema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restrictions.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Enforcement: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enforced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HTTPS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 certificates.</a:t>
            </a:r>
            <a:endParaRPr sz="1200">
              <a:latin typeface="Times New Roman"/>
              <a:cs typeface="Times New Roman"/>
            </a:endParaRPr>
          </a:p>
          <a:p>
            <a:pPr marL="469265" marR="12700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Tools: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OWASP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ZAP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scan</a:t>
            </a:r>
            <a:r>
              <a:rPr sz="1200" spc="3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common vulnerabilities.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160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Outcome: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vulnerabilities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known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attack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vectors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successfully </a:t>
            </a:r>
            <a:r>
              <a:rPr sz="1200" dirty="0">
                <a:latin typeface="Times New Roman"/>
                <a:cs typeface="Times New Roman"/>
              </a:rPr>
              <a:t>mitigated,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platform's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resilience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cyber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threats.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324" y="5665089"/>
            <a:ext cx="5691505" cy="34016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6.8</a:t>
            </a:r>
            <a:r>
              <a:rPr sz="1350" b="1" spc="-3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Usability</a:t>
            </a:r>
            <a:r>
              <a:rPr sz="1350" b="1" spc="-20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b="1" dirty="0">
                <a:latin typeface="Times New Roman"/>
                <a:cs typeface="Times New Roman"/>
              </a:rPr>
              <a:t>Testing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Methodology: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Sample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Size: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20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(10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admins)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Task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join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Evaluation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clarity,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documentation,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recovery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45"/>
              </a:spcBef>
            </a:pPr>
            <a:r>
              <a:rPr sz="1200" b="1" dirty="0">
                <a:latin typeface="Times New Roman"/>
                <a:cs typeface="Times New Roman"/>
              </a:rPr>
              <a:t>Feedback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Summary: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92%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self-explanatory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85%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assigned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external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help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appreciated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layout,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color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scheme,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prompt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feedback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Suggestions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tooltips,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onboarding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tutorial,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mobile-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layout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Conclusion: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UI/UX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satisfaction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levels.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points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are </a:t>
            </a:r>
            <a:r>
              <a:rPr sz="1200" dirty="0">
                <a:latin typeface="Times New Roman"/>
                <a:cs typeface="Times New Roman"/>
              </a:rPr>
              <a:t>already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planned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next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version.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50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1243330"/>
            <a:ext cx="5690235" cy="7600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6.9</a:t>
            </a:r>
            <a:r>
              <a:rPr sz="1350" b="1" spc="1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Evaluation</a:t>
            </a:r>
            <a:r>
              <a:rPr sz="1350" b="1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Metrics</a:t>
            </a:r>
            <a:endParaRPr sz="135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Quantitative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evaluation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KPIs,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spc="-10" dirty="0">
                <a:latin typeface="Times New Roman"/>
                <a:cs typeface="Times New Roman"/>
              </a:rPr>
              <a:t>satisfaction: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186230" y="2205312"/>
          <a:ext cx="2793999" cy="14465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1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Metric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Value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Price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Accuracy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87%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Document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Verification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Accuracy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91.5%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API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Average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Response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Time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500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ms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WebSocket</a:t>
                      </a:r>
                      <a:r>
                        <a:rPr sz="12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Latency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1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second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Satisfaction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Rate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92%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Successful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Transactions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97%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1176324" y="3837559"/>
            <a:ext cx="5693410" cy="38354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380"/>
              </a:lnSpc>
              <a:spcBef>
                <a:spcPts val="195"/>
              </a:spcBef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establish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technically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sound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well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world</a:t>
            </a:r>
            <a:r>
              <a:rPr sz="1200" spc="-10" dirty="0">
                <a:latin typeface="Times New Roman"/>
                <a:cs typeface="Times New Roman"/>
              </a:rPr>
              <a:t> usage.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76324" y="4718430"/>
            <a:ext cx="5693410" cy="25177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6.10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Summary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of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Test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Results</a:t>
            </a:r>
            <a:endParaRPr sz="1350">
              <a:latin typeface="Times New Roman"/>
              <a:cs typeface="Times New Roman"/>
            </a:endParaRPr>
          </a:p>
          <a:p>
            <a:pPr marL="12700" marR="5080" algn="just">
              <a:lnSpc>
                <a:spcPct val="95900"/>
              </a:lnSpc>
              <a:spcBef>
                <a:spcPts val="139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comprehensive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strategy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successful.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 and non-functional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 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consistency.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stress.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Functionality: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Fully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bugs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Performance:</a:t>
            </a:r>
            <a:r>
              <a:rPr sz="1200" dirty="0">
                <a:latin typeface="Times New Roman"/>
                <a:cs typeface="Times New Roman"/>
              </a:rPr>
              <a:t> Maintained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 </a:t>
            </a:r>
            <a:r>
              <a:rPr sz="1200" spc="-20" dirty="0">
                <a:latin typeface="Times New Roman"/>
                <a:cs typeface="Times New Roman"/>
              </a:rPr>
              <a:t>load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major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vulnerabilities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minor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refinements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recommended,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next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sprint.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76324" y="7733538"/>
            <a:ext cx="5694680" cy="12877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6.11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Limitations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and</a:t>
            </a:r>
            <a:r>
              <a:rPr sz="1350" b="1" spc="-4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Future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Improvements</a:t>
            </a:r>
            <a:endParaRPr sz="1350">
              <a:latin typeface="Times New Roman"/>
              <a:cs typeface="Times New Roman"/>
            </a:endParaRPr>
          </a:p>
          <a:p>
            <a:pPr marL="12700" marR="5715">
              <a:lnSpc>
                <a:spcPts val="1380"/>
              </a:lnSpc>
              <a:spcBef>
                <a:spcPts val="1420"/>
              </a:spcBef>
            </a:pP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overwhelmingly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positive,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few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limitations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areas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Training: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Current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though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reasonably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improved </a:t>
            </a:r>
            <a:r>
              <a:rPr sz="1200" dirty="0">
                <a:latin typeface="Times New Roman"/>
                <a:cs typeface="Times New Roman"/>
              </a:rPr>
              <a:t>by </a:t>
            </a:r>
            <a:r>
              <a:rPr sz="1200" spc="-10" dirty="0">
                <a:latin typeface="Times New Roman"/>
                <a:cs typeface="Times New Roman"/>
              </a:rPr>
              <a:t>incorporating</a:t>
            </a:r>
            <a:r>
              <a:rPr sz="1200" dirty="0">
                <a:latin typeface="Times New Roman"/>
                <a:cs typeface="Times New Roman"/>
              </a:rPr>
              <a:t> more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 and </a:t>
            </a:r>
            <a:r>
              <a:rPr sz="1200" spc="-10" dirty="0">
                <a:latin typeface="Times New Roman"/>
                <a:cs typeface="Times New Roman"/>
              </a:rPr>
              <a:t>region-</a:t>
            </a:r>
            <a:r>
              <a:rPr sz="1200" dirty="0">
                <a:latin typeface="Times New Roman"/>
                <a:cs typeface="Times New Roman"/>
              </a:rPr>
              <a:t>specific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51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404874" y="891285"/>
            <a:ext cx="5466715" cy="161036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241300" marR="5080" indent="-228600" algn="just">
              <a:lnSpc>
                <a:spcPts val="1380"/>
              </a:lnSpc>
              <a:spcBef>
                <a:spcPts val="195"/>
              </a:spcBef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Accessibility: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currently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dedicated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limiting accessibility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mobile-</a:t>
            </a:r>
            <a:r>
              <a:rPr sz="1200" dirty="0">
                <a:latin typeface="Times New Roman"/>
                <a:cs typeface="Times New Roman"/>
              </a:rPr>
              <a:t>first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cross-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Flutter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proposed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future development.</a:t>
            </a:r>
            <a:endParaRPr sz="1200">
              <a:latin typeface="Times New Roman"/>
              <a:cs typeface="Times New Roman"/>
            </a:endParaRPr>
          </a:p>
          <a:p>
            <a:pPr marL="241300" marR="8890" indent="-228600" algn="just">
              <a:lnSpc>
                <a:spcPts val="1380"/>
              </a:lnSpc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Offline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Verification: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Currently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manually,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codes,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SMS-based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confirmations,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integrations.</a:t>
            </a:r>
            <a:endParaRPr sz="1200">
              <a:latin typeface="Times New Roman"/>
              <a:cs typeface="Times New Roman"/>
            </a:endParaRPr>
          </a:p>
          <a:p>
            <a:pPr marL="241300" marR="8255" indent="-228600" algn="just">
              <a:lnSpc>
                <a:spcPts val="1380"/>
              </a:lnSpc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Land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Integration: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trustworthiness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verification,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recommended.</a:t>
            </a:r>
            <a:endParaRPr sz="1200">
              <a:latin typeface="Times New Roman"/>
              <a:cs typeface="Times New Roman"/>
            </a:endParaRPr>
          </a:p>
          <a:p>
            <a:pPr marL="241300" marR="5715" indent="-228600" algn="just">
              <a:lnSpc>
                <a:spcPts val="1380"/>
              </a:lnSpc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Onboarding: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step-by-</a:t>
            </a:r>
            <a:r>
              <a:rPr sz="1200" dirty="0">
                <a:latin typeface="Times New Roman"/>
                <a:cs typeface="Times New Roman"/>
              </a:rPr>
              <a:t>step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tutorial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guided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first-time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 </a:t>
            </a:r>
            <a:r>
              <a:rPr sz="1200" dirty="0">
                <a:latin typeface="Times New Roman"/>
                <a:cs typeface="Times New Roman"/>
              </a:rPr>
              <a:t>navigate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6585" cy="71774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7: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Conclusion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and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Future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20" dirty="0">
                <a:latin typeface="Times New Roman"/>
                <a:cs typeface="Times New Roman"/>
              </a:rPr>
              <a:t>Work</a:t>
            </a:r>
            <a:endParaRPr sz="1600">
              <a:latin typeface="Times New Roman"/>
              <a:cs typeface="Times New Roman"/>
            </a:endParaRPr>
          </a:p>
          <a:p>
            <a:pPr marL="241300" lvl="1" indent="-228600" algn="just">
              <a:lnSpc>
                <a:spcPct val="100000"/>
              </a:lnSpc>
              <a:spcBef>
                <a:spcPts val="1470"/>
              </a:spcBef>
              <a:buAutoNum type="arabicPeriod"/>
              <a:tabLst>
                <a:tab pos="2413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Conclusion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9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“Auction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Platform”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core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including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Socket.io,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NLP,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9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three-</a:t>
            </a:r>
            <a:r>
              <a:rPr sz="1200" dirty="0">
                <a:latin typeface="Times New Roman"/>
                <a:cs typeface="Times New Roman"/>
              </a:rPr>
              <a:t>tier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Node.js, </a:t>
            </a:r>
            <a:r>
              <a:rPr sz="1200" dirty="0">
                <a:latin typeface="Times New Roman"/>
                <a:cs typeface="Times New Roman"/>
              </a:rPr>
              <a:t>MongoDB,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Python-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contributed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solution. </a:t>
            </a:r>
            <a:r>
              <a:rPr sz="1200" dirty="0">
                <a:latin typeface="Times New Roman"/>
                <a:cs typeface="Times New Roman"/>
              </a:rPr>
              <a:t>Rigorous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platform’s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usability,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dirty="0">
                <a:latin typeface="Times New Roman"/>
                <a:cs typeface="Times New Roman"/>
              </a:rPr>
              <a:t>satisfaction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rates.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Ultimately,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demonstrates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technological </a:t>
            </a:r>
            <a:r>
              <a:rPr sz="1200" dirty="0">
                <a:latin typeface="Times New Roman"/>
                <a:cs typeface="Times New Roman"/>
              </a:rPr>
              <a:t>advancement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environment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promotes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 marL="241300" lvl="1" indent="-228600" algn="just">
              <a:lnSpc>
                <a:spcPct val="100000"/>
              </a:lnSpc>
              <a:spcBef>
                <a:spcPts val="1225"/>
              </a:spcBef>
              <a:buAutoNum type="arabicPeriod" startAt="2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Future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Work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  <a:spcBef>
                <a:spcPts val="605"/>
              </a:spcBef>
            </a:pP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current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implementation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effectively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meets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defined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objectives,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several </a:t>
            </a:r>
            <a:r>
              <a:rPr sz="1200" dirty="0">
                <a:latin typeface="Times New Roman"/>
                <a:cs typeface="Times New Roman"/>
              </a:rPr>
              <a:t>enhancements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proposed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elevate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functionality.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development 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 for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Android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 iOS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enable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 bidding on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go,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government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titles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ownership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greater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analytics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introduced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history.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OCR-based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reconciliation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offline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payments.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Enhancements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planned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expanding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dataset 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incorporating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feeds.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upgrades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aim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setting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benchmark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worldwide.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Words>10194</Words>
  <Application>Microsoft Office PowerPoint</Application>
  <PresentationFormat>Custom</PresentationFormat>
  <Paragraphs>947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Calibri</vt:lpstr>
      <vt:lpstr>Courier New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MEHBOOB</dc:creator>
  <cp:lastModifiedBy>Malik Hasnain</cp:lastModifiedBy>
  <cp:revision>4</cp:revision>
  <dcterms:created xsi:type="dcterms:W3CDTF">2025-11-09T19:01:49Z</dcterms:created>
  <dcterms:modified xsi:type="dcterms:W3CDTF">2025-11-11T07:50:56Z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2025-06-30T00:00:00Z</vt:filetime>
  </property>
  <property fmtid="{D5CDD505-2E9C-101B-9397-08002B2CF9AE}" pid="3" name="Creator">
    <vt:lpwstr>Microsoft® Word LTSC</vt:lpwstr>
  </property>
  <property fmtid="{D5CDD505-2E9C-101B-9397-08002B2CF9AE}" pid="4" name="LastSaved">
    <vt:filetime>2025-11-09T00:00:00Z</vt:filetime>
  </property>
  <property fmtid="{D5CDD505-2E9C-101B-9397-08002B2CF9AE}" pid="5" name="Producer">
    <vt:lpwstr>Microsoft® Word LTSC</vt:lpwstr>
  </property>
</Properties>
</file>